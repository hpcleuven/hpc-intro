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3.xml" ContentType="application/vnd.openxmlformats-officedocument.presentationml.tags+xml"/>
  <Override PartName="/ppt/notesSlides/notesSlide25.xml" ContentType="application/vnd.openxmlformats-officedocument.presentationml.notesSlide+xml"/>
  <Override PartName="/ppt/tags/tag4.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tags/tag5.xml" ContentType="application/vnd.openxmlformats-officedocument.presentationml.tags+xml"/>
  <Override PartName="/ppt/notesSlides/notesSlide34.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tags/tag8.xml" ContentType="application/vnd.openxmlformats-officedocument.presentationml.tag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5FC"/>
    <a:srgbClr val="282828"/>
    <a:srgbClr val="4E5865"/>
    <a:srgbClr val="DB6C30"/>
    <a:srgbClr val="FFFFFF"/>
    <a:srgbClr val="E1E1E1"/>
    <a:srgbClr val="84625E"/>
    <a:srgbClr val="805D64"/>
    <a:srgbClr val="8F8F8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781" autoAdjust="0"/>
  </p:normalViewPr>
  <p:slideViewPr>
    <p:cSldViewPr snapToObjects="1" showGuides="1">
      <p:cViewPr varScale="1">
        <p:scale>
          <a:sx n="99" d="100"/>
          <a:sy n="99" d="100"/>
        </p:scale>
        <p:origin x="1032" y="90"/>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2" qsCatId="simple" csTypeId="urn:microsoft.com/office/officeart/2005/8/colors/accent1_2#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4337" custLinFactNeighborY="513"/>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79"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007" custLinFactNeighborY="2884"/>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867" custLinFactNeighborY="335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428" custLinFactNeighborY="49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3731"/>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6588" y="151436"/>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9975" y="385013"/>
        <a:ext cx="635849" cy="467155"/>
      </dsp:txXfrm>
    </dsp:sp>
    <dsp:sp modelId="{F2C2304E-EBDD-4BFD-856A-0BF7A53E74DD}">
      <dsp:nvSpPr>
        <dsp:cNvPr id="0" name=""/>
        <dsp:cNvSpPr/>
      </dsp:nvSpPr>
      <dsp:spPr>
        <a:xfrm>
          <a:off x="461706" y="263812"/>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007" y="1133240"/>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556255" y="274996"/>
          <a:ext cx="2180057" cy="2180057"/>
        </a:xfrm>
        <a:prstGeom prst="pie">
          <a:avLst>
            <a:gd name="adj1" fmla="val 19800000"/>
            <a:gd name="adj2" fmla="val 18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48556" y="114442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3428"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5729" y="1134264"/>
        <a:ext cx="659207" cy="441202"/>
      </dsp:txXfrm>
    </dsp:sp>
    <dsp:sp modelId="{AD753434-8F18-4EC6-B4A4-C297E31D2F02}">
      <dsp:nvSpPr>
        <dsp:cNvPr id="0" name=""/>
        <dsp:cNvSpPr/>
      </dsp:nvSpPr>
      <dsp:spPr>
        <a:xfrm>
          <a:off x="505459" y="326685"/>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18846" y="1806010"/>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21004" y="336844"/>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51825" y="1816169"/>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52375" y="274495"/>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83196" y="1753819"/>
        <a:ext cx="635849" cy="467155"/>
      </dsp:txXfrm>
    </dsp:sp>
    <dsp:sp modelId="{0C388C87-16DF-4F7F-82C7-4444B2D331E1}">
      <dsp:nvSpPr>
        <dsp:cNvPr id="0" name=""/>
        <dsp:cNvSpPr/>
      </dsp:nvSpPr>
      <dsp:spPr>
        <a:xfrm>
          <a:off x="380368" y="263812"/>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14107"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25/09/2026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25/09/2026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9/25/2026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9/25/2026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hyperlink" Target="https://github.com/gjbex/Training-sessions?tab=coc-ov-fil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notesSlide" Target="../notesSlides/notesSlide6.xml"/><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1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 TargetMode="External"/><Relationship Id="rId3" Type="http://schemas.openxmlformats.org/officeDocument/2006/relationships/hyperlink" Target="https://vlaams-supercomputing-centrum-vscdocumentation.readthedocs-hosted.com/en/latest/access/getting_access.html#create-a-public-private-key-pair" TargetMode="External"/><Relationship Id="rId7" Type="http://schemas.openxmlformats.org/officeDocument/2006/relationships/hyperlink" Target="https://icts.kuleuven.be/sc/forms/Aanvraagformulier_HPC_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admin.kuleuven.be/icts/onderzoek/hpc/request-introduction-credits" TargetMode="External"/><Relationship Id="rId11" Type="http://schemas.openxmlformats.org/officeDocument/2006/relationships/image" Target="../media/image36.png"/><Relationship Id="rId5" Type="http://schemas.openxmlformats.org/officeDocument/2006/relationships/hyperlink" Target="https://vlaams-supercomputing-centrum-vscdocumentation.readthedocs-hosted.com/en/latest/access/getting_access.html#users-from-the-ku-leuven-and-uhasselt-association" TargetMode="External"/><Relationship Id="rId10" Type="http://schemas.openxmlformats.org/officeDocument/2006/relationships/image" Target="../media/image35.png"/><Relationship Id="rId4" Type="http://schemas.openxmlformats.org/officeDocument/2006/relationships/hyperlink" Target="https://account.vscentrum.be/" TargetMode="External"/><Relationship Id="rId9" Type="http://schemas.openxmlformats.org/officeDocument/2006/relationships/hyperlink" Target="https://icts.kuleuven.be/sc/onderzoeksgegevens/english-version/hpc_vsc_pag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17" Type="http://schemas.openxmlformats.org/officeDocument/2006/relationships/image" Target="../media/image51.jpeg"/><Relationship Id="rId2" Type="http://schemas.openxmlformats.org/officeDocument/2006/relationships/notesSlide" Target="../notesSlides/notesSlide13.xml"/><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40.jpeg"/><Relationship Id="rId11" Type="http://schemas.openxmlformats.org/officeDocument/2006/relationships/image" Target="../media/image45.png"/><Relationship Id="rId5" Type="http://schemas.openxmlformats.org/officeDocument/2006/relationships/image" Target="../media/image39.jpeg"/><Relationship Id="rId15" Type="http://schemas.openxmlformats.org/officeDocument/2006/relationships/image" Target="../media/image49.jpe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jpeg"/></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6.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tags" Target="../tags/tag2.xml"/><Relationship Id="rId5" Type="http://schemas.openxmlformats.org/officeDocument/2006/relationships/image" Target="../media/image58.jpe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6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61.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61.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2.png"/></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diagramLayout" Target="../diagrams/layout5.xml"/><Relationship Id="rId7" Type="http://schemas.openxmlformats.org/officeDocument/2006/relationships/hyperlink" Target="https://docs.vscentrum.be/leuven/tier2_hardware/parallel_filesystems.html"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hyperlink" Target="https://docs.vscentrum.be/globus/index.html" TargetMode="External"/><Relationship Id="rId2" Type="http://schemas.openxmlformats.org/officeDocument/2006/relationships/hyperlink" Target="https://www.vscentrum.be/data" TargetMode="Externa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svg"/><Relationship Id="rId7" Type="http://schemas.openxmlformats.org/officeDocument/2006/relationships/image" Target="../media/image68.svg"/><Relationship Id="rId2" Type="http://schemas.openxmlformats.org/officeDocument/2006/relationships/image" Target="../media/image63.sv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hyperlink" Target="https://icts.kuleuven.be/wijzers-beheer/en/Storagewijzer" TargetMode="External"/><Relationship Id="rId5" Type="http://schemas.openxmlformats.org/officeDocument/2006/relationships/image" Target="../media/image66.svg"/><Relationship Id="rId10" Type="http://schemas.openxmlformats.org/officeDocument/2006/relationships/hyperlink" Target="https://icts.kuleuven.be/sc/english/storage/coldstorage" TargetMode="External"/><Relationship Id="rId4" Type="http://schemas.openxmlformats.org/officeDocument/2006/relationships/image" Target="../media/image65.svg"/><Relationship Id="rId9" Type="http://schemas.openxmlformats.org/officeDocument/2006/relationships/hyperlink" Target="https://icts.kuleuven.be/sc/english/storage/mango"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0.svg"/><Relationship Id="rId7" Type="http://schemas.openxmlformats.org/officeDocument/2006/relationships/image" Target="../media/image66.sv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73.svg"/><Relationship Id="rId5" Type="http://schemas.openxmlformats.org/officeDocument/2006/relationships/image" Target="../media/image72.svg"/><Relationship Id="rId4" Type="http://schemas.openxmlformats.org/officeDocument/2006/relationships/image" Target="../media/image71.svg"/></Relationships>
</file>

<file path=ppt/slides/_rels/slide3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3.xml"/><Relationship Id="rId4" Type="http://schemas.openxmlformats.org/officeDocument/2006/relationships/hyperlink" Target="https://icts.kuleuven.be/sc/english/research/HPC" TargetMode="Externa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26.xml"/><Relationship Id="rId7" Type="http://schemas.openxmlformats.org/officeDocument/2006/relationships/hyperlink" Target="https://icts.kuleuven.be/sc/english/research/HPC"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7.xml"/><Relationship Id="rId1" Type="http://schemas.openxmlformats.org/officeDocument/2006/relationships/tags" Target="../tags/tag5.xml"/><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hyperlink" Target="https://docs.vscentrum.be/access/text_mode_access_using_putty.html" TargetMode="External"/><Relationship Id="rId7" Type="http://schemas.openxmlformats.org/officeDocument/2006/relationships/hyperlink" Target="https://ondemand.hpc.kuleuven.be/"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docs.vscentrum.be/access/generating_keys.html" TargetMode="External"/><Relationship Id="rId5" Type="http://schemas.openxmlformats.org/officeDocument/2006/relationships/hyperlink" Target="https://docs.vscentrum.be/access/using_ssh_agent.html" TargetMode="External"/><Relationship Id="rId4" Type="http://schemas.openxmlformats.org/officeDocument/2006/relationships/hyperlink" Target="https://docs.vscentrum.be/access/access_using_mobaxterm.html" TargetMode="Externa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7.xml"/></Relationships>
</file>

<file path=ppt/slides/_rels/slide5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image" Target="../media/image83.png"/></Relationships>
</file>

<file path=ppt/slides/_rels/slide5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7.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6.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89.png"/></Relationships>
</file>

<file path=ppt/slides/_rels/slide5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97.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99.PNG"/><Relationship Id="rId4" Type="http://schemas.openxmlformats.org/officeDocument/2006/relationships/image" Target="../media/image61.png"/></Relationships>
</file>

<file path=ppt/slides/_rels/slide6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image" Target="../media/image101.png"/></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image" Target="../media/image102.png"/></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103.PNG"/><Relationship Id="rId4" Type="http://schemas.openxmlformats.org/officeDocument/2006/relationships/hyperlink" Target="https://docs.vscentrum.be/compute/portal/ondemand/jupyterlab.html#jupyterlab"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104.jp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107.png"/><Relationship Id="rId4" Type="http://schemas.openxmlformats.org/officeDocument/2006/relationships/image" Target="../media/image106.png"/></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110.png"/><Relationship Id="rId4" Type="http://schemas.openxmlformats.org/officeDocument/2006/relationships/image" Target="../media/image109.png"/></Relationships>
</file>

<file path=ppt/slides/_rels/slide7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61.png"/><Relationship Id="rId1" Type="http://schemas.openxmlformats.org/officeDocument/2006/relationships/slideLayout" Target="../slideLayouts/slideLayout7.xml"/><Relationship Id="rId4" Type="http://schemas.openxmlformats.org/officeDocument/2006/relationships/image" Target="../media/image96.png"/></Relationships>
</file>

<file path=ppt/slides/_rels/slide7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61.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61.png"/><Relationship Id="rId1" Type="http://schemas.openxmlformats.org/officeDocument/2006/relationships/slideLayout" Target="../slideLayouts/slideLayout6.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 Id="rId9" Type="http://schemas.openxmlformats.org/officeDocument/2006/relationships/image" Target="../media/image118.png"/></Relationships>
</file>

<file path=ppt/slides/_rels/slide77.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61.png"/><Relationship Id="rId1" Type="http://schemas.openxmlformats.org/officeDocument/2006/relationships/slideLayout" Target="../slideLayouts/slideLayout6.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 Id="rId9" Type="http://schemas.openxmlformats.org/officeDocument/2006/relationships/image" Target="../media/image118.png"/></Relationships>
</file>

<file path=ppt/slides/_rels/slide7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19.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96.png"/><Relationship Id="rId5" Type="http://schemas.openxmlformats.org/officeDocument/2006/relationships/image" Target="../media/image122.png"/><Relationship Id="rId4" Type="http://schemas.openxmlformats.org/officeDocument/2006/relationships/image" Target="../media/image1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hyperlink" Target="https://account.vscentrum.be/" TargetMode="External"/></Relationships>
</file>

<file path=ppt/slides/_rels/slide9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7" Type="http://schemas.openxmlformats.org/officeDocument/2006/relationships/hyperlink" Target="https://status.vscentrum.be/"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12.xml"/><Relationship Id="rId6" Type="http://schemas.openxmlformats.org/officeDocument/2006/relationships/hyperlink" Target="https://www.vscentrum.be/vsctraining" TargetMode="External"/><Relationship Id="rId5" Type="http://schemas.openxmlformats.org/officeDocument/2006/relationships/hyperlink" Target="https://docs.vscentrum.be/" TargetMode="External"/><Relationship Id="rId4" Type="http://schemas.openxmlformats.org/officeDocument/2006/relationships/hyperlink" Target="https://www.vscentrum.be/"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8" name="TextBox 7"/>
          <p:cNvSpPr txBox="1"/>
          <p:nvPr/>
        </p:nvSpPr>
        <p:spPr>
          <a:xfrm>
            <a:off x="838200" y="1400054"/>
            <a:ext cx="4825752" cy="2354491"/>
          </a:xfrm>
          <a:prstGeom prst="rect">
            <a:avLst/>
          </a:prstGeom>
          <a:noFill/>
          <a:ln w="19050">
            <a:solidFill>
              <a:schemeClr val="accent5"/>
            </a:solidFill>
          </a:ln>
        </p:spPr>
        <p:txBody>
          <a:bodyPr wrap="square" rtlCol="0" anchor="ctr">
            <a:spAutoFit/>
          </a:bodyPr>
          <a:lstStyle/>
          <a:p>
            <a:pPr marL="342900" indent="-342900">
              <a:buClr>
                <a:srgbClr val="DB6C30"/>
              </a:buClr>
              <a:buFont typeface="Wingdings" panose="05000000000000000000" pitchFamily="2" charset="2"/>
              <a:buChar char="q"/>
            </a:pPr>
            <a:r>
              <a:rPr lang="en-US" sz="2100" dirty="0"/>
              <a:t>Everything is available on </a:t>
            </a:r>
            <a:r>
              <a:rPr lang="en-US" sz="2100" dirty="0" err="1"/>
              <a:t>Github</a:t>
            </a:r>
            <a:r>
              <a:rPr lang="en-US" sz="2100" dirty="0"/>
              <a:t>:</a:t>
            </a:r>
            <a:br>
              <a:rPr lang="en-US" sz="2100" dirty="0"/>
            </a:br>
            <a:r>
              <a:rPr lang="nl-BE" sz="2100" dirty="0">
                <a:hlinkClick r:id="rId3"/>
              </a:rPr>
              <a:t>https://hpcleuven.github.io/HPC-intro/</a:t>
            </a:r>
            <a:endParaRPr lang="nl-BE" sz="2100" dirty="0"/>
          </a:p>
          <a:p>
            <a:pPr marL="342900" indent="-342900">
              <a:buClr>
                <a:srgbClr val="DB6C30"/>
              </a:buClr>
              <a:buFont typeface="Wingdings" panose="05000000000000000000" pitchFamily="2" charset="2"/>
              <a:buChar char="q"/>
            </a:pPr>
            <a:r>
              <a:rPr lang="en-US" sz="2100" dirty="0"/>
              <a:t>Video recordings </a:t>
            </a:r>
            <a:br>
              <a:rPr lang="en-US" sz="2100" dirty="0"/>
            </a:br>
            <a:r>
              <a:rPr lang="en-US" sz="2100" dirty="0"/>
              <a:t>- Scan the QR code</a:t>
            </a:r>
            <a:br>
              <a:rPr lang="en-US" sz="2100" dirty="0"/>
            </a:br>
            <a:r>
              <a:rPr lang="en-US" sz="2100" dirty="0"/>
              <a:t>- Recommended videos: ~2 </a:t>
            </a:r>
            <a:r>
              <a:rPr lang="en-US" sz="2100" dirty="0" err="1"/>
              <a:t>hrs</a:t>
            </a:r>
            <a:br>
              <a:rPr lang="en-US" sz="2100" dirty="0"/>
            </a:br>
            <a:r>
              <a:rPr lang="en-US" sz="2100" dirty="0"/>
              <a:t>- Optional videos: ~1 </a:t>
            </a:r>
            <a:r>
              <a:rPr lang="en-US" sz="2100" dirty="0" err="1"/>
              <a:t>hr</a:t>
            </a:r>
            <a:endParaRPr lang="en-US" sz="2100" dirty="0"/>
          </a:p>
        </p:txBody>
      </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Training material</a:t>
            </a:r>
            <a:endParaRPr lang="en-US" altLang="en-US" dirty="0"/>
          </a:p>
        </p:txBody>
      </p:sp>
      <p:sp>
        <p:nvSpPr>
          <p:cNvPr id="2" name="TextBox 1">
            <a:extLst>
              <a:ext uri="{FF2B5EF4-FFF2-40B4-BE49-F238E27FC236}">
                <a16:creationId xmlns:a16="http://schemas.microsoft.com/office/drawing/2014/main" id="{282E1DB2-6DCD-C921-2B38-CFF384E30746}"/>
              </a:ext>
            </a:extLst>
          </p:cNvPr>
          <p:cNvSpPr txBox="1"/>
          <p:nvPr/>
        </p:nvSpPr>
        <p:spPr>
          <a:xfrm>
            <a:off x="838200" y="4169112"/>
            <a:ext cx="4825752" cy="1061829"/>
          </a:xfrm>
          <a:prstGeom prst="rect">
            <a:avLst/>
          </a:prstGeom>
          <a:noFill/>
          <a:ln w="19050">
            <a:solidFill>
              <a:schemeClr val="accent5"/>
            </a:solidFill>
          </a:ln>
        </p:spPr>
        <p:txBody>
          <a:bodyPr wrap="square" rtlCol="0" anchor="ctr">
            <a:spAutoFit/>
          </a:bodyPr>
          <a:lstStyle/>
          <a:p>
            <a:pPr>
              <a:buClr>
                <a:srgbClr val="DB6C30"/>
              </a:buClr>
            </a:pPr>
            <a:r>
              <a:rPr lang="en-US" sz="2100" dirty="0"/>
              <a:t>B</a:t>
            </a:r>
            <a:r>
              <a:rPr lang="nl-BE" sz="2100" dirty="0"/>
              <a:t>y </a:t>
            </a:r>
            <a:r>
              <a:rPr lang="nl-BE" sz="2100" dirty="0" err="1"/>
              <a:t>registering</a:t>
            </a:r>
            <a:r>
              <a:rPr lang="nl-BE" sz="2100" dirty="0"/>
              <a:t> </a:t>
            </a:r>
            <a:r>
              <a:rPr lang="nl-BE" sz="2100" dirty="0" err="1"/>
              <a:t>and</a:t>
            </a:r>
            <a:r>
              <a:rPr lang="nl-BE" sz="2100" dirty="0"/>
              <a:t> </a:t>
            </a:r>
            <a:r>
              <a:rPr lang="nl-BE" sz="2100" dirty="0" err="1"/>
              <a:t>participating</a:t>
            </a:r>
            <a:r>
              <a:rPr lang="nl-BE" sz="2100" dirty="0"/>
              <a:t> in VSC </a:t>
            </a:r>
            <a:r>
              <a:rPr lang="nl-BE" sz="2100" dirty="0" err="1"/>
              <a:t>trainings</a:t>
            </a:r>
            <a:r>
              <a:rPr lang="nl-BE" sz="2100" dirty="0"/>
              <a:t>, </a:t>
            </a:r>
            <a:r>
              <a:rPr lang="nl-BE" sz="2100" dirty="0" err="1"/>
              <a:t>you</a:t>
            </a:r>
            <a:r>
              <a:rPr lang="nl-BE" sz="2100" dirty="0"/>
              <a:t> accept </a:t>
            </a:r>
            <a:r>
              <a:rPr lang="nl-BE" sz="2100" dirty="0" err="1"/>
              <a:t>to</a:t>
            </a:r>
            <a:r>
              <a:rPr lang="nl-BE" sz="2100" dirty="0"/>
              <a:t> </a:t>
            </a:r>
            <a:r>
              <a:rPr lang="nl-BE" sz="2100" dirty="0" err="1"/>
              <a:t>abide</a:t>
            </a:r>
            <a:r>
              <a:rPr lang="nl-BE" sz="2100" dirty="0"/>
              <a:t> </a:t>
            </a:r>
            <a:r>
              <a:rPr lang="nl-BE" sz="2100" dirty="0" err="1"/>
              <a:t>by</a:t>
            </a:r>
            <a:r>
              <a:rPr lang="nl-BE" sz="2100" dirty="0"/>
              <a:t> </a:t>
            </a:r>
            <a:r>
              <a:rPr lang="nl-BE" sz="2100" dirty="0" err="1"/>
              <a:t>the</a:t>
            </a:r>
            <a:br>
              <a:rPr lang="nl-BE" sz="2100" dirty="0"/>
            </a:br>
            <a:r>
              <a:rPr lang="nl-BE" sz="2100" dirty="0">
                <a:hlinkClick r:id="rId4"/>
              </a:rPr>
              <a:t>VSC training Code of </a:t>
            </a:r>
            <a:r>
              <a:rPr lang="nl-BE" sz="2100" dirty="0" err="1">
                <a:hlinkClick r:id="rId4"/>
              </a:rPr>
              <a:t>Conduct</a:t>
            </a:r>
            <a:endParaRPr lang="en-US" sz="2100" dirty="0"/>
          </a:p>
        </p:txBody>
      </p:sp>
    </p:spTree>
    <p:extLst>
      <p:ext uri="{BB962C8B-B14F-4D97-AF65-F5344CB8AC3E}">
        <p14:creationId xmlns:p14="http://schemas.microsoft.com/office/powerpoint/2010/main" val="2903593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5F6F089-3EBD-3BA8-50EA-A76D17504E21}"/>
              </a:ext>
            </a:extLst>
          </p:cNvPr>
          <p:cNvSpPr/>
          <p:nvPr/>
        </p:nvSpPr>
        <p:spPr>
          <a:xfrm>
            <a:off x="3305690" y="943445"/>
            <a:ext cx="5538189" cy="5360760"/>
          </a:xfrm>
          <a:prstGeom prst="ellipse">
            <a:avLst/>
          </a:prstGeom>
          <a:solidFill>
            <a:schemeClr val="accent1">
              <a:alpha val="1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2">
            <a:extLst>
              <a:ext uri="{FF2B5EF4-FFF2-40B4-BE49-F238E27FC236}">
                <a16:creationId xmlns:a16="http://schemas.microsoft.com/office/drawing/2014/main" id="{64198AB6-E0C3-644A-09BE-61CEF58377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017" r="10017"/>
          <a:stretch/>
        </p:blipFill>
        <p:spPr bwMode="auto">
          <a:xfrm>
            <a:off x="2982815" y="1052736"/>
            <a:ext cx="6203220" cy="5171552"/>
          </a:xfrm>
          <a:prstGeom prst="rect">
            <a:avLst/>
          </a:prstGeom>
          <a:noFill/>
        </p:spPr>
      </p:pic>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lstStyle/>
          <a:p>
            <a:r>
              <a:rPr lang="nl-BE" dirty="0" err="1"/>
              <a:t>What</a:t>
            </a:r>
            <a:r>
              <a:rPr lang="nl-BE" dirty="0"/>
              <a:t> is High Performance Computing</a:t>
            </a:r>
            <a:r>
              <a:rPr lang="en-US" dirty="0"/>
              <a:t>?</a:t>
            </a:r>
            <a:endParaRPr lang="en-US" altLang="en-US" dirty="0"/>
          </a:p>
        </p:txBody>
      </p:sp>
      <p:grpSp>
        <p:nvGrpSpPr>
          <p:cNvPr id="54" name="Group 53">
            <a:extLst>
              <a:ext uri="{FF2B5EF4-FFF2-40B4-BE49-F238E27FC236}">
                <a16:creationId xmlns:a16="http://schemas.microsoft.com/office/drawing/2014/main" id="{F8AD71E2-571A-ED28-5B51-AFF12DB3F61C}"/>
              </a:ext>
            </a:extLst>
          </p:cNvPr>
          <p:cNvGrpSpPr/>
          <p:nvPr/>
        </p:nvGrpSpPr>
        <p:grpSpPr>
          <a:xfrm>
            <a:off x="191344" y="1160394"/>
            <a:ext cx="4098044" cy="2268606"/>
            <a:chOff x="395377" y="1016378"/>
            <a:chExt cx="4098044" cy="2268606"/>
          </a:xfrm>
        </p:grpSpPr>
        <p:grpSp>
          <p:nvGrpSpPr>
            <p:cNvPr id="47" name="Group 46">
              <a:extLst>
                <a:ext uri="{FF2B5EF4-FFF2-40B4-BE49-F238E27FC236}">
                  <a16:creationId xmlns:a16="http://schemas.microsoft.com/office/drawing/2014/main" id="{297FFC45-A4D3-E7A8-DE21-A3F1F59BFB4F}"/>
                </a:ext>
              </a:extLst>
            </p:cNvPr>
            <p:cNvGrpSpPr/>
            <p:nvPr/>
          </p:nvGrpSpPr>
          <p:grpSpPr>
            <a:xfrm>
              <a:off x="407368" y="1016378"/>
              <a:ext cx="4086053" cy="2268606"/>
              <a:chOff x="479376" y="683248"/>
              <a:chExt cx="4086053" cy="2268606"/>
            </a:xfrm>
          </p:grpSpPr>
          <p:sp>
            <p:nvSpPr>
              <p:cNvPr id="7" name="TextBox 6">
                <a:extLst>
                  <a:ext uri="{FF2B5EF4-FFF2-40B4-BE49-F238E27FC236}">
                    <a16:creationId xmlns:a16="http://schemas.microsoft.com/office/drawing/2014/main" id="{19927DE4-BE97-B4E0-3EED-6DE6633BDE25}"/>
                  </a:ext>
                </a:extLst>
              </p:cNvPr>
              <p:cNvSpPr txBox="1"/>
              <p:nvPr/>
            </p:nvSpPr>
            <p:spPr>
              <a:xfrm>
                <a:off x="504373" y="683248"/>
                <a:ext cx="3772626" cy="2268606"/>
              </a:xfrm>
              <a:prstGeom prst="rect">
                <a:avLst/>
              </a:prstGeom>
              <a:noFill/>
              <a:ln w="19050">
                <a:noFill/>
              </a:ln>
            </p:spPr>
            <p:txBody>
              <a:bodyPr wrap="square" rtlCol="0" anchor="ctr">
                <a:noAutofit/>
              </a:bodyPr>
              <a:lstStyle/>
              <a:p>
                <a:pPr>
                  <a:buClr>
                    <a:srgbClr val="DB6C30"/>
                  </a:buClr>
                </a:pPr>
                <a:r>
                  <a:rPr lang="en-US" sz="2100" dirty="0"/>
                  <a:t>Using many computers together to solve large-scale, complex problems faster than one</a:t>
                </a:r>
                <a:br>
                  <a:rPr lang="en-US" sz="2100" dirty="0"/>
                </a:br>
                <a:r>
                  <a:rPr lang="en-US" sz="2100" dirty="0"/>
                  <a:t>computer can</a:t>
                </a:r>
              </a:p>
            </p:txBody>
          </p:sp>
          <p:grpSp>
            <p:nvGrpSpPr>
              <p:cNvPr id="33" name="Group 32">
                <a:extLst>
                  <a:ext uri="{FF2B5EF4-FFF2-40B4-BE49-F238E27FC236}">
                    <a16:creationId xmlns:a16="http://schemas.microsoft.com/office/drawing/2014/main" id="{AB18B7C5-3EF5-88C3-7D6F-DF2896B5DAA8}"/>
                  </a:ext>
                </a:extLst>
              </p:cNvPr>
              <p:cNvGrpSpPr/>
              <p:nvPr/>
            </p:nvGrpSpPr>
            <p:grpSpPr>
              <a:xfrm>
                <a:off x="479376" y="1109715"/>
                <a:ext cx="4086053" cy="1455189"/>
                <a:chOff x="479376" y="1109715"/>
                <a:chExt cx="4086053" cy="1455189"/>
              </a:xfrm>
            </p:grpSpPr>
            <p:cxnSp>
              <p:nvCxnSpPr>
                <p:cNvPr id="24" name="Straight Connector 23">
                  <a:extLst>
                    <a:ext uri="{FF2B5EF4-FFF2-40B4-BE49-F238E27FC236}">
                      <a16:creationId xmlns:a16="http://schemas.microsoft.com/office/drawing/2014/main" id="{642338CA-D27B-76C7-A941-F3FE95B6DE5D}"/>
                    </a:ext>
                  </a:extLst>
                </p:cNvPr>
                <p:cNvCxnSpPr>
                  <a:cxnSpLocks/>
                </p:cNvCxnSpPr>
                <p:nvPr/>
              </p:nvCxnSpPr>
              <p:spPr>
                <a:xfrm flipH="1" flipV="1">
                  <a:off x="479376" y="1109715"/>
                  <a:ext cx="4086053" cy="1503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03464E6-3588-CE91-9A32-D681CBDE35D4}"/>
                    </a:ext>
                  </a:extLst>
                </p:cNvPr>
                <p:cNvCxnSpPr>
                  <a:cxnSpLocks/>
                </p:cNvCxnSpPr>
                <p:nvPr/>
              </p:nvCxnSpPr>
              <p:spPr>
                <a:xfrm>
                  <a:off x="479376" y="1121184"/>
                  <a:ext cx="0" cy="144372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C6CF579-CEAC-1811-1A64-3CDFB34D12CF}"/>
                    </a:ext>
                  </a:extLst>
                </p:cNvPr>
                <p:cNvCxnSpPr>
                  <a:cxnSpLocks/>
                </p:cNvCxnSpPr>
                <p:nvPr/>
              </p:nvCxnSpPr>
              <p:spPr>
                <a:xfrm>
                  <a:off x="479376" y="2564904"/>
                  <a:ext cx="3162788"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sp>
          <p:nvSpPr>
            <p:cNvPr id="50" name="TextBox 49">
              <a:extLst>
                <a:ext uri="{FF2B5EF4-FFF2-40B4-BE49-F238E27FC236}">
                  <a16:creationId xmlns:a16="http://schemas.microsoft.com/office/drawing/2014/main" id="{15CF5762-432F-CC85-DFC7-6C0A2115B556}"/>
                </a:ext>
              </a:extLst>
            </p:cNvPr>
            <p:cNvSpPr txBox="1"/>
            <p:nvPr/>
          </p:nvSpPr>
          <p:spPr>
            <a:xfrm>
              <a:off x="395377" y="1067365"/>
              <a:ext cx="1092111" cy="400110"/>
            </a:xfrm>
            <a:prstGeom prst="rect">
              <a:avLst/>
            </a:prstGeom>
            <a:solidFill>
              <a:schemeClr val="accent1"/>
            </a:solidFill>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13320" name="Group 13319">
            <a:extLst>
              <a:ext uri="{FF2B5EF4-FFF2-40B4-BE49-F238E27FC236}">
                <a16:creationId xmlns:a16="http://schemas.microsoft.com/office/drawing/2014/main" id="{8BAF40CD-6D71-C840-3EF1-EDE1C933E310}"/>
              </a:ext>
            </a:extLst>
          </p:cNvPr>
          <p:cNvGrpSpPr/>
          <p:nvPr/>
        </p:nvGrpSpPr>
        <p:grpSpPr>
          <a:xfrm>
            <a:off x="186028" y="3878243"/>
            <a:ext cx="4181780" cy="1943712"/>
            <a:chOff x="186028" y="3878243"/>
            <a:chExt cx="4181780" cy="1943712"/>
          </a:xfrm>
        </p:grpSpPr>
        <p:cxnSp>
          <p:nvCxnSpPr>
            <p:cNvPr id="38" name="Straight Connector 37">
              <a:extLst>
                <a:ext uri="{FF2B5EF4-FFF2-40B4-BE49-F238E27FC236}">
                  <a16:creationId xmlns:a16="http://schemas.microsoft.com/office/drawing/2014/main" id="{1E71370D-1644-0199-C24C-4BF8194A6E78}"/>
                </a:ext>
              </a:extLst>
            </p:cNvPr>
            <p:cNvCxnSpPr>
              <a:cxnSpLocks/>
            </p:cNvCxnSpPr>
            <p:nvPr/>
          </p:nvCxnSpPr>
          <p:spPr>
            <a:xfrm flipH="1">
              <a:off x="191344" y="4293096"/>
              <a:ext cx="317477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DE0ADCC-6AAD-FDC8-4F84-372658C793A5}"/>
                </a:ext>
              </a:extLst>
            </p:cNvPr>
            <p:cNvCxnSpPr>
              <a:cxnSpLocks/>
            </p:cNvCxnSpPr>
            <p:nvPr/>
          </p:nvCxnSpPr>
          <p:spPr>
            <a:xfrm flipV="1">
              <a:off x="203335" y="4221088"/>
              <a:ext cx="0" cy="151216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BAC29B-223E-69B2-4667-4B5ECF81470C}"/>
                </a:ext>
              </a:extLst>
            </p:cNvPr>
            <p:cNvCxnSpPr>
              <a:cxnSpLocks/>
            </p:cNvCxnSpPr>
            <p:nvPr/>
          </p:nvCxnSpPr>
          <p:spPr>
            <a:xfrm>
              <a:off x="189835" y="5727413"/>
              <a:ext cx="4177973"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A7CD1EF-0B32-54A6-672B-3E3FAD20D630}"/>
                </a:ext>
              </a:extLst>
            </p:cNvPr>
            <p:cNvSpPr txBox="1"/>
            <p:nvPr/>
          </p:nvSpPr>
          <p:spPr>
            <a:xfrm>
              <a:off x="186028" y="3878243"/>
              <a:ext cx="1922284" cy="403639"/>
            </a:xfrm>
            <a:prstGeom prst="rect">
              <a:avLst/>
            </a:prstGeom>
            <a:solidFill>
              <a:schemeClr val="accent1"/>
            </a:solidFill>
          </p:spPr>
          <p:txBody>
            <a:bodyPr wrap="square" rtlCol="0">
              <a:noAutofit/>
            </a:bodyPr>
            <a:lstStyle/>
            <a:p>
              <a:r>
                <a:rPr lang="en-US" sz="2000" b="1" dirty="0">
                  <a:solidFill>
                    <a:schemeClr val="bg1"/>
                  </a:solidFill>
                </a:rPr>
                <a:t>Hardware Layer</a:t>
              </a:r>
              <a:endParaRPr lang="nl-BE" sz="2000" b="1" dirty="0">
                <a:solidFill>
                  <a:schemeClr val="bg1"/>
                </a:solidFill>
              </a:endParaRPr>
            </a:p>
          </p:txBody>
        </p:sp>
        <p:sp>
          <p:nvSpPr>
            <p:cNvPr id="55" name="TextBox 54">
              <a:extLst>
                <a:ext uri="{FF2B5EF4-FFF2-40B4-BE49-F238E27FC236}">
                  <a16:creationId xmlns:a16="http://schemas.microsoft.com/office/drawing/2014/main" id="{BB2CFB98-DB30-966C-136C-8CBBB00E1CF4}"/>
                </a:ext>
              </a:extLst>
            </p:cNvPr>
            <p:cNvSpPr txBox="1"/>
            <p:nvPr/>
          </p:nvSpPr>
          <p:spPr>
            <a:xfrm>
              <a:off x="197254" y="4293096"/>
              <a:ext cx="3361225" cy="1528859"/>
            </a:xfrm>
            <a:prstGeom prst="rect">
              <a:avLst/>
            </a:prstGeom>
            <a:noFill/>
          </p:spPr>
          <p:txBody>
            <a:bodyPr wrap="square" rtlCol="0">
              <a:spAutoFit/>
            </a:bodyPr>
            <a:lstStyle/>
            <a:p>
              <a:r>
                <a:rPr lang="en-US" dirty="0"/>
                <a:t>Hundreds of nodes</a:t>
              </a:r>
              <a:br>
                <a:rPr lang="en-US" dirty="0"/>
              </a:br>
              <a:r>
                <a:rPr lang="en-US" dirty="0"/>
                <a:t>Tens of cores per node</a:t>
              </a:r>
            </a:p>
            <a:p>
              <a:r>
                <a:rPr lang="en-US" dirty="0"/>
                <a:t>Large memory</a:t>
              </a:r>
            </a:p>
            <a:p>
              <a:r>
                <a:rPr lang="en-US" dirty="0"/>
                <a:t>Fast interconnect</a:t>
              </a:r>
            </a:p>
            <a:p>
              <a:r>
                <a:rPr lang="en-US" dirty="0"/>
                <a:t>GPUs and Network filesystem</a:t>
              </a:r>
              <a:endParaRPr lang="nl-BE" dirty="0"/>
            </a:p>
          </p:txBody>
        </p:sp>
      </p:grpSp>
      <p:grpSp>
        <p:nvGrpSpPr>
          <p:cNvPr id="59" name="Group 58">
            <a:extLst>
              <a:ext uri="{FF2B5EF4-FFF2-40B4-BE49-F238E27FC236}">
                <a16:creationId xmlns:a16="http://schemas.microsoft.com/office/drawing/2014/main" id="{02583DC1-1659-8ECF-D103-8B9728264418}"/>
              </a:ext>
            </a:extLst>
          </p:cNvPr>
          <p:cNvGrpSpPr/>
          <p:nvPr/>
        </p:nvGrpSpPr>
        <p:grpSpPr>
          <a:xfrm>
            <a:off x="7652049" y="1016378"/>
            <a:ext cx="4260324" cy="1918825"/>
            <a:chOff x="7652049" y="1016378"/>
            <a:chExt cx="4260324" cy="1918825"/>
          </a:xfrm>
        </p:grpSpPr>
        <p:grpSp>
          <p:nvGrpSpPr>
            <p:cNvPr id="20" name="Group 19">
              <a:extLst>
                <a:ext uri="{FF2B5EF4-FFF2-40B4-BE49-F238E27FC236}">
                  <a16:creationId xmlns:a16="http://schemas.microsoft.com/office/drawing/2014/main" id="{B89A62F3-5E78-F3A3-BC6B-BA3B26B1D5A2}"/>
                </a:ext>
              </a:extLst>
            </p:cNvPr>
            <p:cNvGrpSpPr/>
            <p:nvPr/>
          </p:nvGrpSpPr>
          <p:grpSpPr>
            <a:xfrm>
              <a:off x="7652049" y="1412776"/>
              <a:ext cx="4253449" cy="1311173"/>
              <a:chOff x="7176120" y="1109715"/>
              <a:chExt cx="4253449" cy="1311173"/>
            </a:xfrm>
          </p:grpSpPr>
          <p:cxnSp>
            <p:nvCxnSpPr>
              <p:cNvPr id="8" name="Straight Connector 7">
                <a:extLst>
                  <a:ext uri="{FF2B5EF4-FFF2-40B4-BE49-F238E27FC236}">
                    <a16:creationId xmlns:a16="http://schemas.microsoft.com/office/drawing/2014/main" id="{B4080E82-4F77-F499-ACF0-5F141A7A090A}"/>
                  </a:ext>
                </a:extLst>
              </p:cNvPr>
              <p:cNvCxnSpPr>
                <a:cxnSpLocks/>
              </p:cNvCxnSpPr>
              <p:nvPr/>
            </p:nvCxnSpPr>
            <p:spPr>
              <a:xfrm>
                <a:off x="7176120" y="1109715"/>
                <a:ext cx="425344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840D770-F9C1-A315-C815-AEE1A1FD72C0}"/>
                  </a:ext>
                </a:extLst>
              </p:cNvPr>
              <p:cNvCxnSpPr>
                <a:cxnSpLocks/>
              </p:cNvCxnSpPr>
              <p:nvPr/>
            </p:nvCxnSpPr>
            <p:spPr>
              <a:xfrm>
                <a:off x="11427609" y="1124745"/>
                <a:ext cx="0" cy="129614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49079F-562A-2B57-2A00-2426AF31C167}"/>
                  </a:ext>
                </a:extLst>
              </p:cNvPr>
              <p:cNvCxnSpPr>
                <a:cxnSpLocks/>
              </p:cNvCxnSpPr>
              <p:nvPr/>
            </p:nvCxnSpPr>
            <p:spPr>
              <a:xfrm flipH="1">
                <a:off x="8212359" y="2420888"/>
                <a:ext cx="3217210"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5A65C7FA-359D-E17E-B771-AD783D73EDAD}"/>
                </a:ext>
              </a:extLst>
            </p:cNvPr>
            <p:cNvSpPr txBox="1"/>
            <p:nvPr/>
          </p:nvSpPr>
          <p:spPr>
            <a:xfrm>
              <a:off x="10135322" y="1016378"/>
              <a:ext cx="1777051" cy="407635"/>
            </a:xfrm>
            <a:prstGeom prst="rect">
              <a:avLst/>
            </a:prstGeom>
            <a:solidFill>
              <a:schemeClr val="accent1"/>
            </a:solidFill>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sp>
          <p:nvSpPr>
            <p:cNvPr id="58" name="TextBox 57">
              <a:extLst>
                <a:ext uri="{FF2B5EF4-FFF2-40B4-BE49-F238E27FC236}">
                  <a16:creationId xmlns:a16="http://schemas.microsoft.com/office/drawing/2014/main" id="{06024C55-7F2A-8CF8-0BB3-FA469CA9F41F}"/>
                </a:ext>
              </a:extLst>
            </p:cNvPr>
            <p:cNvSpPr txBox="1"/>
            <p:nvPr/>
          </p:nvSpPr>
          <p:spPr>
            <a:xfrm>
              <a:off x="7968208" y="1457875"/>
              <a:ext cx="3937289" cy="1477328"/>
            </a:xfrm>
            <a:prstGeom prst="rect">
              <a:avLst/>
            </a:prstGeom>
            <a:noFill/>
          </p:spPr>
          <p:txBody>
            <a:bodyPr wrap="square" rtlCol="0">
              <a:noAutofit/>
            </a:bodyPr>
            <a:lstStyle/>
            <a:p>
              <a:r>
                <a:rPr lang="en-US" dirty="0"/>
                <a:t>   Linux OS + system libraries</a:t>
              </a:r>
              <a:br>
                <a:rPr lang="en-US" dirty="0"/>
              </a:br>
              <a:r>
                <a:rPr lang="en-US" dirty="0"/>
                <a:t>       (GCC) Compilers</a:t>
              </a:r>
              <a:br>
                <a:rPr lang="en-US" dirty="0"/>
              </a:br>
              <a:r>
                <a:rPr lang="en-US" dirty="0"/>
                <a:t>          Parallel libraries (OpenMP, MPI, …)</a:t>
              </a:r>
              <a:br>
                <a:rPr lang="en-US" dirty="0"/>
              </a:br>
              <a:r>
                <a:rPr lang="en-US" dirty="0"/>
                <a:t>            Parallelized software</a:t>
              </a:r>
              <a:br>
                <a:rPr lang="en-US" dirty="0"/>
              </a:br>
              <a:r>
                <a:rPr lang="en-US" dirty="0"/>
                <a:t>          </a:t>
              </a:r>
              <a:endParaRPr lang="nl-BE" dirty="0"/>
            </a:p>
          </p:txBody>
        </p:sp>
      </p:grpSp>
      <p:grpSp>
        <p:nvGrpSpPr>
          <p:cNvPr id="13337" name="Group 13336">
            <a:extLst>
              <a:ext uri="{FF2B5EF4-FFF2-40B4-BE49-F238E27FC236}">
                <a16:creationId xmlns:a16="http://schemas.microsoft.com/office/drawing/2014/main" id="{DB00584C-C570-ACCB-B697-68C262BF90E8}"/>
              </a:ext>
            </a:extLst>
          </p:cNvPr>
          <p:cNvGrpSpPr/>
          <p:nvPr/>
        </p:nvGrpSpPr>
        <p:grpSpPr>
          <a:xfrm>
            <a:off x="7762250" y="3525421"/>
            <a:ext cx="4177973" cy="2252958"/>
            <a:chOff x="7824194" y="3525421"/>
            <a:chExt cx="4116029" cy="2252958"/>
          </a:xfrm>
        </p:grpSpPr>
        <p:grpSp>
          <p:nvGrpSpPr>
            <p:cNvPr id="13331" name="Group 13330">
              <a:extLst>
                <a:ext uri="{FF2B5EF4-FFF2-40B4-BE49-F238E27FC236}">
                  <a16:creationId xmlns:a16="http://schemas.microsoft.com/office/drawing/2014/main" id="{8137C062-0638-BE7A-F18C-07378EF99885}"/>
                </a:ext>
              </a:extLst>
            </p:cNvPr>
            <p:cNvGrpSpPr/>
            <p:nvPr/>
          </p:nvGrpSpPr>
          <p:grpSpPr>
            <a:xfrm>
              <a:off x="7824194" y="3525421"/>
              <a:ext cx="4116029" cy="2252958"/>
              <a:chOff x="7824194" y="3486140"/>
              <a:chExt cx="4116029" cy="2252958"/>
            </a:xfrm>
          </p:grpSpPr>
          <p:cxnSp>
            <p:nvCxnSpPr>
              <p:cNvPr id="13322" name="Straight Connector 13321">
                <a:extLst>
                  <a:ext uri="{FF2B5EF4-FFF2-40B4-BE49-F238E27FC236}">
                    <a16:creationId xmlns:a16="http://schemas.microsoft.com/office/drawing/2014/main" id="{06AA5C48-DDE7-327F-DA6B-A8F99A3DE7C7}"/>
                  </a:ext>
                </a:extLst>
              </p:cNvPr>
              <p:cNvCxnSpPr>
                <a:cxnSpLocks/>
              </p:cNvCxnSpPr>
              <p:nvPr/>
            </p:nvCxnSpPr>
            <p:spPr>
              <a:xfrm>
                <a:off x="8843879" y="3893775"/>
                <a:ext cx="306161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5" name="Straight Connector 13324">
                <a:extLst>
                  <a:ext uri="{FF2B5EF4-FFF2-40B4-BE49-F238E27FC236}">
                    <a16:creationId xmlns:a16="http://schemas.microsoft.com/office/drawing/2014/main" id="{0A32C67F-98F5-ABCE-BC6F-B9CD96A1DBA2}"/>
                  </a:ext>
                </a:extLst>
              </p:cNvPr>
              <p:cNvCxnSpPr>
                <a:cxnSpLocks/>
              </p:cNvCxnSpPr>
              <p:nvPr/>
            </p:nvCxnSpPr>
            <p:spPr>
              <a:xfrm flipH="1">
                <a:off x="11903538" y="3893775"/>
                <a:ext cx="25110" cy="183363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8" name="Straight Connector 13327">
                <a:extLst>
                  <a:ext uri="{FF2B5EF4-FFF2-40B4-BE49-F238E27FC236}">
                    <a16:creationId xmlns:a16="http://schemas.microsoft.com/office/drawing/2014/main" id="{070D9617-8E68-A5F6-A2CD-7387E3897277}"/>
                  </a:ext>
                </a:extLst>
              </p:cNvPr>
              <p:cNvCxnSpPr>
                <a:cxnSpLocks/>
              </p:cNvCxnSpPr>
              <p:nvPr/>
            </p:nvCxnSpPr>
            <p:spPr>
              <a:xfrm flipH="1" flipV="1">
                <a:off x="7824194" y="5727413"/>
                <a:ext cx="4081304"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330" name="TextBox 13329">
                <a:extLst>
                  <a:ext uri="{FF2B5EF4-FFF2-40B4-BE49-F238E27FC236}">
                    <a16:creationId xmlns:a16="http://schemas.microsoft.com/office/drawing/2014/main" id="{4701DDB9-EFB2-702B-CFA1-4C387F3E4F13}"/>
                  </a:ext>
                </a:extLst>
              </p:cNvPr>
              <p:cNvSpPr txBox="1"/>
              <p:nvPr/>
            </p:nvSpPr>
            <p:spPr>
              <a:xfrm>
                <a:off x="10388820" y="3486140"/>
                <a:ext cx="1551403" cy="407635"/>
              </a:xfrm>
              <a:prstGeom prst="rect">
                <a:avLst/>
              </a:prstGeom>
              <a:solidFill>
                <a:schemeClr val="accent1"/>
              </a:solidFill>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sp>
          <p:nvSpPr>
            <p:cNvPr id="13335" name="TextBox 13334">
              <a:extLst>
                <a:ext uri="{FF2B5EF4-FFF2-40B4-BE49-F238E27FC236}">
                  <a16:creationId xmlns:a16="http://schemas.microsoft.com/office/drawing/2014/main" id="{0E2D78EC-0639-9657-AE0B-8AC07CC8BCA0}"/>
                </a:ext>
              </a:extLst>
            </p:cNvPr>
            <p:cNvSpPr txBox="1"/>
            <p:nvPr/>
          </p:nvSpPr>
          <p:spPr>
            <a:xfrm>
              <a:off x="8133898" y="3978930"/>
              <a:ext cx="3778474" cy="1754326"/>
            </a:xfrm>
            <a:prstGeom prst="rect">
              <a:avLst/>
            </a:prstGeom>
            <a:noFill/>
          </p:spPr>
          <p:txBody>
            <a:bodyPr wrap="square" rtlCol="0">
              <a:spAutoFit/>
            </a:bodyPr>
            <a:lstStyle/>
            <a:p>
              <a:r>
                <a:rPr lang="en-US" dirty="0"/>
                <a:t>                Genomics</a:t>
              </a:r>
              <a:br>
                <a:rPr lang="en-US" dirty="0"/>
              </a:br>
              <a:r>
                <a:rPr lang="en-US" dirty="0"/>
                <a:t>               Numerical (CFD) simulations</a:t>
              </a:r>
              <a:br>
                <a:rPr lang="en-US" dirty="0"/>
              </a:br>
              <a:r>
                <a:rPr lang="en-US" dirty="0"/>
                <a:t>              Molecular dynamics</a:t>
              </a:r>
              <a:br>
                <a:rPr lang="en-US" dirty="0"/>
              </a:br>
              <a:r>
                <a:rPr lang="en-US" dirty="0"/>
                <a:t>            Long-term weather predictions</a:t>
              </a:r>
              <a:br>
                <a:rPr lang="en-US" dirty="0"/>
              </a:br>
              <a:r>
                <a:rPr lang="en-US" dirty="0"/>
                <a:t>         Machine learning and AI</a:t>
              </a:r>
              <a:br>
                <a:rPr lang="en-US" dirty="0"/>
              </a:br>
              <a:r>
                <a:rPr lang="en-US" dirty="0"/>
                <a:t>      data pre-/post-processing</a:t>
              </a:r>
              <a:endParaRPr lang="nl-BE" dirty="0"/>
            </a:p>
          </p:txBody>
        </p:sp>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dirty="0" err="1"/>
              <a:t>What</a:t>
            </a:r>
            <a:r>
              <a:rPr lang="nl-BE" dirty="0"/>
              <a:t> is High Performance Computing</a:t>
            </a:r>
            <a:r>
              <a:rPr lang="en-US" dirty="0"/>
              <a:t>?</a:t>
            </a:r>
            <a:endParaRPr lang="en-US" altLang="en-US"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grpSp>
        <p:nvGrpSpPr>
          <p:cNvPr id="10" name="Group 9">
            <a:extLst>
              <a:ext uri="{FF2B5EF4-FFF2-40B4-BE49-F238E27FC236}">
                <a16:creationId xmlns:a16="http://schemas.microsoft.com/office/drawing/2014/main" id="{76E60B2B-F5AA-B221-947B-83AEAA7272D0}"/>
              </a:ext>
            </a:extLst>
          </p:cNvPr>
          <p:cNvGrpSpPr/>
          <p:nvPr/>
        </p:nvGrpSpPr>
        <p:grpSpPr>
          <a:xfrm>
            <a:off x="511494" y="1271662"/>
            <a:ext cx="5333357" cy="4029546"/>
            <a:chOff x="511494" y="1030723"/>
            <a:chExt cx="5333357" cy="4029546"/>
          </a:xfrm>
        </p:grpSpPr>
        <p:sp>
          <p:nvSpPr>
            <p:cNvPr id="3" name="TextBox 2"/>
            <p:cNvSpPr txBox="1"/>
            <p:nvPr/>
          </p:nvSpPr>
          <p:spPr>
            <a:xfrm>
              <a:off x="518042" y="1413117"/>
              <a:ext cx="5326809" cy="3647152"/>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100" dirty="0"/>
                <a:t>VSC</a:t>
              </a:r>
            </a:p>
            <a:p>
              <a:pPr marL="324000" indent="-324000">
                <a:buClr>
                  <a:srgbClr val="DB6C30"/>
                </a:buClr>
                <a:buFont typeface="Wingdings" panose="05000000000000000000" pitchFamily="2" charset="2"/>
                <a:buChar char="q"/>
              </a:pPr>
              <a:r>
                <a:rPr lang="en-US" sz="2100" dirty="0"/>
                <a:t>Tier-2 clusters</a:t>
              </a:r>
            </a:p>
            <a:p>
              <a:pPr marL="324000" indent="-324000">
                <a:buClr>
                  <a:srgbClr val="DB6C30"/>
                </a:buClr>
                <a:buFont typeface="Wingdings" panose="05000000000000000000" pitchFamily="2" charset="2"/>
                <a:buChar char="q"/>
              </a:pPr>
              <a:r>
                <a:rPr lang="en-US" sz="2100" dirty="0"/>
                <a:t>Storage</a:t>
              </a:r>
            </a:p>
            <a:p>
              <a:pPr marL="324000" indent="-324000">
                <a:buClr>
                  <a:srgbClr val="DB6C30"/>
                </a:buClr>
                <a:buFont typeface="Wingdings" panose="05000000000000000000" pitchFamily="2" charset="2"/>
                <a:buChar char="q"/>
              </a:pPr>
              <a:r>
                <a:rPr lang="en-US" sz="2100" dirty="0"/>
                <a:t>Accounting</a:t>
              </a:r>
            </a:p>
            <a:p>
              <a:pPr marL="324000" indent="-324000">
                <a:buClr>
                  <a:srgbClr val="DB6C30"/>
                </a:buClr>
                <a:buFont typeface="Wingdings" panose="05000000000000000000" pitchFamily="2" charset="2"/>
                <a:buChar char="q"/>
              </a:pPr>
              <a:r>
                <a:rPr lang="en-US" sz="2100" dirty="0"/>
                <a:t>Login</a:t>
              </a:r>
              <a:br>
                <a:rPr lang="en-US" sz="2100" dirty="0"/>
              </a:br>
              <a:r>
                <a:rPr lang="en-US" sz="2100" dirty="0"/>
                <a:t>Open OnDemand</a:t>
              </a:r>
              <a:br>
                <a:rPr lang="en-US" sz="2100" dirty="0"/>
              </a:br>
              <a:r>
                <a:rPr lang="en-US" sz="2100" dirty="0"/>
                <a:t>SSH client &amp; terminal</a:t>
              </a:r>
            </a:p>
            <a:p>
              <a:pPr marL="324000" indent="-324000">
                <a:buClr>
                  <a:srgbClr val="DB6C30"/>
                </a:buClr>
                <a:buFont typeface="Wingdings" panose="05000000000000000000" pitchFamily="2" charset="2"/>
                <a:buChar char="q"/>
              </a:pPr>
              <a:r>
                <a:rPr lang="en-US" sz="2100" dirty="0"/>
                <a:t>Data transfer</a:t>
              </a:r>
              <a:br>
                <a:rPr lang="en-US" sz="2100" dirty="0"/>
              </a:br>
              <a:r>
                <a:rPr lang="en-US" sz="2100" dirty="0"/>
                <a:t>FileZilla</a:t>
              </a:r>
              <a:br>
                <a:rPr lang="en-US" sz="2100" dirty="0"/>
              </a:br>
              <a:r>
                <a:rPr lang="en-US" sz="2100" dirty="0" err="1"/>
                <a:t>rsync</a:t>
              </a:r>
              <a:br>
                <a:rPr lang="en-US" sz="2100" dirty="0"/>
              </a:br>
              <a:r>
                <a:rPr lang="en-US" sz="2100" dirty="0"/>
                <a:t>Globus</a:t>
              </a:r>
            </a:p>
          </p:txBody>
        </p:sp>
        <p:sp>
          <p:nvSpPr>
            <p:cNvPr id="9" name="TextBox 8">
              <a:extLst>
                <a:ext uri="{FF2B5EF4-FFF2-40B4-BE49-F238E27FC236}">
                  <a16:creationId xmlns:a16="http://schemas.microsoft.com/office/drawing/2014/main" id="{87586110-722A-4490-5C5D-C78335ED5432}"/>
                </a:ext>
              </a:extLst>
            </p:cNvPr>
            <p:cNvSpPr txBox="1"/>
            <p:nvPr/>
          </p:nvSpPr>
          <p:spPr>
            <a:xfrm>
              <a:off x="511494" y="1030723"/>
              <a:ext cx="1905550" cy="400110"/>
            </a:xfrm>
            <a:prstGeom prst="rect">
              <a:avLst/>
            </a:prstGeom>
            <a:solidFill>
              <a:schemeClr val="accent1"/>
            </a:solidFill>
          </p:spPr>
          <p:txBody>
            <a:bodyPr wrap="square" rtlCol="0">
              <a:spAutoFit/>
            </a:bodyPr>
            <a:lstStyle/>
            <a:p>
              <a:r>
                <a:rPr lang="en-US" sz="2000" b="1" dirty="0"/>
                <a:t>Part 1: Basics</a:t>
              </a:r>
              <a:endParaRPr lang="nl-BE" sz="2000" b="1" dirty="0"/>
            </a:p>
          </p:txBody>
        </p:sp>
      </p:grpSp>
      <p:grpSp>
        <p:nvGrpSpPr>
          <p:cNvPr id="11" name="Group 10">
            <a:extLst>
              <a:ext uri="{FF2B5EF4-FFF2-40B4-BE49-F238E27FC236}">
                <a16:creationId xmlns:a16="http://schemas.microsoft.com/office/drawing/2014/main" id="{12F9E280-9B11-66A2-7709-C1EB7BC08AEF}"/>
              </a:ext>
            </a:extLst>
          </p:cNvPr>
          <p:cNvGrpSpPr/>
          <p:nvPr/>
        </p:nvGrpSpPr>
        <p:grpSpPr>
          <a:xfrm>
            <a:off x="6505191" y="1268264"/>
            <a:ext cx="5343518" cy="2035106"/>
            <a:chOff x="501333" y="1030723"/>
            <a:chExt cx="5343518" cy="2035106"/>
          </a:xfrm>
        </p:grpSpPr>
        <p:sp>
          <p:nvSpPr>
            <p:cNvPr id="12" name="TextBox 11">
              <a:extLst>
                <a:ext uri="{FF2B5EF4-FFF2-40B4-BE49-F238E27FC236}">
                  <a16:creationId xmlns:a16="http://schemas.microsoft.com/office/drawing/2014/main" id="{1CA2BB6B-6046-2458-A97D-9D240453F2CA}"/>
                </a:ext>
              </a:extLst>
            </p:cNvPr>
            <p:cNvSpPr txBox="1"/>
            <p:nvPr/>
          </p:nvSpPr>
          <p:spPr>
            <a:xfrm>
              <a:off x="518042" y="1434613"/>
              <a:ext cx="5326809" cy="1631216"/>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Using Open OnDemand</a:t>
              </a:r>
            </a:p>
            <a:p>
              <a:pPr marL="324000" indent="-324000">
                <a:buClr>
                  <a:srgbClr val="DB6C30"/>
                </a:buClr>
                <a:buFont typeface="Wingdings" panose="05000000000000000000" pitchFamily="2" charset="2"/>
                <a:buChar char="q"/>
              </a:pPr>
              <a:r>
                <a:rPr lang="en-US" sz="2000" dirty="0"/>
                <a:t>Software</a:t>
              </a:r>
            </a:p>
            <a:p>
              <a:pPr marL="324000" indent="-324000">
                <a:buClr>
                  <a:srgbClr val="DB6C30"/>
                </a:buClr>
                <a:buFont typeface="Wingdings" panose="05000000000000000000" pitchFamily="2" charset="2"/>
                <a:buChar char="q"/>
              </a:pPr>
              <a:r>
                <a:rPr lang="en-US" sz="2000" dirty="0" err="1"/>
                <a:t>Miniconda</a:t>
              </a:r>
              <a:endParaRPr lang="en-US" sz="2000" dirty="0"/>
            </a:p>
            <a:p>
              <a:pPr marL="324000" indent="-324000">
                <a:buClr>
                  <a:srgbClr val="DB6C30"/>
                </a:buClr>
                <a:buFont typeface="Wingdings" panose="05000000000000000000" pitchFamily="2" charset="2"/>
                <a:buChar char="q"/>
              </a:pPr>
              <a:r>
                <a:rPr lang="en-US" sz="2000" dirty="0"/>
                <a:t>Batch jobs</a:t>
              </a:r>
            </a:p>
            <a:p>
              <a:pPr marL="324000" indent="-324000">
                <a:buClr>
                  <a:srgbClr val="DB6C30"/>
                </a:buClr>
                <a:buFont typeface="Wingdings" panose="05000000000000000000" pitchFamily="2" charset="2"/>
                <a:buChar char="q"/>
              </a:pPr>
              <a:r>
                <a:rPr lang="en-US" sz="2000" dirty="0"/>
                <a:t>Demo: try things yourself</a:t>
              </a:r>
            </a:p>
          </p:txBody>
        </p:sp>
        <p:sp>
          <p:nvSpPr>
            <p:cNvPr id="13" name="TextBox 12">
              <a:extLst>
                <a:ext uri="{FF2B5EF4-FFF2-40B4-BE49-F238E27FC236}">
                  <a16:creationId xmlns:a16="http://schemas.microsoft.com/office/drawing/2014/main" id="{EA15D92B-96CB-26DF-576A-A0D336448DED}"/>
                </a:ext>
              </a:extLst>
            </p:cNvPr>
            <p:cNvSpPr txBox="1"/>
            <p:nvPr/>
          </p:nvSpPr>
          <p:spPr>
            <a:xfrm>
              <a:off x="501333" y="1030723"/>
              <a:ext cx="2055789" cy="400110"/>
            </a:xfrm>
            <a:prstGeom prst="rect">
              <a:avLst/>
            </a:prstGeom>
            <a:solidFill>
              <a:schemeClr val="accent1"/>
            </a:solidFill>
          </p:spPr>
          <p:txBody>
            <a:bodyPr wrap="square" rtlCol="0">
              <a:spAutoFit/>
            </a:bodyPr>
            <a:lstStyle/>
            <a:p>
              <a:r>
                <a:rPr lang="en-US" sz="2000" b="1" dirty="0"/>
                <a:t>Part 2: Hands-on</a:t>
              </a:r>
              <a:endParaRPr lang="nl-BE" sz="2000" b="1" dirty="0"/>
            </a:p>
          </p:txBody>
        </p:sp>
      </p:gr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Visit </a:t>
            </a:r>
            <a:r>
              <a:rPr lang="en-US" sz="2000" b="1" dirty="0">
                <a:hlinkClick r:id="rId4"/>
              </a:rPr>
              <a:t>https://vscentrum.be</a:t>
            </a:r>
            <a:endParaRPr lang="nl-BE" sz="2000" b="1" dirty="0"/>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Manage your VSC account at</a:t>
              </a:r>
              <a:br>
                <a:rPr lang="en-US" sz="2000" dirty="0"/>
              </a:br>
              <a:r>
                <a:rPr lang="en-US" sz="2000" b="1" dirty="0">
                  <a:solidFill>
                    <a:schemeClr val="bg2"/>
                  </a:solidFill>
                  <a:hlinkClick r:id="rId3"/>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8042" y="1312307"/>
            <a:ext cx="7322128" cy="4708981"/>
          </a:xfrm>
          <a:prstGeom prst="rect">
            <a:avLst/>
          </a:prstGeom>
          <a:noFill/>
          <a:ln w="1905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(Optional) Create a secure (4096 bit) </a:t>
            </a:r>
            <a:r>
              <a:rPr lang="en-US" sz="2000" dirty="0">
                <a:hlinkClick r:id="rId3"/>
              </a:rPr>
              <a:t>SSH key pairs</a:t>
            </a:r>
            <a:br>
              <a:rPr lang="en-US" sz="2000" dirty="0"/>
            </a:br>
            <a:r>
              <a:rPr lang="en-US" sz="2000" dirty="0"/>
              <a:t>Upload it on the account page: </a:t>
            </a:r>
            <a:r>
              <a:rPr lang="en-US" sz="2000" dirty="0">
                <a:hlinkClick r:id="rId4"/>
              </a:rPr>
              <a:t>https://account.vscentrum.be</a:t>
            </a:r>
            <a:r>
              <a:rPr lang="en-US" sz="2000" dirty="0"/>
              <a:t> </a:t>
            </a:r>
          </a:p>
          <a:p>
            <a:pPr marL="324000" indent="-324000">
              <a:buClr>
                <a:srgbClr val="DB6C30"/>
              </a:buClr>
              <a:buFont typeface="Wingdings" panose="05000000000000000000" pitchFamily="2" charset="2"/>
              <a:buChar char="q"/>
            </a:pPr>
            <a:r>
              <a:rPr lang="en-US" sz="2000" dirty="0"/>
              <a:t>You need to </a:t>
            </a:r>
            <a:r>
              <a:rPr lang="en-US" sz="2000" dirty="0">
                <a:hlinkClick r:id="rId5"/>
              </a:rPr>
              <a:t>request a VSC account</a:t>
            </a:r>
            <a:r>
              <a:rPr lang="en-US" sz="2000" dirty="0"/>
              <a:t> </a:t>
            </a:r>
            <a:br>
              <a:rPr lang="en-US" sz="2000" dirty="0"/>
            </a:br>
            <a:r>
              <a:rPr lang="en-US" sz="2000" dirty="0"/>
              <a:t>Normally gets processed swiftly</a:t>
            </a:r>
          </a:p>
          <a:p>
            <a:pPr marL="324000" indent="-324000">
              <a:buClr>
                <a:srgbClr val="DB6C30"/>
              </a:buClr>
              <a:buFont typeface="Wingdings" panose="05000000000000000000" pitchFamily="2" charset="2"/>
              <a:buChar char="q"/>
            </a:pPr>
            <a:r>
              <a:rPr lang="en-US" sz="2000" dirty="0"/>
              <a:t>Request </a:t>
            </a:r>
            <a:r>
              <a:rPr lang="en-US" sz="2000" dirty="0">
                <a:hlinkClick r:id="rId6"/>
              </a:rPr>
              <a:t>introductory credits</a:t>
            </a:r>
            <a:r>
              <a:rPr lang="en-US" sz="2000" dirty="0"/>
              <a:t> (2M free credits for 6 months)</a:t>
            </a:r>
          </a:p>
          <a:p>
            <a:pPr marL="324000" indent="-324000">
              <a:buClr>
                <a:srgbClr val="DB6C30"/>
              </a:buClr>
              <a:buFont typeface="Wingdings" panose="05000000000000000000" pitchFamily="2" charset="2"/>
              <a:buChar char="q"/>
            </a:pPr>
            <a:r>
              <a:rPr lang="en-US" sz="2000" dirty="0"/>
              <a:t>Request </a:t>
            </a:r>
            <a:r>
              <a:rPr lang="en-US" sz="2000" dirty="0">
                <a:hlinkClick r:id="rId7"/>
              </a:rPr>
              <a:t>project credits</a:t>
            </a:r>
            <a:r>
              <a:rPr lang="en-US" sz="2000" dirty="0"/>
              <a:t> (for supervisors and project leaders)</a:t>
            </a:r>
            <a:br>
              <a:rPr lang="en-US" sz="2000" dirty="0"/>
            </a:br>
            <a:r>
              <a:rPr lang="en-US" sz="2000" dirty="0"/>
              <a:t>You need to create a VSC group</a:t>
            </a:r>
            <a:br>
              <a:rPr lang="en-US" sz="2000" dirty="0"/>
            </a:br>
            <a:r>
              <a:rPr lang="en-US" sz="2000" dirty="0"/>
              <a:t>Add users to the group to give them access to use credits</a:t>
            </a:r>
            <a:br>
              <a:rPr lang="en-US" sz="2000" dirty="0"/>
            </a:br>
            <a:r>
              <a:rPr lang="en-US" sz="2000" dirty="0"/>
              <a:t>Fill out the request form</a:t>
            </a:r>
          </a:p>
          <a:p>
            <a:pPr marL="324000" indent="-324000">
              <a:buClr>
                <a:srgbClr val="DB6C30"/>
              </a:buClr>
              <a:buFont typeface="Wingdings" panose="05000000000000000000" pitchFamily="2" charset="2"/>
              <a:buChar char="q"/>
            </a:pPr>
            <a:r>
              <a:rPr lang="en-US" sz="2000" dirty="0"/>
              <a:t>Extra storage requests</a:t>
            </a:r>
            <a:br>
              <a:rPr lang="en-US" sz="2000" dirty="0"/>
            </a:br>
            <a:r>
              <a:rPr lang="en-US" sz="2000" dirty="0"/>
              <a:t>Scratch extension: free of charge</a:t>
            </a:r>
            <a:br>
              <a:rPr lang="en-US" sz="2000" dirty="0"/>
            </a:br>
            <a:r>
              <a:rPr lang="en-US" sz="2000" dirty="0"/>
              <a:t>Staging storage: 20 € per TB per year</a:t>
            </a:r>
          </a:p>
          <a:p>
            <a:pPr marL="324000" indent="-324000">
              <a:buClr>
                <a:srgbClr val="DB6C30"/>
              </a:buClr>
              <a:buFont typeface="Wingdings" panose="05000000000000000000" pitchFamily="2" charset="2"/>
              <a:buChar char="q"/>
            </a:pPr>
            <a:r>
              <a:rPr lang="en-US" sz="2000" dirty="0"/>
              <a:t>All service costs (compute and storage) are described </a:t>
            </a:r>
            <a:br>
              <a:rPr lang="en-US" sz="2000" dirty="0"/>
            </a:br>
            <a:r>
              <a:rPr lang="en-US" sz="2000" dirty="0"/>
              <a:t>in the ICTS service catalog: </a:t>
            </a:r>
            <a:r>
              <a:rPr lang="nl-BE" sz="2000" dirty="0">
                <a:hlinkClick r:id="rId8"/>
              </a:rPr>
              <a:t>https://icts.kuleuven.be/sc</a:t>
            </a:r>
            <a:br>
              <a:rPr lang="nl-BE" sz="2000" dirty="0"/>
            </a:br>
            <a:r>
              <a:rPr lang="nl-BE" sz="2000" dirty="0"/>
              <a:t>Click on </a:t>
            </a:r>
            <a:r>
              <a:rPr lang="nl-BE" sz="2000" dirty="0">
                <a:hlinkClick r:id="rId9"/>
              </a:rPr>
              <a:t>High Performance Computing</a:t>
            </a:r>
            <a:r>
              <a:rPr lang="nl-BE" sz="2000" dirty="0"/>
              <a:t> (NL/EN)</a:t>
            </a:r>
          </a:p>
        </p:txBody>
      </p:sp>
      <p:pic>
        <p:nvPicPr>
          <p:cNvPr id="5" name="Picture 4"/>
          <p:cNvPicPr>
            <a:picLocks noChangeAspect="1"/>
          </p:cNvPicPr>
          <p:nvPr/>
        </p:nvPicPr>
        <p:blipFill>
          <a:blip r:embed="rId10"/>
          <a:stretch>
            <a:fillRect/>
          </a:stretch>
        </p:blipFill>
        <p:spPr>
          <a:xfrm>
            <a:off x="8400256" y="3589751"/>
            <a:ext cx="3546352" cy="2417409"/>
          </a:xfrm>
          <a:prstGeom prst="rect">
            <a:avLst/>
          </a:prstGeom>
        </p:spPr>
      </p:pic>
      <p:pic>
        <p:nvPicPr>
          <p:cNvPr id="6" name="Picture 5"/>
          <p:cNvPicPr>
            <a:picLocks noChangeAspect="1"/>
          </p:cNvPicPr>
          <p:nvPr/>
        </p:nvPicPr>
        <p:blipFill>
          <a:blip r:embed="rId11"/>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sp>
        <p:nvSpPr>
          <p:cNvPr id="49155" name="Rectangle 3"/>
          <p:cNvSpPr>
            <a:spLocks noGrp="1" noChangeArrowheads="1"/>
          </p:cNvSpPr>
          <p:nvPr>
            <p:ph idx="1"/>
          </p:nvPr>
        </p:nvSpPr>
        <p:spPr>
          <a:xfrm>
            <a:off x="624532" y="1538739"/>
            <a:ext cx="5075685" cy="1260241"/>
          </a:xfrm>
          <a:ln w="19050">
            <a:solidFill>
              <a:schemeClr val="accent5"/>
            </a:solidFill>
          </a:ln>
        </p:spPr>
        <p:txBody>
          <a:bodyPr lIns="108000" anchor="ctr"/>
          <a:lstStyle/>
          <a:p>
            <a:pPr marL="324000" indent="-324000">
              <a:buClr>
                <a:srgbClr val="DB6C30"/>
              </a:buClr>
              <a:buFont typeface="Wingdings" panose="05000000000000000000" pitchFamily="2" charset="2"/>
              <a:buChar char="q"/>
            </a:pPr>
            <a:r>
              <a:rPr lang="en-US" sz="2000" dirty="0"/>
              <a:t>a contractual obligation for the VSC</a:t>
            </a:r>
          </a:p>
          <a:p>
            <a:pPr marL="324000" indent="-324000">
              <a:buClr>
                <a:srgbClr val="DB6C30"/>
              </a:buClr>
              <a:buFont typeface="Wingdings" panose="05000000000000000000" pitchFamily="2" charset="2"/>
              <a:buChar char="q"/>
            </a:pPr>
            <a:r>
              <a:rPr lang="en-US" sz="2000" dirty="0"/>
              <a:t>helps VSC to secure funding</a:t>
            </a:r>
          </a:p>
          <a:p>
            <a:pPr marL="324000" indent="-324000">
              <a:buClr>
                <a:srgbClr val="DB6C30"/>
              </a:buClr>
              <a:buFont typeface="Wingdings" panose="05000000000000000000" pitchFamily="2" charset="2"/>
              <a:buChar char="q"/>
            </a:pPr>
            <a:r>
              <a:rPr lang="en-US" sz="2000" dirty="0"/>
              <a:t>you will benefit from it in the long run</a:t>
            </a:r>
          </a:p>
        </p:txBody>
      </p:sp>
      <p:grpSp>
        <p:nvGrpSpPr>
          <p:cNvPr id="4" name="Group 3"/>
          <p:cNvGrpSpPr/>
          <p:nvPr/>
        </p:nvGrpSpPr>
        <p:grpSpPr>
          <a:xfrm>
            <a:off x="5951983" y="3212976"/>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sp>
        <p:nvSpPr>
          <p:cNvPr id="10" name="Rectangle 9"/>
          <p:cNvSpPr/>
          <p:nvPr/>
        </p:nvSpPr>
        <p:spPr>
          <a:xfrm>
            <a:off x="3611985" y="1106692"/>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Why?</a:t>
            </a:r>
            <a:endParaRPr lang="nl-BE" dirty="0"/>
          </a:p>
        </p:txBody>
      </p:sp>
      <p:grpSp>
        <p:nvGrpSpPr>
          <p:cNvPr id="7" name="Group 6"/>
          <p:cNvGrpSpPr/>
          <p:nvPr/>
        </p:nvGrpSpPr>
        <p:grpSpPr>
          <a:xfrm>
            <a:off x="624532" y="3212976"/>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grpSp>
        <p:nvGrpSpPr>
          <p:cNvPr id="9" name="Group 8"/>
          <p:cNvGrpSpPr/>
          <p:nvPr/>
        </p:nvGrpSpPr>
        <p:grpSpPr>
          <a:xfrm>
            <a:off x="5989175" y="1106692"/>
            <a:ext cx="5075685" cy="1692288"/>
            <a:chOff x="5989175" y="1106692"/>
            <a:chExt cx="5075685" cy="1692288"/>
          </a:xfrm>
        </p:grpSpPr>
        <p:sp>
          <p:nvSpPr>
            <p:cNvPr id="3" name="Rectangle 2"/>
            <p:cNvSpPr/>
            <p:nvPr/>
          </p:nvSpPr>
          <p:spPr>
            <a:xfrm>
              <a:off x="8904312" y="1106692"/>
              <a:ext cx="2160548"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For KU Leuven users</a:t>
              </a:r>
              <a:endParaRPr lang="nl-BE" dirty="0"/>
            </a:p>
          </p:txBody>
        </p:sp>
        <p:sp>
          <p:nvSpPr>
            <p:cNvPr id="13" name="Rectangle 3"/>
            <p:cNvSpPr txBox="1">
              <a:spLocks noChangeArrowheads="1"/>
            </p:cNvSpPr>
            <p:nvPr/>
          </p:nvSpPr>
          <p:spPr>
            <a:xfrm>
              <a:off x="5989175" y="1538740"/>
              <a:ext cx="5075685" cy="126024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chemeClr val="accent1"/>
                </a:buClr>
                <a:buFont typeface="Wingdings" panose="05000000000000000000" pitchFamily="2" charset="2"/>
                <a:buChar char="q"/>
              </a:pPr>
              <a:r>
                <a:rPr lang="en-US" sz="2000" dirty="0"/>
                <a:t>add the relevant papers to the “KUL-HPC” virtual collection in Lirias</a:t>
              </a:r>
            </a:p>
            <a:p>
              <a:pPr marL="324000" indent="-324000">
                <a:buClr>
                  <a:schemeClr val="accent1"/>
                </a:buClr>
                <a:buFont typeface="Wingdings" panose="05000000000000000000" pitchFamily="2" charset="2"/>
                <a:buChar char="q"/>
              </a:pPr>
              <a:endParaRPr lang="en-US" sz="2000"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b="1"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2D474266-7986-B4D9-14FF-4C8EBF82DD55}"/>
              </a:ext>
            </a:extLst>
          </p:cNvPr>
          <p:cNvGrpSpPr/>
          <p:nvPr/>
        </p:nvGrpSpPr>
        <p:grpSpPr>
          <a:xfrm>
            <a:off x="6875467" y="3695877"/>
            <a:ext cx="1058597" cy="2254184"/>
            <a:chOff x="5781249" y="4359400"/>
            <a:chExt cx="1058597" cy="2254184"/>
          </a:xfrm>
        </p:grpSpPr>
        <p:sp>
          <p:nvSpPr>
            <p:cNvPr id="172" name="Flowchart: Magnetic Disk 25">
              <a:extLst>
                <a:ext uri="{FF2B5EF4-FFF2-40B4-BE49-F238E27FC236}">
                  <a16:creationId xmlns:a16="http://schemas.microsoft.com/office/drawing/2014/main" id="{4E3C0CB8-D031-4606-30EA-6F217B4491F0}"/>
                </a:ext>
              </a:extLst>
            </p:cNvPr>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a:extLst>
                <a:ext uri="{FF2B5EF4-FFF2-40B4-BE49-F238E27FC236}">
                  <a16:creationId xmlns:a16="http://schemas.microsoft.com/office/drawing/2014/main" id="{CA895C0F-5E1F-552D-BB20-45EE413A4FEF}"/>
                </a:ext>
              </a:extLst>
            </p:cNvPr>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a:extLst>
                <a:ext uri="{FF2B5EF4-FFF2-40B4-BE49-F238E27FC236}">
                  <a16:creationId xmlns:a16="http://schemas.microsoft.com/office/drawing/2014/main" id="{5264AA2E-BFE3-B56A-EEF9-7FB1E9BFDA2C}"/>
                </a:ext>
              </a:extLst>
            </p:cNvPr>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sp>
        <p:nvSpPr>
          <p:cNvPr id="128" name="Up-Down Arrow 115">
            <a:extLst>
              <a:ext uri="{FF2B5EF4-FFF2-40B4-BE49-F238E27FC236}">
                <a16:creationId xmlns:a16="http://schemas.microsoft.com/office/drawing/2014/main" id="{9A907052-8FE1-6B69-79CB-7E0C87921C64}"/>
              </a:ext>
            </a:extLst>
          </p:cNvPr>
          <p:cNvSpPr/>
          <p:nvPr/>
        </p:nvSpPr>
        <p:spPr>
          <a:xfrm>
            <a:off x="6724636" y="275221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4895447" y="251154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10" name="Group 9">
            <a:extLst>
              <a:ext uri="{FF2B5EF4-FFF2-40B4-BE49-F238E27FC236}">
                <a16:creationId xmlns:a16="http://schemas.microsoft.com/office/drawing/2014/main" id="{20EA68DC-AD29-5345-2888-9B6C4E75AC96}"/>
              </a:ext>
            </a:extLst>
          </p:cNvPr>
          <p:cNvGrpSpPr/>
          <p:nvPr/>
        </p:nvGrpSpPr>
        <p:grpSpPr>
          <a:xfrm>
            <a:off x="8452392" y="3674611"/>
            <a:ext cx="2859137" cy="2119935"/>
            <a:chOff x="8565455" y="3973361"/>
            <a:chExt cx="2859137" cy="211993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a:extLst>
                <a:ext uri="{FF2B5EF4-FFF2-40B4-BE49-F238E27FC236}">
                  <a16:creationId xmlns:a16="http://schemas.microsoft.com/office/drawing/2014/main" id="{24FA1963-A460-6CAD-22D2-835C6FA58B7D}"/>
                </a:ext>
              </a:extLst>
            </p:cNvPr>
            <p:cNvGrpSpPr/>
            <p:nvPr/>
          </p:nvGrpSpPr>
          <p:grpSpPr>
            <a:xfrm>
              <a:off x="8565455" y="3973361"/>
              <a:ext cx="1942753" cy="1471618"/>
              <a:chOff x="1496838" y="4338134"/>
              <a:chExt cx="1942753" cy="1471618"/>
            </a:xfrm>
          </p:grpSpPr>
          <p:sp>
            <p:nvSpPr>
              <p:cNvPr id="195" name="Rounded Rectangle 18">
                <a:extLst>
                  <a:ext uri="{FF2B5EF4-FFF2-40B4-BE49-F238E27FC236}">
                    <a16:creationId xmlns:a16="http://schemas.microsoft.com/office/drawing/2014/main" id="{26FB451A-3E13-36B3-3C63-1E2B16ED91A0}"/>
                  </a:ext>
                </a:extLst>
              </p:cNvPr>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a:extLst>
                  <a:ext uri="{FF2B5EF4-FFF2-40B4-BE49-F238E27FC236}">
                    <a16:creationId xmlns:a16="http://schemas.microsoft.com/office/drawing/2014/main" id="{8FF2883E-93F2-4022-BA7D-2F05029BC2B1}"/>
                  </a:ext>
                </a:extLst>
              </p:cNvPr>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a:extLst>
                  <a:ext uri="{FF2B5EF4-FFF2-40B4-BE49-F238E27FC236}">
                    <a16:creationId xmlns:a16="http://schemas.microsoft.com/office/drawing/2014/main" id="{DB862978-69C0-66A1-92A9-144798C1D86B}"/>
                  </a:ext>
                </a:extLst>
              </p:cNvPr>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a:extLst>
                  <a:ext uri="{FF2B5EF4-FFF2-40B4-BE49-F238E27FC236}">
                    <a16:creationId xmlns:a16="http://schemas.microsoft.com/office/drawing/2014/main" id="{2D72D7AA-597D-5827-5788-E0AC683C8D92}"/>
                  </a:ext>
                </a:extLst>
              </p:cNvPr>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a:extLst>
                  <a:ext uri="{FF2B5EF4-FFF2-40B4-BE49-F238E27FC236}">
                    <a16:creationId xmlns:a16="http://schemas.microsoft.com/office/drawing/2014/main" id="{A30DEB86-412A-5C55-0339-FE15BE2BEAFE}"/>
                  </a:ext>
                </a:extLst>
              </p:cNvPr>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grpSp>
        <p:nvGrpSpPr>
          <p:cNvPr id="25" name="Group 24">
            <a:extLst>
              <a:ext uri="{FF2B5EF4-FFF2-40B4-BE49-F238E27FC236}">
                <a16:creationId xmlns:a16="http://schemas.microsoft.com/office/drawing/2014/main" id="{7AC893DA-BAE5-1D2F-0B43-CD2F450AF9F0}"/>
              </a:ext>
            </a:extLst>
          </p:cNvPr>
          <p:cNvGrpSpPr/>
          <p:nvPr/>
        </p:nvGrpSpPr>
        <p:grpSpPr>
          <a:xfrm>
            <a:off x="4616249" y="2761499"/>
            <a:ext cx="7170157" cy="2369911"/>
            <a:chOff x="4729312" y="3060249"/>
            <a:chExt cx="7170157" cy="2369911"/>
          </a:xfrm>
        </p:grpSpPr>
        <p:grpSp>
          <p:nvGrpSpPr>
            <p:cNvPr id="15" name="Group 14">
              <a:extLst>
                <a:ext uri="{FF2B5EF4-FFF2-40B4-BE49-F238E27FC236}">
                  <a16:creationId xmlns:a16="http://schemas.microsoft.com/office/drawing/2014/main" id="{BEC8AFC9-072D-7784-5421-EBBAF719321A}"/>
                </a:ext>
              </a:extLst>
            </p:cNvPr>
            <p:cNvGrpSpPr/>
            <p:nvPr/>
          </p:nvGrpSpPr>
          <p:grpSpPr>
            <a:xfrm>
              <a:off x="4729312" y="3818403"/>
              <a:ext cx="5471144" cy="1611757"/>
              <a:chOff x="4729312" y="3818403"/>
              <a:chExt cx="5471144" cy="1611757"/>
            </a:xfrm>
          </p:grpSpPr>
          <p:cxnSp>
            <p:nvCxnSpPr>
              <p:cNvPr id="126" name="Straight Connector 6">
                <a:extLst>
                  <a:ext uri="{FF2B5EF4-FFF2-40B4-BE49-F238E27FC236}">
                    <a16:creationId xmlns:a16="http://schemas.microsoft.com/office/drawing/2014/main" id="{12C8264D-5954-AFDA-7D39-E011523374B9}"/>
                  </a:ext>
                </a:extLst>
              </p:cNvPr>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a:extLst>
                  <a:ext uri="{FF2B5EF4-FFF2-40B4-BE49-F238E27FC236}">
                    <a16:creationId xmlns:a16="http://schemas.microsoft.com/office/drawing/2014/main" id="{FCD3B854-F06C-7280-C017-146E9A68B085}"/>
                  </a:ext>
                </a:extLst>
              </p:cNvPr>
              <p:cNvGrpSpPr/>
              <p:nvPr/>
            </p:nvGrpSpPr>
            <p:grpSpPr>
              <a:xfrm>
                <a:off x="4729312" y="3977632"/>
                <a:ext cx="1942753" cy="1452528"/>
                <a:chOff x="1547664" y="4338134"/>
                <a:chExt cx="1942753" cy="1452528"/>
              </a:xfrm>
            </p:grpSpPr>
            <p:sp>
              <p:nvSpPr>
                <p:cNvPr id="206" name="Rounded Rectangle 18">
                  <a:extLst>
                    <a:ext uri="{FF2B5EF4-FFF2-40B4-BE49-F238E27FC236}">
                      <a16:creationId xmlns:a16="http://schemas.microsoft.com/office/drawing/2014/main" id="{9C4F35F3-BF49-20AF-0BD7-DBB1C60BF2D5}"/>
                    </a:ext>
                  </a:extLst>
                </p:cNvPr>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a:extLst>
                    <a:ext uri="{FF2B5EF4-FFF2-40B4-BE49-F238E27FC236}">
                      <a16:creationId xmlns:a16="http://schemas.microsoft.com/office/drawing/2014/main" id="{6B05DCE0-DAAC-4AFE-22D9-934BA06A24CB}"/>
                    </a:ext>
                  </a:extLst>
                </p:cNvPr>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a:extLst>
                    <a:ext uri="{FF2B5EF4-FFF2-40B4-BE49-F238E27FC236}">
                      <a16:creationId xmlns:a16="http://schemas.microsoft.com/office/drawing/2014/main" id="{9584C599-6E70-6C3A-7959-920F5980D3C8}"/>
                    </a:ext>
                  </a:extLst>
                </p:cNvPr>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a:extLst>
                    <a:ext uri="{FF2B5EF4-FFF2-40B4-BE49-F238E27FC236}">
                      <a16:creationId xmlns:a16="http://schemas.microsoft.com/office/drawing/2014/main" id="{57B959F5-E3FC-EAF2-6DFA-DF07B7C514CC}"/>
                    </a:ext>
                  </a:extLst>
                </p:cNvPr>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a:extLst>
                    <a:ext uri="{FF2B5EF4-FFF2-40B4-BE49-F238E27FC236}">
                      <a16:creationId xmlns:a16="http://schemas.microsoft.com/office/drawing/2014/main" id="{584D365E-43E6-330F-2C92-EEB9BF251F6D}"/>
                    </a:ext>
                  </a:extLst>
                </p:cNvPr>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a:extLst>
                <a:ext uri="{FF2B5EF4-FFF2-40B4-BE49-F238E27FC236}">
                  <a16:creationId xmlns:a16="http://schemas.microsoft.com/office/drawing/2014/main" id="{9EB8606D-C351-DB5E-B013-45D3693F830E}"/>
                </a:ext>
              </a:extLst>
            </p:cNvPr>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953158" y="965865"/>
            <a:ext cx="1965883" cy="132776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7927154" y="986816"/>
            <a:ext cx="2072188" cy="13995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53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2" name="Group 1">
            <a:extLst>
              <a:ext uri="{FF2B5EF4-FFF2-40B4-BE49-F238E27FC236}">
                <a16:creationId xmlns:a16="http://schemas.microsoft.com/office/drawing/2014/main" id="{8E790003-F000-74D9-100D-D76A73671B5D}"/>
              </a:ext>
            </a:extLst>
          </p:cNvPr>
          <p:cNvGrpSpPr/>
          <p:nvPr/>
        </p:nvGrpSpPr>
        <p:grpSpPr>
          <a:xfrm>
            <a:off x="3863752" y="3826760"/>
            <a:ext cx="2665398" cy="2050512"/>
            <a:chOff x="8039113" y="1931376"/>
            <a:chExt cx="2665398"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8039113" y="1931376"/>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8125244" y="3458668"/>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8" name="Group 7">
              <a:extLst>
                <a:ext uri="{FF2B5EF4-FFF2-40B4-BE49-F238E27FC236}">
                  <a16:creationId xmlns:a16="http://schemas.microsoft.com/office/drawing/2014/main" id="{7C297DE8-7E06-C85D-2C28-853A67C7E34E}"/>
                </a:ext>
              </a:extLst>
            </p:cNvPr>
            <p:cNvGrpSpPr>
              <a:grpSpLocks noChangeAspect="1"/>
            </p:cNvGrpSpPr>
            <p:nvPr/>
          </p:nvGrpSpPr>
          <p:grpSpPr>
            <a:xfrm>
              <a:off x="8413303" y="2713482"/>
              <a:ext cx="1996629" cy="386708"/>
              <a:chOff x="8203827" y="2625187"/>
              <a:chExt cx="2350457" cy="455238"/>
            </a:xfrm>
          </p:grpSpPr>
          <p:grpSp>
            <p:nvGrpSpPr>
              <p:cNvPr id="9" name="Group 8">
                <a:extLst>
                  <a:ext uri="{FF2B5EF4-FFF2-40B4-BE49-F238E27FC236}">
                    <a16:creationId xmlns:a16="http://schemas.microsoft.com/office/drawing/2014/main" id="{3578663D-F250-030C-64E0-A7F1EA959167}"/>
                  </a:ext>
                </a:extLst>
              </p:cNvPr>
              <p:cNvGrpSpPr/>
              <p:nvPr/>
            </p:nvGrpSpPr>
            <p:grpSpPr>
              <a:xfrm>
                <a:off x="8203827" y="2629031"/>
                <a:ext cx="524138" cy="451394"/>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8812600" y="2629031"/>
                <a:ext cx="524138" cy="451394"/>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9421373" y="2625187"/>
                <a:ext cx="524138" cy="451394"/>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10030146" y="2625187"/>
                <a:ext cx="524138" cy="451394"/>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26118" y="130676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836216"/>
            <a:chOff x="9243692" y="1306800"/>
            <a:chExt cx="2131116" cy="1836216"/>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376892" y="1343016"/>
              <a:ext cx="1800000" cy="1800000"/>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E28418C3-A59D-BF42-C04B-0F0064E6CA84}"/>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lang="en-US" altLang="en-US" sz="3200" dirty="0">
                <a:solidFill>
                  <a:srgbClr val="333639"/>
                </a:solidFill>
                <a:latin typeface="FlandersArtSans-Bold"/>
              </a:rPr>
              <a:t>C</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PU</a:t>
            </a:r>
          </a:p>
        </p:txBody>
      </p:sp>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sp>
        <p:nvSpPr>
          <p:cNvPr id="7" name="Rectangle 2">
            <a:extLst>
              <a:ext uri="{FF2B5EF4-FFF2-40B4-BE49-F238E27FC236}">
                <a16:creationId xmlns:a16="http://schemas.microsoft.com/office/drawing/2014/main" id="{E24F05E7-5F5B-8070-11CC-CE228F4A79F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GPU</a:t>
            </a:r>
          </a:p>
        </p:txBody>
      </p:sp>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1E4D6440-CD41-716B-7E37-F53FC084E28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Mindwell</a:t>
            </a:r>
            <a:endPar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endParaRPr>
          </a:p>
        </p:txBody>
      </p:sp>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a:t>
            </a:r>
            <a:r>
              <a:rPr lang="en-US" sz="2200" dirty="0">
                <a:latin typeface="Courier New" panose="02070309020205020404" pitchFamily="49" charset="0"/>
                <a:cs typeface="Courier New" panose="02070309020205020404" pitchFamily="49" charset="0"/>
              </a:rPr>
              <a:t>staging</a:t>
            </a:r>
            <a:r>
              <a:rPr lang="en-US" sz="2200" dirty="0"/>
              <a: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3392" y="1331052"/>
            <a:ext cx="6552728" cy="3178068"/>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000" b="1" dirty="0"/>
              <a:t>Avoid using </a:t>
            </a:r>
            <a:r>
              <a:rPr lang="en-US" sz="2000" b="1" dirty="0">
                <a:cs typeface="Courier New" panose="02070309020205020404" pitchFamily="49" charset="0"/>
              </a:rPr>
              <a:t>/</a:t>
            </a:r>
            <a:r>
              <a:rPr lang="en-US" sz="2000" b="1" dirty="0" err="1">
                <a:cs typeface="Courier New" panose="02070309020205020404" pitchFamily="49" charset="0"/>
              </a:rPr>
              <a:t>tmp</a:t>
            </a:r>
            <a:r>
              <a:rPr lang="en-US" sz="2000" b="1" dirty="0">
                <a:cs typeface="Courier New" panose="02070309020205020404" pitchFamily="49" charset="0"/>
              </a:rPr>
              <a:t> ($TMPDIR)</a:t>
            </a:r>
            <a:r>
              <a:rPr lang="en-US" sz="2000" b="1" dirty="0">
                <a:solidFill>
                  <a:schemeClr val="tx2"/>
                </a:solidFill>
              </a:rPr>
              <a:t>on the login nodes</a:t>
            </a:r>
            <a:br>
              <a:rPr lang="en-US" sz="2000" dirty="0"/>
            </a:br>
            <a:r>
              <a:rPr lang="en-US" sz="2000" dirty="0"/>
              <a:t>It is only 10 GB and is needed by the operating system</a:t>
            </a:r>
            <a:br>
              <a:rPr lang="en-US" sz="2000" dirty="0"/>
            </a:br>
            <a:r>
              <a:rPr lang="en-US" sz="2000" dirty="0"/>
              <a:t>Your application can crash if using </a:t>
            </a:r>
            <a:r>
              <a:rPr lang="en-US" sz="2000" dirty="0">
                <a:cs typeface="Courier New" panose="02070309020205020404" pitchFamily="49" charset="0"/>
              </a:rPr>
              <a:t>/</a:t>
            </a:r>
            <a:r>
              <a:rPr lang="en-US" sz="2000" dirty="0" err="1">
                <a:cs typeface="Courier New" panose="02070309020205020404" pitchFamily="49" charset="0"/>
              </a:rPr>
              <a:t>tmp</a:t>
            </a:r>
            <a:endParaRPr lang="en-US" sz="2000" dirty="0">
              <a:cs typeface="Courier New" panose="02070309020205020404" pitchFamily="49" charset="0"/>
            </a:endParaRPr>
          </a:p>
          <a:p>
            <a:pPr marL="324000" indent="-324000">
              <a:buClr>
                <a:srgbClr val="DB6C30"/>
              </a:buClr>
              <a:buFont typeface="Wingdings" panose="05000000000000000000" pitchFamily="2" charset="2"/>
              <a:buChar char="q"/>
            </a:pPr>
            <a:r>
              <a:rPr lang="en-US" sz="2000" dirty="0"/>
              <a:t>You are automatically logged into your home </a:t>
            </a:r>
            <a:br>
              <a:rPr lang="en-US" sz="2000" dirty="0"/>
            </a:br>
            <a:r>
              <a:rPr lang="en-US" sz="2000" dirty="0"/>
              <a:t>folder upon login. Best to immediately switch</a:t>
            </a:r>
            <a:br>
              <a:rPr lang="en-US" sz="2000" dirty="0"/>
            </a:br>
            <a:r>
              <a:rPr lang="en-US" sz="2000" dirty="0"/>
              <a:t>to some other storage, e.g.</a:t>
            </a:r>
            <a:br>
              <a:rPr lang="en-US" sz="2000" dirty="0"/>
            </a:br>
            <a:r>
              <a:rPr lang="en-US" sz="2000" dirty="0">
                <a:cs typeface="Courier New" panose="02070309020205020404" pitchFamily="49" charset="0"/>
              </a:rPr>
              <a:t>$ cd $VSC_DATA</a:t>
            </a:r>
          </a:p>
          <a:p>
            <a:pPr marL="324000" indent="-324000">
              <a:buClr>
                <a:srgbClr val="DB6C30"/>
              </a:buClr>
              <a:buFont typeface="Wingdings" panose="05000000000000000000" pitchFamily="2" charset="2"/>
              <a:buChar char="q"/>
            </a:pPr>
            <a:r>
              <a:rPr lang="en-US" sz="2000" dirty="0"/>
              <a:t>Always check your storage balance using </a:t>
            </a:r>
            <a:br>
              <a:rPr lang="en-US" sz="2000" dirty="0"/>
            </a:br>
            <a:r>
              <a:rPr lang="en-US" sz="2000" dirty="0" err="1">
                <a:cs typeface="Courier New" panose="02070309020205020404" pitchFamily="49" charset="0"/>
              </a:rPr>
              <a:t>myquota</a:t>
            </a:r>
            <a:r>
              <a:rPr lang="en-US" sz="2000" dirty="0"/>
              <a:t> command</a:t>
            </a:r>
          </a:p>
        </p:txBody>
      </p:sp>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Example</a:t>
              </a:r>
              <a:endParaRPr lang="nl-BE"/>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104456" cy="1446550"/>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TextBox 4">
            <a:extLst>
              <a:ext uri="{FF2B5EF4-FFF2-40B4-BE49-F238E27FC236}">
                <a16:creationId xmlns:a16="http://schemas.microsoft.com/office/drawing/2014/main" id="{98E4394D-38BA-B288-6DA1-0CF18C2FE521}"/>
              </a:ext>
            </a:extLst>
          </p:cNvPr>
          <p:cNvSpPr txBox="1"/>
          <p:nvPr/>
        </p:nvSpPr>
        <p:spPr>
          <a:xfrm>
            <a:off x="623392" y="4869160"/>
            <a:ext cx="6552728" cy="1015663"/>
          </a:xfrm>
          <a:prstGeom prst="rect">
            <a:avLst/>
          </a:prstGeom>
          <a:noFill/>
          <a:ln>
            <a:solidFill>
              <a:schemeClr val="accent5"/>
            </a:solidFill>
          </a:ln>
        </p:spPr>
        <p:txBody>
          <a:bodyPr wrap="square" rtlCol="0">
            <a:spAutoFit/>
          </a:bodyPr>
          <a:lstStyle/>
          <a:p>
            <a:r>
              <a:rPr lang="en-US" sz="2000" dirty="0"/>
              <a:t>Consider using /dev/</a:t>
            </a:r>
            <a:r>
              <a:rPr lang="en-US" sz="2000" dirty="0" err="1"/>
              <a:t>shm</a:t>
            </a:r>
            <a:r>
              <a:rPr lang="en-US" sz="2000" dirty="0"/>
              <a:t> for file operations in memory in your compute jobs</a:t>
            </a:r>
            <a:endParaRPr lang="nl-BE" sz="2000" dirty="0"/>
          </a:p>
          <a:p>
            <a:endParaRPr lang="nl-BE" sz="2000" dirty="0"/>
          </a:p>
        </p:txBody>
      </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5034982"/>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38280094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51018183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953420933"/>
              </p:ext>
            </p:extLst>
          </p:nvPr>
        </p:nvGraphicFramePr>
        <p:xfrm>
          <a:off x="5150096" y="188909"/>
          <a:ext cx="5986464" cy="595205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 </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a:t>
                      </a:r>
                      <a:r>
                        <a:rPr lang="en-US" sz="2000" baseline="0" dirty="0">
                          <a:latin typeface="Courier New" panose="02070309020205020404" pitchFamily="49" charset="0"/>
                          <a:cs typeface="Courier New" panose="02070309020205020404" pitchFamily="49" charset="0"/>
                        </a:rPr>
                        <a: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7646348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255161245"/>
              </p:ext>
            </p:extLst>
          </p:nvPr>
        </p:nvGraphicFramePr>
        <p:xfrm>
          <a:off x="5150096" y="188909"/>
          <a:ext cx="5986464" cy="5913555"/>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6" name="Group 5">
            <a:extLst>
              <a:ext uri="{FF2B5EF4-FFF2-40B4-BE49-F238E27FC236}">
                <a16:creationId xmlns:a16="http://schemas.microsoft.com/office/drawing/2014/main" id="{F2E42395-7681-CFAE-0BFD-485E153D0D3B}"/>
              </a:ext>
            </a:extLst>
          </p:cNvPr>
          <p:cNvGrpSpPr/>
          <p:nvPr/>
        </p:nvGrpSpPr>
        <p:grpSpPr>
          <a:xfrm>
            <a:off x="176674" y="4743779"/>
            <a:ext cx="4413512" cy="1449894"/>
            <a:chOff x="176674" y="4743779"/>
            <a:chExt cx="4413512" cy="1449894"/>
          </a:xfrm>
        </p:grpSpPr>
        <p:sp>
          <p:nvSpPr>
            <p:cNvPr id="2" name="TextBox 1">
              <a:extLst>
                <a:ext uri="{FF2B5EF4-FFF2-40B4-BE49-F238E27FC236}">
                  <a16:creationId xmlns:a16="http://schemas.microsoft.com/office/drawing/2014/main" id="{2A7E9164-7C5B-DA81-0FA5-87B34FC305D8}"/>
                </a:ext>
              </a:extLst>
            </p:cNvPr>
            <p:cNvSpPr txBox="1"/>
            <p:nvPr/>
          </p:nvSpPr>
          <p:spPr>
            <a:xfrm>
              <a:off x="176674" y="5270343"/>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4" name="Picture 3">
              <a:extLst>
                <a:ext uri="{FF2B5EF4-FFF2-40B4-BE49-F238E27FC236}">
                  <a16:creationId xmlns:a16="http://schemas.microsoft.com/office/drawing/2014/main" id="{F50CD4A3-C45B-E1C3-6A7F-7B873D74BF07}"/>
                </a:ext>
              </a:extLst>
            </p:cNvPr>
            <p:cNvPicPr>
              <a:picLocks noChangeAspect="1"/>
            </p:cNvPicPr>
            <p:nvPr/>
          </p:nvPicPr>
          <p:blipFill>
            <a:blip r:embed="rId9"/>
            <a:stretch>
              <a:fillRect/>
            </a:stretch>
          </p:blipFill>
          <p:spPr>
            <a:xfrm>
              <a:off x="4063622" y="4743779"/>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43551049"/>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225966267"/>
              </p:ext>
            </p:extLst>
          </p:nvPr>
        </p:nvGraphicFramePr>
        <p:xfrm>
          <a:off x="5150096" y="188909"/>
          <a:ext cx="5986464" cy="528149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142770513"/>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783074835"/>
              </p:ext>
            </p:extLst>
          </p:nvPr>
        </p:nvGraphicFramePr>
        <p:xfrm>
          <a:off x="5150096" y="188909"/>
          <a:ext cx="5986464" cy="5408394"/>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p>
                      <a:pPr marL="285750" indent="-285750" rtl="0">
                        <a:buFontTx/>
                        <a:buChar char="-"/>
                      </a:pPr>
                      <a:r>
                        <a:rPr lang="en-US" sz="1800" baseline="0" dirty="0"/>
                        <a:t>To request, see service catalog</a:t>
                      </a:r>
                    </a:p>
                    <a:p>
                      <a:pPr marL="285750" indent="-285750" rtl="0">
                        <a:buFontTx/>
                        <a:buChar char="-"/>
                      </a:pPr>
                      <a:r>
                        <a:rPr lang="en-US" sz="1800" baseline="0" dirty="0"/>
                        <a:t>More info on </a:t>
                      </a:r>
                      <a:r>
                        <a:rPr lang="en-US" sz="1800" baseline="0" dirty="0" err="1">
                          <a:hlinkClick r:id="rId7"/>
                        </a:rPr>
                        <a:t>VSCdocs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8"/>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21" name="Group 20">
            <a:extLst>
              <a:ext uri="{FF2B5EF4-FFF2-40B4-BE49-F238E27FC236}">
                <a16:creationId xmlns:a16="http://schemas.microsoft.com/office/drawing/2014/main" id="{A00080C5-0DF6-8DC4-4F78-67E37EF6A32A}"/>
              </a:ext>
            </a:extLst>
          </p:cNvPr>
          <p:cNvGrpSpPr/>
          <p:nvPr/>
        </p:nvGrpSpPr>
        <p:grpSpPr>
          <a:xfrm>
            <a:off x="769220" y="2094957"/>
            <a:ext cx="2208731" cy="2259486"/>
            <a:chOff x="769220" y="2094957"/>
            <a:chExt cx="2208731" cy="2259486"/>
          </a:xfrm>
        </p:grpSpPr>
        <p:sp>
          <p:nvSpPr>
            <p:cNvPr id="3" name="Freeform: Shape 2">
              <a:extLst>
                <a:ext uri="{FF2B5EF4-FFF2-40B4-BE49-F238E27FC236}">
                  <a16:creationId xmlns:a16="http://schemas.microsoft.com/office/drawing/2014/main" id="{034F2C36-31F5-8D31-C8EB-375F925952E5}"/>
                </a:ext>
              </a:extLst>
            </p:cNvPr>
            <p:cNvSpPr/>
            <p:nvPr/>
          </p:nvSpPr>
          <p:spPr>
            <a:xfrm>
              <a:off x="797876" y="2164733"/>
              <a:ext cx="2180057" cy="2180057"/>
            </a:xfrm>
            <a:custGeom>
              <a:avLst/>
              <a:gdLst>
                <a:gd name="connsiteX0" fmla="*/ 1090028 w 2180057"/>
                <a:gd name="connsiteY0" fmla="*/ 0 h 2180057"/>
                <a:gd name="connsiteX1" fmla="*/ 2034021 w 2180057"/>
                <a:gd name="connsiteY1" fmla="*/ 545014 h 2180057"/>
                <a:gd name="connsiteX2" fmla="*/ 1090029 w 2180057"/>
                <a:gd name="connsiteY2" fmla="*/ 1090029 h 2180057"/>
                <a:gd name="connsiteX3" fmla="*/ 1090028 w 2180057"/>
                <a:gd name="connsiteY3" fmla="*/ 0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8" y="0"/>
                  </a:moveTo>
                  <a:cubicBezTo>
                    <a:pt x="1479458" y="0"/>
                    <a:pt x="1839306" y="207758"/>
                    <a:pt x="2034021" y="545014"/>
                  </a:cubicBezTo>
                  <a:lnTo>
                    <a:pt x="1090029" y="1090029"/>
                  </a:lnTo>
                  <a:cubicBezTo>
                    <a:pt x="1090029" y="726686"/>
                    <a:pt x="1090028" y="363343"/>
                    <a:pt x="1090028" y="0"/>
                  </a:cubicBez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7" tIns="252628" rIns="449871"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p:txBody>
        </p:sp>
        <p:sp>
          <p:nvSpPr>
            <p:cNvPr id="4" name="Freeform: Shape 3">
              <a:extLst>
                <a:ext uri="{FF2B5EF4-FFF2-40B4-BE49-F238E27FC236}">
                  <a16:creationId xmlns:a16="http://schemas.microsoft.com/office/drawing/2014/main" id="{9329582C-55B6-70CB-8E2B-D14A2962B31C}"/>
                </a:ext>
              </a:extLst>
            </p:cNvPr>
            <p:cNvSpPr/>
            <p:nvPr/>
          </p:nvSpPr>
          <p:spPr>
            <a:xfrm>
              <a:off x="797894" y="2164728"/>
              <a:ext cx="2180057" cy="2180057"/>
            </a:xfrm>
            <a:custGeom>
              <a:avLst/>
              <a:gdLst>
                <a:gd name="connsiteX0" fmla="*/ 2034021 w 2180057"/>
                <a:gd name="connsiteY0" fmla="*/ 545014 h 2180057"/>
                <a:gd name="connsiteX1" fmla="*/ 2034021 w 2180057"/>
                <a:gd name="connsiteY1" fmla="*/ 1635043 h 2180057"/>
                <a:gd name="connsiteX2" fmla="*/ 1090029 w 2180057"/>
                <a:gd name="connsiteY2" fmla="*/ 1090029 h 2180057"/>
                <a:gd name="connsiteX3" fmla="*/ 2034021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545014"/>
                  </a:moveTo>
                  <a:cubicBezTo>
                    <a:pt x="2228736" y="882270"/>
                    <a:pt x="2228736" y="1297787"/>
                    <a:pt x="2034021" y="1635043"/>
                  </a:cubicBezTo>
                  <a:lnTo>
                    <a:pt x="1090029" y="1090029"/>
                  </a:lnTo>
                  <a:lnTo>
                    <a:pt x="2034021" y="545014"/>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511351" tIns="888477" rIns="47599" bIns="888478"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p:txBody>
        </p:sp>
        <p:sp>
          <p:nvSpPr>
            <p:cNvPr id="6" name="Freeform: Shape 5">
              <a:extLst>
                <a:ext uri="{FF2B5EF4-FFF2-40B4-BE49-F238E27FC236}">
                  <a16:creationId xmlns:a16="http://schemas.microsoft.com/office/drawing/2014/main" id="{41CCD509-0CF8-3EF7-1FEB-D8E22EB8295B}"/>
                </a:ext>
              </a:extLst>
            </p:cNvPr>
            <p:cNvSpPr/>
            <p:nvPr/>
          </p:nvSpPr>
          <p:spPr>
            <a:xfrm>
              <a:off x="797066" y="2163703"/>
              <a:ext cx="2180057" cy="2180057"/>
            </a:xfrm>
            <a:custGeom>
              <a:avLst/>
              <a:gdLst>
                <a:gd name="connsiteX0" fmla="*/ 2034021 w 2180057"/>
                <a:gd name="connsiteY0" fmla="*/ 1635043 h 2180057"/>
                <a:gd name="connsiteX1" fmla="*/ 1090028 w 2180057"/>
                <a:gd name="connsiteY1" fmla="*/ 2180058 h 2180057"/>
                <a:gd name="connsiteX2" fmla="*/ 1090029 w 2180057"/>
                <a:gd name="connsiteY2" fmla="*/ 1090029 h 2180057"/>
                <a:gd name="connsiteX3" fmla="*/ 2034021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1635043"/>
                  </a:moveTo>
                  <a:cubicBezTo>
                    <a:pt x="1839306" y="1972299"/>
                    <a:pt x="1479458" y="2180058"/>
                    <a:pt x="1090028" y="2180058"/>
                  </a:cubicBezTo>
                  <a:cubicBezTo>
                    <a:pt x="1090028" y="1816715"/>
                    <a:pt x="1090029" y="1453372"/>
                    <a:pt x="1090029" y="1090029"/>
                  </a:cubicBezTo>
                  <a:lnTo>
                    <a:pt x="2034021"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6" tIns="1498375" rIns="449872" bIns="252627"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p:txBody>
        </p:sp>
        <p:sp>
          <p:nvSpPr>
            <p:cNvPr id="16" name="Freeform: Shape 15">
              <a:extLst>
                <a:ext uri="{FF2B5EF4-FFF2-40B4-BE49-F238E27FC236}">
                  <a16:creationId xmlns:a16="http://schemas.microsoft.com/office/drawing/2014/main" id="{DA26DAFC-1342-DA17-7EAF-EC556DD7DE47}"/>
                </a:ext>
              </a:extLst>
            </p:cNvPr>
            <p:cNvSpPr/>
            <p:nvPr/>
          </p:nvSpPr>
          <p:spPr>
            <a:xfrm>
              <a:off x="787735" y="2174386"/>
              <a:ext cx="2180057" cy="2180057"/>
            </a:xfrm>
            <a:custGeom>
              <a:avLst/>
              <a:gdLst>
                <a:gd name="connsiteX0" fmla="*/ 1090029 w 2180057"/>
                <a:gd name="connsiteY0" fmla="*/ 2180057 h 2180057"/>
                <a:gd name="connsiteX1" fmla="*/ 146036 w 2180057"/>
                <a:gd name="connsiteY1" fmla="*/ 1635043 h 2180057"/>
                <a:gd name="connsiteX2" fmla="*/ 1090029 w 2180057"/>
                <a:gd name="connsiteY2" fmla="*/ 1090029 h 2180057"/>
                <a:gd name="connsiteX3" fmla="*/ 1090029 w 2180057"/>
                <a:gd name="connsiteY3" fmla="*/ 2180057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9" y="2180057"/>
                  </a:moveTo>
                  <a:cubicBezTo>
                    <a:pt x="700599" y="2180057"/>
                    <a:pt x="340751" y="1972299"/>
                    <a:pt x="146036" y="1635043"/>
                  </a:cubicBezTo>
                  <a:lnTo>
                    <a:pt x="1090029" y="1090029"/>
                  </a:lnTo>
                  <a:lnTo>
                    <a:pt x="1090029" y="2180057"/>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1" tIns="1498374" rIns="1132437" bIns="252628"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p:txBody>
        </p:sp>
        <p:sp>
          <p:nvSpPr>
            <p:cNvPr id="19" name="Freeform: Shape 18">
              <a:extLst>
                <a:ext uri="{FF2B5EF4-FFF2-40B4-BE49-F238E27FC236}">
                  <a16:creationId xmlns:a16="http://schemas.microsoft.com/office/drawing/2014/main" id="{33C6357D-886A-A026-FD5A-7F84D8F6CA5C}"/>
                </a:ext>
              </a:extLst>
            </p:cNvPr>
            <p:cNvSpPr/>
            <p:nvPr/>
          </p:nvSpPr>
          <p:spPr>
            <a:xfrm>
              <a:off x="773620" y="2153020"/>
              <a:ext cx="2180057" cy="2180057"/>
            </a:xfrm>
            <a:custGeom>
              <a:avLst/>
              <a:gdLst>
                <a:gd name="connsiteX0" fmla="*/ 146036 w 2180057"/>
                <a:gd name="connsiteY0" fmla="*/ 1635043 h 2180057"/>
                <a:gd name="connsiteX1" fmla="*/ 146036 w 2180057"/>
                <a:gd name="connsiteY1" fmla="*/ 545014 h 2180057"/>
                <a:gd name="connsiteX2" fmla="*/ 1090029 w 2180057"/>
                <a:gd name="connsiteY2" fmla="*/ 1090029 h 2180057"/>
                <a:gd name="connsiteX3" fmla="*/ 146036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1635043"/>
                  </a:moveTo>
                  <a:cubicBezTo>
                    <a:pt x="-48679" y="1297787"/>
                    <a:pt x="-48679" y="882270"/>
                    <a:pt x="146036" y="545014"/>
                  </a:cubicBezTo>
                  <a:lnTo>
                    <a:pt x="1090029" y="1090029"/>
                  </a:lnTo>
                  <a:lnTo>
                    <a:pt x="146036"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2789" tIns="888478" rIns="1506161" bIns="888477" numCol="1" spcCol="1270" anchor="ctr" anchorCtr="0">
              <a:noAutofit/>
            </a:bodyPr>
            <a:lstStyle/>
            <a:p>
              <a:pPr algn="ctr" defTabSz="666750">
                <a:lnSpc>
                  <a:spcPct val="90000"/>
                </a:lnSpc>
                <a:spcBef>
                  <a:spcPct val="0"/>
                </a:spcBef>
                <a:spcAft>
                  <a:spcPct val="35000"/>
                </a:spcAft>
              </a:pPr>
              <a:r>
                <a:rPr lang="en-US" sz="1600" dirty="0"/>
                <a:t>project</a:t>
              </a:r>
              <a:endParaRPr lang="nl-BE" sz="1600" dirty="0"/>
            </a:p>
          </p:txBody>
        </p:sp>
        <p:sp>
          <p:nvSpPr>
            <p:cNvPr id="20" name="Freeform: Shape 19">
              <a:extLst>
                <a:ext uri="{FF2B5EF4-FFF2-40B4-BE49-F238E27FC236}">
                  <a16:creationId xmlns:a16="http://schemas.microsoft.com/office/drawing/2014/main" id="{322D0F0F-310C-A008-5435-72F369935EAB}"/>
                </a:ext>
              </a:extLst>
            </p:cNvPr>
            <p:cNvSpPr/>
            <p:nvPr/>
          </p:nvSpPr>
          <p:spPr>
            <a:xfrm>
              <a:off x="769220" y="2094957"/>
              <a:ext cx="2180057" cy="2180057"/>
            </a:xfrm>
            <a:custGeom>
              <a:avLst/>
              <a:gdLst>
                <a:gd name="connsiteX0" fmla="*/ 146036 w 2180057"/>
                <a:gd name="connsiteY0" fmla="*/ 545014 h 2180057"/>
                <a:gd name="connsiteX1" fmla="*/ 1090029 w 2180057"/>
                <a:gd name="connsiteY1" fmla="*/ -1 h 2180057"/>
                <a:gd name="connsiteX2" fmla="*/ 1090029 w 2180057"/>
                <a:gd name="connsiteY2" fmla="*/ 1090029 h 2180057"/>
                <a:gd name="connsiteX3" fmla="*/ 146036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545014"/>
                  </a:moveTo>
                  <a:cubicBezTo>
                    <a:pt x="340751" y="207758"/>
                    <a:pt x="700599" y="-1"/>
                    <a:pt x="1090029" y="-1"/>
                  </a:cubicBezTo>
                  <a:lnTo>
                    <a:pt x="1090029" y="1090029"/>
                  </a:lnTo>
                  <a:lnTo>
                    <a:pt x="146036" y="545014"/>
                  </a:lnTo>
                  <a:close/>
                </a:path>
              </a:pathLst>
            </a:custGeom>
            <a:solidFill>
              <a:srgbClr val="DB6C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0" tIns="252628" rIns="1132438"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p:txBody>
        </p:sp>
      </p:grpSp>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34</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4" name="Content Placeholder 2">
            <a:extLst>
              <a:ext uri="{FF2B5EF4-FFF2-40B4-BE49-F238E27FC236}">
                <a16:creationId xmlns:a16="http://schemas.microsoft.com/office/drawing/2014/main" id="{7931979C-A5E3-1789-96C5-6ADB2DCBC7CD}"/>
              </a:ext>
            </a:extLst>
          </p:cNvPr>
          <p:cNvSpPr>
            <a:spLocks noGrp="1"/>
          </p:cNvSpPr>
          <p:nvPr>
            <p:ph idx="1"/>
          </p:nvPr>
        </p:nvSpPr>
        <p:spPr>
          <a:xfrm>
            <a:off x="5071810" y="952737"/>
            <a:ext cx="6168088" cy="4132447"/>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dirty="0">
                <a:solidFill>
                  <a:schemeClr val="tx2"/>
                </a:solidFill>
              </a:rPr>
              <a:t>VSC offers </a:t>
            </a:r>
            <a:r>
              <a:rPr lang="en-US" sz="2200" dirty="0">
                <a:solidFill>
                  <a:schemeClr val="tx2"/>
                </a:solidFill>
                <a:hlinkClick r:id="rId2"/>
              </a:rPr>
              <a:t>Tier-1 Data </a:t>
            </a:r>
            <a:r>
              <a:rPr lang="en-US" sz="2200" dirty="0">
                <a:solidFill>
                  <a:schemeClr val="tx2"/>
                </a:solidFill>
              </a:rPr>
              <a:t>as a large storage service</a:t>
            </a:r>
          </a:p>
          <a:p>
            <a:pPr marL="324000" indent="-324000">
              <a:buClr>
                <a:srgbClr val="DB6C30"/>
              </a:buClr>
              <a:buFont typeface="Wingdings" panose="05000000000000000000" pitchFamily="2" charset="2"/>
              <a:buChar char="q"/>
            </a:pPr>
            <a:r>
              <a:rPr lang="en-US" sz="2200" dirty="0">
                <a:solidFill>
                  <a:schemeClr val="tx2"/>
                </a:solidFill>
              </a:rPr>
              <a:t>Only for </a:t>
            </a:r>
            <a:r>
              <a:rPr lang="en-US" sz="2200" b="1" dirty="0">
                <a:solidFill>
                  <a:schemeClr val="tx2"/>
                </a:solidFill>
              </a:rPr>
              <a:t>active</a:t>
            </a:r>
            <a:r>
              <a:rPr lang="en-US" sz="2200" dirty="0">
                <a:solidFill>
                  <a:schemeClr val="tx2"/>
                </a:solidFill>
              </a:rPr>
              <a:t> data (no archiving)</a:t>
            </a:r>
          </a:p>
          <a:p>
            <a:pPr marL="324000" indent="-324000">
              <a:buClr>
                <a:srgbClr val="DB6C30"/>
              </a:buClr>
              <a:buFont typeface="Wingdings" panose="05000000000000000000" pitchFamily="2" charset="2"/>
              <a:buChar char="q"/>
            </a:pPr>
            <a:r>
              <a:rPr lang="en-US" sz="2200" dirty="0">
                <a:solidFill>
                  <a:schemeClr val="tx2"/>
                </a:solidFill>
              </a:rPr>
              <a:t>Supports metadata (search &amp; discover)</a:t>
            </a:r>
          </a:p>
          <a:p>
            <a:pPr marL="324000" indent="-324000">
              <a:buClr>
                <a:srgbClr val="DB6C30"/>
              </a:buClr>
              <a:buFont typeface="Wingdings" panose="05000000000000000000" pitchFamily="2" charset="2"/>
              <a:buChar char="q"/>
            </a:pPr>
            <a:r>
              <a:rPr lang="en-US" sz="2200" dirty="0">
                <a:solidFill>
                  <a:schemeClr val="tx2"/>
                </a:solidFill>
              </a:rPr>
              <a:t>Share within VSC (permission management)</a:t>
            </a:r>
          </a:p>
          <a:p>
            <a:pPr marL="324000" indent="-324000">
              <a:buClr>
                <a:srgbClr val="DB6C30"/>
              </a:buClr>
              <a:buFont typeface="Wingdings" panose="05000000000000000000" pitchFamily="2" charset="2"/>
              <a:buChar char="q"/>
            </a:pPr>
            <a:r>
              <a:rPr lang="en-US" sz="2200" dirty="0">
                <a:solidFill>
                  <a:schemeClr val="tx2"/>
                </a:solidFill>
              </a:rPr>
              <a:t>Share outside VSC (via </a:t>
            </a:r>
            <a:r>
              <a:rPr lang="en-US" sz="2200" dirty="0">
                <a:solidFill>
                  <a:schemeClr val="tx2"/>
                </a:solidFill>
                <a:hlinkClick r:id="rId3"/>
              </a:rPr>
              <a:t>Globus</a:t>
            </a:r>
            <a:r>
              <a:rPr lang="en-US" sz="2200" dirty="0">
                <a:solidFill>
                  <a:schemeClr val="tx2"/>
                </a:solidFill>
              </a:rPr>
              <a:t>)</a:t>
            </a:r>
          </a:p>
          <a:p>
            <a:pPr marL="324000" indent="-324000">
              <a:buClr>
                <a:srgbClr val="DB6C30"/>
              </a:buClr>
              <a:buFont typeface="Wingdings" panose="05000000000000000000" pitchFamily="2" charset="2"/>
              <a:buChar char="q"/>
            </a:pPr>
            <a:r>
              <a:rPr lang="en-US" sz="2200" dirty="0">
                <a:solidFill>
                  <a:schemeClr val="tx2"/>
                </a:solidFill>
              </a:rPr>
              <a:t>Stage-in/stage-out data workflow</a:t>
            </a:r>
          </a:p>
          <a:p>
            <a:pPr marL="324000" indent="-324000">
              <a:buClr>
                <a:srgbClr val="DB6C30"/>
              </a:buClr>
              <a:buFont typeface="Wingdings" panose="05000000000000000000" pitchFamily="2" charset="2"/>
              <a:buChar char="q"/>
            </a:pPr>
            <a:r>
              <a:rPr lang="en-US" sz="2200" dirty="0">
                <a:solidFill>
                  <a:schemeClr val="tx2"/>
                </a:solidFill>
              </a:rPr>
              <a:t>Free of charge for academic use</a:t>
            </a:r>
          </a:p>
          <a:p>
            <a:pPr marL="324000" indent="-324000">
              <a:buClr>
                <a:srgbClr val="DB6C30"/>
              </a:buClr>
              <a:buFont typeface="Wingdings" panose="05000000000000000000" pitchFamily="2" charset="2"/>
              <a:buChar char="q"/>
            </a:pPr>
            <a:r>
              <a:rPr lang="en-US" sz="2200" dirty="0">
                <a:solidFill>
                  <a:schemeClr val="tx2"/>
                </a:solidFill>
              </a:rPr>
              <a:t>Starting volume is 5 TB</a:t>
            </a:r>
          </a:p>
          <a:p>
            <a:pPr marL="324000" indent="-324000">
              <a:buClr>
                <a:srgbClr val="DB6C30"/>
              </a:buClr>
              <a:buFont typeface="Wingdings" panose="05000000000000000000" pitchFamily="2" charset="2"/>
              <a:buChar char="q"/>
            </a:pPr>
            <a:r>
              <a:rPr lang="en-US" sz="2200" dirty="0">
                <a:solidFill>
                  <a:schemeClr val="tx2"/>
                </a:solidFill>
              </a:rPr>
              <a:t>Submit a proposal to get access</a:t>
            </a:r>
            <a:br>
              <a:rPr lang="en-US" sz="2200" dirty="0">
                <a:solidFill>
                  <a:schemeClr val="tx2"/>
                </a:solidFill>
              </a:rPr>
            </a:br>
            <a:r>
              <a:rPr lang="en-US" sz="2200" dirty="0">
                <a:solidFill>
                  <a:schemeClr val="tx2"/>
                </a:solidFill>
              </a:rPr>
              <a:t>You can apply at any time</a:t>
            </a:r>
            <a:endParaRPr lang="nl-BE" sz="2200" dirty="0"/>
          </a:p>
        </p:txBody>
      </p:sp>
    </p:spTree>
    <p:extLst>
      <p:ext uri="{BB962C8B-B14F-4D97-AF65-F5344CB8AC3E}">
        <p14:creationId xmlns:p14="http://schemas.microsoft.com/office/powerpoint/2010/main" val="355628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lstStyle/>
          <a:p>
            <a:r>
              <a:rPr lang="en-US" dirty="0"/>
              <a:t>Extra (KU Leuven) storage locations</a:t>
            </a:r>
            <a:endParaRPr lang="nl-BE"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lstStyle/>
          <a:p>
            <a:r>
              <a:rPr lang="en-US" dirty="0" err="1"/>
              <a:t>ManGO</a:t>
            </a:r>
            <a:endParaRPr lang="nl-BE"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9" name="Rectangle 3"/>
          <p:cNvSpPr>
            <a:spLocks noGrp="1" noChangeArrowheads="1"/>
          </p:cNvSpPr>
          <p:nvPr>
            <p:ph idx="1"/>
          </p:nvPr>
        </p:nvSpPr>
        <p:spPr>
          <a:xfrm>
            <a:off x="588268" y="1052736"/>
            <a:ext cx="6731868" cy="5086167"/>
          </a:xfrm>
          <a:ln w="38100">
            <a:solidFill>
              <a:schemeClr val="accent1"/>
            </a:solidFill>
          </a:ln>
        </p:spPr>
        <p:txBody>
          <a:bodyPr anchor="ctr"/>
          <a:lstStyle/>
          <a:p>
            <a:pPr marL="342900" lvl="1" indent="0">
              <a:buNone/>
            </a:pPr>
            <a:r>
              <a:rPr lang="en-US" altLang="en-US" sz="2200" dirty="0"/>
              <a:t>What?</a:t>
            </a:r>
          </a:p>
          <a:p>
            <a:pPr lvl="1"/>
            <a:r>
              <a:rPr lang="en-US" altLang="en-US" sz="2200" dirty="0"/>
              <a:t>Credits are a measure for compute resources</a:t>
            </a:r>
          </a:p>
          <a:p>
            <a:pPr lvl="1"/>
            <a:r>
              <a:rPr lang="en-US" altLang="en-US" sz="2200" dirty="0"/>
              <a:t>Mandatory for accessing these resources</a:t>
            </a:r>
          </a:p>
          <a:p>
            <a:pPr lvl="1"/>
            <a:r>
              <a:rPr lang="en-US" altLang="en-US" sz="2200" dirty="0"/>
              <a:t>Traceability and accountability</a:t>
            </a:r>
          </a:p>
          <a:p>
            <a:pPr lvl="1"/>
            <a:endParaRPr lang="en-US" altLang="en-US" sz="2200" dirty="0"/>
          </a:p>
          <a:p>
            <a:pPr marL="342900" lvl="1" indent="0">
              <a:buNone/>
            </a:pPr>
            <a:r>
              <a:rPr lang="en-US" altLang="en-US" sz="2200" dirty="0"/>
              <a:t>Why?</a:t>
            </a:r>
          </a:p>
          <a:p>
            <a:pPr lvl="1"/>
            <a:r>
              <a:rPr lang="en-US" altLang="en-US" sz="2200" dirty="0"/>
              <a:t>Incentive to optimize your code and workflow</a:t>
            </a:r>
          </a:p>
          <a:p>
            <a:pPr lvl="1"/>
            <a:endParaRPr lang="en-US" altLang="en-US" sz="2200" dirty="0"/>
          </a:p>
          <a:p>
            <a:pPr marL="342900" lvl="1" indent="0">
              <a:buNone/>
            </a:pPr>
            <a:r>
              <a:rPr lang="en-US" altLang="en-US" sz="2200" dirty="0"/>
              <a:t>How?</a:t>
            </a:r>
          </a:p>
          <a:p>
            <a:pPr lvl="1"/>
            <a:r>
              <a:rPr lang="en-US" altLang="en-US" sz="2200" dirty="0"/>
              <a:t>1 million credits = 3.5 EUR</a:t>
            </a:r>
          </a:p>
          <a:p>
            <a:pPr lvl="1"/>
            <a:r>
              <a:rPr lang="en-US" altLang="en-US" sz="2200" dirty="0"/>
              <a:t>Pay-as-you-go model</a:t>
            </a:r>
          </a:p>
          <a:p>
            <a:pPr lvl="1"/>
            <a:r>
              <a:rPr lang="en-US" altLang="en-US" sz="2200" dirty="0"/>
              <a:t>Credit rates on the right = for fully allocated nodes</a:t>
            </a:r>
            <a:br>
              <a:rPr lang="en-US" altLang="en-US" sz="2200" dirty="0"/>
            </a:br>
            <a:r>
              <a:rPr lang="en-US" altLang="en-US" sz="2200" dirty="0"/>
              <a:t>(if you request less cores, you also get billed less)</a:t>
            </a:r>
          </a:p>
          <a:p>
            <a:pPr lvl="1"/>
            <a:r>
              <a:rPr lang="nl-BE" sz="2200" dirty="0"/>
              <a:t>See </a:t>
            </a:r>
            <a:r>
              <a:rPr lang="nl-BE" sz="2200" dirty="0" err="1"/>
              <a:t>the</a:t>
            </a:r>
            <a:r>
              <a:rPr lang="nl-BE" sz="2200" dirty="0"/>
              <a:t> </a:t>
            </a:r>
            <a:r>
              <a:rPr lang="nl-BE" sz="2200" dirty="0">
                <a:hlinkClick r:id="rId4"/>
              </a:rPr>
              <a:t>ICTS service </a:t>
            </a:r>
            <a:r>
              <a:rPr lang="nl-BE" sz="2200" dirty="0" err="1">
                <a:hlinkClick r:id="rId4"/>
              </a:rPr>
              <a:t>catalog</a:t>
            </a:r>
            <a:r>
              <a:rPr lang="nl-BE" sz="2200" dirty="0"/>
              <a:t> </a:t>
            </a:r>
            <a:r>
              <a:rPr lang="nl-BE" sz="2200" dirty="0" err="1"/>
              <a:t>for</a:t>
            </a:r>
            <a:r>
              <a:rPr lang="nl-BE" sz="2200" dirty="0"/>
              <a:t> more info</a:t>
            </a: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4245677733"/>
              </p:ext>
            </p:extLst>
          </p:nvPr>
        </p:nvGraphicFramePr>
        <p:xfrm>
          <a:off x="7392144" y="518573"/>
          <a:ext cx="4439856" cy="4348480"/>
        </p:xfrm>
        <a:graphic>
          <a:graphicData uri="http://schemas.openxmlformats.org/drawingml/2006/table">
            <a:tbl>
              <a:tblPr firstRow="1" bandRow="1">
                <a:tableStyleId>{5C22544A-7EE6-4342-B048-85BDC9FD1C3A}</a:tableStyleId>
              </a:tblPr>
              <a:tblGrid>
                <a:gridCol w="3168352">
                  <a:extLst>
                    <a:ext uri="{9D8B030D-6E8A-4147-A177-3AD203B41FA5}">
                      <a16:colId xmlns:a16="http://schemas.microsoft.com/office/drawing/2014/main" val="346114"/>
                    </a:ext>
                  </a:extLst>
                </a:gridCol>
                <a:gridCol w="1271504">
                  <a:extLst>
                    <a:ext uri="{9D8B030D-6E8A-4147-A177-3AD203B41FA5}">
                      <a16:colId xmlns:a16="http://schemas.microsoft.com/office/drawing/2014/main" val="1760943923"/>
                    </a:ext>
                  </a:extLst>
                </a:gridCol>
              </a:tblGrid>
              <a:tr h="370840">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370840">
                <a:tc>
                  <a:txBody>
                    <a:bodyPr/>
                    <a:lstStyle/>
                    <a:p>
                      <a:r>
                        <a:rPr lang="en-US" sz="1800" dirty="0" err="1"/>
                        <a:t>wICE</a:t>
                      </a:r>
                      <a:r>
                        <a:rPr lang="en-US" sz="1800" dirty="0"/>
                        <a:t> Skylake 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326915842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Cascadelake</a:t>
                      </a:r>
                      <a:r>
                        <a:rPr lang="en-US" sz="1800" dirty="0"/>
                        <a:t> 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21121686"/>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thin</a:t>
                      </a:r>
                      <a:r>
                        <a:rPr lang="nl-BE" sz="1800" dirty="0"/>
                        <a:t> node</a:t>
                      </a:r>
                    </a:p>
                  </a:txBody>
                  <a:tcPr/>
                </a:tc>
                <a:tc>
                  <a:txBody>
                    <a:bodyPr/>
                    <a:lstStyle/>
                    <a:p>
                      <a:r>
                        <a:rPr lang="nl-BE" sz="1800" dirty="0"/>
                        <a:t>11 000</a:t>
                      </a:r>
                    </a:p>
                  </a:txBody>
                  <a:tcPr/>
                </a:tc>
                <a:extLst>
                  <a:ext uri="{0D108BD9-81ED-4DB2-BD59-A6C34878D82A}">
                    <a16:rowId xmlns:a16="http://schemas.microsoft.com/office/drawing/2014/main" val="227663860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GPU node</a:t>
                      </a:r>
                    </a:p>
                  </a:txBody>
                  <a:tcPr/>
                </a:tc>
                <a:tc>
                  <a:txBody>
                    <a:bodyPr/>
                    <a:lstStyle/>
                    <a:p>
                      <a:r>
                        <a:rPr lang="nl-BE" sz="1800" dirty="0"/>
                        <a:t>45 000</a:t>
                      </a:r>
                    </a:p>
                  </a:txBody>
                  <a:tcPr/>
                </a:tc>
                <a:extLst>
                  <a:ext uri="{0D108BD9-81ED-4DB2-BD59-A6C34878D82A}">
                    <a16:rowId xmlns:a16="http://schemas.microsoft.com/office/drawing/2014/main" val="391892541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interactive</a:t>
                      </a:r>
                      <a:r>
                        <a:rPr lang="nl-BE" sz="1800" dirty="0"/>
                        <a:t> node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IceLake</a:t>
                      </a:r>
                      <a:r>
                        <a:rPr lang="en-US" sz="1800" dirty="0"/>
                        <a:t> </a:t>
                      </a:r>
                      <a:r>
                        <a:rPr lang="en-US" sz="1800" dirty="0" err="1"/>
                        <a:t>hugemem</a:t>
                      </a:r>
                      <a:r>
                        <a:rPr lang="en-US" sz="1800" dirty="0"/>
                        <a:t> node</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87164174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Sapphire Rapids</a:t>
                      </a:r>
                      <a:endParaRPr lang="nl-BE" sz="1800" dirty="0"/>
                    </a:p>
                  </a:txBody>
                  <a:tcPr/>
                </a:tc>
                <a:tc>
                  <a:txBody>
                    <a:bodyPr/>
                    <a:lstStyle/>
                    <a:p>
                      <a:r>
                        <a:rPr lang="en-US" sz="1800" dirty="0"/>
                        <a:t>20 000</a:t>
                      </a:r>
                    </a:p>
                  </a:txBody>
                  <a:tcPr/>
                </a:tc>
                <a:extLst>
                  <a:ext uri="{0D108BD9-81ED-4DB2-BD59-A6C34878D82A}">
                    <a16:rowId xmlns:a16="http://schemas.microsoft.com/office/drawing/2014/main" val="199049332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AMD Zen-4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265348944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solidFill>
                            <a:srgbClr val="FF0000"/>
                          </a:solidFill>
                        </a:rPr>
                        <a:t>Mindwell</a:t>
                      </a:r>
                      <a:endParaRPr lang="nl-BE" sz="1800" dirty="0">
                        <a:solidFill>
                          <a:srgbClr val="FF0000"/>
                        </a:solidFill>
                      </a:endParaRPr>
                    </a:p>
                  </a:txBody>
                  <a:tcPr/>
                </a:tc>
                <a:tc>
                  <a:txBody>
                    <a:bodyPr/>
                    <a:lstStyle/>
                    <a:p>
                      <a:endParaRPr lang="en-US" sz="1800" dirty="0"/>
                    </a:p>
                  </a:txBody>
                  <a:tcPr/>
                </a:tc>
                <a:extLst>
                  <a:ext uri="{0D108BD9-81ED-4DB2-BD59-A6C34878D82A}">
                    <a16:rowId xmlns:a16="http://schemas.microsoft.com/office/drawing/2014/main" val="4029070984"/>
                  </a:ext>
                </a:extLst>
              </a:tr>
            </a:tbl>
          </a:graphicData>
        </a:graphic>
      </p:graphicFrame>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81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9" name="Rectangle 3"/>
          <p:cNvSpPr>
            <a:spLocks noGrp="1" noChangeArrowheads="1"/>
          </p:cNvSpPr>
          <p:nvPr>
            <p:ph idx="1"/>
          </p:nvPr>
        </p:nvSpPr>
        <p:spPr>
          <a:xfrm>
            <a:off x="720000" y="1349998"/>
            <a:ext cx="11112000" cy="5034347"/>
          </a:xfrm>
        </p:spPr>
        <p:txBody>
          <a:bodyPr vert="horz" lIns="0" tIns="0" rIns="0" bIns="0" rtlCol="0" anchor="t">
            <a:noAutofit/>
          </a:bodyPr>
          <a:lstStyle/>
          <a:p>
            <a:pPr eaLnBrk="1" hangingPunct="1">
              <a:lnSpc>
                <a:spcPct val="90000"/>
              </a:lnSpc>
            </a:pPr>
            <a:r>
              <a:rPr lang="en-US" altLang="en-US" sz="2000" dirty="0"/>
              <a:t>Request your introduction credits</a:t>
            </a:r>
          </a:p>
          <a:p>
            <a:pPr lvl="1"/>
            <a:r>
              <a:rPr lang="en-US" altLang="en-US" sz="1900" dirty="0"/>
              <a:t>Every new user can request them once</a:t>
            </a:r>
          </a:p>
          <a:p>
            <a:pPr lvl="1"/>
            <a:r>
              <a:rPr lang="en-US" altLang="en-US" sz="1900" dirty="0">
                <a:ea typeface="Open Sans Extrabold"/>
                <a:cs typeface="Open Sans Extrabold"/>
              </a:rPr>
              <a:t>Free of charge</a:t>
            </a:r>
            <a:endParaRPr lang="en-US" altLang="en-US" sz="1900" dirty="0"/>
          </a:p>
          <a:p>
            <a:pPr lvl="1"/>
            <a:r>
              <a:rPr lang="en-US" altLang="en-US" sz="1900" dirty="0"/>
              <a:t>6 months</a:t>
            </a:r>
          </a:p>
          <a:p>
            <a:pPr lvl="1"/>
            <a:endParaRPr lang="en-US" altLang="en-US" sz="1900" dirty="0"/>
          </a:p>
          <a:p>
            <a:r>
              <a:rPr lang="en-US" altLang="en-US" sz="2200" dirty="0"/>
              <a:t>Request permission to join a group</a:t>
            </a:r>
          </a:p>
          <a:p>
            <a:endParaRPr lang="en-US" altLang="en-US" sz="2200" dirty="0"/>
          </a:p>
          <a:p>
            <a:r>
              <a:rPr lang="en-US" altLang="en-US" sz="2200" dirty="0"/>
              <a:t>Request project credits</a:t>
            </a:r>
          </a:p>
          <a:p>
            <a:pPr lvl="1"/>
            <a:r>
              <a:rPr lang="en-US" altLang="en-US" sz="1900" dirty="0"/>
              <a:t>Create group on the VSC account page</a:t>
            </a:r>
          </a:p>
          <a:p>
            <a:pPr lvl="1"/>
            <a:r>
              <a:rPr lang="en-US" altLang="en-US" sz="1900" dirty="0"/>
              <a:t>Start the name preferably with </a:t>
            </a:r>
            <a:r>
              <a:rPr lang="en-US" altLang="en-US" sz="1900" b="1" dirty="0"/>
              <a:t>p_</a:t>
            </a:r>
          </a:p>
          <a:p>
            <a:pPr lvl="1"/>
            <a:r>
              <a:rPr lang="en-US" altLang="en-US" sz="1900" dirty="0"/>
              <a:t>Your group will start with </a:t>
            </a:r>
            <a:r>
              <a:rPr lang="en-US" altLang="en-US" sz="1900" b="1" dirty="0" err="1"/>
              <a:t>lp</a:t>
            </a:r>
            <a:r>
              <a:rPr lang="en-US" altLang="en-US" sz="1900" b="1" dirty="0"/>
              <a:t>_</a:t>
            </a:r>
          </a:p>
          <a:p>
            <a:pPr lvl="1"/>
            <a:r>
              <a:rPr lang="en-US" altLang="en-US" sz="1900" dirty="0"/>
              <a:t>Creator of the group can add and remove users</a:t>
            </a:r>
          </a:p>
          <a:p>
            <a:pPr lvl="1"/>
            <a:endParaRPr lang="en-US" altLang="en-US" sz="1900" dirty="0"/>
          </a:p>
          <a:p>
            <a:r>
              <a:rPr lang="en-US" altLang="en-US" sz="2200" dirty="0"/>
              <a:t>Tier-2 credits can be used on all (Leuven) Tier-2 clusters</a:t>
            </a:r>
            <a:endParaRPr lang="en-US" altLang="en-US" sz="2000" dirty="0"/>
          </a:p>
          <a:p>
            <a:endParaRPr lang="en-US" altLang="en-US" sz="2200" dirty="0"/>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pic>
        <p:nvPicPr>
          <p:cNvPr id="3" name="Picture 2"/>
          <p:cNvPicPr>
            <a:picLocks noChangeAspect="1"/>
          </p:cNvPicPr>
          <p:nvPr/>
        </p:nvPicPr>
        <p:blipFill>
          <a:blip r:embed="rId4"/>
          <a:stretch>
            <a:fillRect/>
          </a:stretch>
        </p:blipFill>
        <p:spPr>
          <a:xfrm>
            <a:off x="5807968" y="1840526"/>
            <a:ext cx="5911458" cy="1734722"/>
          </a:xfrm>
          <a:prstGeom prst="rect">
            <a:avLst/>
          </a:prstGeom>
        </p:spPr>
      </p:pic>
      <p:pic>
        <p:nvPicPr>
          <p:cNvPr id="7" name="Picture 6"/>
          <p:cNvPicPr>
            <a:picLocks noChangeAspect="1"/>
          </p:cNvPicPr>
          <p:nvPr/>
        </p:nvPicPr>
        <p:blipFill>
          <a:blip r:embed="rId5"/>
          <a:stretch>
            <a:fillRect/>
          </a:stretch>
        </p:blipFill>
        <p:spPr>
          <a:xfrm>
            <a:off x="5464304" y="3689083"/>
            <a:ext cx="6298877" cy="1429497"/>
          </a:xfrm>
          <a:prstGeom prst="rect">
            <a:avLst/>
          </a:prstGeom>
        </p:spPr>
      </p:pic>
      <p:sp>
        <p:nvSpPr>
          <p:cNvPr id="4" name="Oval 3"/>
          <p:cNvSpPr/>
          <p:nvPr/>
        </p:nvSpPr>
        <p:spPr>
          <a:xfrm>
            <a:off x="9458570" y="4462869"/>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8" name="Picture 7"/>
          <p:cNvPicPr>
            <a:picLocks noChangeAspect="1"/>
          </p:cNvPicPr>
          <p:nvPr/>
        </p:nvPicPr>
        <p:blipFill>
          <a:blip r:embed="rId6"/>
          <a:stretch>
            <a:fillRect/>
          </a:stretch>
        </p:blipFill>
        <p:spPr>
          <a:xfrm>
            <a:off x="8500165" y="5145401"/>
            <a:ext cx="3308886" cy="1421507"/>
          </a:xfrm>
          <a:prstGeom prst="rect">
            <a:avLst/>
          </a:prstGeom>
        </p:spPr>
      </p:pic>
      <p:sp>
        <p:nvSpPr>
          <p:cNvPr id="11" name="TextBox 10"/>
          <p:cNvSpPr txBox="1"/>
          <p:nvPr/>
        </p:nvSpPr>
        <p:spPr>
          <a:xfrm>
            <a:off x="7176120" y="1196752"/>
            <a:ext cx="4608512" cy="369332"/>
          </a:xfrm>
          <a:prstGeom prst="rect">
            <a:avLst/>
          </a:prstGeom>
          <a:noFill/>
        </p:spPr>
        <p:txBody>
          <a:bodyPr wrap="square" rtlCol="0">
            <a:spAutoFit/>
          </a:bodyPr>
          <a:lstStyle/>
          <a:p>
            <a:r>
              <a:rPr lang="nl-BE" dirty="0"/>
              <a:t>Check </a:t>
            </a:r>
            <a:r>
              <a:rPr lang="nl-BE" dirty="0" err="1"/>
              <a:t>the</a:t>
            </a:r>
            <a:r>
              <a:rPr lang="nl-BE" dirty="0"/>
              <a:t> </a:t>
            </a:r>
            <a:r>
              <a:rPr lang="nl-BE" dirty="0">
                <a:hlinkClick r:id="rId7"/>
              </a:rPr>
              <a:t>ICTS service </a:t>
            </a:r>
            <a:r>
              <a:rPr lang="nl-BE" dirty="0" err="1">
                <a:hlinkClick r:id="rId7"/>
              </a:rPr>
              <a:t>catalog</a:t>
            </a:r>
            <a:endParaRPr lang="nl-BE" dirty="0"/>
          </a:p>
        </p:txBody>
      </p:sp>
      <p:sp>
        <p:nvSpPr>
          <p:cNvPr id="9" name="Right Arrow 8"/>
          <p:cNvSpPr/>
          <p:nvPr/>
        </p:nvSpPr>
        <p:spPr>
          <a:xfrm rot="21347765">
            <a:off x="4954191" y="1293163"/>
            <a:ext cx="216024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ight Arrow 11"/>
          <p:cNvSpPr/>
          <p:nvPr/>
        </p:nvSpPr>
        <p:spPr>
          <a:xfrm rot="19024342">
            <a:off x="3458607" y="2621496"/>
            <a:ext cx="4227443" cy="445315"/>
          </a:xfrm>
          <a:prstGeom prst="rightArrow">
            <a:avLst>
              <a:gd name="adj1" fmla="val 50357"/>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8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8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8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8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48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13" end="1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9" grpId="0" animBg="1"/>
      <p:bldP spid="9" grpId="1" animBg="1"/>
      <p:bldP spid="12" grpId="0" animBg="1"/>
      <p:bldP spid="12"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pPr eaLnBrk="1" hangingPunct="1">
              <a:lnSpc>
                <a:spcPct val="90000"/>
              </a:lnSpc>
            </a:pPr>
            <a:r>
              <a:rPr lang="en-US" altLang="en-US" sz="2200" dirty="0">
                <a:ea typeface="Open Sans Extrabold"/>
                <a:cs typeface="Open Sans Extrabold"/>
              </a:rPr>
              <a:t>Submit your jobs with a suitable credit account</a:t>
            </a:r>
          </a:p>
          <a:p>
            <a:pPr eaLnBrk="1" hangingPunct="1">
              <a:lnSpc>
                <a:spcPct val="90000"/>
              </a:lnSpc>
            </a:pPr>
            <a:endParaRPr lang="en-US" altLang="en-US" sz="2200" dirty="0">
              <a:ea typeface="Open Sans Extrabold"/>
              <a:cs typeface="Open Sans Extrabold"/>
            </a:endParaRPr>
          </a:p>
          <a:p>
            <a:pPr marL="342900" lvl="1" indent="0">
              <a:buNone/>
            </a:pPr>
            <a:r>
              <a:rPr lang="en-US" altLang="en-US" sz="2200" dirty="0">
                <a:ea typeface="Open Sans Extrabold"/>
                <a:cs typeface="Open Sans Extrabold"/>
              </a:rPr>
              <a:t>#SBATCH –A </a:t>
            </a:r>
            <a:r>
              <a:rPr lang="en-US" altLang="en-US" sz="2200" dirty="0" err="1">
                <a:ea typeface="Open Sans Extrabold"/>
                <a:cs typeface="Open Sans Extrabold"/>
              </a:rPr>
              <a:t>lp_myproject</a:t>
            </a:r>
            <a:endParaRPr lang="en-US" altLang="en-US" sz="2200" dirty="0">
              <a:ea typeface="Open Sans Extrabold"/>
              <a:cs typeface="Open Sans Extrabold"/>
            </a:endParaRPr>
          </a:p>
          <a:p>
            <a:pPr marL="342900" lvl="1" indent="0">
              <a:buNone/>
            </a:pPr>
            <a:endParaRPr lang="en-US" altLang="en-US" sz="2200" dirty="0">
              <a:ea typeface="Open Sans Extrabold"/>
              <a:cs typeface="Open Sans Extrabold"/>
            </a:endParaRPr>
          </a:p>
          <a:p>
            <a:pPr marL="342900" lvl="1" indent="0">
              <a:buNone/>
            </a:pPr>
            <a:r>
              <a:rPr lang="en-US" altLang="en-US" sz="2200" dirty="0" err="1">
                <a:ea typeface="Open Sans Extrabold"/>
                <a:cs typeface="Open Sans Extrabold"/>
              </a:rPr>
              <a:t>sbatch</a:t>
            </a:r>
            <a:r>
              <a:rPr lang="en-US" altLang="en-US" sz="2200" dirty="0">
                <a:ea typeface="Open Sans Extrabold"/>
                <a:cs typeface="Open Sans Extrabold"/>
              </a:rPr>
              <a:t> -A </a:t>
            </a:r>
            <a:r>
              <a:rPr lang="en-US" altLang="en-US" sz="2200" dirty="0" err="1">
                <a:ea typeface="Open Sans Extrabold"/>
                <a:cs typeface="Open Sans Extrabold"/>
              </a:rPr>
              <a:t>lp_myproject</a:t>
            </a:r>
            <a:r>
              <a:rPr lang="en-US" altLang="en-US" sz="2200" dirty="0">
                <a:ea typeface="Open Sans Extrabold"/>
                <a:cs typeface="Open Sans Extrabold"/>
              </a:rPr>
              <a:t> … </a:t>
            </a:r>
            <a:r>
              <a:rPr lang="en-US" altLang="en-US" sz="2200" dirty="0" err="1">
                <a:ea typeface="Open Sans Extrabold"/>
                <a:cs typeface="Open Sans Extrabold"/>
              </a:rPr>
              <a:t>myjob.slurm</a:t>
            </a:r>
            <a:endParaRPr lang="en-US" altLang="en-US" sz="2200" dirty="0">
              <a:ea typeface="Open Sans Extrabold"/>
              <a:cs typeface="Open Sans Extrabold"/>
            </a:endParaRPr>
          </a:p>
          <a:p>
            <a:pPr lvl="1"/>
            <a:endParaRPr lang="en-US" altLang="en-US" sz="2200" dirty="0">
              <a:ea typeface="Open Sans Extrabold"/>
              <a:cs typeface="Open Sans Extrabold"/>
            </a:endParaRPr>
          </a:p>
          <a:p>
            <a:r>
              <a:rPr lang="en-US" altLang="en-US" sz="2200" dirty="0">
                <a:ea typeface="Open Sans Extrabold"/>
                <a:cs typeface="Open Sans Extrabold"/>
              </a:rPr>
              <a:t>Before submitting the job, </a:t>
            </a:r>
            <a:r>
              <a:rPr lang="en-US" altLang="en-US" sz="2200" dirty="0" err="1">
                <a:ea typeface="Open Sans Extrabold"/>
                <a:cs typeface="Open Sans Extrabold"/>
              </a:rPr>
              <a:t>Slurm</a:t>
            </a:r>
            <a:r>
              <a:rPr lang="en-US" altLang="en-US" sz="2200" dirty="0">
                <a:ea typeface="Open Sans Extrabold"/>
                <a:cs typeface="Open Sans Extrabold"/>
              </a:rPr>
              <a:t> checks if the account has enough available credits for the job</a:t>
            </a:r>
            <a:br>
              <a:rPr lang="en-US" altLang="en-US" sz="2200" dirty="0">
                <a:ea typeface="Open Sans Extrabold"/>
                <a:cs typeface="Open Sans Extrabold"/>
              </a:rPr>
            </a:br>
            <a:r>
              <a:rPr lang="en-US" altLang="en-US" sz="2200" dirty="0">
                <a:ea typeface="Open Sans Extrabold"/>
                <a:cs typeface="Open Sans Extrabold"/>
              </a:rPr>
              <a:t>(in addition to any other already-running jobs)</a:t>
            </a:r>
          </a:p>
          <a:p>
            <a:pPr marL="0" indent="0">
              <a:buNone/>
            </a:pPr>
            <a:endParaRPr lang="en-US" altLang="en-US" sz="2200" dirty="0">
              <a:ea typeface="Open Sans Extrabold"/>
              <a:cs typeface="Open Sans Extrabold"/>
            </a:endParaRPr>
          </a:p>
          <a:p>
            <a:r>
              <a:rPr lang="en-US" altLang="en-US" sz="2200" dirty="0">
                <a:ea typeface="Open Sans Extrabold"/>
                <a:cs typeface="Open Sans Extrabold"/>
              </a:rPr>
              <a:t>Once a job start running, it starts consuming credits from the account</a:t>
            </a:r>
          </a:p>
          <a:p>
            <a:endParaRPr lang="en-US" altLang="en-US" sz="2200" dirty="0">
              <a:ea typeface="Open Sans Extrabold"/>
              <a:cs typeface="Open Sans Extrabold"/>
            </a:endParaRPr>
          </a:p>
          <a:p>
            <a:endParaRPr lang="en-US" altLang="en-US" sz="2200" dirty="0">
              <a:ea typeface="Open Sans Extrabold"/>
              <a:cs typeface="Open Sans Extrabold"/>
            </a:endParaRPr>
          </a:p>
          <a:p>
            <a:endParaRPr lang="en-US" altLang="en-US" sz="1900" dirty="0">
              <a:ea typeface="Open Sans Extrabold"/>
              <a:cs typeface="Open Sans Extrabold"/>
            </a:endParaRPr>
          </a:p>
          <a:p>
            <a:pPr lvl="1"/>
            <a:endParaRPr lang="en-US" altLang="en-US" sz="2200" dirty="0"/>
          </a:p>
        </p:txBody>
      </p:sp>
      <p:sp>
        <p:nvSpPr>
          <p:cNvPr id="34818" name="Rectangle 2"/>
          <p:cNvSpPr>
            <a:spLocks noGrp="1" noChangeArrowheads="1"/>
          </p:cNvSpPr>
          <p:nvPr>
            <p:ph type="title"/>
          </p:nvPr>
        </p:nvSpPr>
        <p:spPr/>
        <p:txBody>
          <a:bodyPr/>
          <a:lstStyle/>
          <a:p>
            <a:r>
              <a:rPr lang="en-US" altLang="en-US" dirty="0"/>
              <a:t>Tier-2 credit system – how</a:t>
            </a:r>
          </a:p>
        </p:txBody>
      </p:sp>
    </p:spTree>
    <p:extLst>
      <p:ext uri="{BB962C8B-B14F-4D97-AF65-F5344CB8AC3E}">
        <p14:creationId xmlns:p14="http://schemas.microsoft.com/office/powerpoint/2010/main" val="26808694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866019"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940764649"/>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896942"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2991176652"/>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i="1"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marL="0" indent="0">
              <a:buNone/>
            </a:pP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701249451"/>
              </p:ext>
            </p:extLst>
          </p:nvPr>
        </p:nvGraphicFramePr>
        <p:xfrm>
          <a:off x="864813"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845390" y="3215787"/>
            <a:ext cx="10841795" cy="1005301"/>
          </a:xfrm>
          <a:prstGeom prst="rect">
            <a:avLst/>
          </a:prstGeom>
        </p:spPr>
      </p:pic>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4090"/>
          <a:stretch>
            <a:fillRect/>
          </a:stretch>
        </p:blipFill>
        <p:spPr>
          <a:xfrm>
            <a:off x="839416" y="3417800"/>
            <a:ext cx="5688632" cy="3187655"/>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371690159"/>
              </p:ext>
            </p:extLst>
          </p:nvPr>
        </p:nvGraphicFramePr>
        <p:xfrm>
          <a:off x="864813"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577381664"/>
              </p:ext>
            </p:extLst>
          </p:nvPr>
        </p:nvGraphicFramePr>
        <p:xfrm>
          <a:off x="864813"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6988530" y="3994627"/>
            <a:ext cx="1058597" cy="2254184"/>
            <a:chOff x="5781249" y="4359400"/>
            <a:chExt cx="1058597" cy="2254184"/>
          </a:xfrm>
        </p:grpSpPr>
        <p:sp>
          <p:nvSpPr>
            <p:cNvPr id="172" name="Flowchart: Magnetic Disk 25"/>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grpSp>
        <p:nvGrpSpPr>
          <p:cNvPr id="16" name="Group 15"/>
          <p:cNvGrpSpPr/>
          <p:nvPr/>
        </p:nvGrpSpPr>
        <p:grpSpPr>
          <a:xfrm>
            <a:off x="5008510" y="642174"/>
            <a:ext cx="5263954" cy="3015259"/>
            <a:chOff x="5008510" y="642174"/>
            <a:chExt cx="5263954" cy="3015259"/>
          </a:xfrm>
        </p:grpSpPr>
        <p:sp>
          <p:nvSpPr>
            <p:cNvPr id="128" name="Up-Down Arrow 115"/>
            <p:cNvSpPr/>
            <p:nvPr/>
          </p:nvSpPr>
          <p:spPr>
            <a:xfrm>
              <a:off x="6837699" y="305096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p:cNvSpPr/>
            <p:nvPr/>
          </p:nvSpPr>
          <p:spPr>
            <a:xfrm>
              <a:off x="5008510" y="281029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2" name="Group 1"/>
            <p:cNvGrpSpPr/>
            <p:nvPr/>
          </p:nvGrpSpPr>
          <p:grpSpPr>
            <a:xfrm>
              <a:off x="5231903" y="642174"/>
              <a:ext cx="4608512" cy="2015956"/>
              <a:chOff x="5231903" y="642174"/>
              <a:chExt cx="4608512" cy="2015956"/>
            </a:xfrm>
          </p:grpSpPr>
          <p:grpSp>
            <p:nvGrpSpPr>
              <p:cNvPr id="146" name="Group 145"/>
              <p:cNvGrpSpPr/>
              <p:nvPr/>
            </p:nvGrpSpPr>
            <p:grpSpPr>
              <a:xfrm>
                <a:off x="8119727" y="1052736"/>
                <a:ext cx="1720688" cy="1605394"/>
                <a:chOff x="467544" y="1052736"/>
                <a:chExt cx="1720688" cy="1605394"/>
              </a:xfrm>
            </p:grpSpPr>
            <p:sp>
              <p:nvSpPr>
                <p:cNvPr id="147"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8"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9"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0"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1"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4"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7"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9"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120" name="Group 119"/>
              <p:cNvGrpSpPr/>
              <p:nvPr/>
            </p:nvGrpSpPr>
            <p:grpSpPr>
              <a:xfrm>
                <a:off x="7111615" y="1052736"/>
                <a:ext cx="1720688" cy="1605394"/>
                <a:chOff x="467544" y="1052736"/>
                <a:chExt cx="1720688" cy="1605394"/>
              </a:xfrm>
            </p:grpSpPr>
            <p:sp>
              <p:nvSpPr>
                <p:cNvPr id="12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2"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6"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9"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0"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1"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4"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5"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8" name="Group 7"/>
              <p:cNvGrpSpPr/>
              <p:nvPr/>
            </p:nvGrpSpPr>
            <p:grpSpPr>
              <a:xfrm>
                <a:off x="6168007" y="1052736"/>
                <a:ext cx="1720688" cy="1605394"/>
                <a:chOff x="1403648" y="1052736"/>
                <a:chExt cx="1720688" cy="1605394"/>
              </a:xfrm>
            </p:grpSpPr>
            <p:sp>
              <p:nvSpPr>
                <p:cNvPr id="112" name="Rounded Rectangle 18"/>
                <p:cNvSpPr/>
                <p:nvPr/>
              </p:nvSpPr>
              <p:spPr>
                <a:xfrm>
                  <a:off x="1403648"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3" name="Rounded Rectangle 18"/>
                <p:cNvSpPr/>
                <p:nvPr/>
              </p:nvSpPr>
              <p:spPr>
                <a:xfrm>
                  <a:off x="1556048"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4" name="Rounded Rectangle 18"/>
                <p:cNvSpPr/>
                <p:nvPr/>
              </p:nvSpPr>
              <p:spPr>
                <a:xfrm>
                  <a:off x="1708448"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5" name="Rounded Rectangle 18"/>
                <p:cNvSpPr/>
                <p:nvPr/>
              </p:nvSpPr>
              <p:spPr>
                <a:xfrm>
                  <a:off x="1860848"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6" name="Rounded Rectangle 18"/>
                <p:cNvSpPr/>
                <p:nvPr/>
              </p:nvSpPr>
              <p:spPr>
                <a:xfrm>
                  <a:off x="2013248"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7" name="Rounded Rectangle 18"/>
                <p:cNvSpPr/>
                <p:nvPr/>
              </p:nvSpPr>
              <p:spPr>
                <a:xfrm>
                  <a:off x="2165648"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8" name="Rounded Rectangle 18"/>
                <p:cNvSpPr/>
                <p:nvPr/>
              </p:nvSpPr>
              <p:spPr>
                <a:xfrm>
                  <a:off x="2318048"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9" name="Rounded Rectangle 18"/>
                <p:cNvSpPr/>
                <p:nvPr/>
              </p:nvSpPr>
              <p:spPr>
                <a:xfrm>
                  <a:off x="2470448"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9" name="Group 8"/>
              <p:cNvGrpSpPr/>
              <p:nvPr/>
            </p:nvGrpSpPr>
            <p:grpSpPr>
              <a:xfrm>
                <a:off x="5231903" y="1052736"/>
                <a:ext cx="1720688" cy="1605394"/>
                <a:chOff x="467544" y="1052736"/>
                <a:chExt cx="1720688" cy="1605394"/>
              </a:xfrm>
            </p:grpSpPr>
            <p:sp>
              <p:nvSpPr>
                <p:cNvPr id="10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4"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5"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6"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7"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8"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9"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0"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233" name="TextBox 23"/>
              <p:cNvSpPr txBox="1"/>
              <p:nvPr/>
            </p:nvSpPr>
            <p:spPr>
              <a:xfrm>
                <a:off x="6169472" y="642174"/>
                <a:ext cx="1942753" cy="369332"/>
              </a:xfrm>
              <a:prstGeom prst="rect">
                <a:avLst/>
              </a:prstGeom>
              <a:noFill/>
            </p:spPr>
            <p:txBody>
              <a:bodyPr wrap="square" rtlCol="0">
                <a:spAutoFit/>
              </a:bodyPr>
              <a:lstStyle/>
              <a:p>
                <a:pPr algn="ctr"/>
                <a:r>
                  <a:rPr lang="en-US" dirty="0">
                    <a:solidFill>
                      <a:srgbClr val="00407A"/>
                    </a:solidFill>
                  </a:rPr>
                  <a:t>Compute nodes</a:t>
                </a:r>
              </a:p>
            </p:txBody>
          </p:sp>
        </p:grpSp>
      </p:grpSp>
      <p:grpSp>
        <p:nvGrpSpPr>
          <p:cNvPr id="10" name="Group 9"/>
          <p:cNvGrpSpPr/>
          <p:nvPr/>
        </p:nvGrpSpPr>
        <p:grpSpPr>
          <a:xfrm>
            <a:off x="8565455" y="3973361"/>
            <a:ext cx="2859137" cy="2119935"/>
            <a:chOff x="8565455" y="3973361"/>
            <a:chExt cx="2859137" cy="2119935"/>
          </a:xfrm>
        </p:grpSpPr>
        <p:sp>
          <p:nvSpPr>
            <p:cNvPr id="70" name="Rectangle 3"/>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p:cNvGrpSpPr/>
            <p:nvPr/>
          </p:nvGrpSpPr>
          <p:grpSpPr>
            <a:xfrm>
              <a:off x="8565455" y="3973361"/>
              <a:ext cx="1942753" cy="1471618"/>
              <a:chOff x="1496838" y="4338134"/>
              <a:chExt cx="1942753" cy="1471618"/>
            </a:xfrm>
          </p:grpSpPr>
          <p:sp>
            <p:nvSpPr>
              <p:cNvPr id="195" name="Rounded Rectangle 18"/>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1" name="Left-Right Arrow Callout 10"/>
          <p:cNvSpPr/>
          <p:nvPr/>
        </p:nvSpPr>
        <p:spPr>
          <a:xfrm>
            <a:off x="1515196" y="4221088"/>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764704"/>
            <a:ext cx="2488718" cy="5843118"/>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grpSp>
        <p:nvGrpSpPr>
          <p:cNvPr id="25" name="Group 24"/>
          <p:cNvGrpSpPr/>
          <p:nvPr/>
        </p:nvGrpSpPr>
        <p:grpSpPr>
          <a:xfrm>
            <a:off x="4729312" y="3060249"/>
            <a:ext cx="7170157" cy="2369911"/>
            <a:chOff x="4729312" y="3060249"/>
            <a:chExt cx="7170157" cy="2369911"/>
          </a:xfrm>
        </p:grpSpPr>
        <p:grpSp>
          <p:nvGrpSpPr>
            <p:cNvPr id="15" name="Group 14"/>
            <p:cNvGrpSpPr/>
            <p:nvPr/>
          </p:nvGrpSpPr>
          <p:grpSpPr>
            <a:xfrm>
              <a:off x="4729312" y="3818403"/>
              <a:ext cx="5471144" cy="1611757"/>
              <a:chOff x="4729312" y="3818403"/>
              <a:chExt cx="5471144" cy="1611757"/>
            </a:xfrm>
          </p:grpSpPr>
          <p:cxnSp>
            <p:nvCxnSpPr>
              <p:cNvPr id="126" name="Straight Connector 6"/>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p:cNvGrpSpPr/>
              <p:nvPr/>
            </p:nvGrpSpPr>
            <p:grpSpPr>
              <a:xfrm>
                <a:off x="4729312" y="3977632"/>
                <a:ext cx="1942753" cy="1452528"/>
                <a:chOff x="1547664" y="4338134"/>
                <a:chExt cx="1942753" cy="1452528"/>
              </a:xfrm>
            </p:grpSpPr>
            <p:sp>
              <p:nvSpPr>
                <p:cNvPr id="206" name="Rounded Rectangle 18"/>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3933056"/>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A319C3D-DC81-B4B6-6866-AC66BFEE1264}"/>
              </a:ext>
            </a:extLst>
          </p:cNvPr>
          <p:cNvGrpSpPr/>
          <p:nvPr/>
        </p:nvGrpSpPr>
        <p:grpSpPr>
          <a:xfrm>
            <a:off x="6321963" y="1477251"/>
            <a:ext cx="5278923" cy="3607933"/>
            <a:chOff x="720001" y="964811"/>
            <a:chExt cx="5189980" cy="3607933"/>
          </a:xfrm>
        </p:grpSpPr>
        <p:sp>
          <p:nvSpPr>
            <p:cNvPr id="4" name="Content Placeholder 2"/>
            <p:cNvSpPr txBox="1">
              <a:spLocks/>
            </p:cNvSpPr>
            <p:nvPr/>
          </p:nvSpPr>
          <p:spPr>
            <a:xfrm>
              <a:off x="720001" y="1377264"/>
              <a:ext cx="5189980" cy="3195480"/>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Windows: </a:t>
              </a:r>
              <a:r>
                <a:rPr lang="en-US" dirty="0">
                  <a:hlinkClick r:id="rId3"/>
                </a:rPr>
                <a:t>PuTTY</a:t>
              </a:r>
              <a:r>
                <a:rPr lang="en-US" dirty="0"/>
                <a:t>, </a:t>
              </a:r>
              <a:r>
                <a:rPr lang="en-US" dirty="0" err="1">
                  <a:hlinkClick r:id="rId4"/>
                </a:rPr>
                <a:t>MobaXterm</a:t>
              </a:r>
              <a:r>
                <a:rPr lang="en-US" dirty="0"/>
                <a:t>, …</a:t>
              </a:r>
              <a:br>
                <a:rPr lang="en-US" dirty="0"/>
              </a:br>
              <a:r>
                <a:rPr lang="en-US" dirty="0"/>
                <a:t>MacOS/Linux: any terminal</a:t>
              </a:r>
            </a:p>
            <a:p>
              <a:pPr marL="324000" indent="-324000">
                <a:buClr>
                  <a:srgbClr val="DB6C30"/>
                </a:buClr>
                <a:buFont typeface="Wingdings" panose="05000000000000000000" pitchFamily="2" charset="2"/>
                <a:buChar char="q"/>
              </a:pPr>
              <a:r>
                <a:rPr lang="en-US" dirty="0"/>
                <a:t>Hosts: login.hpc.kuleuven.be:22</a:t>
              </a:r>
              <a:br>
                <a:rPr lang="en-US" dirty="0"/>
              </a:br>
              <a:r>
                <a:rPr lang="en-US" dirty="0"/>
                <a:t>Recommended to use an </a:t>
              </a:r>
              <a:r>
                <a:rPr lang="en-US" dirty="0">
                  <a:hlinkClick r:id="rId5"/>
                </a:rPr>
                <a:t>SSH agent</a:t>
              </a:r>
              <a:endParaRPr lang="en-US" dirty="0"/>
            </a:p>
            <a:p>
              <a:pPr marL="324000" indent="-324000">
                <a:buClr>
                  <a:srgbClr val="DB6C30"/>
                </a:buClr>
                <a:buFont typeface="Wingdings" panose="05000000000000000000" pitchFamily="2" charset="2"/>
                <a:buChar char="q"/>
              </a:pPr>
              <a:r>
                <a:rPr lang="en-US" dirty="0"/>
                <a:t>Can open GUIs if X11 forwarding is enabled</a:t>
              </a:r>
            </a:p>
            <a:p>
              <a:pPr marL="324000" indent="-324000">
                <a:buClr>
                  <a:srgbClr val="DB6C30"/>
                </a:buClr>
                <a:buFont typeface="Wingdings" panose="05000000000000000000" pitchFamily="2" charset="2"/>
                <a:buChar char="q"/>
              </a:pPr>
              <a:r>
                <a:rPr lang="en-US" dirty="0"/>
                <a:t>Optional: for VSC clusters </a:t>
              </a:r>
              <a:r>
                <a:rPr lang="en-US" i="1" dirty="0"/>
                <a:t>not </a:t>
              </a:r>
              <a:r>
                <a:rPr lang="en-US" dirty="0"/>
                <a:t>hosted at KU Leuven you need an </a:t>
              </a:r>
              <a:r>
                <a:rPr lang="en-US" dirty="0">
                  <a:hlinkClick r:id="rId6"/>
                </a:rPr>
                <a:t>(open)SSH key pair</a:t>
              </a:r>
              <a:r>
                <a:rPr lang="en-US" dirty="0"/>
                <a:t> (upload the public key to the VSC account page and wait ≥ 30mins)</a:t>
              </a:r>
            </a:p>
          </p:txBody>
        </p:sp>
        <p:sp>
          <p:nvSpPr>
            <p:cNvPr id="6" name="Rectangle 5"/>
            <p:cNvSpPr/>
            <p:nvPr/>
          </p:nvSpPr>
          <p:spPr>
            <a:xfrm>
              <a:off x="36921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client</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grpSp>
        <p:nvGrpSpPr>
          <p:cNvPr id="8" name="Group 7">
            <a:extLst>
              <a:ext uri="{FF2B5EF4-FFF2-40B4-BE49-F238E27FC236}">
                <a16:creationId xmlns:a16="http://schemas.microsoft.com/office/drawing/2014/main" id="{0D2995CF-4205-9B2E-5C21-148811C95B6E}"/>
              </a:ext>
            </a:extLst>
          </p:cNvPr>
          <p:cNvGrpSpPr/>
          <p:nvPr/>
        </p:nvGrpSpPr>
        <p:grpSpPr>
          <a:xfrm>
            <a:off x="872401" y="1477251"/>
            <a:ext cx="4727928" cy="2599821"/>
            <a:chOff x="720001" y="964811"/>
            <a:chExt cx="5015961" cy="2766987"/>
          </a:xfrm>
        </p:grpSpPr>
        <p:sp>
          <p:nvSpPr>
            <p:cNvPr id="10" name="Content Placeholder 2">
              <a:extLst>
                <a:ext uri="{FF2B5EF4-FFF2-40B4-BE49-F238E27FC236}">
                  <a16:creationId xmlns:a16="http://schemas.microsoft.com/office/drawing/2014/main" id="{70B81D1F-CF2E-A4F9-8EA3-655B76D8720B}"/>
                </a:ext>
              </a:extLst>
            </p:cNvPr>
            <p:cNvSpPr txBox="1">
              <a:spLocks/>
            </p:cNvSpPr>
            <p:nvPr/>
          </p:nvSpPr>
          <p:spPr>
            <a:xfrm>
              <a:off x="720001" y="1377264"/>
              <a:ext cx="5015960" cy="2354534"/>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Web-based login via your browser</a:t>
              </a:r>
            </a:p>
            <a:p>
              <a:pPr marL="324000" indent="-324000">
                <a:buClr>
                  <a:srgbClr val="DB6C30"/>
                </a:buClr>
                <a:buFont typeface="Wingdings" panose="05000000000000000000" pitchFamily="2" charset="2"/>
                <a:buChar char="q"/>
              </a:pPr>
              <a:r>
                <a:rPr lang="en-US" dirty="0">
                  <a:hlinkClick r:id="rId7"/>
                </a:rPr>
                <a:t>https://ondemand.hpc.kuleuven.be</a:t>
              </a:r>
              <a:endParaRPr lang="en-US" dirty="0"/>
            </a:p>
            <a:p>
              <a:pPr marL="324000" indent="-324000">
                <a:buClr>
                  <a:srgbClr val="DB6C30"/>
                </a:buClr>
                <a:buFont typeface="Wingdings" panose="05000000000000000000" pitchFamily="2" charset="2"/>
                <a:buChar char="q"/>
              </a:pPr>
              <a:r>
                <a:rPr lang="en-US" dirty="0"/>
                <a:t>Multi-Factor Authentication (MFA):</a:t>
              </a:r>
              <a:br>
                <a:rPr lang="en-US" dirty="0"/>
              </a:br>
              <a:r>
                <a:rPr lang="en-US" dirty="0"/>
                <a:t>Login through your institute’s IDP</a:t>
              </a:r>
            </a:p>
            <a:p>
              <a:pPr marL="324000" indent="-324000">
                <a:buClr>
                  <a:srgbClr val="DB6C30"/>
                </a:buClr>
                <a:buFont typeface="Wingdings" panose="05000000000000000000" pitchFamily="2" charset="2"/>
                <a:buChar char="q"/>
              </a:pPr>
              <a:r>
                <a:rPr lang="en-US" dirty="0"/>
                <a:t>No SSH key needed</a:t>
              </a:r>
            </a:p>
          </p:txBody>
        </p:sp>
        <p:sp>
          <p:nvSpPr>
            <p:cNvPr id="12" name="Rectangle 11">
              <a:extLst>
                <a:ext uri="{FF2B5EF4-FFF2-40B4-BE49-F238E27FC236}">
                  <a16:creationId xmlns:a16="http://schemas.microsoft.com/office/drawing/2014/main" id="{25C4F6E6-1270-AD0C-C70D-ECA907A492FF}"/>
                </a:ext>
              </a:extLst>
            </p:cNvPr>
            <p:cNvSpPr/>
            <p:nvPr/>
          </p:nvSpPr>
          <p:spPr>
            <a:xfrm>
              <a:off x="35205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OnDemand</a:t>
              </a:r>
              <a:endParaRPr lang="nl-BE" dirty="0"/>
            </a:p>
          </p:txBody>
        </p:sp>
      </p:grpSp>
    </p:spTree>
    <p:custDataLst>
      <p:tags r:id="rId1"/>
    </p:custDataLst>
    <p:extLst>
      <p:ext uri="{BB962C8B-B14F-4D97-AF65-F5344CB8AC3E}">
        <p14:creationId xmlns:p14="http://schemas.microsoft.com/office/powerpoint/2010/main" val="132438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6C9836A-501B-4430-9DDF-90DC89DF6693}"/>
              </a:ext>
            </a:extLst>
          </p:cNvPr>
          <p:cNvGrpSpPr/>
          <p:nvPr/>
        </p:nvGrpSpPr>
        <p:grpSpPr>
          <a:xfrm>
            <a:off x="720000" y="4855239"/>
            <a:ext cx="9696479" cy="1306583"/>
            <a:chOff x="720000" y="4855239"/>
            <a:chExt cx="9696479" cy="1306583"/>
          </a:xfrm>
        </p:grpSpPr>
        <p:sp>
          <p:nvSpPr>
            <p:cNvPr id="2" name="TextBox 1"/>
            <p:cNvSpPr txBox="1"/>
            <p:nvPr/>
          </p:nvSpPr>
          <p:spPr>
            <a:xfrm>
              <a:off x="720000" y="4869160"/>
              <a:ext cx="9696479" cy="1292662"/>
            </a:xfrm>
            <a:prstGeom prst="rect">
              <a:avLst/>
            </a:prstGeom>
            <a:noFill/>
            <a:ln w="19050">
              <a:solidFill>
                <a:srgbClr val="FF0000"/>
              </a:solidFill>
            </a:ln>
          </p:spPr>
          <p:txBody>
            <a:bodyPr wrap="square" rtlCol="0">
              <a:spAutoFit/>
            </a:bodyPr>
            <a:lstStyle/>
            <a:p>
              <a:r>
                <a:rPr lang="en-US" sz="2400" b="1" dirty="0">
                  <a:solidFill>
                    <a:srgbClr val="FF0000"/>
                  </a:solidFill>
                </a:rPr>
                <a:t>Do NOT execute CPU- or memory-intensive tasks here</a:t>
              </a:r>
            </a:p>
            <a:p>
              <a:r>
                <a:rPr lang="en-US" dirty="0"/>
                <a:t>Login nodes are shared resources </a:t>
              </a:r>
            </a:p>
            <a:p>
              <a:r>
                <a:rPr lang="en-US" dirty="0"/>
                <a:t>Submit jobs instead (you can e.g. compile software on compute nodes via an interactive job)</a:t>
              </a:r>
              <a:br>
                <a:rPr lang="en-US" dirty="0"/>
              </a:br>
              <a:r>
                <a:rPr lang="en-US" dirty="0"/>
                <a:t>Use </a:t>
              </a:r>
              <a:r>
                <a:rPr lang="en-US" dirty="0" err="1">
                  <a:latin typeface="Courier New" panose="02070309020205020404" pitchFamily="49" charset="0"/>
                  <a:cs typeface="Courier New" panose="02070309020205020404" pitchFamily="49" charset="0"/>
                </a:rPr>
                <a:t>slurmtop</a:t>
              </a:r>
              <a:r>
                <a:rPr lang="en-US" dirty="0">
                  <a:latin typeface="Courier New" panose="02070309020205020404" pitchFamily="49" charset="0"/>
                  <a:cs typeface="Courier New" panose="02070309020205020404" pitchFamily="49" charset="0"/>
                </a:rPr>
                <a:t> </a:t>
              </a:r>
              <a:r>
                <a:rPr lang="en-US" dirty="0"/>
                <a:t>to see how busy the cluster is</a:t>
              </a:r>
            </a:p>
          </p:txBody>
        </p:sp>
        <p:sp>
          <p:nvSpPr>
            <p:cNvPr id="5" name="Rectangle 4"/>
            <p:cNvSpPr/>
            <p:nvPr/>
          </p:nvSpPr>
          <p:spPr>
            <a:xfrm>
              <a:off x="8472264" y="4855239"/>
              <a:ext cx="1944215" cy="41245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Warning</a:t>
              </a:r>
              <a:endParaRPr lang="nl-BE" b="1" dirty="0"/>
            </a:p>
          </p:txBody>
        </p:sp>
      </p:grpSp>
      <p:grpSp>
        <p:nvGrpSpPr>
          <p:cNvPr id="7" name="Group 6">
            <a:extLst>
              <a:ext uri="{FF2B5EF4-FFF2-40B4-BE49-F238E27FC236}">
                <a16:creationId xmlns:a16="http://schemas.microsoft.com/office/drawing/2014/main" id="{49FA9E7D-DE9D-29F9-5B75-73038D4F44AF}"/>
              </a:ext>
            </a:extLst>
          </p:cNvPr>
          <p:cNvGrpSpPr/>
          <p:nvPr/>
        </p:nvGrpSpPr>
        <p:grpSpPr>
          <a:xfrm>
            <a:off x="720000" y="1377264"/>
            <a:ext cx="9696479" cy="3347880"/>
            <a:chOff x="720000" y="1377264"/>
            <a:chExt cx="9696479" cy="3347880"/>
          </a:xfrm>
        </p:grpSpPr>
        <p:sp>
          <p:nvSpPr>
            <p:cNvPr id="4" name="Content Placeholder 2"/>
            <p:cNvSpPr txBox="1">
              <a:spLocks/>
            </p:cNvSpPr>
            <p:nvPr/>
          </p:nvSpPr>
          <p:spPr>
            <a:xfrm>
              <a:off x="720000" y="1377264"/>
              <a:ext cx="9696479" cy="3347880"/>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To develop code</a:t>
              </a:r>
            </a:p>
            <a:p>
              <a:pPr marL="324000" indent="-324000">
                <a:buClr>
                  <a:srgbClr val="DB6C30"/>
                </a:buClr>
                <a:buFont typeface="Wingdings" panose="05000000000000000000" pitchFamily="2" charset="2"/>
                <a:buChar char="q"/>
              </a:pPr>
              <a:r>
                <a:rPr lang="en-US" dirty="0"/>
                <a:t>To check your storage and credit balance</a:t>
              </a:r>
            </a:p>
            <a:p>
              <a:pPr marL="324000" indent="-324000">
                <a:buClr>
                  <a:srgbClr val="DB6C30"/>
                </a:buClr>
                <a:buFont typeface="Wingdings" panose="05000000000000000000" pitchFamily="2" charset="2"/>
                <a:buChar char="q"/>
              </a:pPr>
              <a:r>
                <a:rPr lang="en-US" dirty="0"/>
                <a:t>To manage jobs (submit, check status, debug, resubmit, …)</a:t>
              </a:r>
            </a:p>
            <a:p>
              <a:pPr marL="324000" indent="-324000">
                <a:buClr>
                  <a:srgbClr val="DB6C30"/>
                </a:buClr>
                <a:buFont typeface="Wingdings" panose="05000000000000000000" pitchFamily="2" charset="2"/>
                <a:buChar char="q"/>
              </a:pPr>
              <a:r>
                <a:rPr lang="en-US" dirty="0"/>
                <a:t>To move data around</a:t>
              </a:r>
            </a:p>
            <a:p>
              <a:pPr lvl="1">
                <a:buClr>
                  <a:srgbClr val="DB6C30"/>
                </a:buClr>
                <a:buFont typeface="Wingdings" panose="05000000000000000000" pitchFamily="2" charset="2"/>
                <a:buChar char="§"/>
              </a:pPr>
              <a:r>
                <a:rPr lang="en-US" dirty="0"/>
                <a:t>within VSC: use data, scratch, staging</a:t>
              </a:r>
              <a:endParaRPr lang="nl-BE" dirty="0"/>
            </a:p>
            <a:p>
              <a:pPr lvl="1">
                <a:buClr>
                  <a:srgbClr val="DB6C30"/>
                </a:buClr>
                <a:buFont typeface="Wingdings" panose="05000000000000000000" pitchFamily="2" charset="2"/>
                <a:buChar char="§"/>
              </a:pPr>
              <a:r>
                <a:rPr lang="nl-BE" dirty="0" err="1"/>
                <a:t>outside</a:t>
              </a:r>
              <a:r>
                <a:rPr lang="nl-BE" dirty="0"/>
                <a:t> VSC: copy/sync </a:t>
              </a:r>
              <a:r>
                <a:rPr lang="nl-BE" dirty="0" err="1"/>
                <a:t>from</a:t>
              </a:r>
              <a:r>
                <a:rPr lang="nl-BE" dirty="0"/>
                <a:t>/</a:t>
              </a:r>
              <a:r>
                <a:rPr lang="nl-BE" dirty="0" err="1"/>
                <a:t>to</a:t>
              </a:r>
              <a:r>
                <a:rPr lang="nl-BE" dirty="0"/>
                <a:t> </a:t>
              </a:r>
              <a:r>
                <a:rPr lang="nl-BE" dirty="0" err="1"/>
                <a:t>your</a:t>
              </a:r>
              <a:r>
                <a:rPr lang="nl-BE" dirty="0"/>
                <a:t> </a:t>
              </a:r>
              <a:r>
                <a:rPr lang="nl-BE" dirty="0" err="1"/>
                <a:t>local</a:t>
              </a:r>
              <a:r>
                <a:rPr lang="nl-BE" dirty="0"/>
                <a:t> storage (e.g. Globus)</a:t>
              </a:r>
            </a:p>
            <a:p>
              <a:pPr marL="324000" indent="-324000">
                <a:buClr>
                  <a:srgbClr val="DB6C30"/>
                </a:buClr>
                <a:buFont typeface="Wingdings" panose="05000000000000000000" pitchFamily="2" charset="2"/>
                <a:buChar char="q"/>
              </a:pPr>
              <a:r>
                <a:rPr lang="nl-BE" dirty="0" err="1"/>
                <a:t>To</a:t>
              </a:r>
              <a:r>
                <a:rPr lang="nl-BE" dirty="0"/>
                <a:t> pre- or </a:t>
              </a:r>
              <a:r>
                <a:rPr lang="nl-BE" dirty="0" err="1"/>
                <a:t>postprocess</a:t>
              </a:r>
              <a:r>
                <a:rPr lang="nl-BE" dirty="0"/>
                <a:t> </a:t>
              </a:r>
              <a:r>
                <a:rPr lang="nl-BE" dirty="0" err="1"/>
                <a:t>your</a:t>
              </a:r>
              <a:r>
                <a:rPr lang="nl-BE" dirty="0"/>
                <a:t> data</a:t>
              </a:r>
            </a:p>
            <a:p>
              <a:pPr marL="324000" indent="-324000">
                <a:buClr>
                  <a:srgbClr val="DB6C30"/>
                </a:buClr>
                <a:buFont typeface="Wingdings" panose="05000000000000000000" pitchFamily="2" charset="2"/>
                <a:buChar char="q"/>
              </a:pPr>
              <a:r>
                <a:rPr lang="en-US" dirty="0"/>
                <a:t>To visualize your data</a:t>
              </a:r>
            </a:p>
            <a:p>
              <a:pPr marL="324000" indent="-324000">
                <a:buClr>
                  <a:srgbClr val="DB6C30"/>
                </a:buClr>
                <a:buFont typeface="Wingdings" panose="05000000000000000000" pitchFamily="2" charset="2"/>
                <a:buChar char="q"/>
              </a:pPr>
              <a:r>
                <a:rPr lang="en-US" dirty="0"/>
                <a:t>To share files and folders</a:t>
              </a:r>
            </a:p>
          </p:txBody>
        </p:sp>
        <p:sp>
          <p:nvSpPr>
            <p:cNvPr id="6" name="Rectangle 5"/>
            <p:cNvSpPr/>
            <p:nvPr/>
          </p:nvSpPr>
          <p:spPr>
            <a:xfrm>
              <a:off x="8472263" y="1377264"/>
              <a:ext cx="1944215"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Tips</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a:grpSpLocks noChangeAspect="1"/>
          </p:cNvGrpSpPr>
          <p:nvPr/>
        </p:nvGrpSpPr>
        <p:grpSpPr>
          <a:xfrm>
            <a:off x="7394766" y="1771989"/>
            <a:ext cx="4440578" cy="2890271"/>
            <a:chOff x="6816080" y="3074222"/>
            <a:chExt cx="5867510" cy="3819028"/>
          </a:xfrm>
        </p:grpSpPr>
        <p:grpSp>
          <p:nvGrpSpPr>
            <p:cNvPr id="65" name="Group 64"/>
            <p:cNvGrpSpPr/>
            <p:nvPr/>
          </p:nvGrpSpPr>
          <p:grpSpPr>
            <a:xfrm>
              <a:off x="6816080" y="3074222"/>
              <a:ext cx="5867510" cy="3819028"/>
              <a:chOff x="5886815" y="1889051"/>
              <a:chExt cx="5867510" cy="381902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86815" y="1889051"/>
                <a:ext cx="5867510" cy="3819028"/>
              </a:xfrm>
              <a:prstGeom prst="rect">
                <a:avLst/>
              </a:prstGeom>
              <a:ln>
                <a:noFill/>
              </a:ln>
              <a:effectLst>
                <a:outerShdw blurRad="292100" dist="139700" dir="2700000" algn="tl" rotWithShape="0">
                  <a:srgbClr val="333333">
                    <a:alpha val="65000"/>
                  </a:srgbClr>
                </a:outerShdw>
              </a:effectLst>
            </p:spPr>
          </p:pic>
          <p:sp>
            <p:nvSpPr>
              <p:cNvPr id="19" name="Rectangle 18"/>
              <p:cNvSpPr/>
              <p:nvPr/>
            </p:nvSpPr>
            <p:spPr>
              <a:xfrm>
                <a:off x="6314762" y="3216429"/>
                <a:ext cx="831314"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Rectangle 60"/>
              <p:cNvSpPr/>
              <p:nvPr/>
            </p:nvSpPr>
            <p:spPr>
              <a:xfrm>
                <a:off x="8308800" y="3218400"/>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ectangle 61"/>
              <p:cNvSpPr/>
              <p:nvPr/>
            </p:nvSpPr>
            <p:spPr>
              <a:xfrm>
                <a:off x="8154764" y="3074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62"/>
              <p:cNvSpPr/>
              <p:nvPr/>
            </p:nvSpPr>
            <p:spPr>
              <a:xfrm>
                <a:off x="6930000" y="3074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p:nvSpPr>
            <p:spPr>
              <a:xfrm>
                <a:off x="7642660" y="3056499"/>
                <a:ext cx="2520280"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Rectangle 39"/>
            <p:cNvSpPr/>
            <p:nvPr/>
          </p:nvSpPr>
          <p:spPr>
            <a:xfrm>
              <a:off x="7920000" y="3151183"/>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9187200" y="3151183"/>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p:cNvGrpSpPr>
            <a:grpSpLocks noChangeAspect="1"/>
          </p:cNvGrpSpPr>
          <p:nvPr/>
        </p:nvGrpSpPr>
        <p:grpSpPr>
          <a:xfrm>
            <a:off x="7394767" y="1769016"/>
            <a:ext cx="4440577" cy="3478591"/>
            <a:chOff x="5884625" y="1889051"/>
            <a:chExt cx="5867773" cy="4596606"/>
          </a:xfrm>
        </p:grpSpPr>
        <p:grpSp>
          <p:nvGrpSpPr>
            <p:cNvPr id="67" name="Group 66"/>
            <p:cNvGrpSpPr/>
            <p:nvPr/>
          </p:nvGrpSpPr>
          <p:grpSpPr>
            <a:xfrm>
              <a:off x="5884625" y="1889051"/>
              <a:ext cx="5867773" cy="4596606"/>
              <a:chOff x="5884625" y="1889051"/>
              <a:chExt cx="5867773" cy="4596606"/>
            </a:xfrm>
          </p:grpSpPr>
          <p:grpSp>
            <p:nvGrpSpPr>
              <p:cNvPr id="60" name="Group 59"/>
              <p:cNvGrpSpPr/>
              <p:nvPr/>
            </p:nvGrpSpPr>
            <p:grpSpPr>
              <a:xfrm>
                <a:off x="5884625" y="1889051"/>
                <a:ext cx="5867773" cy="4596606"/>
                <a:chOff x="5884625" y="1889051"/>
                <a:chExt cx="5867773" cy="4596606"/>
              </a:xfrm>
            </p:grpSpPr>
            <p:grpSp>
              <p:nvGrpSpPr>
                <p:cNvPr id="28" name="Group 27"/>
                <p:cNvGrpSpPr/>
                <p:nvPr/>
              </p:nvGrpSpPr>
              <p:grpSpPr>
                <a:xfrm>
                  <a:off x="5884625" y="1889051"/>
                  <a:ext cx="5867773" cy="4596606"/>
                  <a:chOff x="5884625" y="1889051"/>
                  <a:chExt cx="5867773" cy="4596606"/>
                </a:xfrm>
              </p:grpSpPr>
              <p:grpSp>
                <p:nvGrpSpPr>
                  <p:cNvPr id="17" name="Group 16"/>
                  <p:cNvGrpSpPr/>
                  <p:nvPr/>
                </p:nvGrpSpPr>
                <p:grpSpPr>
                  <a:xfrm>
                    <a:off x="5884625" y="1889051"/>
                    <a:ext cx="5867773" cy="3816424"/>
                    <a:chOff x="5844851" y="2420888"/>
                    <a:chExt cx="5891932" cy="3834924"/>
                  </a:xfrm>
                </p:grpSpPr>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16" name="Rectangle 15"/>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2" name="Picture 21"/>
                  <p:cNvPicPr>
                    <a:picLocks noChangeAspect="1"/>
                  </p:cNvPicPr>
                  <p:nvPr/>
                </p:nvPicPr>
                <p:blipFill>
                  <a:blip r:embed="rId5"/>
                  <a:stretch>
                    <a:fillRect/>
                  </a:stretch>
                </p:blipFill>
                <p:spPr>
                  <a:xfrm>
                    <a:off x="6347151" y="3798413"/>
                    <a:ext cx="3675200" cy="2687244"/>
                  </a:xfrm>
                  <a:prstGeom prst="rect">
                    <a:avLst/>
                  </a:prstGeom>
                </p:spPr>
              </p:pic>
              <p:sp>
                <p:nvSpPr>
                  <p:cNvPr id="27" name="Curved Left Arrow 26"/>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56" name="Rectangle 55"/>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58"/>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6" name="Rectangle 65"/>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Rectangle 36"/>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9" name="Content Placeholder 8"/>
          <p:cNvSpPr>
            <a:spLocks noGrp="1"/>
          </p:cNvSpPr>
          <p:nvPr>
            <p:ph idx="1"/>
          </p:nvPr>
        </p:nvSpPr>
        <p:spPr>
          <a:xfrm>
            <a:off x="720000" y="1772816"/>
            <a:ext cx="6298948" cy="2520280"/>
          </a:xfrm>
        </p:spPr>
        <p:txBody>
          <a:bodyPr/>
          <a:lstStyle/>
          <a:p>
            <a:pPr marL="0" indent="0">
              <a:buNone/>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br>
              <a:rPr lang="en-US" sz="2000" dirty="0">
                <a:latin typeface="Courier New" panose="02070309020205020404" pitchFamily="49" charset="0"/>
                <a:cs typeface="Courier New" panose="02070309020205020404" pitchFamily="49" charset="0"/>
              </a:rPr>
            </a:br>
            <a:br>
              <a:rPr lang="en-US" sz="2000" dirty="0"/>
            </a:b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vscXXXXX@login.hpc.kuleuven.be</a:t>
            </a:r>
            <a:br>
              <a:rPr lang="en-US" sz="2000" dirty="0">
                <a:latin typeface="Courier New" panose="02070309020205020404" pitchFamily="49" charset="0"/>
                <a:cs typeface="Courier New" panose="02070309020205020404" pitchFamily="49" charset="0"/>
              </a:rPr>
            </a:br>
            <a:endParaRPr lang="nl-BE" sz="2000" dirty="0">
              <a:latin typeface="Courier New" panose="02070309020205020404" pitchFamily="49" charset="0"/>
              <a:cs typeface="Courier New" panose="02070309020205020404" pitchFamily="49" charset="0"/>
            </a:endParaRP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grpSp>
        <p:nvGrpSpPr>
          <p:cNvPr id="2" name="Group 1"/>
          <p:cNvGrpSpPr>
            <a:grpSpLocks noChangeAspect="1"/>
          </p:cNvGrpSpPr>
          <p:nvPr/>
        </p:nvGrpSpPr>
        <p:grpSpPr>
          <a:xfrm>
            <a:off x="7394767" y="1771989"/>
            <a:ext cx="4440577" cy="2995442"/>
            <a:chOff x="5884625" y="1894163"/>
            <a:chExt cx="5871889" cy="3960950"/>
          </a:xfrm>
        </p:grpSpPr>
        <p:grpSp>
          <p:nvGrpSpPr>
            <p:cNvPr id="47" name="Group 46"/>
            <p:cNvGrpSpPr/>
            <p:nvPr/>
          </p:nvGrpSpPr>
          <p:grpSpPr>
            <a:xfrm>
              <a:off x="5884625" y="1894163"/>
              <a:ext cx="5871889" cy="3960950"/>
              <a:chOff x="5884625" y="1894163"/>
              <a:chExt cx="5871889" cy="3960950"/>
            </a:xfrm>
          </p:grpSpPr>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Rectangle 3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0" name="Rectangle 49"/>
          <p:cNvSpPr/>
          <p:nvPr/>
        </p:nvSpPr>
        <p:spPr>
          <a:xfrm>
            <a:off x="720000" y="974355"/>
            <a:ext cx="4356834" cy="369332"/>
          </a:xfrm>
          <a:prstGeom prst="rect">
            <a:avLst/>
          </a:prstGeom>
        </p:spPr>
        <p:txBody>
          <a:bodyPr wrap="none">
            <a:spAutoFit/>
          </a:bodyPr>
          <a:lstStyle/>
          <a:p>
            <a:r>
              <a:rPr lang="en-US" b="1" dirty="0"/>
              <a:t>(Windows </a:t>
            </a:r>
            <a:r>
              <a:rPr lang="en-US" b="1" dirty="0" err="1"/>
              <a:t>Powershell</a:t>
            </a:r>
            <a:r>
              <a:rPr lang="en-US" b="1" dirty="0"/>
              <a:t>, WSL, Linux and Mac)</a:t>
            </a:r>
            <a:endParaRPr lang="en-US" sz="3200" b="1" dirty="0"/>
          </a:p>
        </p:txBody>
      </p:sp>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2" name="Table 1"/>
          <p:cNvGraphicFramePr>
            <a:graphicFrameLocks noGrp="1"/>
          </p:cNvGraphicFramePr>
          <p:nvPr/>
        </p:nvGraphicFramePr>
        <p:xfrm>
          <a:off x="6492046" y="2358811"/>
          <a:ext cx="3902974" cy="1854200"/>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370840">
                <a:tc>
                  <a:txBody>
                    <a:bodyPr/>
                    <a:lstStyle/>
                    <a:p>
                      <a:r>
                        <a:rPr lang="en-US" dirty="0"/>
                        <a:t>Application</a:t>
                      </a:r>
                      <a:endParaRPr lang="nl-BE" dirty="0"/>
                    </a:p>
                  </a:txBody>
                  <a:tcPr/>
                </a:tc>
                <a:tc>
                  <a:txBody>
                    <a:bodyPr/>
                    <a:lstStyle/>
                    <a:p>
                      <a:r>
                        <a:rPr lang="en-US" dirty="0"/>
                        <a:t>OS</a:t>
                      </a:r>
                      <a:endParaRPr lang="nl-BE" dirty="0"/>
                    </a:p>
                  </a:txBody>
                  <a:tcPr/>
                </a:tc>
                <a:extLst>
                  <a:ext uri="{0D108BD9-81ED-4DB2-BD59-A6C34878D82A}">
                    <a16:rowId xmlns:a16="http://schemas.microsoft.com/office/drawing/2014/main" val="570025582"/>
                  </a:ext>
                </a:extLst>
              </a:tr>
              <a:tr h="370840">
                <a:tc>
                  <a:txBody>
                    <a:bodyPr/>
                    <a:lstStyle/>
                    <a:p>
                      <a:r>
                        <a:rPr lang="en-US" dirty="0">
                          <a:hlinkClick r:id="rId3"/>
                        </a:rPr>
                        <a:t>FileZilla</a:t>
                      </a:r>
                      <a:endParaRPr lang="nl-BE" dirty="0"/>
                    </a:p>
                  </a:txBody>
                  <a:tcPr/>
                </a:tc>
                <a:tc>
                  <a:txBody>
                    <a:bodyPr/>
                    <a:lstStyle/>
                    <a:p>
                      <a:r>
                        <a:rPr lang="en-US" dirty="0"/>
                        <a:t>Windows,</a:t>
                      </a:r>
                      <a:r>
                        <a:rPr lang="en-US" baseline="0" dirty="0"/>
                        <a:t> Linux, Mac</a:t>
                      </a:r>
                      <a:endParaRPr lang="nl-BE" dirty="0"/>
                    </a:p>
                  </a:txBody>
                  <a:tcPr/>
                </a:tc>
                <a:extLst>
                  <a:ext uri="{0D108BD9-81ED-4DB2-BD59-A6C34878D82A}">
                    <a16:rowId xmlns:a16="http://schemas.microsoft.com/office/drawing/2014/main" val="941569183"/>
                  </a:ext>
                </a:extLst>
              </a:tr>
              <a:tr h="370840">
                <a:tc>
                  <a:txBody>
                    <a:bodyPr/>
                    <a:lstStyle/>
                    <a:p>
                      <a:r>
                        <a:rPr lang="en-US" dirty="0" err="1">
                          <a:hlinkClick r:id="rId4"/>
                        </a:rPr>
                        <a:t>WinSCP</a:t>
                      </a:r>
                      <a:endParaRPr lang="nl-BE" dirty="0"/>
                    </a:p>
                  </a:txBody>
                  <a:tcPr/>
                </a:tc>
                <a:tc>
                  <a:txBody>
                    <a:bodyPr/>
                    <a:lstStyle/>
                    <a:p>
                      <a:r>
                        <a:rPr lang="en-US" dirty="0"/>
                        <a:t>Windows</a:t>
                      </a:r>
                      <a:endParaRPr lang="nl-BE" dirty="0"/>
                    </a:p>
                  </a:txBody>
                  <a:tcPr/>
                </a:tc>
                <a:extLst>
                  <a:ext uri="{0D108BD9-81ED-4DB2-BD59-A6C34878D82A}">
                    <a16:rowId xmlns:a16="http://schemas.microsoft.com/office/drawing/2014/main" val="2517790187"/>
                  </a:ext>
                </a:extLst>
              </a:tr>
              <a:tr h="370840">
                <a:tc>
                  <a:txBody>
                    <a:bodyPr/>
                    <a:lstStyle/>
                    <a:p>
                      <a:r>
                        <a:rPr lang="en-US" dirty="0" err="1"/>
                        <a:t>rsync</a:t>
                      </a:r>
                      <a:r>
                        <a:rPr lang="en-US" dirty="0"/>
                        <a:t>,</a:t>
                      </a:r>
                      <a:r>
                        <a:rPr lang="en-US" baseline="0" dirty="0"/>
                        <a:t> </a:t>
                      </a:r>
                      <a:r>
                        <a:rPr lang="en-US" baseline="0" dirty="0" err="1"/>
                        <a:t>scp</a:t>
                      </a:r>
                      <a:endParaRPr lang="nl-BE" dirty="0"/>
                    </a:p>
                  </a:txBody>
                  <a:tcPr/>
                </a:tc>
                <a:tc>
                  <a:txBody>
                    <a:bodyPr/>
                    <a:lstStyle/>
                    <a:p>
                      <a:r>
                        <a:rPr lang="en-US" dirty="0"/>
                        <a:t>Linux, Mac</a:t>
                      </a:r>
                      <a:endParaRPr lang="nl-BE" dirty="0"/>
                    </a:p>
                  </a:txBody>
                  <a:tcPr/>
                </a:tc>
                <a:extLst>
                  <a:ext uri="{0D108BD9-81ED-4DB2-BD59-A6C34878D82A}">
                    <a16:rowId xmlns:a16="http://schemas.microsoft.com/office/drawing/2014/main" val="1414451379"/>
                  </a:ext>
                </a:extLst>
              </a:tr>
              <a:tr h="370840">
                <a:tc>
                  <a:txBody>
                    <a:bodyPr/>
                    <a:lstStyle/>
                    <a:p>
                      <a:r>
                        <a:rPr lang="en-US" dirty="0">
                          <a:hlinkClick r:id="rId5"/>
                        </a:rPr>
                        <a:t>Globus</a:t>
                      </a:r>
                      <a:endParaRPr lang="nl-BE" dirty="0"/>
                    </a:p>
                  </a:txBody>
                  <a:tcPr/>
                </a:tc>
                <a:tc>
                  <a:txBody>
                    <a:bodyPr/>
                    <a:lstStyle/>
                    <a:p>
                      <a:r>
                        <a:rPr lang="en-US" dirty="0"/>
                        <a:t>Window, Linux, Mac</a:t>
                      </a:r>
                      <a:endParaRPr lang="nl-BE" dirty="0"/>
                    </a:p>
                  </a:txBody>
                  <a:tcPr/>
                </a:tc>
                <a:extLst>
                  <a:ext uri="{0D108BD9-81ED-4DB2-BD59-A6C34878D82A}">
                    <a16:rowId xmlns:a16="http://schemas.microsoft.com/office/drawing/2014/main" val="2195651994"/>
                  </a:ext>
                </a:extLst>
              </a:tr>
            </a:tbl>
          </a:graphicData>
        </a:graphic>
      </p:graphicFrame>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2"/>
          <a:srcRect l="2224" t="6514" r="41926" b="2407"/>
          <a:stretch/>
        </p:blipFill>
        <p:spPr>
          <a:xfrm>
            <a:off x="5847724" y="1286929"/>
            <a:ext cx="5964561" cy="4464437"/>
          </a:xfrm>
          <a:prstGeom prst="rect">
            <a:avLst/>
          </a:prstGeom>
        </p:spPr>
      </p:pic>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268760"/>
            <a:ext cx="4968552" cy="448923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 interface for transferring, sharing and searching within data</a:t>
            </a:r>
          </a:p>
          <a:p>
            <a:pPr marL="324000" indent="-324000">
              <a:buClr>
                <a:srgbClr val="DB6C30"/>
              </a:buClr>
              <a:buFont typeface="Wingdings" panose="05000000000000000000" pitchFamily="2" charset="2"/>
              <a:buChar char="q"/>
            </a:pPr>
            <a:r>
              <a:rPr lang="en-US" dirty="0"/>
              <a:t>Schedule and resume (large) transfers</a:t>
            </a:r>
          </a:p>
          <a:p>
            <a:pPr marL="324000" indent="-324000">
              <a:buClr>
                <a:srgbClr val="DB6C30"/>
              </a:buClr>
              <a:buFont typeface="Wingdings" panose="05000000000000000000" pitchFamily="2" charset="2"/>
              <a:buChar char="q"/>
            </a:pPr>
            <a:r>
              <a:rPr lang="en-US" dirty="0"/>
              <a:t>Workflow:</a:t>
            </a:r>
            <a:br>
              <a:rPr lang="en-US" dirty="0"/>
            </a:br>
            <a:r>
              <a:rPr lang="en-US" dirty="0"/>
              <a:t>Define “endpoint” on the source</a:t>
            </a:r>
            <a:br>
              <a:rPr lang="en-US" dirty="0"/>
            </a:br>
            <a:r>
              <a:rPr lang="en-US" dirty="0"/>
              <a:t>Define “endpoint” on the destination</a:t>
            </a:r>
            <a:br>
              <a:rPr lang="en-US" dirty="0"/>
            </a:br>
            <a:r>
              <a:rPr lang="en-US" dirty="0"/>
              <a:t>Transfer between endpoints</a:t>
            </a:r>
          </a:p>
          <a:p>
            <a:pPr marL="324000" indent="-324000">
              <a:buClr>
                <a:srgbClr val="DB6C30"/>
              </a:buClr>
              <a:buFont typeface="Wingdings" panose="05000000000000000000" pitchFamily="2" charset="2"/>
              <a:buChar char="q"/>
            </a:pPr>
            <a:r>
              <a:rPr lang="en-US" dirty="0"/>
              <a:t>Endpoints on all VSC sites:</a:t>
            </a:r>
            <a:br>
              <a:rPr lang="en-US" dirty="0"/>
            </a:br>
            <a:r>
              <a:rPr lang="en-US" dirty="0"/>
              <a:t>all Tier-2 clusters: home, data, scratch*</a:t>
            </a:r>
            <a:br>
              <a:rPr lang="en-US" dirty="0"/>
            </a:br>
            <a:r>
              <a:rPr lang="en-US" dirty="0"/>
              <a:t>all Tier-1 clusters: scratch, projects</a:t>
            </a:r>
          </a:p>
          <a:p>
            <a:pPr marL="324000" indent="-324000">
              <a:buClr>
                <a:srgbClr val="DB6C30"/>
              </a:buClr>
              <a:buFont typeface="Wingdings" panose="05000000000000000000" pitchFamily="2" charset="2"/>
              <a:buChar char="q"/>
            </a:pPr>
            <a:endParaRPr lang="en-US" dirty="0"/>
          </a:p>
          <a:p>
            <a:pPr marL="0" indent="0">
              <a:buClr>
                <a:srgbClr val="DB6C30"/>
              </a:buClr>
              <a:buNone/>
            </a:pPr>
            <a:r>
              <a:rPr lang="en-US" dirty="0"/>
              <a:t>* You can also access project storage   </a:t>
            </a:r>
            <a:br>
              <a:rPr lang="en-US" dirty="0"/>
            </a:br>
            <a:r>
              <a:rPr lang="en-US" dirty="0"/>
              <a:t>   through this endpoint (Leuven Tier-2 only)</a:t>
            </a:r>
          </a:p>
        </p:txBody>
      </p:sp>
    </p:spTree>
    <p:extLst>
      <p:ext uri="{BB962C8B-B14F-4D97-AF65-F5344CB8AC3E}">
        <p14:creationId xmlns:p14="http://schemas.microsoft.com/office/powerpoint/2010/main" val="41038613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5" y="1298179"/>
            <a:ext cx="5005435" cy="37870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Access clusters via your web browser</a:t>
            </a:r>
          </a:p>
          <a:p>
            <a:pPr marL="324000" indent="-324000">
              <a:buBlip>
                <a:blip r:embed="rId3"/>
              </a:buBlip>
            </a:pPr>
            <a:r>
              <a:rPr lang="en-US" sz="2000" dirty="0">
                <a:hlinkClick r:id="rId4"/>
              </a:rPr>
              <a:t>https://ondemand.hpc.kuleuven.be</a:t>
            </a:r>
            <a:endParaRPr lang="en-US" sz="2000" dirty="0"/>
          </a:p>
          <a:p>
            <a:pPr marL="324000" indent="-324000">
              <a:buBlip>
                <a:blip r:embed="rId3"/>
              </a:buBlip>
            </a:pPr>
            <a:r>
              <a:rPr lang="en-US" dirty="0"/>
              <a:t>Login via your institute’s IDP</a:t>
            </a:r>
          </a:p>
          <a:p>
            <a:pPr marL="324000" indent="-324000">
              <a:buBlip>
                <a:blip r:embed="rId3"/>
              </a:buBlip>
            </a:pPr>
            <a:r>
              <a:rPr lang="en-US" dirty="0"/>
              <a:t>File browser + Data Transfer (Globus)</a:t>
            </a:r>
          </a:p>
          <a:p>
            <a:pPr marL="324000" indent="-324000">
              <a:buBlip>
                <a:blip r:embed="rId3"/>
              </a:buBlip>
            </a:pPr>
            <a:r>
              <a:rPr lang="en-US" dirty="0"/>
              <a:t>Develop, compile and test your code</a:t>
            </a:r>
          </a:p>
          <a:p>
            <a:pPr marL="324000" indent="-324000">
              <a:buBlip>
                <a:blip r:embed="rId3"/>
              </a:buBlip>
            </a:pPr>
            <a:r>
              <a:rPr lang="en-US" dirty="0"/>
              <a:t>Interactive apps + integrated shell</a:t>
            </a:r>
          </a:p>
          <a:p>
            <a:pPr marL="324000" indent="-324000">
              <a:buBlip>
                <a:blip r:embed="rId3"/>
              </a:buBlip>
            </a:pPr>
            <a:r>
              <a:rPr lang="en-US" dirty="0" err="1"/>
              <a:t>noVNC</a:t>
            </a:r>
            <a:r>
              <a:rPr lang="en-US" dirty="0"/>
              <a:t> Desktop for graphical apps</a:t>
            </a:r>
          </a:p>
          <a:p>
            <a:pPr marL="324000" indent="-324000">
              <a:buBlip>
                <a:blip r:embed="rId3"/>
              </a:buBlip>
            </a:pPr>
            <a:r>
              <a:rPr lang="en-US" dirty="0" err="1"/>
              <a:t>VSCode</a:t>
            </a:r>
            <a:r>
              <a:rPr lang="en-US" dirty="0"/>
              <a:t> and PyCharm editors</a:t>
            </a:r>
          </a:p>
          <a:p>
            <a:pPr marL="324000" indent="-324000">
              <a:buBlip>
                <a:blip r:embed="rId3"/>
              </a:buBlip>
            </a:pPr>
            <a:r>
              <a:rPr lang="en-US" dirty="0"/>
              <a:t>Fluent, </a:t>
            </a:r>
            <a:r>
              <a:rPr lang="en-US" dirty="0" err="1"/>
              <a:t>Jupyter</a:t>
            </a:r>
            <a:r>
              <a:rPr lang="en-US" dirty="0"/>
              <a:t> Lab, </a:t>
            </a:r>
            <a:r>
              <a:rPr lang="en-US" dirty="0" err="1"/>
              <a:t>Rstudio</a:t>
            </a:r>
            <a:r>
              <a:rPr lang="en-US" dirty="0"/>
              <a:t>, MATLAB, </a:t>
            </a:r>
            <a:r>
              <a:rPr lang="en-US" dirty="0" err="1"/>
              <a:t>ParaView</a:t>
            </a:r>
            <a:r>
              <a:rPr lang="en-US" dirty="0"/>
              <a:t>, </a:t>
            </a:r>
            <a:r>
              <a:rPr lang="en-US" dirty="0" err="1"/>
              <a:t>Tensorboard</a:t>
            </a:r>
            <a:r>
              <a:rPr lang="en-US" dirty="0"/>
              <a:t>, </a:t>
            </a:r>
            <a:r>
              <a:rPr lang="en-US" dirty="0" err="1"/>
              <a:t>Gnuplot</a:t>
            </a:r>
            <a:endParaRPr lang="nl-BE"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0" name="Group 9">
            <a:extLst>
              <a:ext uri="{FF2B5EF4-FFF2-40B4-BE49-F238E27FC236}">
                <a16:creationId xmlns:a16="http://schemas.microsoft.com/office/drawing/2014/main" id="{B7F409E1-F14E-2A4F-B417-916F0FABD87E}"/>
              </a:ext>
            </a:extLst>
          </p:cNvPr>
          <p:cNvGrpSpPr/>
          <p:nvPr/>
        </p:nvGrpSpPr>
        <p:grpSpPr>
          <a:xfrm>
            <a:off x="1271464" y="5047766"/>
            <a:ext cx="4248472" cy="996326"/>
            <a:chOff x="1055440" y="5047766"/>
            <a:chExt cx="4104456" cy="996326"/>
          </a:xfrm>
        </p:grpSpPr>
        <p:sp>
          <p:nvSpPr>
            <p:cNvPr id="2" name="Rectangle: Rounded Corners 1">
              <a:extLst>
                <a:ext uri="{FF2B5EF4-FFF2-40B4-BE49-F238E27FC236}">
                  <a16:creationId xmlns:a16="http://schemas.microsoft.com/office/drawing/2014/main" id="{99343D6B-AE28-C018-50BD-23F0D7E527A0}"/>
                </a:ext>
              </a:extLst>
            </p:cNvPr>
            <p:cNvSpPr/>
            <p:nvPr/>
          </p:nvSpPr>
          <p:spPr>
            <a:xfrm>
              <a:off x="1055440" y="5425438"/>
              <a:ext cx="4032448" cy="6186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Please close your interactive sessions</a:t>
              </a:r>
              <a:br>
                <a:rPr lang="en-US" dirty="0"/>
              </a:br>
              <a:r>
                <a:rPr lang="en-US" dirty="0"/>
                <a:t>when you no longer actively use them!</a:t>
              </a:r>
              <a:endParaRPr lang="nl-BE" dirty="0"/>
            </a:p>
          </p:txBody>
        </p:sp>
        <p:sp>
          <p:nvSpPr>
            <p:cNvPr id="3" name="TextBox 2">
              <a:extLst>
                <a:ext uri="{FF2B5EF4-FFF2-40B4-BE49-F238E27FC236}">
                  <a16:creationId xmlns:a16="http://schemas.microsoft.com/office/drawing/2014/main" id="{B0011A01-C1A2-38DA-4599-54D77E914CF8}"/>
                </a:ext>
              </a:extLst>
            </p:cNvPr>
            <p:cNvSpPr txBox="1"/>
            <p:nvPr/>
          </p:nvSpPr>
          <p:spPr>
            <a:xfrm>
              <a:off x="4799856" y="5047766"/>
              <a:ext cx="360040" cy="369332"/>
            </a:xfrm>
            <a:prstGeom prst="rect">
              <a:avLst/>
            </a:prstGeom>
            <a:noFill/>
          </p:spPr>
          <p:txBody>
            <a:bodyPr wrap="square" rtlCol="0">
              <a:spAutoFit/>
            </a:bodyPr>
            <a:lstStyle/>
            <a:p>
              <a:r>
                <a:rPr lang="nl-BE" dirty="0"/>
                <a:t>💡</a:t>
              </a:r>
            </a:p>
          </p:txBody>
        </p:sp>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grpSp>
        <p:nvGrpSpPr>
          <p:cNvPr id="15" name="Group 14">
            <a:extLst>
              <a:ext uri="{FF2B5EF4-FFF2-40B4-BE49-F238E27FC236}">
                <a16:creationId xmlns:a16="http://schemas.microsoft.com/office/drawing/2014/main" id="{0959B70E-6044-3E1A-0785-73423CDCA59F}"/>
              </a:ext>
            </a:extLst>
          </p:cNvPr>
          <p:cNvGrpSpPr/>
          <p:nvPr/>
        </p:nvGrpSpPr>
        <p:grpSpPr>
          <a:xfrm>
            <a:off x="340950" y="1050258"/>
            <a:ext cx="11731714" cy="1874685"/>
            <a:chOff x="340950" y="1050258"/>
            <a:chExt cx="11731714" cy="1874685"/>
          </a:xfrm>
        </p:grpSpPr>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grpSp>
          <p:nvGrpSpPr>
            <p:cNvPr id="14" name="Group 13">
              <a:extLst>
                <a:ext uri="{FF2B5EF4-FFF2-40B4-BE49-F238E27FC236}">
                  <a16:creationId xmlns:a16="http://schemas.microsoft.com/office/drawing/2014/main" id="{843570E9-D0BC-C00C-BDA0-E9839705EAA6}"/>
                </a:ext>
              </a:extLst>
            </p:cNvPr>
            <p:cNvGrpSpPr/>
            <p:nvPr/>
          </p:nvGrpSpPr>
          <p:grpSpPr>
            <a:xfrm>
              <a:off x="340950" y="1050258"/>
              <a:ext cx="11731714" cy="1874685"/>
              <a:chOff x="340950" y="1050258"/>
              <a:chExt cx="11731714" cy="187468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151216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t>Use the “Files” tab to access your </a:t>
                </a:r>
                <a:br>
                  <a:rPr lang="en-US" dirty="0"/>
                </a:br>
                <a:r>
                  <a:rPr lang="en-US" dirty="0">
                    <a:latin typeface="Courier New" panose="02070309020205020404" pitchFamily="49" charset="0"/>
                    <a:cs typeface="Courier New" panose="02070309020205020404" pitchFamily="49" charset="0"/>
                  </a:rPr>
                  <a:t>VSC_HOME </a:t>
                </a:r>
                <a:r>
                  <a:rPr lang="en-US" dirty="0"/>
                  <a:t>and </a:t>
                </a:r>
                <a:r>
                  <a:rPr lang="en-US" dirty="0">
                    <a:latin typeface="Courier New" panose="02070309020205020404" pitchFamily="49" charset="0"/>
                    <a:cs typeface="Courier New" panose="02070309020205020404" pitchFamily="49" charset="0"/>
                  </a:rPr>
                  <a:t>VSC_DATA</a:t>
                </a:r>
              </a:p>
              <a:p>
                <a:pPr marL="324000" indent="-324000">
                  <a:buBlip>
                    <a:blip r:embed="rId4"/>
                  </a:buBlip>
                </a:pPr>
                <a:r>
                  <a:rPr lang="en-US" dirty="0">
                    <a:latin typeface="Courier New" panose="02070309020205020404" pitchFamily="49" charset="0"/>
                    <a:cs typeface="Courier New" panose="02070309020205020404" pitchFamily="49" charset="0"/>
                  </a:rPr>
                  <a:t>VSC_SCRATCH</a:t>
                </a:r>
                <a:r>
                  <a:rPr lang="en-US" dirty="0"/>
                  <a:t> is not available</a:t>
                </a:r>
                <a:br>
                  <a:rPr lang="en-US" dirty="0"/>
                </a:br>
                <a:r>
                  <a:rPr lang="en-US" dirty="0"/>
                  <a:t>from this menu</a:t>
                </a: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Access your VSC storage</a:t>
                </a:r>
                <a:endParaRPr lang="nl-BE" dirty="0"/>
              </a:p>
            </p:txBody>
          </p:sp>
        </p:grpSp>
      </p:grpSp>
      <p:grpSp>
        <p:nvGrpSpPr>
          <p:cNvPr id="22" name="Group 21">
            <a:extLst>
              <a:ext uri="{FF2B5EF4-FFF2-40B4-BE49-F238E27FC236}">
                <a16:creationId xmlns:a16="http://schemas.microsoft.com/office/drawing/2014/main" id="{5DC340A2-DA60-8142-E54F-728D5911AB90}"/>
              </a:ext>
            </a:extLst>
          </p:cNvPr>
          <p:cNvGrpSpPr/>
          <p:nvPr/>
        </p:nvGrpSpPr>
        <p:grpSpPr>
          <a:xfrm>
            <a:off x="303417" y="3373393"/>
            <a:ext cx="11735161" cy="2503879"/>
            <a:chOff x="303417" y="3238902"/>
            <a:chExt cx="11735161" cy="2503879"/>
          </a:xfrm>
        </p:grpSpPr>
        <p:sp>
          <p:nvSpPr>
            <p:cNvPr id="19" name="Tijdelijke aanduiding voor inhoud 2">
              <a:extLst>
                <a:ext uri="{FF2B5EF4-FFF2-40B4-BE49-F238E27FC236}">
                  <a16:creationId xmlns:a16="http://schemas.microsoft.com/office/drawing/2014/main" id="{2D1BB4D2-3517-6E3D-90CA-D05A716DBBE7}"/>
                </a:ext>
              </a:extLst>
            </p:cNvPr>
            <p:cNvSpPr txBox="1">
              <a:spLocks/>
            </p:cNvSpPr>
            <p:nvPr/>
          </p:nvSpPr>
          <p:spPr>
            <a:xfrm>
              <a:off x="303417" y="3652310"/>
              <a:ext cx="11712664" cy="20904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endParaRPr lang="en-US" dirty="0"/>
            </a:p>
            <a:p>
              <a:pPr marL="324000" indent="-324000">
                <a:buBlip>
                  <a:blip r:embed="rId4"/>
                </a:buBlip>
              </a:pPr>
              <a:endParaRPr lang="en-US" dirty="0"/>
            </a:p>
            <a:p>
              <a:pPr marL="324000" indent="-324000">
                <a:buBlip>
                  <a:blip r:embed="rId4"/>
                </a:buBlip>
              </a:pPr>
              <a:r>
                <a:rPr lang="en-US" dirty="0"/>
                <a:t>OK for transferring small files/folders</a:t>
              </a:r>
            </a:p>
            <a:p>
              <a:pPr marL="324000" indent="-324000">
                <a:buBlip>
                  <a:blip r:embed="rId4"/>
                </a:buBlip>
              </a:pPr>
              <a:r>
                <a:rPr lang="en-US" dirty="0"/>
                <a:t>Open any (sub)folder in terminal (will open a new tab)</a:t>
              </a:r>
            </a:p>
            <a:p>
              <a:pPr marL="324000" indent="-324000">
                <a:buBlip>
                  <a:blip r:embed="rId4"/>
                </a:buBlip>
              </a:pPr>
              <a:r>
                <a:rPr lang="en-US" dirty="0"/>
                <a:t>Deleted files/folders can be retrieved from (hourly, daily, weekly) snapshots</a:t>
              </a:r>
              <a:endParaRPr lang="nl-BE" dirty="0"/>
            </a:p>
          </p:txBody>
        </p:sp>
        <p:sp>
          <p:nvSpPr>
            <p:cNvPr id="20" name="TextBox 19">
              <a:extLst>
                <a:ext uri="{FF2B5EF4-FFF2-40B4-BE49-F238E27FC236}">
                  <a16:creationId xmlns:a16="http://schemas.microsoft.com/office/drawing/2014/main" id="{582EF448-58F3-A6A2-AA2E-348CBCBB80D8}"/>
                </a:ext>
              </a:extLst>
            </p:cNvPr>
            <p:cNvSpPr txBox="1"/>
            <p:nvPr/>
          </p:nvSpPr>
          <p:spPr>
            <a:xfrm>
              <a:off x="9408368" y="3238902"/>
              <a:ext cx="2630210" cy="369332"/>
            </a:xfrm>
            <a:prstGeom prst="rect">
              <a:avLst/>
            </a:prstGeom>
            <a:solidFill>
              <a:srgbClr val="DB6C30"/>
            </a:solidFill>
          </p:spPr>
          <p:txBody>
            <a:bodyPr wrap="square" rtlCol="0">
              <a:spAutoFit/>
            </a:bodyPr>
            <a:lstStyle/>
            <a:p>
              <a:r>
                <a:rPr lang="en-US" dirty="0"/>
                <a:t>File/Folder management</a:t>
              </a:r>
              <a:endParaRPr lang="nl-BE" dirty="0"/>
            </a:p>
          </p:txBody>
        </p:sp>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5">
              <a:extLst>
                <a:ext uri="{28A0092B-C50C-407E-A947-70E740481C1C}">
                  <a14:useLocalDpi xmlns:a14="http://schemas.microsoft.com/office/drawing/2010/main" val="0"/>
                </a:ext>
              </a:extLst>
            </a:blip>
            <a:stretch/>
          </p:blipFill>
          <p:spPr>
            <a:xfrm>
              <a:off x="600261" y="3724862"/>
              <a:ext cx="11184371" cy="505751"/>
            </a:xfrm>
            <a:prstGeom prst="rect">
              <a:avLst/>
            </a:prstGeom>
          </p:spPr>
        </p:pic>
      </p:gr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4032448"/>
          </a:xfrm>
          <a:prstGeom prst="rect">
            <a:avLst/>
          </a:prstGeom>
          <a:ln w="2540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Monitor your active jobs</a:t>
            </a:r>
            <a:endParaRPr lang="nl-BE" dirty="0"/>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1937897"/>
            <a:ext cx="10506882" cy="2963620"/>
          </a:xfrm>
          <a:prstGeom prst="rect">
            <a:avLst/>
          </a:prstGeom>
        </p:spPr>
      </p:pic>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1216417"/>
            <a:ext cx="5375925" cy="4055834"/>
            <a:chOff x="340950" y="-1208928"/>
            <a:chExt cx="13143120" cy="4254567"/>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821499"/>
              <a:ext cx="13105455" cy="3867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Starts a shell in a new browser tab</a:t>
              </a:r>
            </a:p>
            <a:p>
              <a:pPr marL="324000" indent="-324000">
                <a:buBlip>
                  <a:blip r:embed="rId3"/>
                </a:buBlip>
              </a:pPr>
              <a:r>
                <a:rPr lang="nl-BE" dirty="0" err="1"/>
                <a:t>You</a:t>
              </a:r>
              <a:r>
                <a:rPr lang="nl-BE" dirty="0"/>
                <a:t> land on a </a:t>
              </a:r>
              <a:r>
                <a:rPr lang="nl-BE" dirty="0" err="1"/>
                <a:t>wICE</a:t>
              </a:r>
              <a:r>
                <a:rPr lang="nl-BE" dirty="0"/>
                <a:t> login node</a:t>
              </a:r>
              <a:br>
                <a:rPr lang="nl-BE" dirty="0"/>
              </a:br>
              <a:r>
                <a:rPr lang="nl-BE" dirty="0"/>
                <a:t>(</a:t>
              </a:r>
              <a:r>
                <a:rPr lang="nl-BE" dirty="0" err="1"/>
                <a:t>from</a:t>
              </a:r>
              <a:r>
                <a:rPr lang="nl-BE" dirty="0"/>
                <a:t> </a:t>
              </a:r>
              <a:r>
                <a:rPr lang="nl-BE" dirty="0" err="1"/>
                <a:t>which</a:t>
              </a:r>
              <a:r>
                <a:rPr lang="nl-BE" dirty="0"/>
                <a:t> </a:t>
              </a:r>
              <a:r>
                <a:rPr lang="nl-BE" dirty="0" err="1"/>
                <a:t>you</a:t>
              </a:r>
              <a:r>
                <a:rPr lang="nl-BE" dirty="0"/>
                <a:t> </a:t>
              </a:r>
              <a:r>
                <a:rPr lang="nl-BE" dirty="0" err="1"/>
                <a:t>can</a:t>
              </a:r>
              <a:r>
                <a:rPr lang="nl-BE" dirty="0"/>
                <a:t> </a:t>
              </a:r>
              <a:r>
                <a:rPr lang="nl-BE" dirty="0" err="1"/>
                <a:t>also</a:t>
              </a:r>
              <a:r>
                <a:rPr lang="nl-BE" dirty="0"/>
                <a:t> access </a:t>
              </a:r>
              <a:r>
                <a:rPr lang="nl-BE" dirty="0" err="1"/>
                <a:t>Mindwell</a:t>
              </a:r>
              <a:r>
                <a:rPr lang="nl-BE" dirty="0"/>
                <a:t>)</a:t>
              </a:r>
            </a:p>
            <a:p>
              <a:pPr marL="324000" indent="-324000">
                <a:buBlip>
                  <a:blip r:embed="rId3"/>
                </a:buBlip>
              </a:pPr>
              <a:r>
                <a:rPr lang="nl-BE" dirty="0" err="1"/>
                <a:t>You</a:t>
              </a:r>
              <a:r>
                <a:rPr lang="nl-BE" dirty="0"/>
                <a:t> land on </a:t>
              </a:r>
              <a:r>
                <a:rPr lang="nl-BE" dirty="0" err="1"/>
                <a:t>your</a:t>
              </a:r>
              <a:r>
                <a:rPr lang="nl-BE" dirty="0"/>
                <a:t> </a:t>
              </a:r>
              <a:r>
                <a:rPr lang="nl-BE" dirty="0">
                  <a:latin typeface="Courier New" panose="02070309020205020404" pitchFamily="49" charset="0"/>
                  <a:cs typeface="Courier New" panose="02070309020205020404" pitchFamily="49" charset="0"/>
                </a:rPr>
                <a:t>VSC_HOME.</a:t>
              </a:r>
              <a:br>
                <a:rPr lang="nl-BE" dirty="0"/>
              </a:br>
              <a:r>
                <a:rPr lang="nl-BE" dirty="0">
                  <a:latin typeface="Courier New" panose="02070309020205020404" pitchFamily="49" charset="0"/>
                  <a:cs typeface="Courier New" panose="02070309020205020404" pitchFamily="49" charset="0"/>
                </a:rPr>
                <a:t>cd</a:t>
              </a:r>
              <a:r>
                <a:rPr lang="nl-BE" dirty="0"/>
                <a:t> </a:t>
              </a:r>
              <a:r>
                <a:rPr lang="nl-BE" dirty="0" err="1"/>
                <a:t>to</a:t>
              </a:r>
              <a:r>
                <a:rPr lang="nl-BE" dirty="0"/>
                <a:t> data/scratch/</a:t>
              </a:r>
              <a:r>
                <a:rPr lang="nl-BE" dirty="0" err="1"/>
                <a:t>staging</a:t>
              </a:r>
              <a:r>
                <a:rPr lang="nl-BE" dirty="0"/>
                <a:t> </a:t>
              </a:r>
              <a:r>
                <a:rPr lang="nl-BE" dirty="0" err="1"/>
                <a:t>immediately</a:t>
              </a:r>
              <a:endParaRPr lang="nl-BE" dirty="0"/>
            </a:p>
            <a:p>
              <a:pPr marL="324000" indent="-324000">
                <a:buBlip>
                  <a:blip r:embed="rId3"/>
                </a:buBlip>
              </a:pPr>
              <a:r>
                <a:rPr lang="nl-BE" dirty="0"/>
                <a:t>Do NOT </a:t>
              </a:r>
              <a:r>
                <a:rPr lang="nl-BE" dirty="0" err="1"/>
                <a:t>compute</a:t>
              </a:r>
              <a:r>
                <a:rPr lang="nl-BE" dirty="0"/>
                <a:t> on </a:t>
              </a:r>
              <a:r>
                <a:rPr lang="nl-BE" dirty="0" err="1"/>
                <a:t>the</a:t>
              </a:r>
              <a:r>
                <a:rPr lang="nl-BE" dirty="0"/>
                <a:t> login </a:t>
              </a:r>
              <a:r>
                <a:rPr lang="nl-BE" dirty="0" err="1"/>
                <a:t>nodes</a:t>
              </a:r>
              <a:endParaRPr lang="nl-BE" dirty="0"/>
            </a:p>
            <a:p>
              <a:pPr marL="324000" indent="-324000">
                <a:buBlip>
                  <a:blip r:embed="rId3"/>
                </a:buBlip>
              </a:pPr>
              <a:r>
                <a:rPr lang="nl-BE" dirty="0" err="1"/>
                <a:t>Try</a:t>
              </a:r>
              <a:r>
                <a:rPr lang="nl-BE" dirty="0"/>
                <a:t>:</a:t>
              </a:r>
              <a:br>
                <a:rPr lang="nl-BE" dirty="0"/>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sam-balance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myquota</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0371948" y="-1208928"/>
              <a:ext cx="3112122" cy="387429"/>
            </a:xfrm>
            <a:prstGeom prst="rect">
              <a:avLst/>
            </a:prstGeom>
            <a:solidFill>
              <a:srgbClr val="DB6C30"/>
            </a:solidFill>
          </p:spPr>
          <p:txBody>
            <a:bodyPr wrap="square" rtlCol="0">
              <a:spAutoFit/>
            </a:bodyPr>
            <a:lstStyle/>
            <a:p>
              <a:r>
                <a:rPr lang="en-US" dirty="0"/>
                <a:t>Login shell</a:t>
              </a:r>
              <a:endParaRPr lang="nl-BE" dirty="0"/>
            </a:p>
          </p:txBody>
        </p:sp>
      </p:gr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4"/>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1374584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2251154"/>
            <a:ext cx="8240839" cy="2906038"/>
            <a:chOff x="340950" y="-211822"/>
            <a:chExt cx="14734623" cy="246472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8" cy="212632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 a shell as a job (on a compute node)</a:t>
              </a:r>
            </a:p>
            <a:p>
              <a:pPr marL="324000" indent="-324000">
                <a:buBlip>
                  <a:blip r:embed="rId3"/>
                </a:buBlip>
              </a:pPr>
              <a:r>
                <a:rPr lang="en-US" dirty="0">
                  <a:cs typeface="Courier New" panose="02070309020205020404" pitchFamily="49" charset="0"/>
                </a:rPr>
                <a:t>Recommended to:</a:t>
              </a:r>
              <a:br>
                <a:rPr lang="en-US" dirty="0">
                  <a:cs typeface="Courier New" panose="02070309020205020404" pitchFamily="49" charset="0"/>
                </a:rPr>
              </a:br>
              <a:r>
                <a:rPr lang="en-US" dirty="0">
                  <a:cs typeface="Courier New" panose="02070309020205020404" pitchFamily="49" charset="0"/>
                </a:rPr>
                <a:t>Install your own software (in </a:t>
              </a:r>
              <a:r>
                <a:rPr lang="en-US" dirty="0">
                  <a:latin typeface="Courier New" panose="02070309020205020404" pitchFamily="49" charset="0"/>
                  <a:cs typeface="Courier New" panose="02070309020205020404" pitchFamily="49" charset="0"/>
                </a:rPr>
                <a:t>VSC_DATA</a:t>
              </a:r>
              <a:r>
                <a:rPr lang="en-US" dirty="0">
                  <a:cs typeface="Courier New" panose="02070309020205020404" pitchFamily="49" charset="0"/>
                </a:rPr>
                <a:t>)</a:t>
              </a:r>
              <a:br>
                <a:rPr lang="en-US" dirty="0">
                  <a:cs typeface="Courier New" panose="02070309020205020404" pitchFamily="49" charset="0"/>
                </a:rPr>
              </a:br>
              <a:r>
                <a:rPr lang="en-US" dirty="0">
                  <a:cs typeface="Courier New" panose="02070309020205020404" pitchFamily="49" charset="0"/>
                </a:rPr>
                <a:t>Test/run your program interactively</a:t>
              </a:r>
              <a:br>
                <a:rPr lang="en-US" dirty="0">
                  <a:cs typeface="Courier New" panose="02070309020205020404" pitchFamily="49" charset="0"/>
                </a:rPr>
              </a:br>
              <a:r>
                <a:rPr lang="en-US" dirty="0">
                  <a:cs typeface="Courier New" panose="02070309020205020404" pitchFamily="49" charset="0"/>
                </a:rPr>
                <a:t>Debug a program</a:t>
              </a:r>
            </a:p>
            <a:p>
              <a:pPr marL="324000" indent="-324000">
                <a:buBlip>
                  <a:blip r:embed="rId3"/>
                </a:buBlip>
              </a:pPr>
              <a:r>
                <a:rPr lang="en-US" dirty="0">
                  <a:cs typeface="Courier New" panose="02070309020205020404" pitchFamily="49" charset="0"/>
                </a:rPr>
                <a:t>Choose the relevant cluster, partition and resources</a:t>
              </a:r>
              <a:br>
                <a:rPr lang="en-US" dirty="0">
                  <a:cs typeface="Courier New" panose="02070309020205020404" pitchFamily="49" charset="0"/>
                </a:rPr>
              </a:br>
              <a:r>
                <a:rPr lang="en-US" dirty="0">
                  <a:cs typeface="Courier New" panose="02070309020205020404" pitchFamily="49" charset="0"/>
                </a:rPr>
                <a:t>(cores, memory, GPU)</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1985565" y="-211822"/>
              <a:ext cx="3090008" cy="338400"/>
            </a:xfrm>
            <a:prstGeom prst="rect">
              <a:avLst/>
            </a:prstGeom>
            <a:solidFill>
              <a:srgbClr val="DB6C30"/>
            </a:solidFill>
          </p:spPr>
          <p:txBody>
            <a:bodyPr wrap="square" rtlCol="0">
              <a:spAutoFit/>
            </a:bodyPr>
            <a:lstStyle/>
            <a:p>
              <a:r>
                <a:rPr lang="en-US" dirty="0"/>
                <a:t>Interactive Shell</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4"/>
          <a:stretch>
            <a:fillRect/>
          </a:stretch>
        </p:blipFill>
        <p:spPr>
          <a:xfrm>
            <a:off x="8760296" y="116631"/>
            <a:ext cx="3302004" cy="5788333"/>
          </a:xfrm>
          <a:prstGeom prst="rect">
            <a:avLst/>
          </a:prstGeom>
        </p:spPr>
      </p:pic>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475712" y="1135380"/>
            <a:ext cx="8231314" cy="3301733"/>
            <a:chOff x="340950" y="-211822"/>
            <a:chExt cx="14717592" cy="302520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7" cy="268680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hlinkClick r:id="rId4"/>
                </a:rPr>
                <a:t>Create a notebook </a:t>
              </a:r>
              <a:r>
                <a:rPr lang="en-US" dirty="0"/>
                <a:t>as a job (on a compute node)</a:t>
              </a:r>
            </a:p>
            <a:p>
              <a:pPr marL="324000" indent="-324000">
                <a:buBlip>
                  <a:blip r:embed="rId3"/>
                </a:buBlip>
              </a:pPr>
              <a:r>
                <a:rPr lang="en-US" dirty="0">
                  <a:cs typeface="Courier New" panose="02070309020205020404" pitchFamily="49" charset="0"/>
                </a:rPr>
                <a:t>Suitable for:</a:t>
              </a:r>
              <a:br>
                <a:rPr lang="en-US" dirty="0">
                  <a:cs typeface="Courier New" panose="02070309020205020404" pitchFamily="49" charset="0"/>
                </a:rPr>
              </a:br>
              <a:r>
                <a:rPr lang="en-US" dirty="0">
                  <a:cs typeface="Courier New" panose="02070309020205020404" pitchFamily="49" charset="0"/>
                </a:rPr>
                <a:t>	pre/post-processing your data</a:t>
              </a:r>
              <a:br>
                <a:rPr lang="en-US" dirty="0">
                  <a:cs typeface="Courier New" panose="02070309020205020404" pitchFamily="49" charset="0"/>
                </a:rPr>
              </a:br>
              <a:r>
                <a:rPr lang="en-US" dirty="0">
                  <a:cs typeface="Courier New" panose="02070309020205020404" pitchFamily="49" charset="0"/>
                </a:rPr>
                <a:t>	prototyping</a:t>
              </a:r>
              <a:br>
                <a:rPr lang="en-US" dirty="0">
                  <a:cs typeface="Courier New" panose="02070309020205020404" pitchFamily="49" charset="0"/>
                </a:rPr>
              </a:br>
              <a:r>
                <a:rPr lang="en-US" dirty="0">
                  <a:cs typeface="Courier New" panose="02070309020205020404" pitchFamily="49" charset="0"/>
                </a:rPr>
                <a:t>	adding figures and text for pedagogical purposes</a:t>
              </a:r>
            </a:p>
            <a:p>
              <a:pPr marL="324000" indent="-324000">
                <a:buBlip>
                  <a:blip r:embed="rId3"/>
                </a:buBlip>
              </a:pPr>
              <a:r>
                <a:rPr lang="en-US" dirty="0">
                  <a:cs typeface="Courier New" panose="02070309020205020404" pitchFamily="49" charset="0"/>
                </a:rPr>
                <a:t>Choose the appropriate cluster, partition and resources</a:t>
              </a:r>
              <a:br>
                <a:rPr lang="en-US" dirty="0">
                  <a:cs typeface="Courier New" panose="02070309020205020404" pitchFamily="49" charset="0"/>
                </a:rPr>
              </a:br>
              <a:r>
                <a:rPr lang="en-US" dirty="0">
                  <a:cs typeface="Courier New" panose="02070309020205020404" pitchFamily="49" charset="0"/>
                </a:rPr>
                <a:t>(cores, memory, GPU)</a:t>
              </a:r>
            </a:p>
            <a:p>
              <a:pPr marL="324000" indent="-324000">
                <a:buBlip>
                  <a:blip r:embed="rId3"/>
                </a:buBlip>
              </a:pPr>
              <a:r>
                <a:rPr lang="en-US" dirty="0">
                  <a:cs typeface="Courier New" panose="02070309020205020404" pitchFamily="49" charset="0"/>
                </a:rPr>
                <a:t>User your own Python/R kernels (next slide)</a:t>
              </a:r>
            </a:p>
          </p:txBody>
        </p:sp>
        <p:sp>
          <p:nvSpPr>
            <p:cNvPr id="13" name="TextBox 12">
              <a:extLst>
                <a:ext uri="{FF2B5EF4-FFF2-40B4-BE49-F238E27FC236}">
                  <a16:creationId xmlns:a16="http://schemas.microsoft.com/office/drawing/2014/main" id="{794D014A-35E0-1DF7-514C-719712B099B2}"/>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err="1"/>
                <a:t>Jupyter</a:t>
              </a:r>
              <a:r>
                <a:rPr lang="en-US" dirty="0"/>
                <a:t> Lab</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1224136"/>
            <a:chOff x="340950" y="-211822"/>
            <a:chExt cx="19857709" cy="1121612"/>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78321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cs typeface="Courier New" panose="02070309020205020404" pitchFamily="49" charset="0"/>
                </a:rPr>
                <a:t>The default kernels may not offer the R/Python/… interpreter version or packages you want</a:t>
              </a:r>
            </a:p>
            <a:p>
              <a:pPr marL="324000" indent="-324000">
                <a:buBlip>
                  <a:blip r:embed="rId3"/>
                </a:buBlip>
              </a:pPr>
              <a:r>
                <a:rPr lang="en-US" dirty="0">
                  <a:cs typeface="Courier New" panose="02070309020205020404" pitchFamily="49" charset="0"/>
                </a:rPr>
                <a:t>You can create a </a:t>
              </a:r>
              <a:r>
                <a:rPr lang="en-US" dirty="0" err="1">
                  <a:cs typeface="Courier New" panose="02070309020205020404" pitchFamily="49" charset="0"/>
                </a:rPr>
                <a:t>miniconda</a:t>
              </a:r>
              <a:r>
                <a:rPr lang="en-US" dirty="0">
                  <a:cs typeface="Courier New" panose="02070309020205020404" pitchFamily="49" charset="0"/>
                </a:rPr>
                <a:t> env and add it to your OnDemand kernels</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7207243" y="-211822"/>
              <a:ext cx="2991416" cy="338400"/>
            </a:xfrm>
            <a:prstGeom prst="rect">
              <a:avLst/>
            </a:prstGeom>
            <a:solidFill>
              <a:srgbClr val="DB6C30"/>
            </a:solidFill>
          </p:spPr>
          <p:txBody>
            <a:bodyPr wrap="square" rtlCol="0">
              <a:spAutoFit/>
            </a:bodyPr>
            <a:lstStyle/>
            <a:p>
              <a:r>
                <a:rPr lang="en-US" dirty="0"/>
                <a:t>Custom kernels</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598361" y="2624267"/>
            <a:ext cx="11112901" cy="3469029"/>
            <a:chOff x="340950" y="-211822"/>
            <a:chExt cx="19869870" cy="3046537"/>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40950" y="126577"/>
              <a:ext cx="19827550" cy="2708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cs typeface="Courier New" panose="02070309020205020404" pitchFamily="49" charset="0"/>
                </a:rPr>
                <a:t>Start </a:t>
              </a:r>
              <a:r>
                <a:rPr lang="nl-BE" dirty="0" err="1">
                  <a:cs typeface="Courier New" panose="02070309020205020404" pitchFamily="49" charset="0"/>
                </a:rPr>
                <a:t>an</a:t>
              </a:r>
              <a:r>
                <a:rPr lang="nl-BE" dirty="0">
                  <a:cs typeface="Courier New" panose="02070309020205020404" pitchFamily="49" charset="0"/>
                </a:rPr>
                <a:t> Interactive Shell</a:t>
              </a:r>
            </a:p>
            <a:p>
              <a:pPr marL="0" indent="0">
                <a:buNone/>
              </a:pPr>
              <a:r>
                <a:rPr lang="nl-BE" dirty="0">
                  <a:cs typeface="Courier New" panose="02070309020205020404" pitchFamily="49" charset="0"/>
                </a:rPr>
                <a:t>Go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your</a:t>
              </a:r>
              <a:r>
                <a:rPr lang="nl-BE" dirty="0">
                  <a:cs typeface="Courier New" panose="02070309020205020404" pitchFamily="49" charset="0"/>
                </a:rPr>
                <a:t> data folder</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cd ${VSC_DATA}</a:t>
              </a:r>
            </a:p>
            <a:p>
              <a:pPr marL="0" indent="0">
                <a:buNone/>
              </a:pPr>
              <a:r>
                <a:rPr lang="nl-BE" dirty="0">
                  <a:cs typeface="Courier New" panose="02070309020205020404" pitchFamily="49" charset="0"/>
                </a:rPr>
                <a:t>Download </a:t>
              </a:r>
              <a:r>
                <a:rPr lang="nl-BE" dirty="0" err="1">
                  <a:cs typeface="Courier New" panose="02070309020205020404" pitchFamily="49" charset="0"/>
                </a:rPr>
                <a:t>Miniconda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wget</a:t>
              </a:r>
              <a:r>
                <a:rPr lang="nl-BE" sz="1800" dirty="0">
                  <a:latin typeface="Courier New" panose="02070309020205020404" pitchFamily="49" charset="0"/>
                  <a:cs typeface="Courier New" panose="02070309020205020404" pitchFamily="49" charset="0"/>
                </a:rPr>
                <a:t> </a:t>
              </a:r>
              <a:r>
                <a:rPr lang="nl-BE" sz="1800" dirty="0">
                  <a:latin typeface="Courier New" panose="02070309020205020404" pitchFamily="49" charset="0"/>
                  <a:cs typeface="Courier New" panose="02070309020205020404" pitchFamily="49" charset="0"/>
                  <a:hlinkClick r:id="rId4"/>
                </a:rPr>
                <a:t>https://repo.continuum.io/miniconda/Miniconda3-latest-Linux-x86_64.sh</a:t>
              </a:r>
              <a:endParaRPr lang="nl-BE" sz="1800" dirty="0">
                <a:latin typeface="Courier New" panose="02070309020205020404" pitchFamily="49" charset="0"/>
                <a:cs typeface="Courier New" panose="02070309020205020404" pitchFamily="49" charset="0"/>
              </a:endParaRPr>
            </a:p>
            <a:p>
              <a:pPr marL="0" indent="0">
                <a:buNone/>
              </a:pPr>
              <a:r>
                <a:rPr lang="nl-BE" dirty="0" err="1">
                  <a:cs typeface="Courier New" panose="02070309020205020404" pitchFamily="49" charset="0"/>
                </a:rPr>
                <a:t>Install</a:t>
              </a:r>
              <a:r>
                <a:rPr lang="nl-BE" dirty="0">
                  <a:cs typeface="Courier New" panose="02070309020205020404" pitchFamily="49" charset="0"/>
                </a:rPr>
                <a:t> </a:t>
              </a:r>
              <a:r>
                <a:rPr lang="nl-BE" dirty="0" err="1">
                  <a:cs typeface="Courier New" panose="02070309020205020404" pitchFamily="49" charset="0"/>
                </a:rPr>
                <a:t>Miniconda</a:t>
              </a:r>
              <a:r>
                <a:rPr lang="nl-BE" dirty="0">
                  <a:cs typeface="Courier New" panose="02070309020205020404" pitchFamily="49" charset="0"/>
                </a:rPr>
                <a:t> in </a:t>
              </a:r>
              <a:r>
                <a:rPr lang="nl-BE" dirty="0" err="1">
                  <a:cs typeface="Courier New" panose="02070309020205020404" pitchFamily="49" charset="0"/>
                </a:rPr>
                <a:t>your</a:t>
              </a:r>
              <a:r>
                <a:rPr lang="nl-BE" dirty="0">
                  <a:cs typeface="Courier New" panose="02070309020205020404" pitchFamily="49" charset="0"/>
                </a:rPr>
                <a:t> VSC_DATA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bash</a:t>
              </a:r>
              <a:r>
                <a:rPr lang="nl-BE" sz="1800" dirty="0">
                  <a:latin typeface="Courier New" panose="02070309020205020404" pitchFamily="49" charset="0"/>
                  <a:cs typeface="Courier New" panose="02070309020205020404" pitchFamily="49" charset="0"/>
                </a:rPr>
                <a:t> </a:t>
              </a:r>
              <a:r>
                <a:rPr lang="it-IT" sz="18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dirty="0" err="1">
                  <a:cs typeface="Courier New" panose="02070309020205020404" pitchFamily="49" charset="0"/>
                </a:rPr>
                <a:t>Permanently</a:t>
              </a:r>
              <a:r>
                <a:rPr lang="it-IT" dirty="0">
                  <a:cs typeface="Courier New" panose="02070309020205020404" pitchFamily="49" charset="0"/>
                </a:rPr>
                <a:t> </a:t>
              </a:r>
              <a:r>
                <a:rPr lang="it-IT" dirty="0" err="1">
                  <a:cs typeface="Courier New" panose="02070309020205020404" pitchFamily="49" charset="0"/>
                </a:rPr>
                <a:t>add</a:t>
              </a:r>
              <a:r>
                <a:rPr lang="it-IT" dirty="0">
                  <a:cs typeface="Courier New" panose="02070309020205020404" pitchFamily="49" charset="0"/>
                </a:rPr>
                <a:t> the </a:t>
              </a:r>
              <a:r>
                <a:rPr lang="it-IT" dirty="0" err="1">
                  <a:cs typeface="Courier New" panose="02070309020205020404" pitchFamily="49" charset="0"/>
                </a:rPr>
                <a:t>path</a:t>
              </a:r>
              <a:r>
                <a:rPr lang="it-IT" dirty="0">
                  <a:cs typeface="Courier New" panose="02070309020205020404" pitchFamily="49" charset="0"/>
                </a:rPr>
                <a:t> to </a:t>
              </a:r>
              <a:r>
                <a:rPr lang="it-IT" dirty="0" err="1">
                  <a:cs typeface="Courier New" panose="02070309020205020404" pitchFamily="49" charset="0"/>
                </a:rPr>
                <a:t>Miniconda</a:t>
              </a:r>
              <a:r>
                <a:rPr lang="it-IT" dirty="0">
                  <a:cs typeface="Courier New" panose="02070309020205020404" pitchFamily="49" charset="0"/>
                </a:rPr>
                <a:t> to </a:t>
              </a:r>
              <a:r>
                <a:rPr lang="it-IT" dirty="0" err="1">
                  <a:cs typeface="Courier New" panose="02070309020205020404" pitchFamily="49" charset="0"/>
                </a:rPr>
                <a:t>your</a:t>
              </a:r>
              <a:r>
                <a:rPr lang="it-IT" dirty="0">
                  <a:cs typeface="Courier New" panose="02070309020205020404" pitchFamily="49" charset="0"/>
                </a:rPr>
                <a:t> </a:t>
              </a:r>
              <a:r>
                <a:rPr lang="it-IT" sz="1800" dirty="0">
                  <a:latin typeface="Courier New" panose="02070309020205020404" pitchFamily="49" charset="0"/>
                  <a:cs typeface="Courier New" panose="02070309020205020404" pitchFamily="49" charset="0"/>
                </a:rPr>
                <a:t>~/.</a:t>
              </a:r>
              <a:r>
                <a:rPr lang="it-IT" sz="1800" dirty="0" err="1">
                  <a:latin typeface="Courier New" panose="02070309020205020404" pitchFamily="49" charset="0"/>
                  <a:cs typeface="Courier New" panose="02070309020205020404" pitchFamily="49" charset="0"/>
                </a:rPr>
                <a:t>bashrc</a:t>
              </a:r>
              <a:br>
                <a:rPr lang="it-IT" sz="1800" dirty="0">
                  <a:latin typeface="Courier New" panose="02070309020205020404" pitchFamily="49" charset="0"/>
                  <a:cs typeface="Courier New" panose="02070309020205020404" pitchFamily="49" charset="0"/>
                </a:rPr>
              </a:br>
              <a:r>
                <a:rPr lang="nl-BE" sz="18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800" dirty="0" err="1">
                  <a:solidFill>
                    <a:srgbClr val="4E5865"/>
                  </a:solidFill>
                  <a:latin typeface="Courier New" panose="02070309020205020404" pitchFamily="49" charset="0"/>
                  <a:cs typeface="Courier New" panose="02070309020205020404" pitchFamily="49" charset="0"/>
                </a:rPr>
                <a:t>bashrc</a:t>
              </a:r>
              <a:endParaRPr lang="nl-BE" sz="1800" dirty="0">
                <a:cs typeface="Courier New" panose="02070309020205020404" pitchFamily="49" charset="0"/>
              </a:endParaRPr>
            </a:p>
          </p:txBody>
        </p:sp>
        <p:sp>
          <p:nvSpPr>
            <p:cNvPr id="9" name="TextBox 8">
              <a:extLst>
                <a:ext uri="{FF2B5EF4-FFF2-40B4-BE49-F238E27FC236}">
                  <a16:creationId xmlns:a16="http://schemas.microsoft.com/office/drawing/2014/main" id="{A860ED43-CBEA-5067-CCFC-773E2B5DB310}"/>
                </a:ext>
              </a:extLst>
            </p:cNvPr>
            <p:cNvSpPr txBox="1"/>
            <p:nvPr/>
          </p:nvSpPr>
          <p:spPr>
            <a:xfrm>
              <a:off x="16736995" y="-211822"/>
              <a:ext cx="3473825" cy="324351"/>
            </a:xfrm>
            <a:prstGeom prst="rect">
              <a:avLst/>
            </a:prstGeom>
            <a:solidFill>
              <a:srgbClr val="DB6C30"/>
            </a:solidFill>
          </p:spPr>
          <p:txBody>
            <a:bodyPr wrap="square" rtlCol="0">
              <a:spAutoFit/>
            </a:bodyPr>
            <a:lstStyle/>
            <a:p>
              <a:r>
                <a:rPr lang="en-US" dirty="0"/>
                <a:t>Step 1: </a:t>
              </a:r>
              <a:r>
                <a:rPr lang="en-US" dirty="0" err="1"/>
                <a:t>Miniconda</a:t>
              </a:r>
              <a:endParaRPr lang="nl-BE" dirty="0"/>
            </a:p>
          </p:txBody>
        </p:sp>
      </p:grpSp>
    </p:spTree>
    <p:extLst>
      <p:ext uri="{BB962C8B-B14F-4D97-AF65-F5344CB8AC3E}">
        <p14:creationId xmlns:p14="http://schemas.microsoft.com/office/powerpoint/2010/main" val="330486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2304255"/>
            <a:chOff x="340950" y="-211822"/>
            <a:chExt cx="19857709" cy="211127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17728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cs typeface="Courier New" panose="02070309020205020404" pitchFamily="49" charset="0"/>
                </a:rPr>
                <a:t>Create a new environment </a:t>
              </a:r>
              <a:r>
                <a:rPr lang="nl-BE" dirty="0">
                  <a:latin typeface="Courier New" panose="02070309020205020404" pitchFamily="49" charset="0"/>
                  <a:cs typeface="Courier New" panose="02070309020205020404" pitchFamily="49" charset="0"/>
                </a:rPr>
                <a:t>&lt;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en-US" dirty="0">
                  <a:cs typeface="Courier New" panose="02070309020205020404" pitchFamily="49" charset="0"/>
                </a:rPr>
                <a:t>with all packages you need, e.g.</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create</a:t>
              </a:r>
              <a:r>
                <a:rPr lang="nl-BE" dirty="0">
                  <a:latin typeface="Courier New" panose="02070309020205020404" pitchFamily="49" charset="0"/>
                  <a:cs typeface="Courier New" panose="02070309020205020404" pitchFamily="49" charset="0"/>
                </a:rPr>
                <a:t> --name=&lt;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nl-BE" dirty="0" err="1">
                  <a:latin typeface="Courier New" panose="02070309020205020404" pitchFamily="49" charset="0"/>
                  <a:cs typeface="Courier New" panose="02070309020205020404" pitchFamily="49" charset="0"/>
                </a:rPr>
                <a:t>numpy</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scipy</a:t>
              </a:r>
              <a:r>
                <a:rPr lang="nl-BE" dirty="0">
                  <a:latin typeface="Courier New" panose="02070309020205020404" pitchFamily="49" charset="0"/>
                  <a:cs typeface="Courier New" panose="02070309020205020404" pitchFamily="49" charset="0"/>
                </a:rPr>
                <a:t> …</a:t>
              </a:r>
              <a:br>
                <a:rPr lang="nl-BE" dirty="0">
                  <a:latin typeface="Courier New" panose="02070309020205020404" pitchFamily="49" charset="0"/>
                  <a:cs typeface="Courier New" panose="02070309020205020404" pitchFamily="49" charset="0"/>
                </a:rPr>
              </a:br>
              <a:r>
                <a:rPr lang="en-US" dirty="0">
                  <a:cs typeface="Courier New" panose="02070309020205020404" pitchFamily="49" charset="0"/>
                </a:rPr>
                <a:t>Enable your new environment</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source </a:t>
              </a:r>
              <a:r>
                <a:rPr lang="nl-BE" dirty="0" err="1">
                  <a:latin typeface="Courier New" panose="02070309020205020404" pitchFamily="49" charset="0"/>
                  <a:cs typeface="Courier New" panose="02070309020205020404" pitchFamily="49" charset="0"/>
                </a:rPr>
                <a:t>activate</a:t>
              </a:r>
              <a:r>
                <a:rPr lang="nl-BE" dirty="0">
                  <a:latin typeface="Courier New" panose="02070309020205020404" pitchFamily="49" charset="0"/>
                  <a:cs typeface="Courier New" panose="02070309020205020404" pitchFamily="49" charset="0"/>
                </a:rPr>
                <a:t>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br>
                <a:rPr lang="nl-BE" dirty="0">
                  <a:latin typeface="Courier New" panose="02070309020205020404" pitchFamily="49" charset="0"/>
                  <a:cs typeface="Courier New" panose="02070309020205020404" pitchFamily="49" charset="0"/>
                </a:rPr>
              </a:br>
              <a:r>
                <a:rPr lang="nl-BE" dirty="0" err="1">
                  <a:cs typeface="Courier New" panose="02070309020205020404" pitchFamily="49" charset="0"/>
                </a:rPr>
                <a:t>Add</a:t>
              </a:r>
              <a:r>
                <a:rPr lang="nl-BE" dirty="0">
                  <a:cs typeface="Courier New" panose="02070309020205020404" pitchFamily="49" charset="0"/>
                </a:rPr>
                <a:t> </a:t>
              </a:r>
              <a:r>
                <a:rPr lang="nl-BE" dirty="0" err="1">
                  <a:cs typeface="Courier New" panose="02070309020205020404" pitchFamily="49" charset="0"/>
                </a:rPr>
                <a:t>the</a:t>
              </a:r>
              <a:r>
                <a:rPr lang="nl-BE" dirty="0">
                  <a:cs typeface="Courier New" panose="02070309020205020404" pitchFamily="49" charset="0"/>
                </a:rPr>
                <a:t> </a:t>
              </a:r>
              <a:r>
                <a:rPr lang="nl-BE" dirty="0" err="1">
                  <a:cs typeface="Courier New" panose="02070309020205020404" pitchFamily="49" charset="0"/>
                </a:rPr>
                <a:t>ipykernel</a:t>
              </a:r>
              <a:r>
                <a:rPr lang="nl-BE" dirty="0">
                  <a:cs typeface="Courier New" panose="02070309020205020404" pitchFamily="49" charset="0"/>
                </a:rPr>
                <a:t> package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-c </a:t>
              </a:r>
              <a:r>
                <a:rPr lang="nl-BE" dirty="0" err="1">
                  <a:latin typeface="Courier New" panose="02070309020205020404" pitchFamily="49" charset="0"/>
                  <a:cs typeface="Courier New" panose="02070309020205020404" pitchFamily="49" charset="0"/>
                </a:rPr>
                <a:t>conda-forge</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ipykernel</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5147238" y="-211822"/>
              <a:ext cx="5051421" cy="338400"/>
            </a:xfrm>
            <a:prstGeom prst="rect">
              <a:avLst/>
            </a:prstGeom>
            <a:solidFill>
              <a:srgbClr val="DB6C30"/>
            </a:solidFill>
          </p:spPr>
          <p:txBody>
            <a:bodyPr wrap="square" rtlCol="0">
              <a:spAutoFit/>
            </a:bodyPr>
            <a:lstStyle/>
            <a:p>
              <a:r>
                <a:rPr lang="en-US" dirty="0"/>
                <a:t>Step 2: Environment setup</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625681" y="3645024"/>
            <a:ext cx="11103810" cy="1156053"/>
            <a:chOff x="385705" y="1839744"/>
            <a:chExt cx="19853615" cy="1059230"/>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85705" y="2178143"/>
              <a:ext cx="19827550" cy="72083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latin typeface="Courier New" panose="02070309020205020404" pitchFamily="49" charset="0"/>
                  <a:cs typeface="Courier New" panose="02070309020205020404" pitchFamily="49" charset="0"/>
                </a:rPr>
                <a:t>$ python -m </a:t>
              </a:r>
              <a:r>
                <a:rPr lang="nl-BE" dirty="0" err="1">
                  <a:latin typeface="Courier New" panose="02070309020205020404" pitchFamily="49" charset="0"/>
                  <a:cs typeface="Courier New" panose="02070309020205020404" pitchFamily="49" charset="0"/>
                </a:rPr>
                <a:t>ipykernel</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--user --</a:t>
              </a:r>
              <a:r>
                <a:rPr lang="nl-BE" dirty="0" err="1">
                  <a:latin typeface="Courier New" panose="02070309020205020404" pitchFamily="49" charset="0"/>
                  <a:cs typeface="Courier New" panose="02070309020205020404" pitchFamily="49" charset="0"/>
                </a:rPr>
                <a:t>env</a:t>
              </a:r>
              <a:r>
                <a:rPr lang="nl-BE" dirty="0">
                  <a:latin typeface="Courier New" panose="02070309020205020404" pitchFamily="49" charset="0"/>
                  <a:cs typeface="Courier New" panose="02070309020205020404" pitchFamily="49" charset="0"/>
                </a:rPr>
                <a:t> PYTHONPATH "" \</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--display-name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p>
          </p:txBody>
        </p:sp>
        <p:sp>
          <p:nvSpPr>
            <p:cNvPr id="9" name="TextBox 8">
              <a:extLst>
                <a:ext uri="{FF2B5EF4-FFF2-40B4-BE49-F238E27FC236}">
                  <a16:creationId xmlns:a16="http://schemas.microsoft.com/office/drawing/2014/main" id="{A860ED43-CBEA-5067-CCFC-773E2B5DB310}"/>
                </a:ext>
              </a:extLst>
            </p:cNvPr>
            <p:cNvSpPr txBox="1"/>
            <p:nvPr/>
          </p:nvSpPr>
          <p:spPr>
            <a:xfrm>
              <a:off x="14930399" y="1839744"/>
              <a:ext cx="5308921" cy="338400"/>
            </a:xfrm>
            <a:prstGeom prst="rect">
              <a:avLst/>
            </a:prstGeom>
            <a:solidFill>
              <a:srgbClr val="DB6C30"/>
            </a:solidFill>
          </p:spPr>
          <p:txBody>
            <a:bodyPr wrap="square" rtlCol="0">
              <a:spAutoFit/>
            </a:bodyPr>
            <a:lstStyle/>
            <a:p>
              <a:r>
                <a:rPr lang="en-US" dirty="0"/>
                <a:t>Step 3: Register your kernel</a:t>
              </a:r>
              <a:endParaRPr lang="nl-BE" dirty="0"/>
            </a:p>
          </p:txBody>
        </p:sp>
      </p:grpSp>
      <p:sp>
        <p:nvSpPr>
          <p:cNvPr id="3" name="Tijdelijke aanduiding voor inhoud 2">
            <a:extLst>
              <a:ext uri="{FF2B5EF4-FFF2-40B4-BE49-F238E27FC236}">
                <a16:creationId xmlns:a16="http://schemas.microsoft.com/office/drawing/2014/main" id="{45B5E082-EE51-25B9-D829-1934618D07C8}"/>
              </a:ext>
            </a:extLst>
          </p:cNvPr>
          <p:cNvSpPr txBox="1">
            <a:spLocks/>
          </p:cNvSpPr>
          <p:nvPr/>
        </p:nvSpPr>
        <p:spPr>
          <a:xfrm>
            <a:off x="627693" y="5397053"/>
            <a:ext cx="11089232" cy="78672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err="1">
                <a:cs typeface="Courier New" panose="02070309020205020404" pitchFamily="49" charset="0"/>
              </a:rPr>
              <a:t>Now</a:t>
            </a:r>
            <a:r>
              <a:rPr lang="nl-BE" dirty="0">
                <a:cs typeface="Courier New" panose="02070309020205020404" pitchFamily="49" charset="0"/>
              </a:rPr>
              <a:t> start a new </a:t>
            </a:r>
            <a:r>
              <a:rPr lang="nl-BE" dirty="0" err="1">
                <a:cs typeface="Courier New" panose="02070309020205020404" pitchFamily="49" charset="0"/>
              </a:rPr>
              <a:t>Jupyter</a:t>
            </a:r>
            <a:r>
              <a:rPr lang="nl-BE" dirty="0">
                <a:cs typeface="Courier New" panose="02070309020205020404" pitchFamily="49" charset="0"/>
              </a:rPr>
              <a:t> Lab </a:t>
            </a:r>
            <a:r>
              <a:rPr lang="nl-BE" dirty="0" err="1">
                <a:cs typeface="Courier New" panose="02070309020205020404" pitchFamily="49" charset="0"/>
              </a:rPr>
              <a:t>session</a:t>
            </a:r>
            <a:endParaRPr lang="nl-BE" dirty="0">
              <a:cs typeface="Courier New" panose="02070309020205020404" pitchFamily="49" charset="0"/>
            </a:endParaRPr>
          </a:p>
          <a:p>
            <a:pPr marL="0" indent="0">
              <a:buNone/>
            </a:pPr>
            <a:r>
              <a:rPr lang="nl-BE" dirty="0" err="1">
                <a:cs typeface="Courier New" panose="02070309020205020404" pitchFamily="49" charset="0"/>
              </a:rPr>
              <a:t>Your</a:t>
            </a:r>
            <a:r>
              <a:rPr lang="nl-BE" dirty="0">
                <a:cs typeface="Courier New" panose="02070309020205020404" pitchFamily="49" charset="0"/>
              </a:rPr>
              <a:t> new </a:t>
            </a:r>
            <a:r>
              <a:rPr lang="nl-BE" dirty="0" err="1">
                <a:cs typeface="Courier New" panose="02070309020205020404" pitchFamily="49" charset="0"/>
              </a:rPr>
              <a:t>kernel</a:t>
            </a:r>
            <a:r>
              <a:rPr lang="nl-BE" dirty="0">
                <a:cs typeface="Courier New" panose="02070309020205020404" pitchFamily="49" charset="0"/>
              </a:rPr>
              <a:t> </a:t>
            </a:r>
            <a:r>
              <a:rPr lang="nl-BE" dirty="0" err="1">
                <a:cs typeface="Courier New" panose="02070309020205020404" pitchFamily="49" charset="0"/>
              </a:rPr>
              <a:t>should</a:t>
            </a:r>
            <a:r>
              <a:rPr lang="nl-BE" dirty="0">
                <a:cs typeface="Courier New" panose="02070309020205020404" pitchFamily="49" charset="0"/>
              </a:rPr>
              <a:t> </a:t>
            </a:r>
            <a:r>
              <a:rPr lang="nl-BE" dirty="0" err="1">
                <a:cs typeface="Courier New" panose="02070309020205020404" pitchFamily="49" charset="0"/>
              </a:rPr>
              <a:t>be</a:t>
            </a:r>
            <a:r>
              <a:rPr lang="nl-BE" dirty="0">
                <a:cs typeface="Courier New" panose="02070309020205020404" pitchFamily="49" charset="0"/>
              </a:rPr>
              <a:t> </a:t>
            </a:r>
            <a:r>
              <a:rPr lang="nl-BE" dirty="0" err="1">
                <a:cs typeface="Courier New" panose="02070309020205020404" pitchFamily="49" charset="0"/>
              </a:rPr>
              <a:t>available</a:t>
            </a:r>
            <a:r>
              <a:rPr lang="nl-BE" dirty="0">
                <a:cs typeface="Courier New" panose="02070309020205020404" pitchFamily="49" charset="0"/>
              </a:rPr>
              <a:t> </a:t>
            </a:r>
            <a:r>
              <a:rPr lang="nl-BE" dirty="0" err="1">
                <a:cs typeface="Courier New" panose="02070309020205020404" pitchFamily="49" charset="0"/>
              </a:rPr>
              <a:t>there</a:t>
            </a:r>
            <a:endParaRPr lang="nl-BE" dirty="0">
              <a:cs typeface="Courier New" panose="02070309020205020404" pitchFamily="49" charset="0"/>
            </a:endParaRPr>
          </a:p>
        </p:txBody>
      </p:sp>
      <p:sp>
        <p:nvSpPr>
          <p:cNvPr id="10" name="TextBox 9">
            <a:extLst>
              <a:ext uri="{FF2B5EF4-FFF2-40B4-BE49-F238E27FC236}">
                <a16:creationId xmlns:a16="http://schemas.microsoft.com/office/drawing/2014/main" id="{7C0A0086-0C17-C951-1205-2817B5062F51}"/>
              </a:ext>
            </a:extLst>
          </p:cNvPr>
          <p:cNvSpPr txBox="1"/>
          <p:nvPr/>
        </p:nvSpPr>
        <p:spPr>
          <a:xfrm>
            <a:off x="8616280" y="5023277"/>
            <a:ext cx="3122271" cy="369333"/>
          </a:xfrm>
          <a:prstGeom prst="rect">
            <a:avLst/>
          </a:prstGeom>
          <a:solidFill>
            <a:srgbClr val="DB6C30"/>
          </a:solidFill>
        </p:spPr>
        <p:txBody>
          <a:bodyPr wrap="square" rtlCol="0">
            <a:spAutoFit/>
          </a:bodyPr>
          <a:lstStyle/>
          <a:p>
            <a:r>
              <a:rPr lang="en-US" dirty="0"/>
              <a:t>Step 4: Launching </a:t>
            </a:r>
            <a:r>
              <a:rPr lang="en-US" dirty="0" err="1"/>
              <a:t>JupyterLab</a:t>
            </a:r>
            <a:endParaRPr lang="nl-BE" dirty="0"/>
          </a:p>
        </p:txBody>
      </p:sp>
    </p:spTree>
    <p:extLst>
      <p:ext uri="{BB962C8B-B14F-4D97-AF65-F5344CB8AC3E}">
        <p14:creationId xmlns:p14="http://schemas.microsoft.com/office/powerpoint/2010/main" val="1715887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grpSp>
        <p:nvGrpSpPr>
          <p:cNvPr id="14" name="Group 13">
            <a:extLst>
              <a:ext uri="{FF2B5EF4-FFF2-40B4-BE49-F238E27FC236}">
                <a16:creationId xmlns:a16="http://schemas.microsoft.com/office/drawing/2014/main" id="{E6D289A7-1562-4383-3707-A25986324F00}"/>
              </a:ext>
            </a:extLst>
          </p:cNvPr>
          <p:cNvGrpSpPr/>
          <p:nvPr/>
        </p:nvGrpSpPr>
        <p:grpSpPr>
          <a:xfrm>
            <a:off x="475712" y="1135380"/>
            <a:ext cx="5871439" cy="3301733"/>
            <a:chOff x="340950" y="-211822"/>
            <a:chExt cx="14717592" cy="3025206"/>
          </a:xfrm>
        </p:grpSpPr>
        <p:sp>
          <p:nvSpPr>
            <p:cNvPr id="7" name="Tijdelijke aanduiding voor inhoud 2">
              <a:extLst>
                <a:ext uri="{FF2B5EF4-FFF2-40B4-BE49-F238E27FC236}">
                  <a16:creationId xmlns:a16="http://schemas.microsoft.com/office/drawing/2014/main" id="{458C31FB-FBAF-4885-7A13-D6D3DE1D4B31}"/>
                </a:ext>
              </a:extLst>
            </p:cNvPr>
            <p:cNvSpPr txBox="1">
              <a:spLocks/>
            </p:cNvSpPr>
            <p:nvPr/>
          </p:nvSpPr>
          <p:spPr>
            <a:xfrm>
              <a:off x="340950" y="126577"/>
              <a:ext cx="14689867" cy="2686807"/>
            </a:xfrm>
            <a:prstGeom prst="rect">
              <a:avLst/>
            </a:prstGeom>
            <a:ln w="381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cs typeface="Courier New" panose="02070309020205020404" pitchFamily="49" charset="0"/>
                </a:rPr>
                <a:t>Ideal for apps with GUI</a:t>
              </a:r>
            </a:p>
            <a:p>
              <a:pPr marL="324000" indent="-324000">
                <a:buBlip>
                  <a:blip r:embed="rId4"/>
                </a:buBlip>
              </a:pPr>
              <a:r>
                <a:rPr lang="en-US" dirty="0">
                  <a:cs typeface="Courier New" panose="02070309020205020404" pitchFamily="49" charset="0"/>
                </a:rPr>
                <a:t>Load (graphical) modules in Terminal, e.g. MATLAB, Fluent, </a:t>
              </a:r>
              <a:r>
                <a:rPr lang="en-US" dirty="0" err="1">
                  <a:cs typeface="Courier New" panose="02070309020205020404" pitchFamily="49" charset="0"/>
                </a:rPr>
                <a:t>ncview</a:t>
              </a:r>
              <a:r>
                <a:rPr lang="en-US" dirty="0">
                  <a:cs typeface="Courier New" panose="02070309020205020404" pitchFamily="49" charset="0"/>
                </a:rPr>
                <a:t>, </a:t>
              </a:r>
              <a:r>
                <a:rPr lang="en-US" dirty="0" err="1">
                  <a:cs typeface="Courier New" panose="02070309020205020404" pitchFamily="49" charset="0"/>
                </a:rPr>
                <a:t>VisIt</a:t>
              </a:r>
              <a:r>
                <a:rPr lang="en-US" dirty="0">
                  <a:cs typeface="Courier New" panose="02070309020205020404" pitchFamily="49" charset="0"/>
                </a:rPr>
                <a:t>, …</a:t>
              </a:r>
            </a:p>
            <a:p>
              <a:pPr marL="324000" indent="-324000">
                <a:buBlip>
                  <a:blip r:embed="rId4"/>
                </a:buBlip>
              </a:pPr>
              <a:r>
                <a:rPr lang="en-US" dirty="0">
                  <a:cs typeface="Courier New" panose="02070309020205020404" pitchFamily="49" charset="0"/>
                </a:rPr>
                <a:t>Minimalistic Terminal (different from login node)</a:t>
              </a:r>
            </a:p>
            <a:p>
              <a:pPr marL="324000" indent="-324000">
                <a:buBlip>
                  <a:blip r:embed="rId4"/>
                </a:buBlip>
              </a:pPr>
              <a:r>
                <a:rPr lang="en-US" dirty="0">
                  <a:cs typeface="Courier New" panose="02070309020205020404" pitchFamily="49" charset="0"/>
                </a:rPr>
                <a:t>Two visualization apps (</a:t>
              </a:r>
              <a:r>
                <a:rPr lang="en-US" dirty="0" err="1">
                  <a:cs typeface="Courier New" panose="02070309020205020404" pitchFamily="49" charset="0"/>
                </a:rPr>
                <a:t>VisIt</a:t>
              </a:r>
              <a:r>
                <a:rPr lang="en-US" dirty="0">
                  <a:cs typeface="Courier New" panose="02070309020205020404" pitchFamily="49" charset="0"/>
                </a:rPr>
                <a:t> and VMD)</a:t>
              </a:r>
            </a:p>
          </p:txBody>
        </p:sp>
        <p:sp>
          <p:nvSpPr>
            <p:cNvPr id="13" name="TextBox 12">
              <a:extLst>
                <a:ext uri="{FF2B5EF4-FFF2-40B4-BE49-F238E27FC236}">
                  <a16:creationId xmlns:a16="http://schemas.microsoft.com/office/drawing/2014/main" id="{158E058B-4C78-A675-CF82-4B612A6F9276}"/>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a:t>Desktop</a:t>
              </a:r>
              <a:endParaRPr lang="nl-BE" dirty="0"/>
            </a:p>
          </p:txBody>
        </p:sp>
      </p:gr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726474" y="1162398"/>
            <a:ext cx="5254903" cy="4354833"/>
          </a:xfrm>
          <a:prstGeom prst="rect">
            <a:avLst/>
          </a:prstGeom>
        </p:spPr>
      </p:pic>
    </p:spTree>
    <p:extLst>
      <p:ext uri="{BB962C8B-B14F-4D97-AF65-F5344CB8AC3E}">
        <p14:creationId xmlns:p14="http://schemas.microsoft.com/office/powerpoint/2010/main" val="30396916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1" name="Group 20">
            <a:extLst>
              <a:ext uri="{FF2B5EF4-FFF2-40B4-BE49-F238E27FC236}">
                <a16:creationId xmlns:a16="http://schemas.microsoft.com/office/drawing/2014/main" id="{24C33FD9-9653-A2B0-80FF-70CFD5550831}"/>
              </a:ext>
            </a:extLst>
          </p:cNvPr>
          <p:cNvGrpSpPr/>
          <p:nvPr/>
        </p:nvGrpSpPr>
        <p:grpSpPr>
          <a:xfrm>
            <a:off x="897076" y="1402095"/>
            <a:ext cx="10155502" cy="1574847"/>
            <a:chOff x="1577710" y="1494475"/>
            <a:chExt cx="10155502"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3188860" y="1494475"/>
              <a:ext cx="8544352" cy="1574847"/>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Visual Studio Code server as a job</a:t>
              </a:r>
            </a:p>
            <a:p>
              <a:pPr marL="0" indent="0">
                <a:buNone/>
              </a:pPr>
              <a:r>
                <a:rPr lang="en-US" dirty="0"/>
                <a:t>Develop, deploy and debug your workflow directly on HPC</a:t>
              </a:r>
            </a:p>
            <a:p>
              <a:pPr marL="0" indent="0">
                <a:buNone/>
              </a:pPr>
              <a:r>
                <a:rPr lang="en-US" dirty="0"/>
                <a:t>Use of the interactive partitions is free of charge and is a good choice</a:t>
              </a:r>
            </a:p>
            <a:p>
              <a:pPr marL="0" indent="0">
                <a:buNone/>
              </a:pPr>
              <a:r>
                <a:rPr lang="en-US" dirty="0"/>
                <a:t>Supports many languages + </a:t>
              </a:r>
              <a:r>
                <a:rPr lang="en-US" dirty="0" err="1"/>
                <a:t>Github</a:t>
              </a:r>
              <a:r>
                <a:rPr lang="en-US" dirty="0"/>
                <a:t> integration</a:t>
              </a:r>
            </a:p>
          </p:txBody>
        </p:sp>
        <p:pic>
          <p:nvPicPr>
            <p:cNvPr id="5" name="Picture 4">
              <a:extLst>
                <a:ext uri="{FF2B5EF4-FFF2-40B4-BE49-F238E27FC236}">
                  <a16:creationId xmlns:a16="http://schemas.microsoft.com/office/drawing/2014/main" id="{1A140DB8-1C69-4BD9-2433-4633A86C686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577710" y="1541109"/>
              <a:ext cx="1450943" cy="1424799"/>
            </a:xfrm>
            <a:prstGeom prst="rect">
              <a:avLst/>
            </a:prstGeom>
          </p:spPr>
        </p:pic>
      </p:grpSp>
      <p:grpSp>
        <p:nvGrpSpPr>
          <p:cNvPr id="23" name="Group 22">
            <a:extLst>
              <a:ext uri="{FF2B5EF4-FFF2-40B4-BE49-F238E27FC236}">
                <a16:creationId xmlns:a16="http://schemas.microsoft.com/office/drawing/2014/main" id="{FD42A31F-EA75-367D-0408-91535F5568A3}"/>
              </a:ext>
            </a:extLst>
          </p:cNvPr>
          <p:cNvGrpSpPr/>
          <p:nvPr/>
        </p:nvGrpSpPr>
        <p:grpSpPr>
          <a:xfrm>
            <a:off x="986719" y="3222267"/>
            <a:ext cx="10065859" cy="1325936"/>
            <a:chOff x="986719" y="3259359"/>
            <a:chExt cx="10065859" cy="132593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08226" y="3259359"/>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RStudio IDE as a job</a:t>
              </a:r>
              <a:endParaRPr lang="nl-BE" dirty="0"/>
            </a:p>
            <a:p>
              <a:pPr marL="0" indent="0">
                <a:buNone/>
              </a:pPr>
              <a:r>
                <a:rPr lang="nl-BE" dirty="0" err="1"/>
                <a:t>Install</a:t>
              </a:r>
              <a:r>
                <a:rPr lang="nl-BE" dirty="0"/>
                <a:t> </a:t>
              </a:r>
              <a:r>
                <a:rPr lang="nl-BE" dirty="0" err="1"/>
                <a:t>your</a:t>
              </a:r>
              <a:r>
                <a:rPr lang="nl-BE" dirty="0"/>
                <a:t> </a:t>
              </a:r>
              <a:r>
                <a:rPr lang="nl-BE" dirty="0" err="1"/>
                <a:t>own</a:t>
              </a:r>
              <a:r>
                <a:rPr lang="nl-BE" dirty="0"/>
                <a:t> packages in VSC_DATA</a:t>
              </a:r>
              <a:endParaRPr lang="en-US" dirty="0"/>
            </a:p>
          </p:txBody>
        </p:sp>
        <p:pic>
          <p:nvPicPr>
            <p:cNvPr id="14" name="Picture 13">
              <a:extLst>
                <a:ext uri="{FF2B5EF4-FFF2-40B4-BE49-F238E27FC236}">
                  <a16:creationId xmlns:a16="http://schemas.microsoft.com/office/drawing/2014/main" id="{6718339F-625D-0059-D483-FAB81C13ACF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86719" y="3341896"/>
              <a:ext cx="1249129" cy="1243399"/>
            </a:xfrm>
            <a:prstGeom prst="rect">
              <a:avLst/>
            </a:prstGeom>
          </p:spPr>
        </p:pic>
      </p:grpSp>
      <p:grpSp>
        <p:nvGrpSpPr>
          <p:cNvPr id="24" name="Group 23">
            <a:extLst>
              <a:ext uri="{FF2B5EF4-FFF2-40B4-BE49-F238E27FC236}">
                <a16:creationId xmlns:a16="http://schemas.microsoft.com/office/drawing/2014/main" id="{C09B9ECB-2319-58B0-FB77-F8003BBCC514}"/>
              </a:ext>
            </a:extLst>
          </p:cNvPr>
          <p:cNvGrpSpPr/>
          <p:nvPr/>
        </p:nvGrpSpPr>
        <p:grpSpPr>
          <a:xfrm>
            <a:off x="986719" y="4857867"/>
            <a:ext cx="10065859" cy="1249130"/>
            <a:chOff x="986719" y="4857867"/>
            <a:chExt cx="10065859" cy="1249130"/>
          </a:xfrm>
        </p:grpSpPr>
        <p:pic>
          <p:nvPicPr>
            <p:cNvPr id="16" name="Picture 15">
              <a:extLst>
                <a:ext uri="{FF2B5EF4-FFF2-40B4-BE49-F238E27FC236}">
                  <a16:creationId xmlns:a16="http://schemas.microsoft.com/office/drawing/2014/main" id="{ED840B4E-2245-3FEA-C5BC-F12169E44C3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86719" y="4857868"/>
              <a:ext cx="1249129" cy="1249129"/>
            </a:xfrm>
            <a:prstGeom prst="rect">
              <a:avLst/>
            </a:prstGeom>
          </p:spPr>
        </p:pic>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Track machine learning metrics and visualize data during the workflow</a:t>
              </a:r>
            </a:p>
            <a:p>
              <a:pPr marL="0" indent="0">
                <a:buNone/>
              </a:pPr>
              <a:r>
                <a:rPr lang="en-US" dirty="0"/>
                <a:t>You need to provide a log folder</a:t>
              </a:r>
            </a:p>
          </p:txBody>
        </p:sp>
      </p:grpSp>
    </p:spTree>
    <p:extLst>
      <p:ext uri="{BB962C8B-B14F-4D97-AF65-F5344CB8AC3E}">
        <p14:creationId xmlns:p14="http://schemas.microsoft.com/office/powerpoint/2010/main" val="2908394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08226" y="1337389"/>
            <a:ext cx="8544352" cy="1639553"/>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PyCharm IDE as a job</a:t>
            </a:r>
          </a:p>
          <a:p>
            <a:pPr marL="0" indent="0">
              <a:buNone/>
            </a:pPr>
            <a:r>
              <a:rPr lang="en-US" dirty="0"/>
              <a:t>Develop, deploy and debug your Python workflow directly on HPC</a:t>
            </a:r>
          </a:p>
          <a:p>
            <a:pPr marL="0" indent="0">
              <a:buNone/>
            </a:pPr>
            <a:r>
              <a:rPr lang="en-US" dirty="0"/>
              <a:t>Use Python environment based on Conda or virtual environments</a:t>
            </a:r>
          </a:p>
        </p:txBody>
      </p:sp>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08226" y="3222267"/>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Use Fluent for CFD simulations (single-node)</a:t>
            </a:r>
            <a:endParaRPr lang="nl-BE" dirty="0"/>
          </a:p>
          <a:p>
            <a:pPr marL="0" indent="0">
              <a:buNone/>
            </a:pPr>
            <a:r>
              <a:rPr lang="en-US" dirty="0"/>
              <a:t>You need to be in a license group before being able to see the app logo</a:t>
            </a:r>
          </a:p>
          <a:p>
            <a:pPr marL="0" indent="0">
              <a:buNone/>
            </a:pPr>
            <a:r>
              <a:rPr lang="en-US" dirty="0"/>
              <a:t>Contact your supervisor to help you joining an existing license group</a:t>
            </a:r>
          </a:p>
        </p:txBody>
      </p:sp>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Tunnel to the cluster from your local </a:t>
            </a:r>
            <a:r>
              <a:rPr lang="en-US" dirty="0" err="1"/>
              <a:t>VSCode</a:t>
            </a:r>
            <a:r>
              <a:rPr lang="en-US" dirty="0"/>
              <a:t>, so that you code locally, but run remotely! You can enable extensions such as Copilot and more.</a:t>
            </a:r>
          </a:p>
        </p:txBody>
      </p:sp>
      <p:pic>
        <p:nvPicPr>
          <p:cNvPr id="3" name="Picture 2">
            <a:extLst>
              <a:ext uri="{FF2B5EF4-FFF2-40B4-BE49-F238E27FC236}">
                <a16:creationId xmlns:a16="http://schemas.microsoft.com/office/drawing/2014/main" id="{42651972-03F2-36DE-8391-563105CD016F}"/>
              </a:ext>
            </a:extLst>
          </p:cNvPr>
          <p:cNvPicPr>
            <a:picLocks noChangeAspect="1"/>
          </p:cNvPicPr>
          <p:nvPr/>
        </p:nvPicPr>
        <p:blipFill>
          <a:blip r:embed="rId3"/>
          <a:stretch>
            <a:fillRect/>
          </a:stretch>
        </p:blipFill>
        <p:spPr>
          <a:xfrm>
            <a:off x="986719" y="1496731"/>
            <a:ext cx="1219263" cy="1320868"/>
          </a:xfrm>
          <a:prstGeom prst="rect">
            <a:avLst/>
          </a:prstGeom>
        </p:spPr>
      </p:pic>
      <p:pic>
        <p:nvPicPr>
          <p:cNvPr id="8" name="Picture 7">
            <a:extLst>
              <a:ext uri="{FF2B5EF4-FFF2-40B4-BE49-F238E27FC236}">
                <a16:creationId xmlns:a16="http://schemas.microsoft.com/office/drawing/2014/main" id="{52089419-98DD-86B7-BF6D-81835AB453F3}"/>
              </a:ext>
            </a:extLst>
          </p:cNvPr>
          <p:cNvPicPr>
            <a:picLocks noChangeAspect="1"/>
          </p:cNvPicPr>
          <p:nvPr/>
        </p:nvPicPr>
        <p:blipFill>
          <a:blip r:embed="rId4"/>
          <a:stretch>
            <a:fillRect/>
          </a:stretch>
        </p:blipFill>
        <p:spPr>
          <a:xfrm>
            <a:off x="1012013" y="3203153"/>
            <a:ext cx="1187511" cy="1301817"/>
          </a:xfrm>
          <a:prstGeom prst="rect">
            <a:avLst/>
          </a:prstGeom>
        </p:spPr>
      </p:pic>
      <p:pic>
        <p:nvPicPr>
          <p:cNvPr id="10" name="Picture 9">
            <a:extLst>
              <a:ext uri="{FF2B5EF4-FFF2-40B4-BE49-F238E27FC236}">
                <a16:creationId xmlns:a16="http://schemas.microsoft.com/office/drawing/2014/main" id="{ACC1B0CA-1353-B036-6CFC-2CE66E56CCB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45263" y="4831522"/>
            <a:ext cx="1154261" cy="1340432"/>
          </a:xfrm>
          <a:prstGeom prst="rect">
            <a:avLst/>
          </a:prstGeom>
        </p:spPr>
      </p:pic>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6" y="1298179"/>
            <a:ext cx="6336704" cy="2346845"/>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i="1" dirty="0"/>
              <a:t>E.g.</a:t>
            </a:r>
            <a:r>
              <a:rPr lang="en-US" dirty="0"/>
              <a:t> to start a </a:t>
            </a:r>
            <a:r>
              <a:rPr lang="en-US" dirty="0" err="1"/>
              <a:t>Jupyter</a:t>
            </a:r>
            <a:r>
              <a:rPr lang="en-US" dirty="0"/>
              <a:t> notebook</a:t>
            </a:r>
          </a:p>
          <a:p>
            <a:pPr marL="324000" indent="-324000">
              <a:buBlip>
                <a:blip r:embed="rId2"/>
              </a:buBlip>
            </a:pPr>
            <a:r>
              <a:rPr lang="en-US" dirty="0"/>
              <a:t> Pick a valid </a:t>
            </a:r>
            <a:r>
              <a:rPr lang="en-US" dirty="0" err="1"/>
              <a:t>Slurm</a:t>
            </a:r>
            <a:r>
              <a:rPr lang="en-US" dirty="0"/>
              <a:t> credit account</a:t>
            </a:r>
          </a:p>
          <a:p>
            <a:pPr marL="324000" indent="-324000">
              <a:buBlip>
                <a:blip r:embed="rId2"/>
              </a:buBlip>
            </a:pPr>
            <a:r>
              <a:rPr lang="en-US" dirty="0"/>
              <a:t> Default partition for most apps: </a:t>
            </a:r>
            <a:r>
              <a:rPr lang="en-US" i="1" dirty="0"/>
              <a:t>interactive</a:t>
            </a:r>
            <a:br>
              <a:rPr lang="en-US" dirty="0"/>
            </a:br>
            <a:r>
              <a:rPr lang="en-US" dirty="0"/>
              <a:t> (interactive: max 8 cores, 1 GPU instance, 16 </a:t>
            </a:r>
            <a:r>
              <a:rPr lang="en-US" dirty="0" err="1"/>
              <a:t>hr</a:t>
            </a:r>
            <a:r>
              <a:rPr lang="en-US" dirty="0"/>
              <a:t>)</a:t>
            </a:r>
          </a:p>
          <a:p>
            <a:pPr marL="324000" indent="-324000">
              <a:buBlip>
                <a:blip r:embed="rId2"/>
              </a:buBlip>
            </a:pPr>
            <a:r>
              <a:rPr lang="en-US" dirty="0"/>
              <a:t> Default resources:</a:t>
            </a:r>
            <a:br>
              <a:rPr lang="en-US" dirty="0"/>
            </a:br>
            <a:r>
              <a:rPr lang="en-US" dirty="0"/>
              <a:t> 1 core, 1 hour, 3400 MB RAM, no GPU</a:t>
            </a:r>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145018"/>
            <a:ext cx="10515600" cy="2644022"/>
          </a:xfrm>
        </p:spPr>
        <p:txBody>
          <a:bodyPr>
            <a:noAutofit/>
          </a:bodyPr>
          <a:lstStyle/>
          <a:p>
            <a:pPr marL="172800" indent="-324000">
              <a:buBlip>
                <a:blip r:embed="rId2"/>
              </a:buBlip>
            </a:pPr>
            <a:r>
              <a:rPr lang="en-US" sz="2000" dirty="0"/>
              <a:t>OS: </a:t>
            </a:r>
            <a:r>
              <a:rPr lang="en-US" sz="2000" dirty="0" err="1"/>
              <a:t>wICE</a:t>
            </a:r>
            <a:r>
              <a:rPr lang="en-US" sz="2000" dirty="0"/>
              <a:t> is running on Rocky Linux 9.6</a:t>
            </a:r>
          </a:p>
          <a:p>
            <a:pPr marL="172800" indent="-324000">
              <a:lnSpc>
                <a:spcPct val="120000"/>
              </a:lnSpc>
              <a:buBlip>
                <a:blip r:embed="rId2"/>
              </a:buBlip>
            </a:pPr>
            <a:r>
              <a:rPr lang="en-US" sz="2000" dirty="0"/>
              <a:t>Toolchains:</a:t>
            </a:r>
          </a:p>
          <a:p>
            <a:pPr marL="515700" lvl="1" indent="-324000">
              <a:lnSpc>
                <a:spcPct val="120000"/>
              </a:lnSpc>
              <a:buClr>
                <a:srgbClr val="DB6C30"/>
              </a:buClr>
            </a:pPr>
            <a:r>
              <a:rPr lang="en-US" sz="1600" i="1" dirty="0"/>
              <a:t>intel</a:t>
            </a:r>
            <a:r>
              <a:rPr lang="en-US" sz="1600" dirty="0"/>
              <a:t> (</a:t>
            </a:r>
            <a:r>
              <a:rPr lang="en-US" sz="1600" dirty="0" err="1"/>
              <a:t>icc</a:t>
            </a:r>
            <a:r>
              <a:rPr lang="en-US" sz="1600" dirty="0"/>
              <a:t>, </a:t>
            </a:r>
            <a:r>
              <a:rPr lang="en-US" sz="1600" dirty="0" err="1"/>
              <a:t>icpc</a:t>
            </a:r>
            <a:r>
              <a:rPr lang="en-US" sz="1600" dirty="0"/>
              <a:t>, </a:t>
            </a:r>
            <a:r>
              <a:rPr lang="en-US" sz="1600" dirty="0" err="1"/>
              <a:t>ifort</a:t>
            </a:r>
            <a:r>
              <a:rPr lang="en-US" sz="1600" dirty="0"/>
              <a:t>; Intel MPI; Intel MKL)</a:t>
            </a:r>
          </a:p>
          <a:p>
            <a:pPr marL="515700" lvl="1" indent="-324000">
              <a:lnSpc>
                <a:spcPct val="120000"/>
              </a:lnSpc>
              <a:buClr>
                <a:srgbClr val="DB6C30"/>
              </a:buClr>
            </a:pPr>
            <a:r>
              <a:rPr lang="en-US" sz="1600" i="1" dirty="0" err="1"/>
              <a:t>foss</a:t>
            </a:r>
            <a:r>
              <a:rPr lang="en-US" sz="1600" dirty="0"/>
              <a:t> (</a:t>
            </a:r>
            <a:r>
              <a:rPr lang="en-US" sz="1600" dirty="0" err="1"/>
              <a:t>gcc</a:t>
            </a:r>
            <a:r>
              <a:rPr lang="en-US" sz="1600" dirty="0"/>
              <a:t>, g++, </a:t>
            </a:r>
            <a:r>
              <a:rPr lang="en-US" sz="1600" dirty="0" err="1"/>
              <a:t>gfortran</a:t>
            </a:r>
            <a:r>
              <a:rPr lang="en-US" sz="1600" dirty="0"/>
              <a:t>; </a:t>
            </a:r>
            <a:r>
              <a:rPr lang="en-US" sz="1600" dirty="0" err="1"/>
              <a:t>OpenMPI</a:t>
            </a:r>
            <a:r>
              <a:rPr lang="en-US" sz="1600" dirty="0"/>
              <a:t>; </a:t>
            </a:r>
            <a:r>
              <a:rPr lang="en-US" sz="1600" dirty="0" err="1"/>
              <a:t>ScaLAPACK</a:t>
            </a:r>
            <a:r>
              <a:rPr lang="en-US" sz="1600" dirty="0"/>
              <a:t>, </a:t>
            </a:r>
            <a:r>
              <a:rPr lang="en-US" sz="1600" dirty="0" err="1"/>
              <a:t>OpenBLAS</a:t>
            </a:r>
            <a:r>
              <a:rPr lang="en-US" sz="1600" dirty="0"/>
              <a:t>, FFTW)</a:t>
            </a:r>
          </a:p>
          <a:p>
            <a:pPr marL="515700" lvl="1" indent="-324000">
              <a:lnSpc>
                <a:spcPct val="120000"/>
              </a:lnSpc>
              <a:buClr>
                <a:srgbClr val="DB6C30"/>
              </a:buClr>
            </a:pPr>
            <a:r>
              <a:rPr lang="en-US" sz="1600" dirty="0"/>
              <a:t>Toolchain year on </a:t>
            </a:r>
            <a:r>
              <a:rPr lang="en-US" sz="1600" dirty="0" err="1"/>
              <a:t>wICE</a:t>
            </a:r>
            <a:r>
              <a:rPr lang="en-US" sz="1600" dirty="0"/>
              <a:t> from 2021a onwards</a:t>
            </a:r>
          </a:p>
          <a:p>
            <a:pPr marL="172800" indent="-324000">
              <a:buBlip>
                <a:blip r:embed="rId2"/>
              </a:buBlip>
            </a:pPr>
            <a:r>
              <a:rPr lang="en-US" sz="2000" dirty="0"/>
              <a:t>Note: not all toolchains are compatible with each other (conflicting dependencies)</a:t>
            </a:r>
            <a:br>
              <a:rPr lang="en-US" sz="2000" dirty="0"/>
            </a:br>
            <a:r>
              <a:rPr lang="en-US" sz="2000" dirty="0"/>
              <a:t>   For example, </a:t>
            </a:r>
            <a:r>
              <a:rPr lang="en-US" sz="2000" b="1" dirty="0"/>
              <a:t>never mix …-</a:t>
            </a:r>
            <a:r>
              <a:rPr lang="en-US" sz="2000" b="1" i="1" dirty="0" err="1"/>
              <a:t>foss</a:t>
            </a:r>
            <a:r>
              <a:rPr lang="en-US" sz="2000" b="1" dirty="0"/>
              <a:t>-… and …-</a:t>
            </a:r>
            <a:r>
              <a:rPr lang="en-US" sz="2000" b="1" i="1" dirty="0"/>
              <a:t>intel</a:t>
            </a:r>
            <a:r>
              <a:rPr lang="en-US" sz="2000" b="1" dirty="0"/>
              <a:t>-… </a:t>
            </a:r>
            <a:r>
              <a:rPr lang="en-US" sz="2000" dirty="0"/>
              <a:t>modules</a:t>
            </a:r>
          </a:p>
          <a:p>
            <a:pPr marL="0" indent="0">
              <a:buNone/>
            </a:pPr>
            <a:endParaRPr lang="en-US" sz="1800" dirty="0"/>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88350082"/>
              </p:ext>
            </p:extLst>
          </p:nvPr>
        </p:nvGraphicFramePr>
        <p:xfrm>
          <a:off x="610662" y="3771096"/>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(but dependencies still stay)</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Centrally installed modules</a:t>
            </a:r>
            <a:endParaRPr lang="pl-PL" altLang="en-US" sz="3200" dirty="0"/>
          </a:p>
        </p:txBody>
      </p:sp>
    </p:spTree>
    <p:extLst>
      <p:ext uri="{BB962C8B-B14F-4D97-AF65-F5344CB8AC3E}">
        <p14:creationId xmlns:p14="http://schemas.microsoft.com/office/powerpoint/2010/main" val="2128373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330084"/>
            <a:ext cx="10515600" cy="3611084"/>
          </a:xfrm>
          <a:ln w="25400">
            <a:solidFill>
              <a:schemeClr val="accent5"/>
            </a:solidFill>
          </a:ln>
        </p:spPr>
        <p:txBody>
          <a:bodyPr anchor="ctr">
            <a:normAutofit/>
          </a:bodyPr>
          <a:lstStyle/>
          <a:p>
            <a:pPr marL="324000" indent="-324000">
              <a:buBlip>
                <a:blip r:embed="rId2"/>
              </a:buBlip>
            </a:pPr>
            <a:r>
              <a:rPr lang="en-US" sz="2000" dirty="0"/>
              <a:t>If you need a software package that is not yet available as a module,</a:t>
            </a:r>
            <a:br>
              <a:rPr lang="en-US" sz="2000" dirty="0"/>
            </a:br>
            <a:r>
              <a:rPr lang="en-US" sz="2000" dirty="0"/>
              <a:t>you can ask us to provide it</a:t>
            </a:r>
          </a:p>
          <a:p>
            <a:pPr marL="666900" lvl="1" indent="-324000">
              <a:buBlip>
                <a:blip r:embed="rId2"/>
              </a:buBlip>
            </a:pPr>
            <a:r>
              <a:rPr lang="en-US" dirty="0"/>
              <a:t>For Python and R packages, however, we prefer that you install it yourself</a:t>
            </a:r>
          </a:p>
          <a:p>
            <a:pPr marL="666900" lvl="1" indent="-324000">
              <a:buBlip>
                <a:blip r:embed="rId2"/>
              </a:buBlip>
            </a:pPr>
            <a:r>
              <a:rPr lang="en-US" sz="1700" dirty="0"/>
              <a:t>Read more about </a:t>
            </a:r>
            <a:r>
              <a:rPr lang="en-US" sz="1700" dirty="0">
                <a:hlinkClick r:id="rId3"/>
              </a:rPr>
              <a:t>Python Package Management</a:t>
            </a:r>
            <a:endParaRPr lang="en-US" sz="1700" dirty="0"/>
          </a:p>
          <a:p>
            <a:pPr marL="666900" lvl="1" indent="-324000">
              <a:buBlip>
                <a:blip r:embed="rId2"/>
              </a:buBlip>
            </a:pPr>
            <a:r>
              <a:rPr lang="en-US" sz="1700" dirty="0"/>
              <a:t>Read more about </a:t>
            </a:r>
            <a:r>
              <a:rPr lang="en-US" sz="1700" dirty="0">
                <a:hlinkClick r:id="rId4"/>
              </a:rPr>
              <a:t>R Package Management</a:t>
            </a:r>
            <a:endParaRPr lang="en-US" sz="1700" dirty="0"/>
          </a:p>
          <a:p>
            <a:pPr marL="666900" lvl="1" indent="-324000">
              <a:buBlip>
                <a:blip r:embed="rId2"/>
              </a:buBlip>
            </a:pPr>
            <a:endParaRPr lang="en-US" sz="1700" dirty="0"/>
          </a:p>
          <a:p>
            <a:pPr marL="324000" indent="-324000">
              <a:buBlip>
                <a:blip r:embed="rId2"/>
              </a:buBlip>
            </a:pPr>
            <a:r>
              <a:rPr lang="en-US" sz="2000" dirty="0"/>
              <a:t>If you want to compile software yourself:</a:t>
            </a:r>
          </a:p>
          <a:p>
            <a:pPr marL="666900" lvl="1" indent="-324000">
              <a:buBlip>
                <a:blip r:embed="rId2"/>
              </a:buBlip>
            </a:pPr>
            <a:r>
              <a:rPr lang="en-US" dirty="0"/>
              <a:t>Best install it in your VSC_DATA </a:t>
            </a:r>
          </a:p>
          <a:p>
            <a:pPr marL="666900" lvl="1" indent="-324000">
              <a:buBlip>
                <a:blip r:embed="rId2"/>
              </a:buBlip>
            </a:pPr>
            <a:r>
              <a:rPr lang="en-US" dirty="0"/>
              <a:t>Use </a:t>
            </a:r>
            <a:r>
              <a:rPr lang="en-US" i="1" dirty="0"/>
              <a:t>intel</a:t>
            </a:r>
            <a:r>
              <a:rPr lang="en-US" dirty="0"/>
              <a:t> or </a:t>
            </a:r>
            <a:r>
              <a:rPr lang="en-US" i="1" dirty="0" err="1"/>
              <a:t>foss</a:t>
            </a:r>
            <a:r>
              <a:rPr lang="en-US" dirty="0"/>
              <a:t> toolchains</a:t>
            </a:r>
          </a:p>
          <a:p>
            <a:pPr marL="666900" lvl="1" indent="-324000">
              <a:buBlip>
                <a:blip r:embed="rId2"/>
              </a:buBlip>
            </a:pPr>
            <a:r>
              <a:rPr lang="en-US" dirty="0"/>
              <a:t>Compile your code on a compute node (with interactive job)</a:t>
            </a:r>
          </a:p>
          <a:p>
            <a:pPr marL="666900" lvl="1" indent="-324000">
              <a:buBlip>
                <a:blip r:embed="rId2"/>
              </a:buBlip>
            </a:pPr>
            <a:r>
              <a:rPr lang="en-US" dirty="0"/>
              <a:t>If you run into problems, don’t hesitate to contact us</a:t>
            </a:r>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Your specific needs</a:t>
            </a:r>
            <a:endParaRPr lang="pl-PL" altLang="en-US" sz="3200" dirty="0"/>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sp>
        <p:nvSpPr>
          <p:cNvPr id="12291" name="Rectangle 3"/>
          <p:cNvSpPr>
            <a:spLocks noGrp="1" noChangeArrowheads="1"/>
          </p:cNvSpPr>
          <p:nvPr>
            <p:ph idx="1"/>
          </p:nvPr>
        </p:nvSpPr>
        <p:spPr>
          <a:xfrm>
            <a:off x="720000" y="1155724"/>
            <a:ext cx="8544352" cy="3281388"/>
          </a:xfrm>
          <a:ln w="25400">
            <a:solidFill>
              <a:schemeClr val="accent5"/>
            </a:solidFill>
          </a:ln>
        </p:spPr>
        <p:txBody>
          <a:bodyPr anchor="ctr"/>
          <a:lstStyle/>
          <a:p>
            <a:pPr marL="324000" indent="-324000">
              <a:buClr>
                <a:srgbClr val="DB6C30"/>
              </a:buClr>
              <a:buBlip>
                <a:blip r:embed="rId2"/>
              </a:buBlip>
            </a:pPr>
            <a:r>
              <a:rPr lang="en-US" b="1" dirty="0"/>
              <a:t>Cluster: </a:t>
            </a:r>
            <a:r>
              <a:rPr lang="en-US" dirty="0"/>
              <a:t>which machine to use? </a:t>
            </a:r>
            <a:r>
              <a:rPr lang="en-US" dirty="0" err="1"/>
              <a:t>wICE</a:t>
            </a:r>
            <a:r>
              <a:rPr lang="en-US" dirty="0"/>
              <a:t> or </a:t>
            </a:r>
            <a:r>
              <a:rPr lang="en-US" dirty="0" err="1"/>
              <a:t>Mindwell</a:t>
            </a:r>
            <a:r>
              <a:rPr lang="en-US" dirty="0"/>
              <a:t>?</a:t>
            </a:r>
            <a:r>
              <a:rPr lang="en-US" b="1" dirty="0"/>
              <a:t> </a:t>
            </a:r>
          </a:p>
          <a:p>
            <a:pPr marL="324000" indent="-324000">
              <a:buClr>
                <a:srgbClr val="DB6C30"/>
              </a:buClr>
              <a:buBlip>
                <a:blip r:embed="rId2"/>
              </a:buBlip>
            </a:pPr>
            <a:r>
              <a:rPr lang="en-US" b="1" dirty="0"/>
              <a:t>Nodes</a:t>
            </a:r>
            <a:r>
              <a:rPr lang="en-US" dirty="0"/>
              <a:t>: how many compute servers to allocate?</a:t>
            </a:r>
          </a:p>
          <a:p>
            <a:pPr marL="324000" indent="-324000">
              <a:buClr>
                <a:srgbClr val="DB6C30"/>
              </a:buClr>
              <a:buBlip>
                <a:blip r:embed="rId2"/>
              </a:buBlip>
            </a:pPr>
            <a:r>
              <a:rPr lang="en-US" b="1" dirty="0"/>
              <a:t>Cores</a:t>
            </a:r>
            <a:r>
              <a:rPr lang="en-US" dirty="0"/>
              <a:t>: how many cores per node to allocate?</a:t>
            </a:r>
          </a:p>
          <a:p>
            <a:pPr marL="324000" indent="-324000">
              <a:buClr>
                <a:srgbClr val="DB6C30"/>
              </a:buClr>
              <a:buBlip>
                <a:blip r:embed="rId2"/>
              </a:buBlip>
            </a:pPr>
            <a:r>
              <a:rPr lang="en-US" b="1" dirty="0"/>
              <a:t>Memory</a:t>
            </a:r>
            <a:r>
              <a:rPr lang="en-US" dirty="0"/>
              <a:t>: how much CPU memory to allocate?</a:t>
            </a:r>
          </a:p>
          <a:p>
            <a:pPr marL="324000" indent="-324000">
              <a:buClr>
                <a:srgbClr val="DB6C30"/>
              </a:buClr>
              <a:buBlip>
                <a:blip r:embed="rId2"/>
              </a:buBlip>
            </a:pPr>
            <a:r>
              <a:rPr lang="en-US" b="1" dirty="0"/>
              <a:t>Partition</a:t>
            </a:r>
            <a:r>
              <a:rPr lang="en-US" dirty="0"/>
              <a:t>: batch, </a:t>
            </a:r>
            <a:r>
              <a:rPr lang="en-US" dirty="0" err="1"/>
              <a:t>gpu</a:t>
            </a:r>
            <a:r>
              <a:rPr lang="en-US" dirty="0"/>
              <a:t>, </a:t>
            </a:r>
            <a:r>
              <a:rPr lang="en-US" dirty="0" err="1"/>
              <a:t>bigmem</a:t>
            </a:r>
            <a:r>
              <a:rPr lang="en-US" dirty="0"/>
              <a:t>, …?</a:t>
            </a:r>
            <a:endParaRPr lang="en-US" b="1" dirty="0"/>
          </a:p>
          <a:p>
            <a:pPr marL="324000" indent="-324000">
              <a:buClr>
                <a:srgbClr val="DB6C30"/>
              </a:buClr>
              <a:buBlip>
                <a:blip r:embed="rId2"/>
              </a:buBlip>
            </a:pPr>
            <a:r>
              <a:rPr lang="en-US" b="1" dirty="0" err="1"/>
              <a:t>Walltime</a:t>
            </a:r>
            <a:r>
              <a:rPr lang="en-US" dirty="0"/>
              <a:t>: how long to allocate the resources?</a:t>
            </a:r>
          </a:p>
          <a:p>
            <a:pPr marL="324000" indent="-324000">
              <a:buClr>
                <a:srgbClr val="DB6C30"/>
              </a:buClr>
              <a:buBlip>
                <a:blip r:embed="rId2"/>
              </a:buBlip>
            </a:pPr>
            <a:r>
              <a:rPr lang="en-US" b="1" dirty="0"/>
              <a:t>Storage</a:t>
            </a:r>
            <a:r>
              <a:rPr lang="en-US" dirty="0"/>
              <a:t>: how much storage (data, scratch, </a:t>
            </a:r>
            <a:r>
              <a:rPr lang="en-US" dirty="0" err="1"/>
              <a:t>etc</a:t>
            </a:r>
            <a:r>
              <a:rPr lang="en-US" dirty="0"/>
              <a:t>) will the job require?</a:t>
            </a:r>
          </a:p>
          <a:p>
            <a:pPr marL="324000" indent="-324000">
              <a:buClr>
                <a:srgbClr val="DB6C30"/>
              </a:buClr>
              <a:buBlip>
                <a:blip r:embed="rId2"/>
              </a:buBlip>
            </a:pPr>
            <a:r>
              <a:rPr lang="en-US" b="1" dirty="0"/>
              <a:t>Credits</a:t>
            </a:r>
            <a:r>
              <a:rPr lang="en-US" dirty="0"/>
              <a:t>: how many compute credits will the job consume?</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291">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2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291">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291">
                                            <p:txEl>
                                              <p:pRg st="6" end="6"/>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291">
                                            <p:txEl>
                                              <p:pRg st="7" end="7"/>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12291" name="Rectangle 3"/>
          <p:cNvSpPr>
            <a:spLocks noGrp="1" noChangeArrowheads="1"/>
          </p:cNvSpPr>
          <p:nvPr>
            <p:ph idx="1"/>
          </p:nvPr>
        </p:nvSpPr>
        <p:spPr>
          <a:xfrm>
            <a:off x="720000" y="1144622"/>
            <a:ext cx="8544352" cy="3281388"/>
          </a:xfrm>
          <a:ln w="25400">
            <a:solidFill>
              <a:schemeClr val="accent5"/>
            </a:solidFill>
          </a:ln>
        </p:spPr>
        <p:txBody>
          <a:bodyPr anchor="ctr"/>
          <a:lstStyle/>
          <a:p>
            <a:pPr marL="324000" indent="-324000">
              <a:buClr>
                <a:srgbClr val="DB6C30"/>
              </a:buClr>
              <a:buBlip>
                <a:blip r:embed="rId2"/>
              </a:buBlip>
            </a:pPr>
            <a:r>
              <a:rPr lang="en-US" b="1" dirty="0"/>
              <a:t>Cluster:</a:t>
            </a:r>
            <a:r>
              <a:rPr lang="en-US" dirty="0"/>
              <a:t> the cluster associated with the node you’re on (</a:t>
            </a:r>
            <a:r>
              <a:rPr lang="en-US" dirty="0" err="1"/>
              <a:t>wICE</a:t>
            </a:r>
            <a:r>
              <a:rPr lang="en-US" dirty="0"/>
              <a:t> or </a:t>
            </a:r>
            <a:r>
              <a:rPr lang="en-US" dirty="0" err="1"/>
              <a:t>Mindwell</a:t>
            </a:r>
            <a:r>
              <a:rPr lang="en-US" dirty="0"/>
              <a:t>)</a:t>
            </a:r>
          </a:p>
          <a:p>
            <a:pPr marL="324000" indent="-324000">
              <a:buClr>
                <a:srgbClr val="DB6C30"/>
              </a:buClr>
              <a:buBlip>
                <a:blip r:embed="rId2"/>
              </a:buBlip>
            </a:pPr>
            <a:r>
              <a:rPr lang="en-US" b="1" dirty="0"/>
              <a:t>Nodes:</a:t>
            </a:r>
            <a:r>
              <a:rPr lang="en-US" dirty="0"/>
              <a:t> 1</a:t>
            </a:r>
          </a:p>
          <a:p>
            <a:pPr marL="324000" indent="-324000">
              <a:buClr>
                <a:srgbClr val="DB6C30"/>
              </a:buClr>
              <a:buBlip>
                <a:blip r:embed="rId2"/>
              </a:buBlip>
            </a:pPr>
            <a:r>
              <a:rPr lang="en-US" b="1" dirty="0"/>
              <a:t>Cores: </a:t>
            </a:r>
            <a:r>
              <a:rPr lang="en-US" dirty="0"/>
              <a:t>1</a:t>
            </a:r>
          </a:p>
          <a:p>
            <a:pPr marL="324000" indent="-324000">
              <a:buClr>
                <a:srgbClr val="DB6C30"/>
              </a:buClr>
              <a:buBlip>
                <a:blip r:embed="rId2"/>
              </a:buBlip>
            </a:pPr>
            <a:r>
              <a:rPr lang="en-US" b="1" dirty="0"/>
              <a:t>Memory: </a:t>
            </a:r>
            <a:r>
              <a:rPr lang="en-US" dirty="0"/>
              <a:t>depends on which node(s) you use</a:t>
            </a:r>
          </a:p>
          <a:p>
            <a:pPr marL="324000" indent="-324000">
              <a:buClr>
                <a:srgbClr val="DB6C30"/>
              </a:buClr>
              <a:buBlip>
                <a:blip r:embed="rId2"/>
              </a:buBlip>
            </a:pPr>
            <a:r>
              <a:rPr lang="en-US" b="1" dirty="0"/>
              <a:t>Partition:</a:t>
            </a:r>
            <a:r>
              <a:rPr lang="en-US" dirty="0"/>
              <a:t> batch</a:t>
            </a:r>
          </a:p>
          <a:p>
            <a:pPr marL="324000" indent="-324000">
              <a:buClr>
                <a:srgbClr val="DB6C30"/>
              </a:buClr>
              <a:buBlip>
                <a:blip r:embed="rId2"/>
              </a:buBlip>
            </a:pPr>
            <a:r>
              <a:rPr lang="en-US" b="1" dirty="0" err="1"/>
              <a:t>Walltime</a:t>
            </a:r>
            <a:r>
              <a:rPr lang="en-US" b="1" dirty="0"/>
              <a:t>:</a:t>
            </a:r>
            <a:r>
              <a:rPr lang="en-US" dirty="0"/>
              <a:t> typically 1 hour</a:t>
            </a:r>
          </a:p>
          <a:p>
            <a:pPr marL="324000" indent="-324000">
              <a:buClr>
                <a:srgbClr val="DB6C30"/>
              </a:buClr>
              <a:buBlip>
                <a:blip r:embed="rId2"/>
              </a:buBlip>
            </a:pPr>
            <a:r>
              <a:rPr lang="en-US" b="1" dirty="0"/>
              <a:t>Storage:</a:t>
            </a:r>
            <a:r>
              <a:rPr lang="en-US" dirty="0"/>
              <a:t> no default</a:t>
            </a:r>
          </a:p>
          <a:p>
            <a:pPr marL="324000" indent="-324000">
              <a:buClr>
                <a:srgbClr val="DB6C30"/>
              </a:buClr>
              <a:buBlip>
                <a:blip r:embed="rId2"/>
              </a:buBlip>
            </a:pPr>
            <a:r>
              <a:rPr lang="en-US" b="1" dirty="0"/>
              <a:t>Credits:</a:t>
            </a:r>
            <a:r>
              <a:rPr lang="en-US" dirty="0"/>
              <a:t> no default</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277650" y="401856"/>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277650" y="3760767"/>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725144"/>
            <a:ext cx="10875189" cy="1211362"/>
            <a:chOff x="621409" y="3704029"/>
            <a:chExt cx="10875189" cy="1211362"/>
          </a:xfrm>
        </p:grpSpPr>
        <p:sp>
          <p:nvSpPr>
            <p:cNvPr id="15" name="TextBox 14"/>
            <p:cNvSpPr txBox="1"/>
            <p:nvPr/>
          </p:nvSpPr>
          <p:spPr>
            <a:xfrm>
              <a:off x="621409" y="3992061"/>
              <a:ext cx="10875189" cy="923330"/>
            </a:xfrm>
            <a:prstGeom prst="rect">
              <a:avLst/>
            </a:prstGeom>
            <a:noFill/>
            <a:ln>
              <a:solidFill>
                <a:schemeClr val="accent1"/>
              </a:solidFill>
            </a:ln>
          </p:spPr>
          <p:txBody>
            <a:bodyPr wrap="square" rtlCol="0">
              <a:spAutoFit/>
            </a:bodyPr>
            <a:lstStyle/>
            <a:p>
              <a:pPr marL="172800" indent="-324000">
                <a:buClr>
                  <a:srgbClr val="DB6C30"/>
                </a:buClr>
                <a:buFont typeface="Wingdings" panose="05000000000000000000" pitchFamily="2" charset="2"/>
                <a:buChar char="q"/>
              </a:pPr>
              <a:r>
                <a:rPr lang="en-US" dirty="0"/>
                <a:t>Specifying &lt;project name&gt; for credits is mandatory, </a:t>
              </a:r>
              <a:r>
                <a:rPr lang="en-US" i="1" dirty="0"/>
                <a:t>e.g.</a:t>
              </a:r>
              <a:r>
                <a:rPr lang="en-US" dirty="0"/>
                <a:t> </a:t>
              </a:r>
              <a:r>
                <a:rPr lang="en-US" b="1" dirty="0">
                  <a:latin typeface="Courier New" panose="02070309020205020404" pitchFamily="49" charset="0"/>
                  <a:cs typeface="Courier New" panose="02070309020205020404" pitchFamily="49" charset="0"/>
                </a:rPr>
                <a:t>–A </a:t>
              </a:r>
              <a:r>
                <a:rPr lang="en-US" b="1" dirty="0" err="1">
                  <a:latin typeface="Courier New" panose="02070309020205020404" pitchFamily="49" charset="0"/>
                  <a:cs typeface="Courier New" panose="02070309020205020404" pitchFamily="49" charset="0"/>
                </a:rPr>
                <a:t>lp_hpcinfo</a:t>
              </a:r>
              <a:endParaRPr lang="en-US" b="1" dirty="0">
                <a:latin typeface="Courier New" panose="02070309020205020404" pitchFamily="49" charset="0"/>
                <a:cs typeface="Courier New" panose="02070309020205020404" pitchFamily="49" charset="0"/>
              </a:endParaRPr>
            </a:p>
            <a:p>
              <a:pPr marL="172800" indent="-324000">
                <a:buClr>
                  <a:srgbClr val="DB6C30"/>
                </a:buClr>
                <a:buFont typeface="Wingdings" panose="05000000000000000000" pitchFamily="2" charset="2"/>
                <a:buChar char="q"/>
              </a:pPr>
              <a:r>
                <a:rPr lang="en-US" dirty="0"/>
                <a:t>Implicit defaults for an interactive job on </a:t>
              </a:r>
              <a:r>
                <a:rPr lang="en-US" dirty="0" err="1"/>
                <a:t>wICE</a:t>
              </a:r>
              <a:r>
                <a:rPr lang="en-US" dirty="0"/>
                <a:t> are</a:t>
              </a:r>
              <a:br>
                <a:rPr lang="en-US" dirty="0"/>
              </a:br>
              <a:r>
                <a:rPr lang="en-US" dirty="0"/>
                <a:t>   </a:t>
              </a:r>
              <a:r>
                <a:rPr lang="en-US" dirty="0">
                  <a:latin typeface="Courier New" panose="02070309020205020404" pitchFamily="49" charset="0"/>
                  <a:cs typeface="Courier New" panose="02070309020205020404" pitchFamily="49" charset="0"/>
                </a:rPr>
                <a:t>-n 1 -t 01:00:00 –p batch --mem-per-</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077118"/>
            <a:ext cx="11112000" cy="5201424"/>
          </a:xfrm>
          <a:prstGeom prst="rect">
            <a:avLst/>
          </a:prstGeom>
          <a:noFill/>
          <a:ln>
            <a:noFill/>
          </a:ln>
        </p:spPr>
        <p:txBody>
          <a:bodyPr wrap="square" rtlCol="0">
            <a:spAutoFit/>
          </a:bodyPr>
          <a:lstStyle/>
          <a:p>
            <a:pPr marL="342900" indent="-342900">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solidFill>
                  <a:srgbClr val="FF0000"/>
                </a:solidFill>
                <a:latin typeface="Courier New" panose="02070309020205020404" pitchFamily="49" charset="0"/>
                <a:cs typeface="Courier New" panose="02070309020205020404" pitchFamily="49" charset="0"/>
              </a:rPr>
            </a:br>
            <a:endParaRPr lang="en-US" sz="2200" dirty="0">
              <a:solidFill>
                <a:srgbClr val="FF0000"/>
              </a:solidFill>
            </a:endParaRPr>
          </a:p>
          <a:p>
            <a:pPr marL="342900" indent="-342900">
              <a:buBlip>
                <a:blip r:embed="rId2"/>
              </a:buBlip>
            </a:pPr>
            <a:r>
              <a:rPr lang="en-US" sz="2200" dirty="0"/>
              <a:t>Interactive job with X-forwarding</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b="1" dirty="0">
                <a:solidFill>
                  <a:srgbClr val="FF0000"/>
                </a:solidFill>
                <a:latin typeface="Courier New" panose="02070309020205020404" pitchFamily="49" charset="0"/>
                <a:cs typeface="Courier New" panose="02070309020205020404" pitchFamily="49" charset="0"/>
              </a:rPr>
              <a:t>--x11 </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p>
          <a:p>
            <a:pPr marL="342900" indent="-342900">
              <a:buBlip>
                <a:blip r:embed="rId2"/>
              </a:buBlip>
            </a:pPr>
            <a:endParaRPr lang="en-US" sz="2000" dirty="0"/>
          </a:p>
          <a:p>
            <a:pPr marL="342900" indent="-342900">
              <a:buBlip>
                <a:blip r:embed="rId2"/>
              </a:buBlip>
            </a:pPr>
            <a:r>
              <a:rPr lang="en-US" sz="2200" dirty="0"/>
              <a:t>Interactive job with multiple cores, on the </a:t>
            </a:r>
            <a:r>
              <a:rPr lang="en-US" sz="2200" i="1" dirty="0"/>
              <a:t>interactive</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=4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--partition=interactive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p>
          <a:p>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=18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a:t>
            </a:r>
            <a:r>
              <a:rPr lang="en-US" sz="2000" dirty="0" err="1">
                <a:latin typeface="Courier New" panose="02070309020205020404" pitchFamily="49" charset="0"/>
                <a:cs typeface="Courier New" panose="02070309020205020404" pitchFamily="49" charset="0"/>
              </a:rPr>
              <a:t>gpu</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gpus</a:t>
            </a:r>
            <a:r>
              <a:rPr lang="en-US" sz="2000" dirty="0">
                <a:latin typeface="Courier New" panose="02070309020205020404" pitchFamily="49" charset="0"/>
                <a:cs typeface="Courier New" panose="02070309020205020404" pitchFamily="49" charset="0"/>
              </a:rPr>
              <a:t>-per-node=1 --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latin typeface="Courier New" panose="02070309020205020404" pitchFamily="49" charset="0"/>
                <a:cs typeface="Courier New" panose="02070309020205020404" pitchFamily="49" charset="0"/>
              </a:rPr>
            </a:br>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–M </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=&lt;</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&gt; --overlap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sp>
        <p:nvSpPr>
          <p:cNvPr id="36867" name="Rectangle 3"/>
          <p:cNvSpPr>
            <a:spLocks noGrp="1" noChangeArrowheads="1"/>
          </p:cNvSpPr>
          <p:nvPr>
            <p:ph idx="1"/>
          </p:nvPr>
        </p:nvSpPr>
        <p:spPr>
          <a:xfrm>
            <a:off x="551384" y="1844824"/>
            <a:ext cx="4727928" cy="1448512"/>
          </a:xfrm>
          <a:ln w="19050">
            <a:noFill/>
          </a:ln>
        </p:spPr>
        <p:txBody>
          <a:bodyPr/>
          <a:lstStyle/>
          <a:p>
            <a:pPr marL="324000" indent="-324000" eaLnBrk="1" hangingPunct="1">
              <a:lnSpc>
                <a:spcPct val="150000"/>
              </a:lnSpc>
              <a:buClr>
                <a:srgbClr val="DB6C30"/>
              </a:buClr>
              <a:buBlip>
                <a:blip r:embed="rId2"/>
              </a:buBlip>
            </a:pPr>
            <a:r>
              <a:rPr lang="en-US" altLang="en-US" sz="2200" dirty="0"/>
              <a:t>Submit the job to the scheduler</a:t>
            </a:r>
          </a:p>
          <a:p>
            <a:pPr marL="324000" indent="-324000" eaLnBrk="1" hangingPunct="1">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eaLnBrk="1" hangingPunct="1">
              <a:buClr>
                <a:srgbClr val="DB6C30"/>
              </a:buClr>
              <a:buBlip>
                <a:blip r:embed="rId2"/>
              </a:buBlip>
            </a:pPr>
            <a:r>
              <a:rPr lang="en-US" altLang="en-US" sz="2200" dirty="0"/>
              <a:t>Error and output files</a:t>
            </a:r>
            <a:br>
              <a:rPr lang="en-US" altLang="en-US" sz="2200" dirty="0"/>
            </a:br>
            <a:endParaRPr lang="en-US" altLang="en-US" sz="2200" dirty="0"/>
          </a:p>
        </p:txBody>
      </p:sp>
      <p:grpSp>
        <p:nvGrpSpPr>
          <p:cNvPr id="6" name="Group 5"/>
          <p:cNvGrpSpPr/>
          <p:nvPr/>
        </p:nvGrpSpPr>
        <p:grpSpPr>
          <a:xfrm>
            <a:off x="5519937" y="332656"/>
            <a:ext cx="6336703" cy="1082859"/>
            <a:chOff x="5844851" y="836712"/>
            <a:chExt cx="6011789" cy="1082859"/>
          </a:xfrm>
        </p:grpSpPr>
        <p:sp>
          <p:nvSpPr>
            <p:cNvPr id="4" name="TextBox 3"/>
            <p:cNvSpPr txBox="1"/>
            <p:nvPr/>
          </p:nvSpPr>
          <p:spPr>
            <a:xfrm>
              <a:off x="5844851" y="1211685"/>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5519937" y="1779397"/>
            <a:ext cx="6336704" cy="775083"/>
            <a:chOff x="5519937" y="2261939"/>
            <a:chExt cx="6336704" cy="775083"/>
          </a:xfrm>
        </p:grpSpPr>
        <p:sp>
          <p:nvSpPr>
            <p:cNvPr id="7" name="TextBox 6"/>
            <p:cNvSpPr txBox="1"/>
            <p:nvPr/>
          </p:nvSpPr>
          <p:spPr>
            <a:xfrm>
              <a:off x="5519937" y="2636912"/>
              <a:ext cx="6336704"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5519938" y="2918362"/>
            <a:ext cx="6336702" cy="1082859"/>
            <a:chOff x="5844851" y="2261939"/>
            <a:chExt cx="6011789" cy="1082859"/>
          </a:xfrm>
        </p:grpSpPr>
        <p:sp>
          <p:nvSpPr>
            <p:cNvPr id="13" name="TextBox 12"/>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JobID</a:t>
              </a:r>
              <a:endParaRPr lang="nl-BE"/>
            </a:p>
          </p:txBody>
        </p:sp>
      </p:grpSp>
      <p:grpSp>
        <p:nvGrpSpPr>
          <p:cNvPr id="15" name="Group 14"/>
          <p:cNvGrpSpPr/>
          <p:nvPr/>
        </p:nvGrpSpPr>
        <p:grpSpPr>
          <a:xfrm>
            <a:off x="5519939" y="4365104"/>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86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sp>
        <p:nvSpPr>
          <p:cNvPr id="36867" name="Rectangle 3"/>
          <p:cNvSpPr>
            <a:spLocks noGrp="1" noChangeArrowheads="1"/>
          </p:cNvSpPr>
          <p:nvPr>
            <p:ph idx="1"/>
          </p:nvPr>
        </p:nvSpPr>
        <p:spPr>
          <a:xfrm>
            <a:off x="551384" y="1211685"/>
            <a:ext cx="4727928" cy="4521571"/>
          </a:xfrm>
          <a:ln w="19050">
            <a:noFill/>
          </a:ln>
        </p:spPr>
        <p:txBody>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2200" dirty="0" err="1">
                <a:latin typeface="Courier New" panose="02070309020205020404" pitchFamily="49" charset="0"/>
                <a:cs typeface="Courier New" panose="02070309020205020404" pitchFamily="49" charset="0"/>
              </a:rPr>
              <a:t>slurm</a:t>
            </a:r>
            <a:r>
              <a:rPr lang="en-US" altLang="en-US" sz="2200" dirty="0">
                <a:latin typeface="Courier New" panose="02070309020205020404" pitchFamily="49" charset="0"/>
                <a:cs typeface="Courier New" panose="02070309020205020404" pitchFamily="49" charset="0"/>
              </a:rPr>
              <a:t>-&lt;</a:t>
            </a:r>
            <a:r>
              <a:rPr lang="en-US" altLang="en-US" sz="2200" dirty="0" err="1">
                <a:latin typeface="Courier New" panose="02070309020205020404" pitchFamily="49" charset="0"/>
                <a:cs typeface="Courier New" panose="02070309020205020404" pitchFamily="49" charset="0"/>
              </a:rPr>
              <a:t>JobID</a:t>
            </a:r>
            <a:r>
              <a:rPr lang="en-US" altLang="en-US" sz="2200" dirty="0">
                <a:latin typeface="Courier New" panose="02070309020205020404" pitchFamily="49" charset="0"/>
                <a:cs typeface="Courier New" panose="02070309020205020404" pitchFamily="49" charset="0"/>
              </a:rPr>
              <a:t>&gt;.out</a:t>
            </a:r>
          </a:p>
          <a:p>
            <a:pPr marL="324000" indent="-324000" eaLnBrk="1" hangingPunct="1">
              <a:buClr>
                <a:srgbClr val="DB6C30"/>
              </a:buClr>
              <a:buBlip>
                <a:blip r:embed="rId2"/>
              </a:buBlip>
            </a:pPr>
            <a:r>
              <a:rPr lang="en-US" altLang="en-US" sz="2200" dirty="0"/>
              <a:t>Contains job info, all errors and warnings, and printouts</a:t>
            </a:r>
          </a:p>
          <a:p>
            <a:pPr marL="324000" indent="-324000" eaLnBrk="1" hangingPunct="1">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eaLnBrk="1" hangingPunct="1">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eaLnBrk="1" hangingPunct="1">
              <a:buClr>
                <a:srgbClr val="DB6C30"/>
              </a:buClr>
              <a:buBlip>
                <a:blip r:embed="rId2"/>
              </a:buBlip>
            </a:pPr>
            <a:r>
              <a:rPr lang="en-US" altLang="en-US" sz="2200" dirty="0"/>
              <a:t>Typical error examples on the right</a:t>
            </a:r>
          </a:p>
        </p:txBody>
      </p:sp>
      <p:grpSp>
        <p:nvGrpSpPr>
          <p:cNvPr id="15" name="Group 14"/>
          <p:cNvGrpSpPr/>
          <p:nvPr/>
        </p:nvGrpSpPr>
        <p:grpSpPr>
          <a:xfrm>
            <a:off x="5519939" y="836712"/>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420567"/>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684537"/>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86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867">
                                            <p:txEl>
                                              <p:pRg st="4" end="4"/>
                                            </p:txEl>
                                          </p:spTgt>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51384" y="1348051"/>
            <a:ext cx="4727928" cy="3665125"/>
          </a:xfrm>
          <a:ln w="19050">
            <a:noFill/>
          </a:ln>
        </p:spPr>
        <p:txBody>
          <a:bodyPr/>
          <a:lstStyle/>
          <a:p>
            <a:pPr marL="324000" indent="-324000" eaLnBrk="1" hangingPunct="1">
              <a:buClr>
                <a:srgbClr val="DB6C30"/>
              </a:buClr>
              <a:buBlip>
                <a:blip r:embed="rId2"/>
              </a:buBlip>
            </a:pPr>
            <a:r>
              <a:rPr lang="en-US" altLang="en-US" sz="2200" dirty="0"/>
              <a:t>Standard output and error channels can be redirected to other files:</a:t>
            </a:r>
            <a:br>
              <a:rPr lang="en-US" altLang="en-US" sz="2200" dirty="0"/>
            </a:br>
            <a:r>
              <a:rPr lang="en-US" altLang="en-US" sz="2000" dirty="0">
                <a:latin typeface="Courier New" panose="02070309020205020404" pitchFamily="49" charset="0"/>
                <a:cs typeface="Courier New" panose="02070309020205020404" pitchFamily="49" charset="0"/>
              </a:rPr>
              <a:t>#SBATCH --output … </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--error …</a:t>
            </a:r>
          </a:p>
        </p:txBody>
      </p:sp>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212318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620704" y="4734517"/>
            <a:ext cx="10693036" cy="1224136"/>
          </a:xfrm>
          <a:ln w="25400">
            <a:solidFill>
              <a:schemeClr val="accent5"/>
            </a:solid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620704" y="1196752"/>
            <a:ext cx="10659872" cy="2800767"/>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To quickly compile, test, debug your (parallel) application</a:t>
            </a:r>
          </a:p>
          <a:p>
            <a:pPr marL="342900" indent="-342900">
              <a:buClr>
                <a:srgbClr val="DB6C30"/>
              </a:buClr>
              <a:buBlip>
                <a:blip r:embed="rId2"/>
              </a:buBlip>
            </a:pPr>
            <a:r>
              <a:rPr lang="en-US" sz="2200" dirty="0">
                <a:cs typeface="Courier New" panose="02070309020205020404" pitchFamily="49" charset="0"/>
              </a:rPr>
              <a:t>To pre- or postprocess your data (incl. visualizations)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4 nodes on </a:t>
            </a:r>
            <a:r>
              <a:rPr lang="en-US" sz="2200" dirty="0" err="1">
                <a:cs typeface="Courier New" panose="02070309020205020404" pitchFamily="49" charset="0"/>
              </a:rPr>
              <a:t>wICE</a:t>
            </a:r>
            <a:r>
              <a:rPr lang="en-US" sz="2200" dirty="0">
                <a:cs typeface="Courier New" panose="02070309020205020404" pitchFamily="49" charset="0"/>
              </a:rPr>
              <a:t>: 64 cores/node, 512 GiB mem, 1 physical GPU (split in 7 instances)</a:t>
            </a:r>
          </a:p>
          <a:p>
            <a:pPr marL="342900" indent="-342900">
              <a:buClr>
                <a:srgbClr val="DB6C30"/>
              </a:buClr>
              <a:buBlip>
                <a:blip r:embed="rId2"/>
              </a:buBlip>
            </a:pPr>
            <a:r>
              <a:rPr lang="en-US" sz="2200" dirty="0">
                <a:cs typeface="Courier New" panose="02070309020205020404" pitchFamily="49" charset="0"/>
              </a:rPr>
              <a:t>2 nodes on </a:t>
            </a:r>
            <a:r>
              <a:rPr lang="en-US" sz="2200" dirty="0" err="1">
                <a:cs typeface="Courier New" panose="02070309020205020404" pitchFamily="49" charset="0"/>
              </a:rPr>
              <a:t>Mindwell</a:t>
            </a:r>
            <a:r>
              <a:rPr lang="en-US" sz="2200" dirty="0">
                <a:cs typeface="Courier New" panose="02070309020205020404" pitchFamily="49" charset="0"/>
              </a:rPr>
              <a:t>: 192 cores/node, 768 GiB mem, 2 Physical GPUs</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p:txBody>
      </p:sp>
      <p:sp>
        <p:nvSpPr>
          <p:cNvPr id="13" name="Rounded Rectangle 12"/>
          <p:cNvSpPr/>
          <p:nvPr/>
        </p:nvSpPr>
        <p:spPr>
          <a:xfrm>
            <a:off x="8990556" y="4365104"/>
            <a:ext cx="2323184" cy="369413"/>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Interactive job</a:t>
            </a:r>
            <a:endParaRPr lang="nl-BE" sz="1600"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5" name="TextBox 4"/>
          <p:cNvSpPr txBox="1"/>
          <p:nvPr/>
        </p:nvSpPr>
        <p:spPr>
          <a:xfrm>
            <a:off x="620704" y="1196752"/>
            <a:ext cx="10659872" cy="1446550"/>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Debugging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3630239231"/>
              </p:ext>
            </p:extLst>
          </p:nvPr>
        </p:nvGraphicFramePr>
        <p:xfrm>
          <a:off x="620704" y="2996952"/>
          <a:ext cx="10731880" cy="158496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2">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156676"/>
            <a:ext cx="5736041" cy="3416320"/>
          </a:xfrm>
          <a:prstGeom prst="rect">
            <a:avLst/>
          </a:prstGeom>
          <a:noFill/>
          <a:ln w="19050">
            <a:noFill/>
          </a:ln>
        </p:spPr>
        <p:txBody>
          <a:bodyPr wrap="square" rtlCol="0">
            <a:spAutoFit/>
          </a:bodyPr>
          <a:lstStyle/>
          <a:p>
            <a:pPr marL="285750" indent="-324000">
              <a:buClr>
                <a:srgbClr val="DB6C30"/>
              </a:buClr>
              <a:buBlip>
                <a:blip r:embed="rId2"/>
              </a:buBlip>
            </a:pPr>
            <a:r>
              <a:rPr lang="en-US" dirty="0"/>
              <a:t>What? </a:t>
            </a:r>
          </a:p>
          <a:p>
            <a:pPr marL="742950" lvl="1" indent="-324000">
              <a:buClr>
                <a:srgbClr val="DB6C30"/>
              </a:buClr>
              <a:buFont typeface="Arial" panose="020B0604020202020204" pitchFamily="34" charset="0"/>
              <a:buChar char="•"/>
            </a:pPr>
            <a:r>
              <a:rPr lang="en-US" dirty="0"/>
              <a:t>Self-contained OS image</a:t>
            </a:r>
            <a:br>
              <a:rPr lang="en-US" dirty="0"/>
            </a:br>
            <a:r>
              <a:rPr lang="en-US" dirty="0"/>
              <a:t>in which you can install software and include data</a:t>
            </a:r>
          </a:p>
          <a:p>
            <a:pPr marL="285750" indent="-324000">
              <a:buClr>
                <a:srgbClr val="DB6C30"/>
              </a:buClr>
              <a:buBlip>
                <a:blip r:embed="rId2"/>
              </a:buBlip>
            </a:pPr>
            <a:r>
              <a:rPr lang="en-US" dirty="0"/>
              <a:t>Why? </a:t>
            </a:r>
          </a:p>
          <a:p>
            <a:pPr marL="742950" lvl="1" indent="-324000">
              <a:buClr>
                <a:srgbClr val="DB6C30"/>
              </a:buClr>
              <a:buFont typeface="Arial" panose="020B0604020202020204" pitchFamily="34" charset="0"/>
              <a:buChar char="•"/>
            </a:pPr>
            <a:r>
              <a:rPr lang="en-US" dirty="0"/>
              <a:t>Package managers like </a:t>
            </a:r>
            <a:r>
              <a:rPr lang="en-US" sz="1400" dirty="0">
                <a:latin typeface="72 Monospace" panose="020B0509030603020204" pitchFamily="49" charset="0"/>
                <a:cs typeface="72 Monospace" panose="020B0509030603020204" pitchFamily="49" charset="0"/>
              </a:rPr>
              <a:t>apt</a:t>
            </a:r>
            <a:r>
              <a:rPr lang="en-US" dirty="0"/>
              <a:t> can be convenient</a:t>
            </a:r>
          </a:p>
          <a:p>
            <a:pPr marL="742950" lvl="1" indent="-324000">
              <a:buClr>
                <a:srgbClr val="DB6C30"/>
              </a:buClr>
              <a:buFont typeface="Arial" panose="020B0604020202020204" pitchFamily="34" charset="0"/>
              <a:buChar char="•"/>
            </a:pPr>
            <a:r>
              <a:rPr lang="en-US" dirty="0"/>
              <a:t>Portability: images can be used on various hardware (but performance may be sub-par)</a:t>
            </a:r>
          </a:p>
          <a:p>
            <a:pPr marL="285750" indent="-324000">
              <a:buClr>
                <a:srgbClr val="DB6C30"/>
              </a:buClr>
              <a:buBlip>
                <a:blip r:embed="rId2"/>
              </a:buBlip>
            </a:pPr>
            <a:r>
              <a:rPr lang="en-US" dirty="0"/>
              <a:t>How?</a:t>
            </a:r>
          </a:p>
          <a:p>
            <a:pPr marL="742950" lvl="1" indent="-324000">
              <a:buClr>
                <a:srgbClr val="DB6C30"/>
              </a:buClr>
              <a:buFont typeface="Arial" panose="020B0604020202020204" pitchFamily="34" charset="0"/>
              <a:buChar char="•"/>
            </a:pPr>
            <a:r>
              <a:rPr lang="en-US" dirty="0"/>
              <a:t>Create the image</a:t>
            </a:r>
          </a:p>
          <a:p>
            <a:pPr marL="742950" lvl="1" indent="-324000">
              <a:buClr>
                <a:srgbClr val="DB6C30"/>
              </a:buClr>
              <a:buFont typeface="Arial" panose="020B0604020202020204" pitchFamily="34" charset="0"/>
              <a:buChar char="•"/>
            </a:pPr>
            <a:r>
              <a:rPr lang="en-US" dirty="0"/>
              <a:t>Run it on </a:t>
            </a:r>
            <a:r>
              <a:rPr lang="en-US" dirty="0" err="1"/>
              <a:t>wICE</a:t>
            </a:r>
            <a:r>
              <a:rPr lang="en-US" dirty="0"/>
              <a:t> or </a:t>
            </a:r>
            <a:r>
              <a:rPr lang="en-US" dirty="0" err="1"/>
              <a:t>Mindwell</a:t>
            </a:r>
            <a:endParaRPr lang="en-US" dirty="0"/>
          </a:p>
          <a:p>
            <a:pPr marL="742950" lvl="1" indent="-324000">
              <a:buClr>
                <a:srgbClr val="DB6C30"/>
              </a:buClr>
              <a:buFont typeface="Arial" panose="020B0604020202020204" pitchFamily="34" charset="0"/>
              <a:buChar char="•"/>
            </a:pPr>
            <a:r>
              <a:rPr lang="en-US" dirty="0"/>
              <a:t>Parallelization should work</a:t>
            </a:r>
            <a:br>
              <a:rPr lang="en-US" dirty="0"/>
            </a:br>
            <a:r>
              <a:rPr lang="en-US"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65" y="1124744"/>
            <a:ext cx="5448013" cy="4966772"/>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729464" y="4638035"/>
            <a:ext cx="5294528" cy="2031325"/>
            <a:chOff x="2826024" y="5024153"/>
            <a:chExt cx="4622022" cy="2031325"/>
          </a:xfrm>
        </p:grpSpPr>
        <p:sp>
          <p:nvSpPr>
            <p:cNvPr id="12" name="TextBox 3"/>
            <p:cNvSpPr txBox="1">
              <a:spLocks noChangeArrowheads="1"/>
            </p:cNvSpPr>
            <p:nvPr/>
          </p:nvSpPr>
          <p:spPr bwMode="auto">
            <a:xfrm>
              <a:off x="2826024" y="5024153"/>
              <a:ext cx="4622019" cy="2031325"/>
            </a:xfrm>
            <a:prstGeom prst="rect">
              <a:avLst/>
            </a:prstGeom>
            <a:solidFill>
              <a:schemeClr val="bg1">
                <a:lumMod val="95000"/>
              </a:schemeClr>
            </a:solidFill>
            <a:ln w="25400">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#!/bin/</a:t>
              </a:r>
              <a:r>
                <a:rPr lang="nl-BE" dirty="0" err="1">
                  <a:solidFill>
                    <a:srgbClr val="4E5865"/>
                  </a:solidFill>
                  <a:latin typeface="Courier New" panose="02070309020205020404" pitchFamily="49" charset="0"/>
                  <a:ea typeface="新細明體"/>
                  <a:cs typeface="Courier New" panose="02070309020205020404" pitchFamily="49" charset="0"/>
                </a:rPr>
                <a:t>bash</a:t>
              </a:r>
              <a:r>
                <a:rPr lang="nl-BE"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#SBATCH --time=30:00</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nodes</a:t>
              </a:r>
              <a:r>
                <a:rPr lang="nl-BE" dirty="0">
                  <a:solidFill>
                    <a:srgbClr val="4E5865"/>
                  </a:solidFill>
                  <a:latin typeface="Courier New" panose="02070309020205020404" pitchFamily="49" charset="0"/>
                  <a:ea typeface="新細明體"/>
                  <a:cs typeface="Courier New" panose="02070309020205020404" pitchFamily="49" charset="0"/>
                </a:rPr>
                <a:t>=1</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ntasks</a:t>
              </a:r>
              <a:r>
                <a:rPr lang="nl-BE" dirty="0">
                  <a:solidFill>
                    <a:srgbClr val="4E5865"/>
                  </a:solidFill>
                  <a:latin typeface="Courier New" panose="02070309020205020404" pitchFamily="49" charset="0"/>
                  <a:ea typeface="新細明體"/>
                  <a:cs typeface="Courier New" panose="02070309020205020404" pitchFamily="49" charset="0"/>
                </a:rPr>
                <a:t>=72</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--clusters=</a:t>
              </a:r>
              <a:r>
                <a:rPr lang="nl-BE" dirty="0" err="1">
                  <a:solidFill>
                    <a:srgbClr val="4E5865"/>
                  </a:solidFill>
                  <a:latin typeface="Courier New" panose="02070309020205020404" pitchFamily="49" charset="0"/>
                  <a:ea typeface="新細明體"/>
                  <a:cs typeface="Courier New" panose="02070309020205020404" pitchFamily="49" charset="0"/>
                </a:rPr>
                <a:t>wice</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--account=</a:t>
              </a:r>
              <a:r>
                <a:rPr lang="nl-BE" dirty="0" err="1">
                  <a:solidFill>
                    <a:srgbClr val="4E5865"/>
                  </a:solidFill>
                  <a:latin typeface="Courier New" panose="02070309020205020404" pitchFamily="49" charset="0"/>
                  <a:ea typeface="新細明體"/>
                  <a:cs typeface="Courier New" panose="02070309020205020404" pitchFamily="49" charset="0"/>
                </a:rPr>
                <a:t>lp_hpcinfo</a:t>
              </a:r>
              <a:endParaRPr lang="nl-BE"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dirty="0" err="1">
                  <a:solidFill>
                    <a:srgbClr val="4E5865"/>
                  </a:solidFill>
                  <a:latin typeface="Courier New" panose="02070309020205020404" pitchFamily="49" charset="0"/>
                  <a:ea typeface="新細明體"/>
                  <a:cs typeface="Courier New" panose="02070309020205020404" pitchFamily="49" charset="0"/>
                </a:rPr>
                <a:t>apptainer</a:t>
              </a:r>
              <a:r>
                <a:rPr lang="nl-BE" dirty="0">
                  <a:solidFill>
                    <a:srgbClr val="4E5865"/>
                  </a:solidFill>
                  <a:latin typeface="Courier New" panose="02070309020205020404" pitchFamily="49" charset="0"/>
                  <a:ea typeface="新細明體"/>
                  <a:cs typeface="Courier New" panose="02070309020205020404" pitchFamily="49" charset="0"/>
                </a:rPr>
                <a:t> run </a:t>
              </a:r>
              <a:r>
                <a:rPr lang="nl-BE" dirty="0" err="1">
                  <a:solidFill>
                    <a:srgbClr val="4E5865"/>
                  </a:solidFill>
                  <a:latin typeface="Courier New" panose="02070309020205020404" pitchFamily="49" charset="0"/>
                  <a:ea typeface="新細明體"/>
                  <a:cs typeface="Courier New" panose="02070309020205020404" pitchFamily="49" charset="0"/>
                </a:rPr>
                <a:t>Project.sif</a:t>
              </a:r>
              <a:r>
                <a:rPr lang="nl-BE"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5039254"/>
              <a:ext cx="1153632" cy="276999"/>
            </a:xfrm>
            <a:prstGeom prst="rect">
              <a:avLst/>
            </a:prstGeom>
            <a:solidFill>
              <a:srgbClr val="DB6C30"/>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9" name="Tijdelijke aanduiding voor inhoud 2"/>
          <p:cNvSpPr>
            <a:spLocks noGrp="1"/>
          </p:cNvSpPr>
          <p:nvPr>
            <p:ph idx="1"/>
          </p:nvPr>
        </p:nvSpPr>
        <p:spPr>
          <a:xfrm>
            <a:off x="524690" y="1620000"/>
            <a:ext cx="11112000" cy="2313056"/>
          </a:xfrm>
          <a:ln w="25400">
            <a:solidFill>
              <a:schemeClr val="accent1"/>
            </a:solidFill>
          </a:ln>
        </p:spPr>
        <p:txBody>
          <a:bodyPr anchor="ctr"/>
          <a:lstStyle/>
          <a:p>
            <a:pPr marL="172800" lvl="2" indent="-324000">
              <a:buBlip>
                <a:blip r:embed="rId3"/>
              </a:buBlip>
            </a:pPr>
            <a:r>
              <a:rPr lang="en-US" altLang="zh-TW" sz="2200" dirty="0">
                <a:ea typeface="新細明體" panose="02020500000000000000" pitchFamily="18" charset="-120"/>
              </a:rPr>
              <a:t>You can use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ea typeface="新細明體" panose="02020500000000000000" pitchFamily="18" charset="-120"/>
              </a:rPr>
              <a:t> to handle high-throughput computing workloads</a:t>
            </a:r>
          </a:p>
          <a:p>
            <a:pPr marL="172800" lvl="2" indent="-324000">
              <a:buBlip>
                <a:blip r:embed="rId3"/>
              </a:buBlip>
            </a:pP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module load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/&lt;version&gt;</a:t>
            </a:r>
          </a:p>
          <a:p>
            <a:pPr marL="172800" lvl="2" indent="-324000">
              <a:buBlip>
                <a:blip r:embed="rId3"/>
              </a:buBlip>
            </a:pPr>
            <a:r>
              <a:rPr lang="en-US" altLang="zh-TW" sz="2200" dirty="0">
                <a:ea typeface="新細明體" panose="02020500000000000000" pitchFamily="18" charset="-120"/>
              </a:rPr>
              <a:t>VSC training: Workflows for Data Science</a:t>
            </a:r>
          </a:p>
          <a:p>
            <a:pPr marL="172800" lvl="2" indent="-324000">
              <a:buBlip>
                <a:blip r:embed="rId3"/>
              </a:buBlip>
            </a:pPr>
            <a:r>
              <a:rPr lang="en-US" altLang="zh-TW" sz="2200" dirty="0">
                <a:ea typeface="新細明體" panose="02020500000000000000" pitchFamily="18" charset="-120"/>
              </a:rPr>
              <a:t>Training material: </a:t>
            </a:r>
            <a:r>
              <a:rPr lang="en-US" altLang="zh-TW" sz="2200" dirty="0">
                <a:ea typeface="新細明體" panose="02020500000000000000" pitchFamily="18" charset="-120"/>
                <a:hlinkClick r:id="rId4"/>
              </a:rPr>
              <a:t>https://github.com/gjbex/Workflows-for-HPC</a:t>
            </a:r>
            <a:r>
              <a:rPr lang="en-US" altLang="zh-TW" sz="2200" dirty="0">
                <a:ea typeface="新細明體" panose="02020500000000000000" pitchFamily="18" charset="-120"/>
              </a:rPr>
              <a:t> </a:t>
            </a:r>
          </a:p>
          <a:p>
            <a:pPr marL="172800" lvl="2" indent="-324000">
              <a:buBlip>
                <a:blip r:embed="rId3"/>
              </a:buBlip>
            </a:pPr>
            <a:r>
              <a:rPr lang="en-US" altLang="zh-TW" sz="2200" dirty="0">
                <a:ea typeface="新細明體" panose="02020500000000000000" pitchFamily="18" charset="-120"/>
              </a:rPr>
              <a:t>Recording: </a:t>
            </a:r>
            <a:r>
              <a:rPr lang="en-US" altLang="zh-TW" sz="2200" dirty="0">
                <a:ea typeface="新細明體" panose="02020500000000000000" pitchFamily="18" charset="-120"/>
                <a:hlinkClick r:id="rId5"/>
              </a:rPr>
              <a:t>https://www.youtube.com/watch?v=GlwaRyi1LVA</a:t>
            </a: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User documentation: </a:t>
            </a:r>
            <a:r>
              <a:rPr lang="en-US" altLang="zh-TW" sz="2200" dirty="0">
                <a:ea typeface="新細明體" panose="02020500000000000000" pitchFamily="18" charset="-120"/>
                <a:hlinkClick r:id="rId6"/>
              </a:rPr>
              <a:t>https://atools.readthedocs.io/en/latest/</a:t>
            </a:r>
            <a:r>
              <a:rPr lang="en-US" altLang="zh-TW" sz="2200" dirty="0">
                <a:ea typeface="新細明體" panose="02020500000000000000" pitchFamily="18" charset="-120"/>
              </a:rPr>
              <a:t> </a:t>
            </a:r>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24691" y="1620000"/>
            <a:ext cx="10107813" cy="2745104"/>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Request to become a member of the </a:t>
            </a:r>
            <a:r>
              <a:rPr lang="en-US" altLang="zh-TW" sz="2200" i="1" dirty="0" err="1">
                <a:ea typeface="新細明體" panose="02020500000000000000" pitchFamily="18" charset="-120"/>
              </a:rPr>
              <a:t>lp_hpcinfo</a:t>
            </a:r>
            <a:r>
              <a:rPr lang="en-US" altLang="zh-TW" sz="2200" dirty="0">
                <a:ea typeface="新細明體" panose="02020500000000000000" pitchFamily="18" charset="-120"/>
              </a:rPr>
              <a:t> group via </a:t>
            </a:r>
            <a:r>
              <a:rPr lang="en-US" altLang="zh-TW" sz="2200" dirty="0">
                <a:ea typeface="新細明體" panose="02020500000000000000" pitchFamily="18" charset="-120"/>
                <a:hlinkClick r:id="rId4"/>
              </a:rPr>
              <a:t>account.vscentrum.be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Transfer a file with FileZilla</a:t>
            </a:r>
          </a:p>
          <a:p>
            <a:pPr indent="-324000">
              <a:buBlip>
                <a:blip r:embed="rId3"/>
              </a:buBlip>
            </a:pPr>
            <a:r>
              <a:rPr lang="en-US" altLang="zh-TW" sz="2200" dirty="0">
                <a:ea typeface="新細明體" panose="02020500000000000000" pitchFamily="18" charset="-120"/>
              </a:rPr>
              <a:t>Check your disk quota</a:t>
            </a:r>
          </a:p>
          <a:p>
            <a:pPr indent="-324000">
              <a:buBlip>
                <a:blip r:embed="rId3"/>
              </a:buBlip>
            </a:pPr>
            <a:r>
              <a:rPr lang="en-US" altLang="zh-TW" sz="2200" dirty="0">
                <a:ea typeface="新細明體" panose="02020500000000000000" pitchFamily="18" charset="-120"/>
              </a:rPr>
              <a:t>Check your available credits</a:t>
            </a:r>
          </a:p>
          <a:p>
            <a:pPr indent="-324000">
              <a:buBlip>
                <a:blip r:embed="rId3"/>
              </a:buBlip>
            </a:pPr>
            <a:r>
              <a:rPr lang="en-US" altLang="zh-TW" sz="2200" dirty="0">
                <a:ea typeface="新細明體" panose="02020500000000000000" pitchFamily="18" charset="-120"/>
              </a:rPr>
              <a:t>Check/load/list/unload/purge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51385" y="1620000"/>
            <a:ext cx="10945216" cy="2817112"/>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Copy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/apps/</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leuven</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/training/</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HPC_intro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t>
            </a:r>
            <a:r>
              <a:rPr lang="en-US" altLang="zh-TW" sz="2200" dirty="0">
                <a:ea typeface="新細明體" panose="02020500000000000000" pitchFamily="18" charset="-120"/>
              </a:rPr>
              <a:t> to your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$VSC_DATA</a:t>
            </a:r>
          </a:p>
          <a:p>
            <a:pPr indent="-324000">
              <a:buBlip>
                <a:blip r:embed="rId3"/>
              </a:buBlip>
            </a:pPr>
            <a:r>
              <a:rPr lang="en-US" altLang="zh-TW" sz="2200" dirty="0">
                <a:ea typeface="新細明體" panose="02020500000000000000" pitchFamily="18" charset="-120"/>
              </a:rPr>
              <a:t>Submit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cpujob.slurm</a:t>
            </a:r>
            <a:r>
              <a:rPr lang="en-US" altLang="zh-TW" sz="2200" dirty="0">
                <a:ea typeface="新細明體" panose="02020500000000000000" pitchFamily="18" charset="-120"/>
              </a:rPr>
              <a:t> to the cluster</a:t>
            </a:r>
          </a:p>
          <a:p>
            <a:pPr indent="-324000">
              <a:buBlip>
                <a:blip r:embed="rId3"/>
              </a:buBlip>
            </a:pPr>
            <a:r>
              <a:rPr lang="en-US" altLang="zh-TW" sz="2200" dirty="0">
                <a:ea typeface="新細明體" panose="02020500000000000000" pitchFamily="18" charset="-120"/>
              </a:rPr>
              <a:t>List all your jobs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squeue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Check the information about the job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&lt;</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job_ID</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&gt;</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Modify the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mpi.slurm</a:t>
            </a:r>
            <a:r>
              <a:rPr lang="en-US" altLang="zh-TW" sz="2200" dirty="0">
                <a:ea typeface="新細明體" panose="02020500000000000000" pitchFamily="18" charset="-120"/>
              </a:rPr>
              <a:t> script to request 1 node, 72 cores for 30 minutes,</a:t>
            </a:r>
            <a:br>
              <a:rPr lang="en-US" altLang="zh-TW" sz="2200" dirty="0">
                <a:ea typeface="新細明體" panose="02020500000000000000" pitchFamily="18" charset="-120"/>
              </a:rPr>
            </a:br>
            <a:r>
              <a:rPr lang="en-US" altLang="zh-TW" sz="2200" dirty="0">
                <a:ea typeface="新細明體" panose="02020500000000000000" pitchFamily="18" charset="-120"/>
              </a:rPr>
              <a:t>  with job start/end e-mail notifications</a:t>
            </a:r>
          </a:p>
          <a:p>
            <a:pPr indent="-324000">
              <a:buBlip>
                <a:blip r:embed="rId3"/>
              </a:buBlip>
            </a:pPr>
            <a:r>
              <a:rPr lang="en-US" altLang="zh-TW" sz="2200" dirty="0">
                <a:ea typeface="新細明體" panose="02020500000000000000" pitchFamily="18" charset="-120"/>
              </a:rPr>
              <a:t>Check the status of all the jobs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5" name="Tijdelijke aanduiding voor inhoud 2"/>
          <p:cNvSpPr txBox="1">
            <a:spLocks/>
          </p:cNvSpPr>
          <p:nvPr/>
        </p:nvSpPr>
        <p:spPr>
          <a:xfrm>
            <a:off x="549371" y="1614400"/>
            <a:ext cx="11667309" cy="2966728"/>
          </a:xfrm>
          <a:prstGeom prst="rect">
            <a:avLst/>
          </a:prstGeom>
          <a:ln w="25400">
            <a:solidFill>
              <a:schemeClr val="accent1"/>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72800" lvl="2" indent="-324000">
              <a:buBlip>
                <a:blip r:embed="rId3"/>
              </a:buBlip>
            </a:pPr>
            <a:r>
              <a:rPr lang="en-US" altLang="zh-TW" sz="2200" dirty="0">
                <a:ea typeface="新細明體" panose="02020500000000000000" pitchFamily="18" charset="-120"/>
              </a:rPr>
              <a:t>Submit an interactive job</a:t>
            </a:r>
          </a:p>
          <a:p>
            <a:pPr marL="357188" lvl="2" indent="0">
              <a:buNone/>
            </a:pPr>
            <a:r>
              <a:rPr lang="en-US" altLang="zh-TW" sz="2200" dirty="0">
                <a:ea typeface="新細明體" panose="02020500000000000000" pitchFamily="18" charset="-120"/>
              </a:rPr>
              <a:t>	Run your program on a compute node</a:t>
            </a:r>
          </a:p>
          <a:p>
            <a:pPr marL="357188" lvl="2" indent="0">
              <a:buNone/>
            </a:pPr>
            <a:r>
              <a:rPr lang="en-US" altLang="zh-TW" sz="2200" dirty="0">
                <a:ea typeface="新細明體" panose="02020500000000000000" pitchFamily="18" charset="-120"/>
              </a:rPr>
              <a:t>	Open a new terminal and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to the allocated compute node </a:t>
            </a:r>
          </a:p>
          <a:p>
            <a:pPr marL="357188" lvl="2" indent="0">
              <a:buNone/>
            </a:pPr>
            <a:r>
              <a:rPr lang="en-US" altLang="zh-TW" sz="2200" dirty="0">
                <a:ea typeface="新細明體" panose="02020500000000000000" pitchFamily="18" charset="-120"/>
              </a:rPr>
              <a:t>	Check the resources usage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endParaRPr lang="en-US" altLang="zh-TW" sz="2200" dirty="0">
              <a:ea typeface="新細明體" panose="02020500000000000000" pitchFamily="18" charset="-120"/>
            </a:endParaRPr>
          </a:p>
          <a:p>
            <a:pPr marL="357188" lvl="2" indent="0">
              <a:buNone/>
            </a:pP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Submit a GPU batch job </a:t>
            </a:r>
          </a:p>
          <a:p>
            <a:pPr marL="357188" lvl="2" indent="0">
              <a:buNone/>
              <a:tabLst>
                <a:tab pos="1076325" algn="l"/>
              </a:tabLst>
            </a:pPr>
            <a:r>
              <a:rPr lang="en-US" altLang="zh-TW" sz="2200" dirty="0">
                <a:ea typeface="新細明體" panose="02020500000000000000" pitchFamily="18" charset="-120"/>
              </a:rPr>
              <a:t>     While the job is running, check its details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endParaRPr lang="en-US" altLang="zh-TW" sz="2200" dirty="0">
              <a:ea typeface="新細明體" panose="02020500000000000000" pitchFamily="18" charset="-120"/>
            </a:endParaRPr>
          </a:p>
          <a:p>
            <a:pPr marL="357188" lvl="2" indent="0">
              <a:buNone/>
              <a:tabLst>
                <a:tab pos="1076325" algn="l"/>
              </a:tabLst>
            </a:pPr>
            <a:r>
              <a:rPr lang="en-US" altLang="zh-TW" sz="2200" dirty="0">
                <a:ea typeface="新細明體" panose="02020500000000000000" pitchFamily="18" charset="-120"/>
              </a:rPr>
              <a:t>     and check resource on the compute node using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r>
              <a:rPr lang="en-US" altLang="zh-TW" sz="2200" dirty="0">
                <a:ea typeface="新細明體" panose="02020500000000000000" pitchFamily="18" charset="-120"/>
              </a:rPr>
              <a:t> and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nvidia-smi</a:t>
            </a:r>
            <a:endParaRPr lang="en-US" altLang="zh-TW" sz="2200" dirty="0">
              <a:latin typeface="Courier New" panose="02070309020205020404" pitchFamily="49" charset="0"/>
              <a:ea typeface="新細明體" panose="02020500000000000000" pitchFamily="18" charset="-12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540469" y="1197620"/>
            <a:ext cx="10937067" cy="3785652"/>
          </a:xfrm>
          <a:prstGeom prst="rect">
            <a:avLst/>
          </a:prstGeom>
          <a:ln w="25400">
            <a:solidFill>
              <a:srgbClr val="DB6C30"/>
            </a:solidFill>
          </a:ln>
        </p:spPr>
        <p:txBody>
          <a:bodyPr wrap="square" anchor="ctr">
            <a:spAutoFit/>
          </a:bodyPr>
          <a:lstStyle/>
          <a:p>
            <a:r>
              <a:rPr lang="nl-NL" altLang="en-US" sz="2200" dirty="0"/>
              <a:t>Helpdesk (email): </a:t>
            </a:r>
            <a:r>
              <a:rPr lang="nl-NL" altLang="en-US" sz="2200" dirty="0">
                <a:hlinkClick r:id="rId2"/>
              </a:rPr>
              <a:t>hpcinfo@kuleuven.be</a:t>
            </a:r>
            <a:endParaRPr lang="nl-NL" altLang="en-US" sz="2200" dirty="0"/>
          </a:p>
          <a:p>
            <a:endParaRPr lang="en-US" altLang="en-US" sz="2200" dirty="0"/>
          </a:p>
          <a:p>
            <a:r>
              <a:rPr lang="en-US" altLang="en-US" sz="2200" dirty="0"/>
              <a:t>Helpdesk (online form): </a:t>
            </a:r>
            <a:r>
              <a:rPr lang="en-US" altLang="en-US" sz="2200" dirty="0">
                <a:hlinkClick r:id="rId3"/>
              </a:rPr>
              <a:t>https://admin.kuleuven.be/icts/HPCinfo_form/HPC-info-formulier</a:t>
            </a:r>
            <a:br>
              <a:rPr lang="en-US" altLang="en-US" sz="2200" dirty="0"/>
            </a:br>
            <a:endParaRPr lang="nl-NL" altLang="en-US" sz="2200" dirty="0">
              <a:solidFill>
                <a:srgbClr val="DB6C30"/>
              </a:solidFill>
            </a:endParaRPr>
          </a:p>
          <a:p>
            <a:r>
              <a:rPr lang="nl-NL" altLang="en-US" sz="2200" dirty="0"/>
              <a:t>VSC website: </a:t>
            </a:r>
            <a:r>
              <a:rPr lang="nl-BE" altLang="en-US" sz="2200" dirty="0">
                <a:solidFill>
                  <a:srgbClr val="DB6C30"/>
                </a:solidFill>
                <a:hlinkClick r:id="rId4"/>
              </a:rPr>
              <a:t>https://www.vscentrum.be</a:t>
            </a:r>
            <a:endParaRPr lang="nl-BE" altLang="en-US" sz="2200" dirty="0">
              <a:solidFill>
                <a:srgbClr val="DB6C30"/>
              </a:solidFill>
            </a:endParaRPr>
          </a:p>
          <a:p>
            <a:endParaRPr lang="en-US" altLang="en-US" sz="2200" dirty="0"/>
          </a:p>
          <a:p>
            <a:r>
              <a:rPr lang="en-US" altLang="en-US" sz="2200" dirty="0"/>
              <a:t>VSC documentation: </a:t>
            </a:r>
            <a:r>
              <a:rPr lang="nl-BE" sz="2200" dirty="0">
                <a:solidFill>
                  <a:srgbClr val="DB6C30"/>
                </a:solidFill>
                <a:hlinkClick r:id="rId5"/>
              </a:rPr>
              <a:t>https://docs.vscentrum.be</a:t>
            </a:r>
            <a:br>
              <a:rPr lang="nl-BE" sz="2000" dirty="0"/>
            </a:br>
            <a:endParaRPr lang="nl-BE" sz="2000" dirty="0"/>
          </a:p>
          <a:p>
            <a:r>
              <a:rPr lang="en-US" altLang="en-US" sz="2200" dirty="0"/>
              <a:t>VSC agenda, training sessions, events (User Day): </a:t>
            </a:r>
            <a:r>
              <a:rPr lang="en-US" altLang="en-US" sz="2200" dirty="0">
                <a:hlinkClick r:id="rId6"/>
              </a:rPr>
              <a:t>https://www.vscentrum.be/vsctraining</a:t>
            </a:r>
            <a:endParaRPr lang="en-US" altLang="en-US" sz="2200" dirty="0">
              <a:solidFill>
                <a:srgbClr val="DB6C30"/>
              </a:solidFill>
            </a:endParaRPr>
          </a:p>
          <a:p>
            <a:endParaRPr lang="en-US" altLang="en-US" sz="2200" dirty="0"/>
          </a:p>
          <a:p>
            <a:r>
              <a:rPr lang="en-US" altLang="en-US" sz="2200" dirty="0"/>
              <a:t>System status page: </a:t>
            </a:r>
            <a:r>
              <a:rPr lang="en-US" altLang="en-US" sz="2200" dirty="0">
                <a:hlinkClick r:id="rId7"/>
              </a:rPr>
              <a:t>https://status.vscentrum.be</a:t>
            </a:r>
            <a:endParaRPr lang="en-US" altLang="en-US" sz="2200" dirty="0"/>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customXsn xmlns="http://schemas.microsoft.com/office/2006/metadata/customXsn">
  <xsnLocation/>
  <cached>True</cached>
  <openByDefault>True</openByDefault>
  <xsnScope>/sites/hpc</xsnScope>
</customXsn>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customXml/itemProps3.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4.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5.xml><?xml version="1.0" encoding="utf-8"?>
<ds:datastoreItem xmlns:ds="http://schemas.openxmlformats.org/officeDocument/2006/customXml" ds:itemID="{8B7C5771-2E3B-4E9C-8DA9-F557198FE92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8952</Words>
  <Application>Microsoft Office PowerPoint</Application>
  <PresentationFormat>Widescreen</PresentationFormat>
  <Paragraphs>1412</Paragraphs>
  <Slides>102</Slides>
  <Notes>46</Notes>
  <HiddenSlides>4</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Ehsan Moravveji</cp:lastModifiedBy>
  <cp:revision>1835</cp:revision>
  <dcterms:created xsi:type="dcterms:W3CDTF">2012-07-10T07:57:57Z</dcterms:created>
  <dcterms:modified xsi:type="dcterms:W3CDTF">2026-09-25T14:03:19Z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