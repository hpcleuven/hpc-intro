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1.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tags/tag2.xml" ContentType="application/vnd.openxmlformats-officedocument.presentationml.tags+xml"/>
  <Override PartName="/ppt/notesSlides/notesSlide18.xml" ContentType="application/vnd.openxmlformats-officedocument.presentationml.notesSlide+xml"/>
  <Override PartName="/ppt/tags/tag3.xml" ContentType="application/vnd.openxmlformats-officedocument.presentationml.tags+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tags/tag4.xml" ContentType="application/vnd.openxmlformats-officedocument.presentationml.tags+xml"/>
  <Override PartName="/ppt/notesSlides/notesSlide27.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tags/tag7.xml" ContentType="application/vnd.openxmlformats-officedocument.presentationml.tags+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726" r:id="rId6"/>
    <p:sldMasterId id="2147483751" r:id="rId7"/>
    <p:sldMasterId id="2147483762" r:id="rId8"/>
  </p:sldMasterIdLst>
  <p:notesMasterIdLst>
    <p:notesMasterId r:id="rId110"/>
  </p:notesMasterIdLst>
  <p:handoutMasterIdLst>
    <p:handoutMasterId r:id="rId111"/>
  </p:handoutMasterIdLst>
  <p:sldIdLst>
    <p:sldId id="912" r:id="rId9"/>
    <p:sldId id="1034" r:id="rId10"/>
    <p:sldId id="1846" r:id="rId11"/>
    <p:sldId id="901" r:id="rId12"/>
    <p:sldId id="1672" r:id="rId13"/>
    <p:sldId id="914" r:id="rId14"/>
    <p:sldId id="917" r:id="rId15"/>
    <p:sldId id="908" r:id="rId16"/>
    <p:sldId id="1668" r:id="rId17"/>
    <p:sldId id="911" r:id="rId18"/>
    <p:sldId id="925" r:id="rId19"/>
    <p:sldId id="632" r:id="rId20"/>
    <p:sldId id="924" r:id="rId21"/>
    <p:sldId id="1650" r:id="rId22"/>
    <p:sldId id="997" r:id="rId23"/>
    <p:sldId id="983" r:id="rId24"/>
    <p:sldId id="919" r:id="rId25"/>
    <p:sldId id="307" r:id="rId26"/>
    <p:sldId id="923" r:id="rId27"/>
    <p:sldId id="1700" r:id="rId28"/>
    <p:sldId id="1701" r:id="rId29"/>
    <p:sldId id="1658" r:id="rId30"/>
    <p:sldId id="1698" r:id="rId31"/>
    <p:sldId id="948" r:id="rId32"/>
    <p:sldId id="793" r:id="rId33"/>
    <p:sldId id="990" r:id="rId34"/>
    <p:sldId id="984" r:id="rId35"/>
    <p:sldId id="985" r:id="rId36"/>
    <p:sldId id="986" r:id="rId37"/>
    <p:sldId id="987" r:id="rId38"/>
    <p:sldId id="988" r:id="rId39"/>
    <p:sldId id="1673" r:id="rId40"/>
    <p:sldId id="1842" r:id="rId41"/>
    <p:sldId id="422" r:id="rId42"/>
    <p:sldId id="1844" r:id="rId43"/>
    <p:sldId id="872" r:id="rId44"/>
    <p:sldId id="1689" r:id="rId45"/>
    <p:sldId id="1001" r:id="rId46"/>
    <p:sldId id="1003" r:id="rId47"/>
    <p:sldId id="1004" r:id="rId48"/>
    <p:sldId id="1005" r:id="rId49"/>
    <p:sldId id="1009" r:id="rId50"/>
    <p:sldId id="1002" r:id="rId51"/>
    <p:sldId id="949" r:id="rId52"/>
    <p:sldId id="999" r:id="rId53"/>
    <p:sldId id="1674" r:id="rId54"/>
    <p:sldId id="1059" r:id="rId55"/>
    <p:sldId id="1656" r:id="rId56"/>
    <p:sldId id="1045" r:id="rId57"/>
    <p:sldId id="1018" r:id="rId58"/>
    <p:sldId id="1020" r:id="rId59"/>
    <p:sldId id="1015" r:id="rId60"/>
    <p:sldId id="1016" r:id="rId61"/>
    <p:sldId id="1017" r:id="rId62"/>
    <p:sldId id="1677" r:id="rId63"/>
    <p:sldId id="1688" r:id="rId64"/>
    <p:sldId id="1675" r:id="rId65"/>
    <p:sldId id="1671" r:id="rId66"/>
    <p:sldId id="1647" r:id="rId67"/>
    <p:sldId id="1678" r:id="rId68"/>
    <p:sldId id="1679" r:id="rId69"/>
    <p:sldId id="1680" r:id="rId70"/>
    <p:sldId id="1681" r:id="rId71"/>
    <p:sldId id="1683" r:id="rId72"/>
    <p:sldId id="1684" r:id="rId73"/>
    <p:sldId id="1685" r:id="rId74"/>
    <p:sldId id="1845" r:id="rId75"/>
    <p:sldId id="1648" r:id="rId76"/>
    <p:sldId id="1703" r:id="rId77"/>
    <p:sldId id="1686" r:id="rId78"/>
    <p:sldId id="950" r:id="rId79"/>
    <p:sldId id="933" r:id="rId80"/>
    <p:sldId id="934" r:id="rId81"/>
    <p:sldId id="951" r:id="rId82"/>
    <p:sldId id="822" r:id="rId83"/>
    <p:sldId id="1687" r:id="rId84"/>
    <p:sldId id="1049" r:id="rId85"/>
    <p:sldId id="981" r:id="rId86"/>
    <p:sldId id="1047" r:id="rId87"/>
    <p:sldId id="1645" r:id="rId88"/>
    <p:sldId id="995" r:id="rId89"/>
    <p:sldId id="1660" r:id="rId90"/>
    <p:sldId id="1843" r:id="rId91"/>
    <p:sldId id="1064" r:id="rId92"/>
    <p:sldId id="928" r:id="rId93"/>
    <p:sldId id="972" r:id="rId94"/>
    <p:sldId id="379" r:id="rId95"/>
    <p:sldId id="992" r:id="rId96"/>
    <p:sldId id="1642" r:id="rId97"/>
    <p:sldId id="1649" r:id="rId98"/>
    <p:sldId id="1643" r:id="rId99"/>
    <p:sldId id="1032" r:id="rId100"/>
    <p:sldId id="1699" r:id="rId101"/>
    <p:sldId id="903" r:id="rId102"/>
    <p:sldId id="994" r:id="rId103"/>
    <p:sldId id="1053" r:id="rId104"/>
    <p:sldId id="411" r:id="rId105"/>
    <p:sldId id="1665" r:id="rId106"/>
    <p:sldId id="989" r:id="rId107"/>
    <p:sldId id="979" r:id="rId108"/>
    <p:sldId id="256" r:id="rId109"/>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tline" id="{851E06D4-9BC5-42D8-8C18-ED44BBD53D7A}">
          <p14:sldIdLst>
            <p14:sldId id="912"/>
            <p14:sldId id="1034"/>
            <p14:sldId id="1846"/>
            <p14:sldId id="901"/>
            <p14:sldId id="1672"/>
          </p14:sldIdLst>
        </p14:section>
        <p14:section name="VSC" id="{D9CB2281-0CDD-4C16-B95F-3969DF7FF769}">
          <p14:sldIdLst>
            <p14:sldId id="914"/>
            <p14:sldId id="917"/>
            <p14:sldId id="908"/>
            <p14:sldId id="1668"/>
            <p14:sldId id="911"/>
            <p14:sldId id="925"/>
            <p14:sldId id="632"/>
            <p14:sldId id="924"/>
            <p14:sldId id="1650"/>
            <p14:sldId id="997"/>
          </p14:sldIdLst>
        </p14:section>
        <p14:section name="Clusters" id="{099B1AE2-E36A-4AA5-94EB-E8338812283B}">
          <p14:sldIdLst>
            <p14:sldId id="983"/>
            <p14:sldId id="919"/>
            <p14:sldId id="307"/>
            <p14:sldId id="923"/>
            <p14:sldId id="1700"/>
            <p14:sldId id="1701"/>
            <p14:sldId id="1658"/>
            <p14:sldId id="1698"/>
          </p14:sldIdLst>
        </p14:section>
        <p14:section name="Storage" id="{622DAFD0-F606-4AB5-8F78-0FF3AF2702DE}">
          <p14:sldIdLst>
            <p14:sldId id="948"/>
            <p14:sldId id="793"/>
            <p14:sldId id="990"/>
            <p14:sldId id="984"/>
            <p14:sldId id="985"/>
            <p14:sldId id="986"/>
            <p14:sldId id="987"/>
            <p14:sldId id="988"/>
            <p14:sldId id="1673"/>
            <p14:sldId id="1842"/>
            <p14:sldId id="422"/>
          </p14:sldIdLst>
        </p14:section>
        <p14:section name="Credits" id="{FD74824F-5D0A-4FAC-83BE-88274C7A15E5}">
          <p14:sldIdLst>
            <p14:sldId id="1844"/>
            <p14:sldId id="872"/>
            <p14:sldId id="1689"/>
            <p14:sldId id="1001"/>
            <p14:sldId id="1003"/>
            <p14:sldId id="1004"/>
            <p14:sldId id="1005"/>
            <p14:sldId id="1009"/>
            <p14:sldId id="1002"/>
          </p14:sldIdLst>
        </p14:section>
        <p14:section name="Login" id="{5738C5FE-4818-4F19-A71D-D649C3C117D6}">
          <p14:sldIdLst>
            <p14:sldId id="949"/>
            <p14:sldId id="999"/>
            <p14:sldId id="1674"/>
            <p14:sldId id="1059"/>
          </p14:sldIdLst>
        </p14:section>
        <p14:section name="Login via ssh" id="{14675376-9702-4799-8A8D-2C00297E1328}">
          <p14:sldIdLst>
            <p14:sldId id="1656"/>
            <p14:sldId id="1045"/>
          </p14:sldIdLst>
        </p14:section>
        <p14:section name="File Transfer" id="{C702CFA4-BFCE-4C19-AB85-98621C11E6DB}">
          <p14:sldIdLst>
            <p14:sldId id="1018"/>
            <p14:sldId id="1020"/>
            <p14:sldId id="1015"/>
            <p14:sldId id="1016"/>
            <p14:sldId id="1017"/>
            <p14:sldId id="1677"/>
            <p14:sldId id="1688"/>
            <p14:sldId id="1675"/>
          </p14:sldIdLst>
        </p14:section>
        <p14:section name="OpenOnDemand" id="{80748567-A021-4AF6-ADB3-8A2D8293E1E9}">
          <p14:sldIdLst>
            <p14:sldId id="1671"/>
            <p14:sldId id="1647"/>
            <p14:sldId id="1678"/>
            <p14:sldId id="1679"/>
            <p14:sldId id="1680"/>
            <p14:sldId id="1681"/>
            <p14:sldId id="1683"/>
            <p14:sldId id="1684"/>
            <p14:sldId id="1685"/>
            <p14:sldId id="1845"/>
            <p14:sldId id="1648"/>
            <p14:sldId id="1703"/>
            <p14:sldId id="1686"/>
          </p14:sldIdLst>
        </p14:section>
        <p14:section name="software" id="{5E6D1012-3953-40C8-B167-50EE07D95155}">
          <p14:sldIdLst>
            <p14:sldId id="950"/>
            <p14:sldId id="933"/>
            <p14:sldId id="934"/>
          </p14:sldIdLst>
        </p14:section>
        <p14:section name="Compute Jobs" id="{AD8C4B3A-18CB-4C2E-8488-A631483F2316}">
          <p14:sldIdLst>
            <p14:sldId id="951"/>
            <p14:sldId id="822"/>
            <p14:sldId id="1687"/>
            <p14:sldId id="1049"/>
            <p14:sldId id="981"/>
            <p14:sldId id="1047"/>
            <p14:sldId id="1645"/>
            <p14:sldId id="995"/>
            <p14:sldId id="1660"/>
            <p14:sldId id="1843"/>
            <p14:sldId id="1064"/>
            <p14:sldId id="928"/>
            <p14:sldId id="972"/>
            <p14:sldId id="379"/>
            <p14:sldId id="992"/>
            <p14:sldId id="1642"/>
            <p14:sldId id="1649"/>
            <p14:sldId id="1643"/>
            <p14:sldId id="1032"/>
            <p14:sldId id="1699"/>
            <p14:sldId id="903"/>
            <p14:sldId id="994"/>
          </p14:sldIdLst>
        </p14:section>
        <p14:section name="DIY" id="{EB9546BB-6286-4973-986C-60592FACC87A}">
          <p14:sldIdLst>
            <p14:sldId id="1053"/>
            <p14:sldId id="411"/>
            <p14:sldId id="1665"/>
            <p14:sldId id="989"/>
          </p14:sldIdLst>
        </p14:section>
        <p14:section name="Epilog" id="{E0E8246B-D083-451F-8B5B-AE4A13A1F08D}">
          <p14:sldIdLst>
            <p14:sldId id="979"/>
            <p14:sldId id="256"/>
          </p14:sldIdLst>
        </p14:section>
      </p14:sectionLst>
    </p:ext>
    <p:ext uri="{EFAFB233-063F-42B5-8137-9DF3F51BA10A}">
      <p15:sldGuideLst xmlns:p15="http://schemas.microsoft.com/office/powerpoint/2012/main">
        <p15:guide id="1" orient="horz" pos="799" userDrawn="1">
          <p15:clr>
            <a:srgbClr val="A4A3A4"/>
          </p15:clr>
        </p15:guide>
        <p15:guide id="2" pos="758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Geert Jan Bex" initials="gjb" lastIdx="2" clrIdx="0">
    <p:extLst>
      <p:ext uri="{19B8F6BF-5375-455C-9EA6-DF929625EA0E}">
        <p15:presenceInfo xmlns:p15="http://schemas.microsoft.com/office/powerpoint/2012/main" userId="Geert Jan Bex" providerId="None"/>
      </p:ext>
    </p:extLst>
  </p:cmAuthor>
  <p:cmAuthor id="2" name="Wouter Van Assche" initials="WVA" lastIdx="2" clrIdx="1">
    <p:extLst>
      <p:ext uri="{19B8F6BF-5375-455C-9EA6-DF929625EA0E}">
        <p15:presenceInfo xmlns:p15="http://schemas.microsoft.com/office/powerpoint/2012/main" userId="Wouter Van Assche" providerId="None"/>
      </p:ext>
    </p:extLst>
  </p:cmAuthor>
  <p:cmAuthor id="3" name="Ehsan Moravveji" initials="EM" lastIdx="1" clrIdx="2">
    <p:extLst>
      <p:ext uri="{19B8F6BF-5375-455C-9EA6-DF929625EA0E}">
        <p15:presenceInfo xmlns:p15="http://schemas.microsoft.com/office/powerpoint/2012/main" userId="S::ehsan.moravveji@kuleuven.be::3beb3181-7ede-421f-90f3-fb68c3630ec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5865"/>
    <a:srgbClr val="DB6C30"/>
    <a:srgbClr val="FFFFFF"/>
    <a:srgbClr val="E1E1E1"/>
    <a:srgbClr val="84625E"/>
    <a:srgbClr val="805D64"/>
    <a:srgbClr val="8F8F8F"/>
    <a:srgbClr val="FFFF00"/>
    <a:srgbClr val="1D8DB0"/>
    <a:srgbClr val="116E8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3EFEDF-A3C4-44E7-8020-7C8AE82AF340}" v="4" dt="2025-11-26T09:16:47.29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6562" autoAdjust="0"/>
  </p:normalViewPr>
  <p:slideViewPr>
    <p:cSldViewPr snapToObjects="1" showGuides="1">
      <p:cViewPr varScale="1">
        <p:scale>
          <a:sx n="64" d="100"/>
          <a:sy n="64" d="100"/>
        </p:scale>
        <p:origin x="748" y="44"/>
      </p:cViewPr>
      <p:guideLst>
        <p:guide orient="horz" pos="799"/>
        <p:guide pos="7589"/>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9972"/>
    </p:cViewPr>
  </p:sorterViewPr>
  <p:notesViewPr>
    <p:cSldViewPr snapToObjects="1" showGuides="1">
      <p:cViewPr varScale="1">
        <p:scale>
          <a:sx n="57" d="100"/>
          <a:sy n="57" d="100"/>
        </p:scale>
        <p:origin x="3259" y="91"/>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117" Type="http://schemas.microsoft.com/office/2016/11/relationships/changesInfo" Target="changesInfos/changesInfo1.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84" Type="http://schemas.openxmlformats.org/officeDocument/2006/relationships/slide" Target="slides/slide76.xml"/><Relationship Id="rId89" Type="http://schemas.openxmlformats.org/officeDocument/2006/relationships/slide" Target="slides/slide81.xml"/><Relationship Id="rId112" Type="http://schemas.openxmlformats.org/officeDocument/2006/relationships/commentAuthors" Target="commentAuthors.xml"/><Relationship Id="rId16" Type="http://schemas.openxmlformats.org/officeDocument/2006/relationships/slide" Target="slides/slide8.xml"/><Relationship Id="rId107" Type="http://schemas.openxmlformats.org/officeDocument/2006/relationships/slide" Target="slides/slide99.xml"/><Relationship Id="rId1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29.xml"/><Relationship Id="rId53" Type="http://schemas.openxmlformats.org/officeDocument/2006/relationships/slide" Target="slides/slide45.xml"/><Relationship Id="rId58" Type="http://schemas.openxmlformats.org/officeDocument/2006/relationships/slide" Target="slides/slide50.xml"/><Relationship Id="rId74" Type="http://schemas.openxmlformats.org/officeDocument/2006/relationships/slide" Target="slides/slide66.xml"/><Relationship Id="rId79" Type="http://schemas.openxmlformats.org/officeDocument/2006/relationships/slide" Target="slides/slide71.xml"/><Relationship Id="rId102" Type="http://schemas.openxmlformats.org/officeDocument/2006/relationships/slide" Target="slides/slide94.xml"/><Relationship Id="rId5" Type="http://schemas.openxmlformats.org/officeDocument/2006/relationships/customXml" Target="../customXml/item5.xml"/><Relationship Id="rId90" Type="http://schemas.openxmlformats.org/officeDocument/2006/relationships/slide" Target="slides/slide82.xml"/><Relationship Id="rId95" Type="http://schemas.openxmlformats.org/officeDocument/2006/relationships/slide" Target="slides/slide87.xml"/><Relationship Id="rId22" Type="http://schemas.openxmlformats.org/officeDocument/2006/relationships/slide" Target="slides/slide14.xml"/><Relationship Id="rId27" Type="http://schemas.openxmlformats.org/officeDocument/2006/relationships/slide" Target="slides/slide19.xml"/><Relationship Id="rId43" Type="http://schemas.openxmlformats.org/officeDocument/2006/relationships/slide" Target="slides/slide35.xml"/><Relationship Id="rId48" Type="http://schemas.openxmlformats.org/officeDocument/2006/relationships/slide" Target="slides/slide40.xml"/><Relationship Id="rId64" Type="http://schemas.openxmlformats.org/officeDocument/2006/relationships/slide" Target="slides/slide56.xml"/><Relationship Id="rId69" Type="http://schemas.openxmlformats.org/officeDocument/2006/relationships/slide" Target="slides/slide61.xml"/><Relationship Id="rId113" Type="http://schemas.openxmlformats.org/officeDocument/2006/relationships/presProps" Target="presProps.xml"/><Relationship Id="rId118" Type="http://schemas.microsoft.com/office/2015/10/relationships/revisionInfo" Target="revisionInfo.xml"/><Relationship Id="rId80" Type="http://schemas.openxmlformats.org/officeDocument/2006/relationships/slide" Target="slides/slide72.xml"/><Relationship Id="rId85" Type="http://schemas.openxmlformats.org/officeDocument/2006/relationships/slide" Target="slides/slide77.xml"/><Relationship Id="rId12" Type="http://schemas.openxmlformats.org/officeDocument/2006/relationships/slide" Target="slides/slide4.xml"/><Relationship Id="rId17" Type="http://schemas.openxmlformats.org/officeDocument/2006/relationships/slide" Target="slides/slide9.xml"/><Relationship Id="rId33" Type="http://schemas.openxmlformats.org/officeDocument/2006/relationships/slide" Target="slides/slide25.xml"/><Relationship Id="rId38" Type="http://schemas.openxmlformats.org/officeDocument/2006/relationships/slide" Target="slides/slide30.xml"/><Relationship Id="rId59" Type="http://schemas.openxmlformats.org/officeDocument/2006/relationships/slide" Target="slides/slide51.xml"/><Relationship Id="rId103" Type="http://schemas.openxmlformats.org/officeDocument/2006/relationships/slide" Target="slides/slide95.xml"/><Relationship Id="rId108" Type="http://schemas.openxmlformats.org/officeDocument/2006/relationships/slide" Target="slides/slide100.xml"/><Relationship Id="rId54" Type="http://schemas.openxmlformats.org/officeDocument/2006/relationships/slide" Target="slides/slide46.xml"/><Relationship Id="rId70" Type="http://schemas.openxmlformats.org/officeDocument/2006/relationships/slide" Target="slides/slide62.xml"/><Relationship Id="rId75" Type="http://schemas.openxmlformats.org/officeDocument/2006/relationships/slide" Target="slides/slide67.xml"/><Relationship Id="rId91" Type="http://schemas.openxmlformats.org/officeDocument/2006/relationships/slide" Target="slides/slide83.xml"/><Relationship Id="rId96" Type="http://schemas.openxmlformats.org/officeDocument/2006/relationships/slide" Target="slides/slide88.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5.xml"/><Relationship Id="rId28" Type="http://schemas.openxmlformats.org/officeDocument/2006/relationships/slide" Target="slides/slide20.xml"/><Relationship Id="rId49" Type="http://schemas.openxmlformats.org/officeDocument/2006/relationships/slide" Target="slides/slide41.xml"/><Relationship Id="rId114" Type="http://schemas.openxmlformats.org/officeDocument/2006/relationships/viewProps" Target="viewProps.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slide" Target="slides/slide70.xml"/><Relationship Id="rId81" Type="http://schemas.openxmlformats.org/officeDocument/2006/relationships/slide" Target="slides/slide73.xml"/><Relationship Id="rId86" Type="http://schemas.openxmlformats.org/officeDocument/2006/relationships/slide" Target="slides/slide78.xml"/><Relationship Id="rId94" Type="http://schemas.openxmlformats.org/officeDocument/2006/relationships/slide" Target="slides/slide86.xml"/><Relationship Id="rId99" Type="http://schemas.openxmlformats.org/officeDocument/2006/relationships/slide" Target="slides/slide91.xml"/><Relationship Id="rId101" Type="http://schemas.openxmlformats.org/officeDocument/2006/relationships/slide" Target="slides/slide93.xml"/><Relationship Id="rId4" Type="http://schemas.openxmlformats.org/officeDocument/2006/relationships/customXml" Target="../customXml/item4.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109" Type="http://schemas.openxmlformats.org/officeDocument/2006/relationships/slide" Target="slides/slide10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97" Type="http://schemas.openxmlformats.org/officeDocument/2006/relationships/slide" Target="slides/slide89.xml"/><Relationship Id="rId104" Type="http://schemas.openxmlformats.org/officeDocument/2006/relationships/slide" Target="slides/slide96.xml"/><Relationship Id="rId7" Type="http://schemas.openxmlformats.org/officeDocument/2006/relationships/slideMaster" Target="slideMasters/slideMaster2.xml"/><Relationship Id="rId71" Type="http://schemas.openxmlformats.org/officeDocument/2006/relationships/slide" Target="slides/slide63.xml"/><Relationship Id="rId92" Type="http://schemas.openxmlformats.org/officeDocument/2006/relationships/slide" Target="slides/slide84.xml"/><Relationship Id="rId2" Type="http://schemas.openxmlformats.org/officeDocument/2006/relationships/customXml" Target="../customXml/item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110" Type="http://schemas.openxmlformats.org/officeDocument/2006/relationships/notesMaster" Target="notesMasters/notesMaster1.xml"/><Relationship Id="rId115" Type="http://schemas.openxmlformats.org/officeDocument/2006/relationships/theme" Target="theme/theme1.xml"/><Relationship Id="rId61" Type="http://schemas.openxmlformats.org/officeDocument/2006/relationships/slide" Target="slides/slide53.xml"/><Relationship Id="rId82" Type="http://schemas.openxmlformats.org/officeDocument/2006/relationships/slide" Target="slides/slide7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 Id="rId100" Type="http://schemas.openxmlformats.org/officeDocument/2006/relationships/slide" Target="slides/slide92.xml"/><Relationship Id="rId105" Type="http://schemas.openxmlformats.org/officeDocument/2006/relationships/slide" Target="slides/slide97.xml"/><Relationship Id="rId8" Type="http://schemas.openxmlformats.org/officeDocument/2006/relationships/slideMaster" Target="slideMasters/slideMaster3.xml"/><Relationship Id="rId51" Type="http://schemas.openxmlformats.org/officeDocument/2006/relationships/slide" Target="slides/slide43.xml"/><Relationship Id="rId72" Type="http://schemas.openxmlformats.org/officeDocument/2006/relationships/slide" Target="slides/slide64.xml"/><Relationship Id="rId93" Type="http://schemas.openxmlformats.org/officeDocument/2006/relationships/slide" Target="slides/slide85.xml"/><Relationship Id="rId98" Type="http://schemas.openxmlformats.org/officeDocument/2006/relationships/slide" Target="slides/slide90.xml"/><Relationship Id="rId3" Type="http://schemas.openxmlformats.org/officeDocument/2006/relationships/customXml" Target="../customXml/item3.xml"/><Relationship Id="rId25" Type="http://schemas.openxmlformats.org/officeDocument/2006/relationships/slide" Target="slides/slide17.xml"/><Relationship Id="rId46" Type="http://schemas.openxmlformats.org/officeDocument/2006/relationships/slide" Target="slides/slide38.xml"/><Relationship Id="rId67" Type="http://schemas.openxmlformats.org/officeDocument/2006/relationships/slide" Target="slides/slide59.xml"/><Relationship Id="rId116" Type="http://schemas.openxmlformats.org/officeDocument/2006/relationships/tableStyles" Target="tableStyles.xml"/><Relationship Id="rId20" Type="http://schemas.openxmlformats.org/officeDocument/2006/relationships/slide" Target="slides/slide12.xml"/><Relationship Id="rId41" Type="http://schemas.openxmlformats.org/officeDocument/2006/relationships/slide" Target="slides/slide33.xml"/><Relationship Id="rId62" Type="http://schemas.openxmlformats.org/officeDocument/2006/relationships/slide" Target="slides/slide54.xml"/><Relationship Id="rId83" Type="http://schemas.openxmlformats.org/officeDocument/2006/relationships/slide" Target="slides/slide75.xml"/><Relationship Id="rId88" Type="http://schemas.openxmlformats.org/officeDocument/2006/relationships/slide" Target="slides/slide80.xml"/><Relationship Id="rId111" Type="http://schemas.openxmlformats.org/officeDocument/2006/relationships/handoutMaster" Target="handoutMasters/handoutMaster1.xml"/><Relationship Id="rId15" Type="http://schemas.openxmlformats.org/officeDocument/2006/relationships/slide" Target="slides/slide7.xml"/><Relationship Id="rId36" Type="http://schemas.openxmlformats.org/officeDocument/2006/relationships/slide" Target="slides/slide28.xml"/><Relationship Id="rId57" Type="http://schemas.openxmlformats.org/officeDocument/2006/relationships/slide" Target="slides/slide49.xml"/><Relationship Id="rId106" Type="http://schemas.openxmlformats.org/officeDocument/2006/relationships/slide" Target="slides/slide9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hsan Moravveji" userId="21e7e8ea3c9f37f0" providerId="LiveId" clId="{C80F5071-FEA0-442C-AFAB-4BFED2EB9ABE}"/>
    <pc:docChg chg="custSel delSld modSld delSection modSection">
      <pc:chgData name="Ehsan Moravveji" userId="21e7e8ea3c9f37f0" providerId="LiveId" clId="{C80F5071-FEA0-442C-AFAB-4BFED2EB9ABE}" dt="2025-11-26T09:22:19.833" v="21" actId="47"/>
      <pc:docMkLst>
        <pc:docMk/>
      </pc:docMkLst>
      <pc:sldChg chg="modSp mod">
        <pc:chgData name="Ehsan Moravveji" userId="21e7e8ea3c9f37f0" providerId="LiveId" clId="{C80F5071-FEA0-442C-AFAB-4BFED2EB9ABE}" dt="2025-11-26T09:19:32.413" v="15" actId="20577"/>
        <pc:sldMkLst>
          <pc:docMk/>
          <pc:sldMk cId="3682787303" sldId="411"/>
        </pc:sldMkLst>
        <pc:spChg chg="mod">
          <ac:chgData name="Ehsan Moravveji" userId="21e7e8ea3c9f37f0" providerId="LiveId" clId="{C80F5071-FEA0-442C-AFAB-4BFED2EB9ABE}" dt="2025-11-26T09:19:32.413" v="15" actId="20577"/>
          <ac:spMkLst>
            <pc:docMk/>
            <pc:sldMk cId="3682787303" sldId="411"/>
            <ac:spMk id="3" creationId="{00000000-0000-0000-0000-000000000000}"/>
          </ac:spMkLst>
        </pc:spChg>
      </pc:sldChg>
      <pc:sldChg chg="modSp">
        <pc:chgData name="Ehsan Moravveji" userId="21e7e8ea3c9f37f0" providerId="LiveId" clId="{C80F5071-FEA0-442C-AFAB-4BFED2EB9ABE}" dt="2025-11-26T09:16:47.297" v="3" actId="20577"/>
        <pc:sldMkLst>
          <pc:docMk/>
          <pc:sldMk cId="3713991744" sldId="999"/>
        </pc:sldMkLst>
        <pc:spChg chg="mod">
          <ac:chgData name="Ehsan Moravveji" userId="21e7e8ea3c9f37f0" providerId="LiveId" clId="{C80F5071-FEA0-442C-AFAB-4BFED2EB9ABE}" dt="2025-11-26T09:16:47.297" v="3" actId="20577"/>
          <ac:spMkLst>
            <pc:docMk/>
            <pc:sldMk cId="3713991744" sldId="999"/>
            <ac:spMk id="11" creationId="{00000000-0000-0000-0000-000000000000}"/>
          </ac:spMkLst>
        </pc:spChg>
      </pc:sldChg>
      <pc:sldChg chg="del">
        <pc:chgData name="Ehsan Moravveji" userId="21e7e8ea3c9f37f0" providerId="LiveId" clId="{C80F5071-FEA0-442C-AFAB-4BFED2EB9ABE}" dt="2025-11-26T09:22:19.833" v="21" actId="47"/>
        <pc:sldMkLst>
          <pc:docMk/>
          <pc:sldMk cId="2492046668" sldId="1659"/>
        </pc:sldMkLst>
      </pc:sldChg>
      <pc:sldChg chg="modSp mod">
        <pc:chgData name="Ehsan Moravveji" userId="21e7e8ea3c9f37f0" providerId="LiveId" clId="{C80F5071-FEA0-442C-AFAB-4BFED2EB9ABE}" dt="2025-11-26T09:21:32.167" v="19" actId="20577"/>
        <pc:sldMkLst>
          <pc:docMk/>
          <pc:sldMk cId="3004540505" sldId="1672"/>
        </pc:sldMkLst>
        <pc:spChg chg="mod">
          <ac:chgData name="Ehsan Moravveji" userId="21e7e8ea3c9f37f0" providerId="LiveId" clId="{C80F5071-FEA0-442C-AFAB-4BFED2EB9ABE}" dt="2025-11-26T09:21:32.167" v="19" actId="20577"/>
          <ac:spMkLst>
            <pc:docMk/>
            <pc:sldMk cId="3004540505" sldId="1672"/>
            <ac:spMk id="3" creationId="{00000000-0000-0000-0000-000000000000}"/>
          </ac:spMkLst>
        </pc:spChg>
      </pc:sldChg>
      <pc:sldChg chg="delSp modSp mod delAnim">
        <pc:chgData name="Ehsan Moravveji" userId="21e7e8ea3c9f37f0" providerId="LiveId" clId="{C80F5071-FEA0-442C-AFAB-4BFED2EB9ABE}" dt="2025-11-26T09:21:43.841" v="20" actId="20577"/>
        <pc:sldMkLst>
          <pc:docMk/>
          <pc:sldMk cId="1324385224" sldId="1674"/>
        </pc:sldMkLst>
        <pc:spChg chg="mod">
          <ac:chgData name="Ehsan Moravveji" userId="21e7e8ea3c9f37f0" providerId="LiveId" clId="{C80F5071-FEA0-442C-AFAB-4BFED2EB9ABE}" dt="2025-11-26T09:21:43.841" v="20" actId="20577"/>
          <ac:spMkLst>
            <pc:docMk/>
            <pc:sldMk cId="1324385224" sldId="1674"/>
            <ac:spMk id="4" creationId="{00000000-0000-0000-0000-000000000000}"/>
          </ac:spMkLst>
        </pc:spChg>
        <pc:spChg chg="mod">
          <ac:chgData name="Ehsan Moravveji" userId="21e7e8ea3c9f37f0" providerId="LiveId" clId="{C80F5071-FEA0-442C-AFAB-4BFED2EB9ABE}" dt="2025-11-26T09:17:38.496" v="11" actId="14100"/>
          <ac:spMkLst>
            <pc:docMk/>
            <pc:sldMk cId="1324385224" sldId="1674"/>
            <ac:spMk id="10" creationId="{70B81D1F-CF2E-A4F9-8EA3-655B76D8720B}"/>
          </ac:spMkLst>
        </pc:spChg>
        <pc:grpChg chg="mod">
          <ac:chgData name="Ehsan Moravveji" userId="21e7e8ea3c9f37f0" providerId="LiveId" clId="{C80F5071-FEA0-442C-AFAB-4BFED2EB9ABE}" dt="2025-11-26T09:17:23.076" v="9" actId="1076"/>
          <ac:grpSpMkLst>
            <pc:docMk/>
            <pc:sldMk cId="1324385224" sldId="1674"/>
            <ac:grpSpMk id="7" creationId="{AA319C3D-DC81-B4B6-6866-AC66BFEE1264}"/>
          </ac:grpSpMkLst>
        </pc:grpChg>
        <pc:grpChg chg="mod">
          <ac:chgData name="Ehsan Moravveji" userId="21e7e8ea3c9f37f0" providerId="LiveId" clId="{C80F5071-FEA0-442C-AFAB-4BFED2EB9ABE}" dt="2025-11-26T09:17:15.688" v="8" actId="1036"/>
          <ac:grpSpMkLst>
            <pc:docMk/>
            <pc:sldMk cId="1324385224" sldId="1674"/>
            <ac:grpSpMk id="8" creationId="{0D2995CF-4205-9B2E-5C21-148811C95B6E}"/>
          </ac:grpSpMkLst>
        </pc:grpChg>
        <pc:grpChg chg="del">
          <ac:chgData name="Ehsan Moravveji" userId="21e7e8ea3c9f37f0" providerId="LiveId" clId="{C80F5071-FEA0-442C-AFAB-4BFED2EB9ABE}" dt="2025-11-26T09:17:04.349" v="4" actId="478"/>
          <ac:grpSpMkLst>
            <pc:docMk/>
            <pc:sldMk cId="1324385224" sldId="1674"/>
            <ac:grpSpMk id="13" creationId="{8C4C736F-7311-0AFB-8348-7D67A86F411E}"/>
          </ac:grpSpMkLst>
        </pc:grpChg>
      </pc:sldChg>
      <pc:sldMasterChg chg="delSldLayout">
        <pc:chgData name="Ehsan Moravveji" userId="21e7e8ea3c9f37f0" providerId="LiveId" clId="{C80F5071-FEA0-442C-AFAB-4BFED2EB9ABE}" dt="2025-11-26T09:22:19.833" v="21" actId="47"/>
        <pc:sldMasterMkLst>
          <pc:docMk/>
          <pc:sldMasterMk cId="1330027387" sldId="2147483726"/>
        </pc:sldMasterMkLst>
        <pc:sldLayoutChg chg="del">
          <pc:chgData name="Ehsan Moravveji" userId="21e7e8ea3c9f37f0" providerId="LiveId" clId="{C80F5071-FEA0-442C-AFAB-4BFED2EB9ABE}" dt="2025-11-26T09:22:19.833" v="21" actId="47"/>
          <pc:sldLayoutMkLst>
            <pc:docMk/>
            <pc:sldMasterMk cId="1330027387" sldId="2147483726"/>
            <pc:sldLayoutMk cId="2036835177" sldId="2147483774"/>
          </pc:sldLayoutMkLst>
        </pc:sldLayoutChg>
      </pc:sldMasterChg>
    </pc:docChg>
  </pc:docChgLst>
  <pc:docChgLst>
    <pc:chgData name="Ehsan Moravveji" userId="21e7e8ea3c9f37f0" providerId="LiveId" clId="{CBC32F6F-CF69-4E7F-89BC-FCA91C9B9002}"/>
    <pc:docChg chg="modSld">
      <pc:chgData name="Ehsan Moravveji" userId="21e7e8ea3c9f37f0" providerId="LiveId" clId="{CBC32F6F-CF69-4E7F-89BC-FCA91C9B9002}" dt="2025-11-06T09:22:30.110" v="2" actId="20577"/>
      <pc:docMkLst>
        <pc:docMk/>
      </pc:docMkLst>
      <pc:sldChg chg="modSp">
        <pc:chgData name="Ehsan Moravveji" userId="21e7e8ea3c9f37f0" providerId="LiveId" clId="{CBC32F6F-CF69-4E7F-89BC-FCA91C9B9002}" dt="2025-11-06T09:22:30.110" v="2" actId="20577"/>
        <pc:sldMkLst>
          <pc:docMk/>
          <pc:sldMk cId="3556283273" sldId="1673"/>
        </pc:sldMkLst>
        <pc:spChg chg="mod">
          <ac:chgData name="Ehsan Moravveji" userId="21e7e8ea3c9f37f0" providerId="LiveId" clId="{CBC32F6F-CF69-4E7F-89BC-FCA91C9B9002}" dt="2025-11-06T09:22:30.110" v="2" actId="20577"/>
          <ac:spMkLst>
            <pc:docMk/>
            <pc:sldMk cId="3556283273" sldId="1673"/>
            <ac:spMk id="24" creationId="{7931979C-A5E3-1789-96C5-6ADB2DCBC7CD}"/>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 qsCatId="simple" csTypeId="urn:microsoft.com/office/officeart/2005/8/colors/accent1_2" csCatId="accent1" phldr="1"/>
      <dgm:spPr/>
    </dgm:pt>
    <dgm:pt modelId="{413FA03B-A9AF-48BD-9886-F39DE0D946BB}">
      <dgm:prSet phldrT="[Text]"/>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staging</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 qsCatId="simple" csTypeId="urn:microsoft.com/office/officeart/2005/8/colors/accent1_2"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staging</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4337" custLinFactNeighborY="513"/>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 qsCatId="simple" csTypeId="urn:microsoft.com/office/officeart/2005/8/colors/accent1_2"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staging</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79"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2007" custLinFactNeighborY="2884"/>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 qsCatId="simple" csTypeId="urn:microsoft.com/office/officeart/2005/8/colors/accent1_2"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staging</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38"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867" custLinFactNeighborY="3350"/>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 qsCatId="simple" csTypeId="urn:microsoft.com/office/officeart/2005/8/colors/accent1_2"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solidFill>
      </dgm:spPr>
      <dgm:t>
        <a:bodyPr/>
        <a:lstStyle/>
        <a:p>
          <a:r>
            <a:rPr lang="en-US" dirty="0"/>
            <a:t>staging</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38"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428" custLinFactNeighborY="490"/>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3731"/>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526588" y="151436"/>
          <a:ext cx="2180057" cy="2180057"/>
        </a:xfrm>
        <a:prstGeom prst="pie">
          <a:avLst>
            <a:gd name="adj1" fmla="val 16200000"/>
            <a:gd name="adj2" fmla="val 19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639975" y="385013"/>
        <a:ext cx="635849" cy="467155"/>
      </dsp:txXfrm>
    </dsp:sp>
    <dsp:sp modelId="{F2C2304E-EBDD-4BFD-856A-0BF7A53E74DD}">
      <dsp:nvSpPr>
        <dsp:cNvPr id="0" name=""/>
        <dsp:cNvSpPr/>
      </dsp:nvSpPr>
      <dsp:spPr>
        <a:xfrm>
          <a:off x="461706" y="263812"/>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007" y="1133240"/>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staging</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556255" y="274996"/>
          <a:ext cx="2180057" cy="2180057"/>
        </a:xfrm>
        <a:prstGeom prst="pie">
          <a:avLst>
            <a:gd name="adj1" fmla="val 19800000"/>
            <a:gd name="adj2" fmla="val 18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2048556" y="114442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staging</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3428"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5729" y="1134264"/>
        <a:ext cx="659207" cy="441202"/>
      </dsp:txXfrm>
    </dsp:sp>
    <dsp:sp modelId="{AD753434-8F18-4EC6-B4A4-C297E31D2F02}">
      <dsp:nvSpPr>
        <dsp:cNvPr id="0" name=""/>
        <dsp:cNvSpPr/>
      </dsp:nvSpPr>
      <dsp:spPr>
        <a:xfrm>
          <a:off x="505459" y="326685"/>
          <a:ext cx="2180057" cy="2180057"/>
        </a:xfrm>
        <a:prstGeom prst="pie">
          <a:avLst>
            <a:gd name="adj1" fmla="val 1800000"/>
            <a:gd name="adj2" fmla="val 54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618846" y="1806010"/>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staging</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2534"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835" y="113426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21004" y="336844"/>
          <a:ext cx="2180057" cy="2180057"/>
        </a:xfrm>
        <a:prstGeom prst="pie">
          <a:avLst>
            <a:gd name="adj1" fmla="val 5400000"/>
            <a:gd name="adj2" fmla="val 90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51825" y="1816169"/>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staging</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2534"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835" y="113426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52375" y="274495"/>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83196" y="1753819"/>
        <a:ext cx="635849" cy="467155"/>
      </dsp:txXfrm>
    </dsp:sp>
    <dsp:sp modelId="{0C388C87-16DF-4F7F-82C7-4444B2D331E1}">
      <dsp:nvSpPr>
        <dsp:cNvPr id="0" name=""/>
        <dsp:cNvSpPr/>
      </dsp:nvSpPr>
      <dsp:spPr>
        <a:xfrm>
          <a:off x="380368" y="263812"/>
          <a:ext cx="2180057" cy="2180057"/>
        </a:xfrm>
        <a:prstGeom prst="pie">
          <a:avLst>
            <a:gd name="adj1" fmla="val 9000000"/>
            <a:gd name="adj2" fmla="val 126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staging</a:t>
          </a:r>
        </a:p>
      </dsp:txBody>
      <dsp:txXfrm>
        <a:off x="414107"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layout1.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2.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3.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4.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5.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nl-BE" sz="1000" dirty="0">
              <a:latin typeface="Arial" pitchFamily="34" charset="0"/>
              <a:cs typeface="Arial" pitchFamily="34" charset="0"/>
            </a:endParaRPr>
          </a:p>
        </p:txBody>
      </p:sp>
      <p:sp>
        <p:nvSpPr>
          <p:cNvPr id="3" name="Tijdelijke aanduiding voor datum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E6185198-F140-406E-8F04-DE9D809B9791}" type="datetimeFigureOut">
              <a:rPr lang="nl-BE" sz="1000" smtClean="0">
                <a:latin typeface="Arial" pitchFamily="34" charset="0"/>
                <a:cs typeface="Arial" pitchFamily="34" charset="0"/>
              </a:rPr>
              <a:pPr/>
              <a:t>19/03/2026</a:t>
            </a:fld>
            <a:endParaRPr lang="nl-BE" sz="1000">
              <a:latin typeface="Arial" pitchFamily="34" charset="0"/>
              <a:cs typeface="Arial" pitchFamily="34" charset="0"/>
            </a:endParaRPr>
          </a:p>
        </p:txBody>
      </p:sp>
      <p:sp>
        <p:nvSpPr>
          <p:cNvPr id="4" name="Tijdelijke aanduiding voor voettekst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nl-BE" sz="1000">
              <a:latin typeface="Arial" pitchFamily="34" charset="0"/>
              <a:cs typeface="Arial" pitchFamily="34" charset="0"/>
            </a:endParaRPr>
          </a:p>
        </p:txBody>
      </p:sp>
      <p:sp>
        <p:nvSpPr>
          <p:cNvPr id="5" name="Tijdelijke aanduiding voor dianumm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A024B3E-C6E9-4CB0-843C-3CD5676655AA}" type="slidenum">
              <a:rPr lang="nl-BE" sz="1000" smtClean="0"/>
              <a:pPr/>
              <a:t>‹#›</a:t>
            </a:fld>
            <a:endParaRPr lang="nl-BE" sz="1000"/>
          </a:p>
        </p:txBody>
      </p:sp>
    </p:spTree>
    <p:extLst>
      <p:ext uri="{BB962C8B-B14F-4D97-AF65-F5344CB8AC3E}">
        <p14:creationId xmlns:p14="http://schemas.microsoft.com/office/powerpoint/2010/main" val="397321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Arial" pitchFamily="34" charset="0"/>
                <a:cs typeface="Arial" pitchFamily="34" charset="0"/>
              </a:defRPr>
            </a:lvl1pPr>
          </a:lstStyle>
          <a:p>
            <a:endParaRPr lang="nl-BE"/>
          </a:p>
        </p:txBody>
      </p:sp>
      <p:sp>
        <p:nvSpPr>
          <p:cNvPr id="3" name="Tijdelijke aanduiding voor datum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Arial" pitchFamily="34" charset="0"/>
                <a:cs typeface="Arial" pitchFamily="34" charset="0"/>
              </a:defRPr>
            </a:lvl1pPr>
          </a:lstStyle>
          <a:p>
            <a:fld id="{7AF0A2F9-EF49-41B3-9E69-7CDBDC14786A}" type="datetimeFigureOut">
              <a:rPr lang="nl-BE" smtClean="0"/>
              <a:pPr/>
              <a:t>19/03/2026</a:t>
            </a:fld>
            <a:endParaRPr lang="nl-BE"/>
          </a:p>
        </p:txBody>
      </p:sp>
      <p:sp>
        <p:nvSpPr>
          <p:cNvPr id="4" name="Tijdelijke aanduiding voor dia-afbeelding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540000" y="4320000"/>
            <a:ext cx="5760000" cy="4140000"/>
          </a:xfrm>
          <a:prstGeom prst="rect">
            <a:avLst/>
          </a:prstGeom>
        </p:spPr>
        <p:txBody>
          <a:bodyPr vert="horz" lIns="91440" tIns="45720" rIns="91440" bIns="45720" rtlCol="0"/>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6" name="Tijdelijke aanduiding voor voettekst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Arial" pitchFamily="34" charset="0"/>
                <a:cs typeface="Arial" pitchFamily="34" charset="0"/>
              </a:defRPr>
            </a:lvl1pPr>
          </a:lstStyle>
          <a:p>
            <a:endParaRPr lang="nl-BE"/>
          </a:p>
        </p:txBody>
      </p:sp>
      <p:sp>
        <p:nvSpPr>
          <p:cNvPr id="7" name="Tijdelijke aanduiding voor dianumm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Arial" pitchFamily="34" charset="0"/>
                <a:cs typeface="Arial" pitchFamily="34" charset="0"/>
              </a:defRPr>
            </a:lvl1pPr>
          </a:lstStyle>
          <a:p>
            <a:fld id="{17C257C2-8D60-4760-88CB-024AF3EEC641}" type="slidenum">
              <a:rPr lang="nl-BE" smtClean="0"/>
              <a:pPr/>
              <a:t>‹#›</a:t>
            </a:fld>
            <a:endParaRPr lang="nl-BE"/>
          </a:p>
        </p:txBody>
      </p:sp>
    </p:spTree>
    <p:extLst>
      <p:ext uri="{BB962C8B-B14F-4D97-AF65-F5344CB8AC3E}">
        <p14:creationId xmlns:p14="http://schemas.microsoft.com/office/powerpoint/2010/main" val="329475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Arial" pitchFamily="34" charset="0"/>
      </a:defRPr>
    </a:lvl1pPr>
    <a:lvl2pPr marL="457200" algn="l" defTabSz="914400" rtl="0" eaLnBrk="1" latinLnBrk="0" hangingPunct="1">
      <a:defRPr sz="1200" kern="1200">
        <a:solidFill>
          <a:schemeClr val="tx1"/>
        </a:solidFill>
        <a:latin typeface="Arial" pitchFamily="34" charset="0"/>
        <a:ea typeface="+mn-ea"/>
        <a:cs typeface="Arial" pitchFamily="34" charset="0"/>
      </a:defRPr>
    </a:lvl2pPr>
    <a:lvl3pPr marL="914400" algn="l" defTabSz="914400" rtl="0" eaLnBrk="1" latinLnBrk="0" hangingPunct="1">
      <a:defRPr sz="1200" kern="1200">
        <a:solidFill>
          <a:schemeClr val="tx1"/>
        </a:solidFill>
        <a:latin typeface="Arial" pitchFamily="34" charset="0"/>
        <a:ea typeface="+mn-ea"/>
        <a:cs typeface="Arial" pitchFamily="34" charset="0"/>
      </a:defRPr>
    </a:lvl3pPr>
    <a:lvl4pPr marL="1371600" algn="l" defTabSz="914400" rtl="0" eaLnBrk="1" latinLnBrk="0" hangingPunct="1">
      <a:defRPr sz="1200" kern="1200">
        <a:solidFill>
          <a:schemeClr val="tx1"/>
        </a:solidFill>
        <a:latin typeface="Arial" pitchFamily="34" charset="0"/>
        <a:ea typeface="+mn-ea"/>
        <a:cs typeface="Arial" pitchFamily="34" charset="0"/>
      </a:defRPr>
    </a:lvl4pPr>
    <a:lvl5pPr marL="1828800" algn="l" defTabSz="914400" rtl="0" eaLnBrk="1" latinLnBrk="0" hangingPunct="1">
      <a:defRPr sz="1200" kern="1200">
        <a:solidFill>
          <a:schemeClr val="tx1"/>
        </a:solidFill>
        <a:latin typeface="Arial" pitchFamily="34" charset="0"/>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a:t>
            </a:fld>
            <a:endParaRPr lang="nl-BE"/>
          </a:p>
        </p:txBody>
      </p:sp>
    </p:spTree>
    <p:extLst>
      <p:ext uri="{BB962C8B-B14F-4D97-AF65-F5344CB8AC3E}">
        <p14:creationId xmlns:p14="http://schemas.microsoft.com/office/powerpoint/2010/main" val="299510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999D9-AA4E-D1A7-FBDB-A0931FF563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303E6E-F49A-0F00-7367-4DA9A802DA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4EA8F4-63A5-53C1-0969-50676DB1F8E6}"/>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FA19C445-1B7B-5D34-BA55-B9282171596C}"/>
              </a:ext>
            </a:extLst>
          </p:cNvPr>
          <p:cNvSpPr>
            <a:spLocks noGrp="1"/>
          </p:cNvSpPr>
          <p:nvPr>
            <p:ph type="sldNum" sz="quarter" idx="10"/>
          </p:nvPr>
        </p:nvSpPr>
        <p:spPr/>
        <p:txBody>
          <a:bodyPr/>
          <a:lstStyle/>
          <a:p>
            <a:fld id="{17C257C2-8D60-4760-88CB-024AF3EEC641}" type="slidenum">
              <a:rPr lang="nl-BE" smtClean="0"/>
              <a:pPr/>
              <a:t>3</a:t>
            </a:fld>
            <a:endParaRPr lang="nl-BE"/>
          </a:p>
        </p:txBody>
      </p:sp>
    </p:spTree>
    <p:extLst>
      <p:ext uri="{BB962C8B-B14F-4D97-AF65-F5344CB8AC3E}">
        <p14:creationId xmlns:p14="http://schemas.microsoft.com/office/powerpoint/2010/main" val="33900004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a:t>
            </a:r>
            <a:r>
              <a:rPr lang="en-US" baseline="0" dirty="0"/>
              <a:t> there is a pool of computing resources made available to you which are waiting to receive instructions from the user. The nodes are all inter-connected, which means you can employ more than one node in a specific compute task, and the nodes within the task can communicate with one another at runtime, whenever needed.</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a:t>
            </a:fld>
            <a:endParaRPr lang="nl-BE"/>
          </a:p>
        </p:txBody>
      </p:sp>
    </p:spTree>
    <p:extLst>
      <p:ext uri="{BB962C8B-B14F-4D97-AF65-F5344CB8AC3E}">
        <p14:creationId xmlns:p14="http://schemas.microsoft.com/office/powerpoint/2010/main" val="9284657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a:t>
            </a:fld>
            <a:endParaRPr lang="nl-BE"/>
          </a:p>
        </p:txBody>
      </p:sp>
    </p:spTree>
    <p:extLst>
      <p:ext uri="{BB962C8B-B14F-4D97-AF65-F5344CB8AC3E}">
        <p14:creationId xmlns:p14="http://schemas.microsoft.com/office/powerpoint/2010/main" val="4141884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6</a:t>
            </a:fld>
            <a:endParaRPr lang="en-US"/>
          </a:p>
        </p:txBody>
      </p:sp>
    </p:spTree>
    <p:extLst>
      <p:ext uri="{BB962C8B-B14F-4D97-AF65-F5344CB8AC3E}">
        <p14:creationId xmlns:p14="http://schemas.microsoft.com/office/powerpoint/2010/main" val="405703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VSC is a partnership between 5 major universities</a:t>
            </a:r>
            <a:r>
              <a:rPr lang="en-US" baseline="0" dirty="0"/>
              <a:t> and associations in Flanders, namely … and is spread among 4 sites. </a:t>
            </a:r>
            <a:br>
              <a:rPr lang="en-US" baseline="0" dirty="0"/>
            </a:br>
            <a:r>
              <a:rPr lang="en-US" baseline="0" dirty="0"/>
              <a:t>VSC is sponsored by the Flemish research organization FWO. The idea is that the academics (scientists, students) and industrial partners in Flanders have an easy access to compute and storage facilities. </a:t>
            </a:r>
            <a:br>
              <a:rPr lang="en-US" baseline="0" dirty="0"/>
            </a:br>
            <a:r>
              <a:rPr lang="en-US" baseline="0" dirty="0"/>
              <a:t>Hence any individual with a single VSC account is eligible to compute on any cluster/site that he/she </a:t>
            </a:r>
            <a:r>
              <a:rPr lang="en-US" baseline="0" dirty="0" err="1"/>
              <a:t>deires</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7</a:t>
            </a:fld>
            <a:endParaRPr lang="nl-BE"/>
          </a:p>
        </p:txBody>
      </p:sp>
    </p:spTree>
    <p:extLst>
      <p:ext uri="{BB962C8B-B14F-4D97-AF65-F5344CB8AC3E}">
        <p14:creationId xmlns:p14="http://schemas.microsoft.com/office/powerpoint/2010/main" val="1781041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8</a:t>
            </a:fld>
            <a:endParaRPr lang="nl-BE"/>
          </a:p>
        </p:txBody>
      </p:sp>
    </p:spTree>
    <p:extLst>
      <p:ext uri="{BB962C8B-B14F-4D97-AF65-F5344CB8AC3E}">
        <p14:creationId xmlns:p14="http://schemas.microsoft.com/office/powerpoint/2010/main" val="36818303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items are indexed</a:t>
            </a:r>
          </a:p>
          <a:p>
            <a:r>
              <a:rPr lang="en-US" dirty="0"/>
              <a:t>There</a:t>
            </a:r>
            <a:r>
              <a:rPr lang="en-US" baseline="0" dirty="0"/>
              <a:t> is a power search engine there.</a:t>
            </a:r>
          </a:p>
          <a:p>
            <a:r>
              <a:rPr lang="en-US" baseline="0" dirty="0"/>
              <a:t>Just put a </a:t>
            </a:r>
            <a:r>
              <a:rPr lang="en-US" baseline="0"/>
              <a:t>keyword there.</a:t>
            </a:r>
            <a:endParaRPr lang="nl-BE"/>
          </a:p>
        </p:txBody>
      </p:sp>
      <p:sp>
        <p:nvSpPr>
          <p:cNvPr id="4" name="Slide Number Placeholder 3"/>
          <p:cNvSpPr>
            <a:spLocks noGrp="1"/>
          </p:cNvSpPr>
          <p:nvPr>
            <p:ph type="sldNum" sz="quarter" idx="10"/>
          </p:nvPr>
        </p:nvSpPr>
        <p:spPr/>
        <p:txBody>
          <a:bodyPr/>
          <a:lstStyle/>
          <a:p>
            <a:fld id="{17C257C2-8D60-4760-88CB-024AF3EEC641}" type="slidenum">
              <a:rPr lang="nl-BE" smtClean="0"/>
              <a:pPr/>
              <a:t>10</a:t>
            </a:fld>
            <a:endParaRPr lang="nl-BE"/>
          </a:p>
        </p:txBody>
      </p:sp>
    </p:spTree>
    <p:extLst>
      <p:ext uri="{BB962C8B-B14F-4D97-AF65-F5344CB8AC3E}">
        <p14:creationId xmlns:p14="http://schemas.microsoft.com/office/powerpoint/2010/main" val="3545313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13</a:t>
            </a:fld>
            <a:endParaRPr lang="nl-BE"/>
          </a:p>
        </p:txBody>
      </p:sp>
    </p:spTree>
    <p:extLst>
      <p:ext uri="{BB962C8B-B14F-4D97-AF65-F5344CB8AC3E}">
        <p14:creationId xmlns:p14="http://schemas.microsoft.com/office/powerpoint/2010/main" val="698646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14</a:t>
            </a:fld>
            <a:endParaRPr lang="nl-BE"/>
          </a:p>
        </p:txBody>
      </p:sp>
    </p:spTree>
    <p:extLst>
      <p:ext uri="{BB962C8B-B14F-4D97-AF65-F5344CB8AC3E}">
        <p14:creationId xmlns:p14="http://schemas.microsoft.com/office/powerpoint/2010/main" val="23342267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16</a:t>
            </a:fld>
            <a:endParaRPr lang="en-US"/>
          </a:p>
        </p:txBody>
      </p:sp>
    </p:spTree>
    <p:extLst>
      <p:ext uri="{BB962C8B-B14F-4D97-AF65-F5344CB8AC3E}">
        <p14:creationId xmlns:p14="http://schemas.microsoft.com/office/powerpoint/2010/main" val="32021718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a:t>
            </a:r>
            <a:r>
              <a:rPr lang="en-US" baseline="0" dirty="0"/>
              <a:t> VSC users can use Tier-2 clusters from any site they desire.</a:t>
            </a:r>
          </a:p>
          <a:p>
            <a:r>
              <a:rPr lang="en-US" baseline="0" dirty="0"/>
              <a:t>If you still require more compute resources which does not fit into available Tier-2 limits, you can apply for Tier-1 compute time.</a:t>
            </a:r>
          </a:p>
          <a:p>
            <a:r>
              <a:rPr lang="en-US" baseline="0" dirty="0"/>
              <a:t>Even if Tier-1 level is insufficient, you can apply for Tier-0 level where Belgium is also part of a European consortium.</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17</a:t>
            </a:fld>
            <a:endParaRPr lang="nl-BE"/>
          </a:p>
        </p:txBody>
      </p:sp>
    </p:spTree>
    <p:extLst>
      <p:ext uri="{BB962C8B-B14F-4D97-AF65-F5344CB8AC3E}">
        <p14:creationId xmlns:p14="http://schemas.microsoft.com/office/powerpoint/2010/main" val="14195863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0675954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28877301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24</a:t>
            </a:fld>
            <a:endParaRPr lang="en-US"/>
          </a:p>
        </p:txBody>
      </p:sp>
    </p:spTree>
    <p:extLst>
      <p:ext uri="{BB962C8B-B14F-4D97-AF65-F5344CB8AC3E}">
        <p14:creationId xmlns:p14="http://schemas.microsoft.com/office/powerpoint/2010/main" val="6824048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1ED74-004A-986A-68EB-D55CADD61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2889EB-4207-B2FB-72E0-A4909AE29D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259F6F-A2CC-BC9F-3131-F6609BC2E935}"/>
              </a:ext>
            </a:extLst>
          </p:cNvPr>
          <p:cNvSpPr>
            <a:spLocks noGrp="1"/>
          </p:cNvSpPr>
          <p:nvPr>
            <p:ph type="body" idx="1"/>
          </p:nvPr>
        </p:nvSpPr>
        <p:spPr/>
        <p:txBody>
          <a:bodyPr/>
          <a:lstStyle/>
          <a:p>
            <a:r>
              <a:rPr lang="en-US" b="1">
                <a:solidFill>
                  <a:srgbClr val="569CD6"/>
                </a:solidFill>
                <a:effectLst/>
                <a:latin typeface="Consolas" panose="020B0609020204030204" pitchFamily="49" charset="0"/>
              </a:rPr>
              <a:t>How can ManGO help your research?</a:t>
            </a:r>
            <a:endParaRPr lang="en-US" b="0">
              <a:solidFill>
                <a:srgbClr val="D4D4D4"/>
              </a:solidFill>
              <a:effectLst/>
              <a:latin typeface="Consolas" panose="020B0609020204030204" pitchFamily="49" charset="0"/>
            </a:endParaRPr>
          </a:p>
          <a:p>
            <a:br>
              <a:rPr lang="en-US" b="0">
                <a:solidFill>
                  <a:srgbClr val="D4D4D4"/>
                </a:solidFill>
                <a:effectLst/>
                <a:latin typeface="Consolas" panose="020B0609020204030204" pitchFamily="49" charset="0"/>
              </a:rPr>
            </a:br>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Centralization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Consistent, usable description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Organization of permissions</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Automation</a:t>
            </a:r>
          </a:p>
          <a:p>
            <a:endParaRPr lang="nl-BE" baseline="0">
              <a:sym typeface="Wingdings" panose="05000000000000000000" pitchFamily="2" charset="2"/>
            </a:endParaRPr>
          </a:p>
        </p:txBody>
      </p:sp>
      <p:sp>
        <p:nvSpPr>
          <p:cNvPr id="4" name="Slide Number Placeholder 3">
            <a:extLst>
              <a:ext uri="{FF2B5EF4-FFF2-40B4-BE49-F238E27FC236}">
                <a16:creationId xmlns:a16="http://schemas.microsoft.com/office/drawing/2014/main" id="{1087392F-882C-3372-C79D-E4F979ACF278}"/>
              </a:ext>
            </a:extLst>
          </p:cNvPr>
          <p:cNvSpPr>
            <a:spLocks noGrp="1"/>
          </p:cNvSpPr>
          <p:nvPr>
            <p:ph type="sldNum" sz="quarter" idx="10"/>
          </p:nvPr>
        </p:nvSpPr>
        <p:spPr/>
        <p:txBody>
          <a:bodyPr/>
          <a:lstStyle/>
          <a:p>
            <a:fld id="{1792FB45-5863-49D1-8926-D42AE452AB79}" type="slidenum">
              <a:rPr lang="en-US" smtClean="0"/>
              <a:t>34</a:t>
            </a:fld>
            <a:endParaRPr lang="en-US"/>
          </a:p>
        </p:txBody>
      </p:sp>
    </p:spTree>
    <p:extLst>
      <p:ext uri="{BB962C8B-B14F-4D97-AF65-F5344CB8AC3E}">
        <p14:creationId xmlns:p14="http://schemas.microsoft.com/office/powerpoint/2010/main" val="13297409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B6333-E935-612D-9EC9-908E903A9B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CDD57-90B2-EBE2-4EA6-6E4BB7B88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36CF17-641D-B59E-43D6-D15661C2EA7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1C391A4-5756-B543-FBC6-9E3967341FE9}"/>
              </a:ext>
            </a:extLst>
          </p:cNvPr>
          <p:cNvSpPr>
            <a:spLocks noGrp="1"/>
          </p:cNvSpPr>
          <p:nvPr>
            <p:ph type="sldNum" sz="quarter" idx="10"/>
          </p:nvPr>
        </p:nvSpPr>
        <p:spPr/>
        <p:txBody>
          <a:bodyPr/>
          <a:lstStyle/>
          <a:p>
            <a:fld id="{4C267D3A-53C5-436C-98E7-077C76BAA4B2}" type="slidenum">
              <a:rPr lang="en-US" smtClean="0"/>
              <a:t>35</a:t>
            </a:fld>
            <a:endParaRPr lang="en-US"/>
          </a:p>
        </p:txBody>
      </p:sp>
    </p:spTree>
    <p:extLst>
      <p:ext uri="{BB962C8B-B14F-4D97-AF65-F5344CB8AC3E}">
        <p14:creationId xmlns:p14="http://schemas.microsoft.com/office/powerpoint/2010/main" val="8778299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BE" dirty="0" err="1">
                <a:latin typeface="Arial"/>
                <a:cs typeface="Arial"/>
              </a:rPr>
              <a:t>What</a:t>
            </a:r>
            <a:r>
              <a:rPr lang="nl-BE" dirty="0">
                <a:latin typeface="Arial"/>
                <a:cs typeface="Arial"/>
              </a:rPr>
              <a:t> is a credit?  A credit is </a:t>
            </a:r>
            <a:r>
              <a:rPr lang="nl-BE" dirty="0" err="1">
                <a:latin typeface="Arial"/>
                <a:cs typeface="Arial"/>
              </a:rPr>
              <a:t>nothing</a:t>
            </a:r>
            <a:r>
              <a:rPr lang="nl-BE" dirty="0">
                <a:latin typeface="Arial"/>
                <a:cs typeface="Arial"/>
              </a:rPr>
              <a:t> more </a:t>
            </a:r>
            <a:r>
              <a:rPr lang="nl-BE" dirty="0" err="1">
                <a:latin typeface="Arial"/>
                <a:cs typeface="Arial"/>
              </a:rPr>
              <a:t>than</a:t>
            </a:r>
            <a:r>
              <a:rPr lang="nl-BE" dirty="0">
                <a:latin typeface="Arial"/>
                <a:cs typeface="Arial"/>
              </a:rPr>
              <a:t> a </a:t>
            </a:r>
            <a:r>
              <a:rPr lang="nl-BE" dirty="0" err="1">
                <a:latin typeface="Arial"/>
                <a:cs typeface="Arial"/>
              </a:rPr>
              <a:t>measure</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an</a:t>
            </a:r>
            <a:r>
              <a:rPr lang="nl-BE" dirty="0">
                <a:latin typeface="Arial"/>
                <a:cs typeface="Arial"/>
              </a:rPr>
              <a:t> </a:t>
            </a:r>
            <a:r>
              <a:rPr lang="nl-BE" dirty="0" err="1">
                <a:latin typeface="Arial"/>
                <a:cs typeface="Arial"/>
              </a:rPr>
              <a:t>amount</a:t>
            </a:r>
            <a:r>
              <a:rPr lang="nl-BE" dirty="0">
                <a:latin typeface="Arial"/>
                <a:cs typeface="Arial"/>
              </a:rPr>
              <a:t> of </a:t>
            </a:r>
            <a:r>
              <a:rPr lang="nl-BE" dirty="0" err="1">
                <a:latin typeface="Arial"/>
                <a:cs typeface="Arial"/>
              </a:rPr>
              <a:t>compute</a:t>
            </a:r>
            <a:r>
              <a:rPr lang="nl-BE" dirty="0">
                <a:latin typeface="Arial"/>
                <a:cs typeface="Arial"/>
              </a:rPr>
              <a:t> time. How we </a:t>
            </a:r>
            <a:r>
              <a:rPr lang="nl-BE" dirty="0" err="1">
                <a:latin typeface="Arial"/>
                <a:cs typeface="Arial"/>
              </a:rPr>
              <a:t>came</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credit ratio is a long </a:t>
            </a:r>
            <a:r>
              <a:rPr lang="nl-BE" dirty="0" err="1">
                <a:latin typeface="Arial"/>
                <a:cs typeface="Arial"/>
              </a:rPr>
              <a:t>history</a:t>
            </a:r>
            <a:r>
              <a:rPr lang="nl-BE" dirty="0">
                <a:latin typeface="Arial"/>
                <a:cs typeface="Arial"/>
              </a:rPr>
              <a:t>, </a:t>
            </a:r>
            <a:r>
              <a:rPr lang="nl-BE" dirty="0" err="1">
                <a:latin typeface="Arial"/>
                <a:cs typeface="Arial"/>
              </a:rPr>
              <a:t>which</a:t>
            </a:r>
            <a:r>
              <a:rPr lang="nl-BE" dirty="0">
                <a:latin typeface="Arial"/>
                <a:cs typeface="Arial"/>
              </a:rPr>
              <a:t> is </a:t>
            </a:r>
            <a:r>
              <a:rPr lang="nl-BE" dirty="0" err="1">
                <a:latin typeface="Arial"/>
                <a:cs typeface="Arial"/>
              </a:rPr>
              <a:t>not</a:t>
            </a:r>
            <a:r>
              <a:rPr lang="nl-BE" dirty="0">
                <a:latin typeface="Arial"/>
                <a:cs typeface="Arial"/>
              </a:rPr>
              <a:t> </a:t>
            </a:r>
            <a:r>
              <a:rPr lang="nl-BE" dirty="0" err="1">
                <a:latin typeface="Arial"/>
                <a:cs typeface="Arial"/>
              </a:rPr>
              <a:t>really</a:t>
            </a:r>
            <a:r>
              <a:rPr lang="nl-BE" dirty="0">
                <a:latin typeface="Arial"/>
                <a:cs typeface="Arial"/>
              </a:rPr>
              <a:t> relevant. </a:t>
            </a:r>
          </a:p>
          <a:p>
            <a:endParaRPr lang="nl-BE" dirty="0">
              <a:latin typeface="Arial"/>
              <a:cs typeface="Arial"/>
            </a:endParaRPr>
          </a:p>
          <a:p>
            <a:r>
              <a:rPr lang="nl-BE" dirty="0">
                <a:latin typeface="Arial"/>
                <a:cs typeface="Arial"/>
              </a:rPr>
              <a:t>The list below shows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types of nodes in </a:t>
            </a:r>
            <a:r>
              <a:rPr lang="nl-BE" dirty="0" err="1">
                <a:latin typeface="Arial"/>
                <a:cs typeface="Arial"/>
              </a:rPr>
              <a:t>our</a:t>
            </a:r>
            <a:r>
              <a:rPr lang="nl-BE" dirty="0">
                <a:latin typeface="Arial"/>
                <a:cs typeface="Arial"/>
              </a:rPr>
              <a:t> Tier-2 environment and there credit usage ratio. </a:t>
            </a:r>
            <a:r>
              <a:rPr lang="nl-BE" dirty="0" err="1">
                <a:latin typeface="Arial"/>
                <a:cs typeface="Arial"/>
              </a:rPr>
              <a:t>Please</a:t>
            </a:r>
            <a:r>
              <a:rPr lang="nl-BE" dirty="0">
                <a:latin typeface="Arial"/>
                <a:cs typeface="Arial"/>
              </a:rPr>
              <a:t> consult </a:t>
            </a:r>
            <a:r>
              <a:rPr lang="nl-BE" dirty="0" err="1">
                <a:latin typeface="Arial"/>
                <a:cs typeface="Arial"/>
              </a:rPr>
              <a:t>the</a:t>
            </a:r>
            <a:r>
              <a:rPr lang="nl-BE" dirty="0">
                <a:latin typeface="Arial"/>
                <a:cs typeface="Arial"/>
              </a:rPr>
              <a:t> service </a:t>
            </a:r>
            <a:r>
              <a:rPr lang="nl-BE" dirty="0" err="1">
                <a:latin typeface="Arial"/>
                <a:cs typeface="Arial"/>
              </a:rPr>
              <a:t>catalogue</a:t>
            </a:r>
            <a:r>
              <a:rPr lang="nl-BE" dirty="0">
                <a:latin typeface="Arial"/>
                <a:cs typeface="Arial"/>
              </a:rPr>
              <a:t> </a:t>
            </a:r>
            <a:r>
              <a:rPr lang="nl-BE" dirty="0" err="1">
                <a:latin typeface="Arial"/>
                <a:cs typeface="Arial"/>
              </a:rPr>
              <a:t>for</a:t>
            </a:r>
            <a:r>
              <a:rPr lang="nl-BE" dirty="0">
                <a:latin typeface="Arial"/>
                <a:cs typeface="Arial"/>
              </a:rPr>
              <a:t> up </a:t>
            </a:r>
            <a:r>
              <a:rPr lang="nl-BE" dirty="0" err="1">
                <a:latin typeface="Arial"/>
                <a:cs typeface="Arial"/>
              </a:rPr>
              <a:t>to</a:t>
            </a:r>
            <a:r>
              <a:rPr lang="nl-BE" dirty="0">
                <a:latin typeface="Arial"/>
                <a:cs typeface="Arial"/>
              </a:rPr>
              <a:t> date </a:t>
            </a:r>
            <a:r>
              <a:rPr lang="nl-BE" dirty="0" err="1">
                <a:latin typeface="Arial"/>
                <a:cs typeface="Arial"/>
              </a:rPr>
              <a:t>available</a:t>
            </a:r>
            <a:r>
              <a:rPr lang="nl-BE" dirty="0">
                <a:latin typeface="Arial"/>
                <a:cs typeface="Arial"/>
              </a:rPr>
              <a:t> systems, </a:t>
            </a:r>
            <a:r>
              <a:rPr lang="nl-BE" dirty="0" err="1">
                <a:latin typeface="Arial"/>
                <a:cs typeface="Arial"/>
              </a:rPr>
              <a:t>their</a:t>
            </a:r>
            <a:r>
              <a:rPr lang="nl-BE" dirty="0">
                <a:latin typeface="Arial"/>
                <a:cs typeface="Arial"/>
              </a:rPr>
              <a:t> credit </a:t>
            </a:r>
            <a:r>
              <a:rPr lang="nl-BE" dirty="0" err="1">
                <a:latin typeface="Arial"/>
                <a:cs typeface="Arial"/>
              </a:rPr>
              <a:t>rates</a:t>
            </a:r>
            <a:r>
              <a:rPr lang="nl-BE" dirty="0">
                <a:latin typeface="Arial"/>
                <a:cs typeface="Arial"/>
              </a:rPr>
              <a:t> and </a:t>
            </a:r>
            <a:r>
              <a:rPr lang="nl-BE" dirty="0" err="1">
                <a:latin typeface="Arial"/>
                <a:cs typeface="Arial"/>
              </a:rPr>
              <a:t>the</a:t>
            </a:r>
            <a:r>
              <a:rPr lang="nl-BE" dirty="0">
                <a:latin typeface="Arial"/>
                <a:cs typeface="Arial"/>
              </a:rPr>
              <a:t> credit </a:t>
            </a:r>
            <a:r>
              <a:rPr lang="nl-BE" dirty="0" err="1">
                <a:latin typeface="Arial"/>
                <a:cs typeface="Arial"/>
              </a:rPr>
              <a:t>cost</a:t>
            </a:r>
            <a:r>
              <a:rPr lang="nl-BE" dirty="0">
                <a:latin typeface="Arial"/>
                <a:cs typeface="Arial"/>
              </a:rPr>
              <a:t>. </a:t>
            </a:r>
          </a:p>
          <a:p>
            <a:r>
              <a:rPr lang="nl-BE" dirty="0">
                <a:latin typeface="Arial"/>
                <a:cs typeface="Arial"/>
              </a:rPr>
              <a:t>From </a:t>
            </a:r>
            <a:r>
              <a:rPr lang="nl-BE" dirty="0" err="1">
                <a:latin typeface="Arial"/>
                <a:cs typeface="Arial"/>
              </a:rPr>
              <a:t>the</a:t>
            </a:r>
            <a:r>
              <a:rPr lang="nl-BE" dirty="0">
                <a:latin typeface="Arial"/>
                <a:cs typeface="Arial"/>
              </a:rPr>
              <a:t> </a:t>
            </a:r>
            <a:r>
              <a:rPr lang="nl-BE" dirty="0" err="1">
                <a:latin typeface="Arial"/>
                <a:cs typeface="Arial"/>
              </a:rPr>
              <a:t>table</a:t>
            </a:r>
            <a:r>
              <a:rPr lang="nl-BE" dirty="0">
                <a:latin typeface="Arial"/>
                <a:cs typeface="Arial"/>
              </a:rPr>
              <a:t> you can </a:t>
            </a:r>
            <a:r>
              <a:rPr lang="nl-BE" dirty="0" err="1">
                <a:latin typeface="Arial"/>
                <a:cs typeface="Arial"/>
              </a:rPr>
              <a:t>see</a:t>
            </a:r>
            <a:r>
              <a:rPr lang="nl-BE" dirty="0">
                <a:latin typeface="Arial"/>
                <a:cs typeface="Arial"/>
              </a:rPr>
              <a:t> that a GPU node is a lot more </a:t>
            </a:r>
            <a:r>
              <a:rPr lang="nl-BE" dirty="0" err="1">
                <a:latin typeface="Arial"/>
                <a:cs typeface="Arial"/>
              </a:rPr>
              <a:t>expensive</a:t>
            </a:r>
            <a:r>
              <a:rPr lang="nl-BE" dirty="0">
                <a:latin typeface="Arial"/>
                <a:cs typeface="Arial"/>
              </a:rPr>
              <a:t>. But these also </a:t>
            </a:r>
            <a:r>
              <a:rPr lang="nl-BE" dirty="0" err="1">
                <a:latin typeface="Arial"/>
                <a:cs typeface="Arial"/>
              </a:rPr>
              <a:t>includes</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four</a:t>
            </a:r>
            <a:r>
              <a:rPr lang="nl-BE" dirty="0">
                <a:latin typeface="Arial"/>
                <a:cs typeface="Arial"/>
              </a:rPr>
              <a:t> or </a:t>
            </a:r>
            <a:r>
              <a:rPr lang="nl-BE" dirty="0" err="1">
                <a:latin typeface="Arial"/>
                <a:cs typeface="Arial"/>
              </a:rPr>
              <a:t>eight</a:t>
            </a:r>
            <a:r>
              <a:rPr lang="nl-BE" dirty="0">
                <a:latin typeface="Arial"/>
                <a:cs typeface="Arial"/>
              </a:rPr>
              <a:t> </a:t>
            </a:r>
            <a:r>
              <a:rPr lang="nl-BE" dirty="0" err="1">
                <a:latin typeface="Arial"/>
                <a:cs typeface="Arial"/>
              </a:rPr>
              <a:t>GPUs</a:t>
            </a:r>
            <a:r>
              <a:rPr lang="nl-BE" dirty="0">
                <a:latin typeface="Arial"/>
                <a:cs typeface="Arial"/>
              </a:rPr>
              <a:t> in </a:t>
            </a:r>
            <a:r>
              <a:rPr lang="nl-BE" dirty="0" err="1">
                <a:latin typeface="Arial"/>
                <a:cs typeface="Arial"/>
              </a:rPr>
              <a:t>the</a:t>
            </a:r>
            <a:r>
              <a:rPr lang="nl-BE" dirty="0">
                <a:latin typeface="Arial"/>
                <a:cs typeface="Arial"/>
              </a:rPr>
              <a:t> machine. </a:t>
            </a:r>
            <a:r>
              <a:rPr lang="nl-BE" dirty="0" err="1">
                <a:latin typeface="Arial"/>
                <a:cs typeface="Arial"/>
              </a:rPr>
              <a:t>Which</a:t>
            </a:r>
            <a:r>
              <a:rPr lang="nl-BE" dirty="0">
                <a:latin typeface="Arial"/>
                <a:cs typeface="Arial"/>
              </a:rPr>
              <a:t> are </a:t>
            </a:r>
            <a:r>
              <a:rPr lang="nl-BE" dirty="0" err="1">
                <a:latin typeface="Arial"/>
                <a:cs typeface="Arial"/>
              </a:rPr>
              <a:t>actually</a:t>
            </a:r>
            <a:r>
              <a:rPr lang="nl-BE" dirty="0">
                <a:latin typeface="Arial"/>
                <a:cs typeface="Arial"/>
              </a:rPr>
              <a:t> </a:t>
            </a:r>
            <a:r>
              <a:rPr lang="nl-BE" dirty="0" err="1">
                <a:latin typeface="Arial"/>
                <a:cs typeface="Arial"/>
              </a:rPr>
              <a:t>very</a:t>
            </a:r>
            <a:r>
              <a:rPr lang="nl-BE" dirty="0">
                <a:latin typeface="Arial"/>
                <a:cs typeface="Arial"/>
              </a:rPr>
              <a:t> </a:t>
            </a:r>
            <a:r>
              <a:rPr lang="nl-BE" dirty="0" err="1">
                <a:latin typeface="Arial"/>
                <a:cs typeface="Arial"/>
              </a:rPr>
              <a:t>expensive</a:t>
            </a:r>
            <a:r>
              <a:rPr lang="nl-BE" dirty="0">
                <a:latin typeface="Arial"/>
                <a:cs typeface="Arial"/>
              </a:rPr>
              <a:t>, </a:t>
            </a:r>
            <a:r>
              <a:rPr lang="nl-BE" dirty="0" err="1">
                <a:latin typeface="Arial"/>
                <a:cs typeface="Arial"/>
              </a:rPr>
              <a:t>so</a:t>
            </a:r>
            <a:r>
              <a:rPr lang="nl-BE" dirty="0">
                <a:latin typeface="Arial"/>
                <a:cs typeface="Arial"/>
              </a:rPr>
              <a:t> </a:t>
            </a:r>
            <a:r>
              <a:rPr lang="nl-BE" dirty="0" err="1">
                <a:latin typeface="Arial"/>
                <a:cs typeface="Arial"/>
              </a:rPr>
              <a:t>it's</a:t>
            </a:r>
            <a:r>
              <a:rPr lang="nl-BE" dirty="0">
                <a:latin typeface="Arial"/>
                <a:cs typeface="Arial"/>
              </a:rPr>
              <a:t> </a:t>
            </a:r>
            <a:r>
              <a:rPr lang="nl-BE" dirty="0" err="1">
                <a:latin typeface="Arial"/>
                <a:cs typeface="Arial"/>
              </a:rPr>
              <a:t>reasonable</a:t>
            </a:r>
            <a:r>
              <a:rPr lang="nl-BE" dirty="0">
                <a:latin typeface="Arial"/>
                <a:cs typeface="Arial"/>
              </a:rPr>
              <a:t> that these nodes </a:t>
            </a:r>
            <a:r>
              <a:rPr lang="nl-BE" dirty="0" err="1">
                <a:latin typeface="Arial"/>
                <a:cs typeface="Arial"/>
              </a:rPr>
              <a:t>consume</a:t>
            </a:r>
            <a:r>
              <a:rPr lang="nl-BE" dirty="0">
                <a:latin typeface="Arial"/>
                <a:cs typeface="Arial"/>
              </a:rPr>
              <a:t> a lot more credits. As </a:t>
            </a:r>
            <a:r>
              <a:rPr lang="nl-BE" dirty="0" err="1">
                <a:latin typeface="Arial"/>
                <a:cs typeface="Arial"/>
              </a:rPr>
              <a:t>Superdome</a:t>
            </a:r>
            <a:r>
              <a:rPr lang="nl-BE" dirty="0">
                <a:latin typeface="Arial"/>
                <a:cs typeface="Arial"/>
              </a:rPr>
              <a:t> has 6TB of RAM with 144 cores, you can </a:t>
            </a:r>
            <a:r>
              <a:rPr lang="nl-BE" dirty="0" err="1">
                <a:latin typeface="Arial"/>
                <a:cs typeface="Arial"/>
              </a:rPr>
              <a:t>understand</a:t>
            </a:r>
            <a:r>
              <a:rPr lang="nl-BE" dirty="0">
                <a:latin typeface="Arial"/>
                <a:cs typeface="Arial"/>
              </a:rPr>
              <a:t> that this is </a:t>
            </a:r>
            <a:r>
              <a:rPr lang="nl-BE" dirty="0" err="1">
                <a:latin typeface="Arial"/>
                <a:cs typeface="Arial"/>
              </a:rPr>
              <a:t>our</a:t>
            </a:r>
            <a:r>
              <a:rPr lang="nl-BE" dirty="0">
                <a:latin typeface="Arial"/>
                <a:cs typeface="Arial"/>
              </a:rPr>
              <a:t> most </a:t>
            </a:r>
            <a:r>
              <a:rPr lang="nl-BE" dirty="0" err="1">
                <a:latin typeface="Arial"/>
                <a:cs typeface="Arial"/>
              </a:rPr>
              <a:t>expensive</a:t>
            </a:r>
            <a:r>
              <a:rPr lang="nl-BE" dirty="0">
                <a:latin typeface="Arial"/>
                <a:cs typeface="Arial"/>
              </a:rPr>
              <a:t> node at </a:t>
            </a:r>
            <a:r>
              <a:rPr lang="nl-BE" dirty="0" err="1">
                <a:latin typeface="Arial"/>
                <a:cs typeface="Arial"/>
              </a:rPr>
              <a:t>the</a:t>
            </a:r>
            <a:r>
              <a:rPr lang="nl-BE" dirty="0">
                <a:latin typeface="Arial"/>
                <a:cs typeface="Arial"/>
              </a:rPr>
              <a:t> moment.</a:t>
            </a:r>
            <a:endParaRPr lang="nl-BE" dirty="0"/>
          </a:p>
          <a:p>
            <a:endParaRPr lang="nl-BE" dirty="0">
              <a:latin typeface="Arial"/>
              <a:cs typeface="Arial"/>
            </a:endParaRPr>
          </a:p>
          <a:p>
            <a:r>
              <a:rPr lang="nl-BE" dirty="0">
                <a:latin typeface="Arial"/>
                <a:cs typeface="Arial"/>
              </a:rPr>
              <a:t>Slurm </a:t>
            </a:r>
            <a:r>
              <a:rPr lang="nl-BE" dirty="0" err="1">
                <a:latin typeface="Arial"/>
                <a:cs typeface="Arial"/>
              </a:rPr>
              <a:t>allows</a:t>
            </a:r>
            <a:r>
              <a:rPr lang="nl-BE" dirty="0">
                <a:latin typeface="Arial"/>
                <a:cs typeface="Arial"/>
              </a:rPr>
              <a:t> </a:t>
            </a:r>
            <a:r>
              <a:rPr lang="nl-BE" dirty="0" err="1">
                <a:latin typeface="Arial"/>
                <a:cs typeface="Arial"/>
              </a:rPr>
              <a:t>us</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configure</a:t>
            </a:r>
            <a:r>
              <a:rPr lang="nl-BE" dirty="0">
                <a:latin typeface="Arial"/>
                <a:cs typeface="Arial"/>
              </a:rPr>
              <a:t> </a:t>
            </a:r>
            <a:r>
              <a:rPr lang="nl-BE" dirty="0" err="1">
                <a:latin typeface="Arial"/>
                <a:cs typeface="Arial"/>
              </a:rPr>
              <a:t>the</a:t>
            </a:r>
            <a:r>
              <a:rPr lang="nl-BE" dirty="0">
                <a:latin typeface="Arial"/>
                <a:cs typeface="Arial"/>
              </a:rPr>
              <a:t> different type of resources that should </a:t>
            </a:r>
            <a:r>
              <a:rPr lang="nl-BE" dirty="0" err="1">
                <a:latin typeface="Arial"/>
                <a:cs typeface="Arial"/>
              </a:rPr>
              <a:t>be</a:t>
            </a:r>
            <a:r>
              <a:rPr lang="nl-BE" dirty="0">
                <a:latin typeface="Arial"/>
                <a:cs typeface="Arial"/>
              </a:rPr>
              <a:t> </a:t>
            </a:r>
            <a:r>
              <a:rPr lang="nl-BE" dirty="0" err="1">
                <a:latin typeface="Arial"/>
                <a:cs typeface="Arial"/>
              </a:rPr>
              <a:t>accounted</a:t>
            </a:r>
            <a:r>
              <a:rPr lang="nl-BE" dirty="0">
                <a:latin typeface="Arial"/>
                <a:cs typeface="Arial"/>
              </a:rPr>
              <a:t>. We have </a:t>
            </a:r>
            <a:r>
              <a:rPr lang="nl-BE" dirty="0" err="1">
                <a:latin typeface="Arial"/>
                <a:cs typeface="Arial"/>
              </a:rPr>
              <a:t>focused</a:t>
            </a:r>
            <a:r>
              <a:rPr lang="nl-BE" dirty="0">
                <a:latin typeface="Arial"/>
                <a:cs typeface="Arial"/>
              </a:rPr>
              <a:t> </a:t>
            </a:r>
            <a:r>
              <a:rPr lang="nl-BE" dirty="0" err="1">
                <a:latin typeface="Arial"/>
                <a:cs typeface="Arial"/>
              </a:rPr>
              <a:t>it</a:t>
            </a:r>
            <a:r>
              <a:rPr lang="nl-BE" dirty="0">
                <a:latin typeface="Arial"/>
                <a:cs typeface="Arial"/>
              </a:rPr>
              <a:t> on usage of CPU cores and GPU </a:t>
            </a:r>
            <a:r>
              <a:rPr lang="nl-BE" dirty="0" err="1">
                <a:latin typeface="Arial"/>
                <a:cs typeface="Arial"/>
              </a:rPr>
              <a:t>devices</a:t>
            </a:r>
            <a:r>
              <a:rPr lang="nl-BE" dirty="0">
                <a:latin typeface="Arial"/>
                <a:cs typeface="Arial"/>
              </a:rPr>
              <a:t>. </a:t>
            </a:r>
            <a:r>
              <a:rPr lang="nl-BE" dirty="0" err="1">
                <a:latin typeface="Arial"/>
                <a:cs typeface="Arial"/>
              </a:rPr>
              <a:t>each</a:t>
            </a:r>
            <a:r>
              <a:rPr lang="nl-BE" dirty="0">
                <a:latin typeface="Arial"/>
                <a:cs typeface="Arial"/>
              </a:rPr>
              <a:t> resource </a:t>
            </a:r>
            <a:r>
              <a:rPr lang="nl-BE" dirty="0" err="1">
                <a:latin typeface="Arial"/>
                <a:cs typeface="Arial"/>
              </a:rPr>
              <a:t>will</a:t>
            </a:r>
            <a:r>
              <a:rPr lang="nl-BE" dirty="0">
                <a:latin typeface="Arial"/>
                <a:cs typeface="Arial"/>
              </a:rPr>
              <a:t> </a:t>
            </a:r>
            <a:r>
              <a:rPr lang="nl-BE" dirty="0" err="1">
                <a:latin typeface="Arial"/>
                <a:cs typeface="Arial"/>
              </a:rPr>
              <a:t>use</a:t>
            </a:r>
            <a:r>
              <a:rPr lang="nl-BE" dirty="0">
                <a:latin typeface="Arial"/>
                <a:cs typeface="Arial"/>
              </a:rPr>
              <a:t> a </a:t>
            </a:r>
            <a:r>
              <a:rPr lang="nl-BE" dirty="0" err="1">
                <a:latin typeface="Arial"/>
                <a:cs typeface="Arial"/>
              </a:rPr>
              <a:t>number</a:t>
            </a:r>
            <a:r>
              <a:rPr lang="nl-BE" dirty="0">
                <a:latin typeface="Arial"/>
                <a:cs typeface="Arial"/>
              </a:rPr>
              <a:t> of credits </a:t>
            </a:r>
            <a:r>
              <a:rPr lang="nl-BE" dirty="0" err="1">
                <a:latin typeface="Arial"/>
                <a:cs typeface="Arial"/>
              </a:rPr>
              <a:t>for</a:t>
            </a:r>
            <a:r>
              <a:rPr lang="nl-BE" dirty="0">
                <a:latin typeface="Arial"/>
                <a:cs typeface="Arial"/>
              </a:rPr>
              <a:t> a </a:t>
            </a:r>
            <a:r>
              <a:rPr lang="nl-BE" dirty="0" err="1">
                <a:latin typeface="Arial"/>
                <a:cs typeface="Arial"/>
              </a:rPr>
              <a:t>given</a:t>
            </a:r>
            <a:r>
              <a:rPr lang="nl-BE" dirty="0">
                <a:latin typeface="Arial"/>
                <a:cs typeface="Arial"/>
              </a:rPr>
              <a:t> time. The </a:t>
            </a:r>
            <a:r>
              <a:rPr lang="nl-BE" dirty="0" err="1">
                <a:latin typeface="Arial"/>
                <a:cs typeface="Arial"/>
              </a:rPr>
              <a:t>table</a:t>
            </a:r>
            <a:r>
              <a:rPr lang="nl-BE" dirty="0">
                <a:latin typeface="Arial"/>
                <a:cs typeface="Arial"/>
              </a:rPr>
              <a:t> shows </a:t>
            </a:r>
            <a:r>
              <a:rPr lang="nl-BE" dirty="0" err="1">
                <a:latin typeface="Arial"/>
                <a:cs typeface="Arial"/>
              </a:rPr>
              <a:t>the</a:t>
            </a:r>
            <a:r>
              <a:rPr lang="nl-BE" dirty="0">
                <a:latin typeface="Arial"/>
                <a:cs typeface="Arial"/>
              </a:rPr>
              <a:t> credits usage of a full node (</a:t>
            </a:r>
            <a:r>
              <a:rPr lang="nl-BE" dirty="0" err="1">
                <a:latin typeface="Arial"/>
                <a:cs typeface="Arial"/>
              </a:rPr>
              <a:t>all</a:t>
            </a:r>
            <a:r>
              <a:rPr lang="nl-BE" dirty="0">
                <a:latin typeface="Arial"/>
                <a:cs typeface="Arial"/>
              </a:rPr>
              <a:t> </a:t>
            </a:r>
            <a:r>
              <a:rPr lang="nl-BE" dirty="0" err="1">
                <a:latin typeface="Arial"/>
                <a:cs typeface="Arial"/>
              </a:rPr>
              <a:t>available</a:t>
            </a:r>
            <a:r>
              <a:rPr lang="nl-BE" dirty="0">
                <a:latin typeface="Arial"/>
                <a:cs typeface="Arial"/>
              </a:rPr>
              <a:t> cores/</a:t>
            </a:r>
            <a:r>
              <a:rPr lang="nl-BE" dirty="0" err="1">
                <a:latin typeface="Arial"/>
                <a:cs typeface="Arial"/>
              </a:rPr>
              <a:t>GPU’s</a:t>
            </a:r>
            <a:r>
              <a:rPr lang="nl-BE" dirty="0">
                <a:latin typeface="Arial"/>
                <a:cs typeface="Arial"/>
              </a:rPr>
              <a:t>) when </a:t>
            </a:r>
            <a:r>
              <a:rPr lang="nl-BE" dirty="0" err="1">
                <a:latin typeface="Arial"/>
                <a:cs typeface="Arial"/>
              </a:rPr>
              <a:t>using</a:t>
            </a:r>
            <a:r>
              <a:rPr lang="nl-BE" dirty="0">
                <a:latin typeface="Arial"/>
                <a:cs typeface="Arial"/>
              </a:rPr>
              <a:t> </a:t>
            </a:r>
            <a:r>
              <a:rPr lang="nl-BE" dirty="0" err="1">
                <a:latin typeface="Arial"/>
                <a:cs typeface="Arial"/>
              </a:rPr>
              <a:t>it</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one</a:t>
            </a:r>
            <a:r>
              <a:rPr lang="nl-BE" dirty="0">
                <a:latin typeface="Arial"/>
                <a:cs typeface="Arial"/>
              </a:rPr>
              <a:t> </a:t>
            </a:r>
            <a:r>
              <a:rPr lang="nl-BE" dirty="0" err="1">
                <a:latin typeface="Arial"/>
                <a:cs typeface="Arial"/>
              </a:rPr>
              <a:t>hour</a:t>
            </a:r>
            <a:r>
              <a:rPr lang="nl-BE" dirty="0">
                <a:latin typeface="Arial"/>
                <a:cs typeface="Arial"/>
              </a:rPr>
              <a:t>. </a:t>
            </a:r>
            <a:endParaRPr lang="nl-BE" dirty="0"/>
          </a:p>
          <a:p>
            <a:endParaRPr lang="nl-BE" dirty="0"/>
          </a:p>
          <a:p>
            <a:r>
              <a:rPr lang="nl-BE" dirty="0" err="1">
                <a:latin typeface="Arial"/>
                <a:cs typeface="Arial"/>
              </a:rPr>
              <a:t>Why</a:t>
            </a:r>
            <a:r>
              <a:rPr lang="nl-BE" dirty="0">
                <a:latin typeface="Arial"/>
                <a:cs typeface="Arial"/>
              </a:rPr>
              <a:t> are </a:t>
            </a:r>
            <a:r>
              <a:rPr lang="nl-BE" dirty="0" err="1">
                <a:latin typeface="Arial"/>
                <a:cs typeface="Arial"/>
              </a:rPr>
              <a:t>the</a:t>
            </a:r>
            <a:r>
              <a:rPr lang="nl-BE" dirty="0">
                <a:latin typeface="Arial"/>
                <a:cs typeface="Arial"/>
              </a:rPr>
              <a:t> </a:t>
            </a:r>
            <a:r>
              <a:rPr lang="nl-BE" dirty="0" err="1">
                <a:latin typeface="Arial"/>
                <a:cs typeface="Arial"/>
              </a:rPr>
              <a:t>ratios</a:t>
            </a:r>
            <a:r>
              <a:rPr lang="nl-BE" dirty="0">
                <a:latin typeface="Arial"/>
                <a:cs typeface="Arial"/>
              </a:rPr>
              <a:t> </a:t>
            </a:r>
            <a:r>
              <a:rPr lang="nl-BE" dirty="0" err="1">
                <a:latin typeface="Arial"/>
                <a:cs typeface="Arial"/>
              </a:rPr>
              <a:t>so</a:t>
            </a:r>
            <a:r>
              <a:rPr lang="nl-BE" dirty="0">
                <a:latin typeface="Arial"/>
                <a:cs typeface="Arial"/>
              </a:rPr>
              <a:t> high, </a:t>
            </a:r>
            <a:r>
              <a:rPr lang="nl-BE" dirty="0" err="1">
                <a:latin typeface="Arial"/>
                <a:cs typeface="Arial"/>
              </a:rPr>
              <a:t>yu</a:t>
            </a:r>
            <a:r>
              <a:rPr lang="nl-BE" dirty="0">
                <a:latin typeface="Arial"/>
                <a:cs typeface="Arial"/>
              </a:rPr>
              <a:t> </a:t>
            </a:r>
            <a:r>
              <a:rPr lang="nl-BE" dirty="0" err="1">
                <a:latin typeface="Arial"/>
                <a:cs typeface="Arial"/>
              </a:rPr>
              <a:t>might</a:t>
            </a:r>
            <a:r>
              <a:rPr lang="nl-BE" dirty="0">
                <a:latin typeface="Arial"/>
                <a:cs typeface="Arial"/>
              </a:rPr>
              <a:t> </a:t>
            </a:r>
            <a:r>
              <a:rPr lang="nl-BE" dirty="0" err="1">
                <a:latin typeface="Arial"/>
                <a:cs typeface="Arial"/>
              </a:rPr>
              <a:t>ask</a:t>
            </a:r>
            <a:r>
              <a:rPr lang="nl-BE" dirty="0">
                <a:latin typeface="Arial"/>
                <a:cs typeface="Arial"/>
              </a:rPr>
              <a:t>? When we </a:t>
            </a:r>
            <a:r>
              <a:rPr lang="nl-BE" dirty="0" err="1">
                <a:latin typeface="Arial"/>
                <a:cs typeface="Arial"/>
              </a:rPr>
              <a:t>started</a:t>
            </a:r>
            <a:r>
              <a:rPr lang="nl-BE" dirty="0">
                <a:latin typeface="Arial"/>
                <a:cs typeface="Arial"/>
              </a:rPr>
              <a:t> </a:t>
            </a:r>
            <a:r>
              <a:rPr lang="nl-BE" dirty="0" err="1">
                <a:latin typeface="Arial"/>
                <a:cs typeface="Arial"/>
              </a:rPr>
              <a:t>using</a:t>
            </a:r>
            <a:r>
              <a:rPr lang="nl-BE" dirty="0">
                <a:latin typeface="Arial"/>
                <a:cs typeface="Arial"/>
              </a:rPr>
              <a:t> Slurm, </a:t>
            </a:r>
            <a:r>
              <a:rPr lang="nl-BE" dirty="0" err="1">
                <a:latin typeface="Arial"/>
                <a:cs typeface="Arial"/>
              </a:rPr>
              <a:t>the</a:t>
            </a:r>
            <a:r>
              <a:rPr lang="nl-BE" dirty="0">
                <a:latin typeface="Arial"/>
                <a:cs typeface="Arial"/>
              </a:rPr>
              <a:t> credits/</a:t>
            </a:r>
            <a:r>
              <a:rPr lang="nl-BE" dirty="0" err="1">
                <a:latin typeface="Arial"/>
                <a:cs typeface="Arial"/>
              </a:rPr>
              <a:t>hour</a:t>
            </a:r>
            <a:r>
              <a:rPr lang="nl-BE" dirty="0">
                <a:latin typeface="Arial"/>
                <a:cs typeface="Arial"/>
              </a:rPr>
              <a:t> ratio was </a:t>
            </a:r>
            <a:r>
              <a:rPr lang="nl-BE" dirty="0" err="1">
                <a:latin typeface="Arial"/>
                <a:cs typeface="Arial"/>
              </a:rPr>
              <a:t>multiplied</a:t>
            </a:r>
            <a:r>
              <a:rPr lang="nl-BE" dirty="0">
                <a:latin typeface="Arial"/>
                <a:cs typeface="Arial"/>
              </a:rPr>
              <a:t> with a factor 1000 </a:t>
            </a:r>
            <a:r>
              <a:rPr lang="nl-BE" dirty="0" err="1">
                <a:latin typeface="Arial"/>
                <a:cs typeface="Arial"/>
              </a:rPr>
              <a:t>to</a:t>
            </a:r>
            <a:r>
              <a:rPr lang="nl-BE" dirty="0">
                <a:latin typeface="Arial"/>
                <a:cs typeface="Arial"/>
              </a:rPr>
              <a:t> </a:t>
            </a:r>
            <a:r>
              <a:rPr lang="nl-BE" dirty="0" err="1">
                <a:latin typeface="Arial"/>
                <a:cs typeface="Arial"/>
              </a:rPr>
              <a:t>assure</a:t>
            </a:r>
            <a:r>
              <a:rPr lang="nl-BE" dirty="0">
                <a:latin typeface="Arial"/>
                <a:cs typeface="Arial"/>
              </a:rPr>
              <a:t> that Slurm </a:t>
            </a:r>
            <a:r>
              <a:rPr lang="nl-BE" dirty="0" err="1">
                <a:latin typeface="Arial"/>
                <a:cs typeface="Arial"/>
              </a:rPr>
              <a:t>internals</a:t>
            </a:r>
            <a:r>
              <a:rPr lang="nl-BE" dirty="0">
                <a:latin typeface="Arial"/>
                <a:cs typeface="Arial"/>
              </a:rPr>
              <a:t> is </a:t>
            </a:r>
            <a:r>
              <a:rPr lang="nl-BE" dirty="0" err="1">
                <a:latin typeface="Arial"/>
                <a:cs typeface="Arial"/>
              </a:rPr>
              <a:t>billing</a:t>
            </a:r>
            <a:r>
              <a:rPr lang="nl-BE" dirty="0">
                <a:latin typeface="Arial"/>
                <a:cs typeface="Arial"/>
              </a:rPr>
              <a:t> </a:t>
            </a:r>
            <a:r>
              <a:rPr lang="nl-BE" dirty="0" err="1">
                <a:latin typeface="Arial"/>
                <a:cs typeface="Arial"/>
              </a:rPr>
              <a:t>the</a:t>
            </a:r>
            <a:r>
              <a:rPr lang="nl-BE" dirty="0">
                <a:latin typeface="Arial"/>
                <a:cs typeface="Arial"/>
              </a:rPr>
              <a:t> credits with </a:t>
            </a:r>
            <a:r>
              <a:rPr lang="nl-BE" dirty="0" err="1">
                <a:latin typeface="Arial"/>
                <a:cs typeface="Arial"/>
              </a:rPr>
              <a:t>enough</a:t>
            </a:r>
            <a:r>
              <a:rPr lang="nl-BE" dirty="0">
                <a:latin typeface="Arial"/>
                <a:cs typeface="Arial"/>
              </a:rPr>
              <a:t> </a:t>
            </a:r>
            <a:r>
              <a:rPr lang="nl-BE" dirty="0" err="1">
                <a:latin typeface="Arial"/>
                <a:cs typeface="Arial"/>
              </a:rPr>
              <a:t>accuracy</a:t>
            </a:r>
            <a:r>
              <a:rPr lang="nl-BE" dirty="0">
                <a:latin typeface="Arial"/>
                <a:cs typeface="Arial"/>
              </a:rPr>
              <a:t>. But no </a:t>
            </a:r>
            <a:r>
              <a:rPr lang="nl-BE" dirty="0" err="1">
                <a:latin typeface="Arial"/>
                <a:cs typeface="Arial"/>
              </a:rPr>
              <a:t>worries</a:t>
            </a:r>
            <a:r>
              <a:rPr lang="nl-BE" dirty="0">
                <a:latin typeface="Arial"/>
                <a:cs typeface="Arial"/>
              </a:rPr>
              <a:t> you are also </a:t>
            </a:r>
            <a:r>
              <a:rPr lang="nl-BE" dirty="0" err="1">
                <a:latin typeface="Arial"/>
                <a:cs typeface="Arial"/>
              </a:rPr>
              <a:t>getting</a:t>
            </a:r>
            <a:r>
              <a:rPr lang="nl-BE" dirty="0">
                <a:latin typeface="Arial"/>
                <a:cs typeface="Arial"/>
              </a:rPr>
              <a:t> 1000 </a:t>
            </a:r>
            <a:r>
              <a:rPr lang="nl-BE" dirty="0" err="1">
                <a:latin typeface="Arial"/>
                <a:cs typeface="Arial"/>
              </a:rPr>
              <a:t>times</a:t>
            </a:r>
            <a:r>
              <a:rPr lang="nl-BE" dirty="0">
                <a:latin typeface="Arial"/>
                <a:cs typeface="Arial"/>
              </a:rPr>
              <a:t> more credits </a:t>
            </a:r>
            <a:r>
              <a:rPr lang="nl-BE" dirty="0" err="1">
                <a:latin typeface="Arial"/>
                <a:cs typeface="Arial"/>
              </a:rPr>
              <a:t>for</a:t>
            </a:r>
            <a:r>
              <a:rPr lang="nl-BE" dirty="0">
                <a:latin typeface="Arial"/>
                <a:cs typeface="Arial"/>
              </a:rPr>
              <a:t> your money.</a:t>
            </a:r>
          </a:p>
          <a:p>
            <a:endParaRPr lang="nl-BE" dirty="0"/>
          </a:p>
          <a:p>
            <a:r>
              <a:rPr lang="nl-BE" dirty="0">
                <a:latin typeface="Arial"/>
                <a:cs typeface="Arial"/>
              </a:rPr>
              <a:t> </a:t>
            </a:r>
            <a:r>
              <a:rPr lang="nl-BE" dirty="0" err="1">
                <a:latin typeface="Arial"/>
                <a:cs typeface="Arial"/>
              </a:rPr>
              <a:t>Note</a:t>
            </a:r>
            <a:r>
              <a:rPr lang="nl-BE" dirty="0">
                <a:latin typeface="Arial"/>
                <a:cs typeface="Arial"/>
              </a:rPr>
              <a:t> that nodes can </a:t>
            </a:r>
            <a:r>
              <a:rPr lang="nl-BE" dirty="0" err="1">
                <a:latin typeface="Arial"/>
                <a:cs typeface="Arial"/>
              </a:rPr>
              <a:t>be</a:t>
            </a:r>
            <a:r>
              <a:rPr lang="nl-BE" dirty="0">
                <a:latin typeface="Arial"/>
                <a:cs typeface="Arial"/>
              </a:rPr>
              <a:t> used in a shared mode, When </a:t>
            </a:r>
            <a:r>
              <a:rPr lang="nl-BE" dirty="0" err="1">
                <a:latin typeface="Arial"/>
                <a:cs typeface="Arial"/>
              </a:rPr>
              <a:t>submitting</a:t>
            </a:r>
            <a:r>
              <a:rPr lang="nl-BE" dirty="0">
                <a:latin typeface="Arial"/>
                <a:cs typeface="Arial"/>
              </a:rPr>
              <a:t> a job with </a:t>
            </a:r>
            <a:r>
              <a:rPr lang="nl-BE" dirty="0" err="1">
                <a:latin typeface="Arial"/>
                <a:cs typeface="Arial"/>
              </a:rPr>
              <a:t>only</a:t>
            </a:r>
            <a:r>
              <a:rPr lang="nl-BE" dirty="0">
                <a:latin typeface="Arial"/>
                <a:cs typeface="Arial"/>
              </a:rPr>
              <a:t> </a:t>
            </a:r>
            <a:r>
              <a:rPr lang="nl-BE" dirty="0" err="1">
                <a:latin typeface="Arial"/>
                <a:cs typeface="Arial"/>
              </a:rPr>
              <a:t>one</a:t>
            </a:r>
            <a:r>
              <a:rPr lang="nl-BE" dirty="0">
                <a:latin typeface="Arial"/>
                <a:cs typeface="Arial"/>
              </a:rPr>
              <a:t> GPU and a </a:t>
            </a:r>
            <a:r>
              <a:rPr lang="nl-BE" dirty="0" err="1">
                <a:latin typeface="Arial"/>
                <a:cs typeface="Arial"/>
              </a:rPr>
              <a:t>quarter</a:t>
            </a:r>
            <a:r>
              <a:rPr lang="nl-BE" dirty="0">
                <a:latin typeface="Arial"/>
                <a:cs typeface="Arial"/>
              </a:rPr>
              <a:t> of </a:t>
            </a:r>
            <a:r>
              <a:rPr lang="nl-BE" dirty="0" err="1">
                <a:latin typeface="Arial"/>
                <a:cs typeface="Arial"/>
              </a:rPr>
              <a:t>the</a:t>
            </a:r>
            <a:r>
              <a:rPr lang="nl-BE" dirty="0">
                <a:latin typeface="Arial"/>
                <a:cs typeface="Arial"/>
              </a:rPr>
              <a:t> cores, </a:t>
            </a:r>
            <a:r>
              <a:rPr lang="nl-BE" dirty="0" err="1">
                <a:latin typeface="Arial"/>
                <a:cs typeface="Arial"/>
              </a:rPr>
              <a:t>it</a:t>
            </a:r>
            <a:r>
              <a:rPr lang="nl-BE" dirty="0">
                <a:latin typeface="Arial"/>
                <a:cs typeface="Arial"/>
              </a:rPr>
              <a:t>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using</a:t>
            </a:r>
            <a:r>
              <a:rPr lang="nl-BE" dirty="0">
                <a:latin typeface="Arial"/>
                <a:cs typeface="Arial"/>
              </a:rPr>
              <a:t> </a:t>
            </a:r>
            <a:r>
              <a:rPr lang="nl-BE" dirty="0" err="1">
                <a:latin typeface="Arial"/>
                <a:cs typeface="Arial"/>
              </a:rPr>
              <a:t>one</a:t>
            </a:r>
            <a:r>
              <a:rPr lang="nl-BE" dirty="0">
                <a:latin typeface="Arial"/>
                <a:cs typeface="Arial"/>
              </a:rPr>
              <a:t> single GPU. The </a:t>
            </a:r>
            <a:r>
              <a:rPr lang="nl-BE" dirty="0" err="1">
                <a:latin typeface="Arial"/>
                <a:cs typeface="Arial"/>
              </a:rPr>
              <a:t>same</a:t>
            </a:r>
            <a:r>
              <a:rPr lang="nl-BE" dirty="0">
                <a:latin typeface="Arial"/>
                <a:cs typeface="Arial"/>
              </a:rPr>
              <a:t> </a:t>
            </a:r>
            <a:r>
              <a:rPr lang="nl-BE" dirty="0" err="1">
                <a:latin typeface="Arial"/>
                <a:cs typeface="Arial"/>
              </a:rPr>
              <a:t>goes</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CPU nodes,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CPUs</a:t>
            </a:r>
            <a:r>
              <a:rPr lang="nl-BE" dirty="0">
                <a:latin typeface="Arial"/>
                <a:cs typeface="Arial"/>
              </a:rPr>
              <a:t> that are used. But mind that in case you are </a:t>
            </a:r>
            <a:r>
              <a:rPr lang="nl-BE" dirty="0" err="1">
                <a:latin typeface="Arial"/>
                <a:cs typeface="Arial"/>
              </a:rPr>
              <a:t>using</a:t>
            </a:r>
            <a:r>
              <a:rPr lang="nl-BE" dirty="0">
                <a:latin typeface="Arial"/>
                <a:cs typeface="Arial"/>
              </a:rPr>
              <a:t> more </a:t>
            </a:r>
            <a:r>
              <a:rPr lang="nl-BE" dirty="0" err="1">
                <a:latin typeface="Arial"/>
                <a:cs typeface="Arial"/>
              </a:rPr>
              <a:t>than</a:t>
            </a:r>
            <a:r>
              <a:rPr lang="nl-BE" dirty="0">
                <a:latin typeface="Arial"/>
                <a:cs typeface="Arial"/>
              </a:rPr>
              <a:t> </a:t>
            </a:r>
            <a:r>
              <a:rPr lang="nl-BE" dirty="0" err="1">
                <a:latin typeface="Arial"/>
                <a:cs typeface="Arial"/>
              </a:rPr>
              <a:t>defualt</a:t>
            </a:r>
            <a:r>
              <a:rPr lang="nl-BE" dirty="0">
                <a:latin typeface="Arial"/>
                <a:cs typeface="Arial"/>
              </a:rPr>
              <a:t> RAM memory per </a:t>
            </a:r>
            <a:r>
              <a:rPr lang="nl-BE" dirty="0" err="1">
                <a:latin typeface="Arial"/>
                <a:cs typeface="Arial"/>
              </a:rPr>
              <a:t>core</a:t>
            </a:r>
            <a:r>
              <a:rPr lang="nl-BE" dirty="0">
                <a:latin typeface="Arial"/>
                <a:cs typeface="Arial"/>
              </a:rPr>
              <a:t>, also </a:t>
            </a:r>
            <a:r>
              <a:rPr lang="nl-BE" dirty="0" err="1">
                <a:latin typeface="Arial"/>
                <a:cs typeface="Arial"/>
              </a:rPr>
              <a:t>the</a:t>
            </a:r>
            <a:r>
              <a:rPr lang="nl-BE" dirty="0">
                <a:latin typeface="Arial"/>
                <a:cs typeface="Arial"/>
              </a:rPr>
              <a:t> </a:t>
            </a:r>
            <a:r>
              <a:rPr lang="nl-BE" dirty="0" err="1">
                <a:latin typeface="Arial"/>
                <a:cs typeface="Arial"/>
              </a:rPr>
              <a:t>additional</a:t>
            </a:r>
            <a:r>
              <a:rPr lang="nl-BE" dirty="0">
                <a:latin typeface="Arial"/>
                <a:cs typeface="Arial"/>
              </a:rPr>
              <a:t> cores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In </a:t>
            </a:r>
            <a:r>
              <a:rPr lang="nl-BE" dirty="0" err="1">
                <a:latin typeface="Arial"/>
                <a:cs typeface="Arial"/>
              </a:rPr>
              <a:t>the</a:t>
            </a:r>
            <a:r>
              <a:rPr lang="nl-BE" dirty="0">
                <a:latin typeface="Arial"/>
                <a:cs typeface="Arial"/>
              </a:rPr>
              <a:t> </a:t>
            </a:r>
            <a:r>
              <a:rPr lang="nl-BE" dirty="0" err="1">
                <a:latin typeface="Arial"/>
                <a:cs typeface="Arial"/>
              </a:rPr>
              <a:t>extrem</a:t>
            </a:r>
            <a:r>
              <a:rPr lang="nl-BE" dirty="0">
                <a:latin typeface="Arial"/>
                <a:cs typeface="Arial"/>
              </a:rPr>
              <a:t> case if you would </a:t>
            </a:r>
            <a:r>
              <a:rPr lang="nl-BE" dirty="0" err="1">
                <a:latin typeface="Arial"/>
                <a:cs typeface="Arial"/>
              </a:rPr>
              <a:t>use</a:t>
            </a:r>
            <a:r>
              <a:rPr lang="nl-BE" dirty="0">
                <a:latin typeface="Arial"/>
                <a:cs typeface="Arial"/>
              </a:rPr>
              <a:t> a single </a:t>
            </a:r>
            <a:r>
              <a:rPr lang="nl-BE" dirty="0" err="1">
                <a:latin typeface="Arial"/>
                <a:cs typeface="Arial"/>
              </a:rPr>
              <a:t>core</a:t>
            </a:r>
            <a:r>
              <a:rPr lang="nl-BE" dirty="0">
                <a:latin typeface="Arial"/>
                <a:cs typeface="Arial"/>
              </a:rPr>
              <a:t> and </a:t>
            </a:r>
            <a:r>
              <a:rPr lang="nl-BE" dirty="0" err="1">
                <a:latin typeface="Arial"/>
                <a:cs typeface="Arial"/>
              </a:rPr>
              <a:t>the</a:t>
            </a:r>
            <a:r>
              <a:rPr lang="nl-BE" dirty="0">
                <a:latin typeface="Arial"/>
                <a:cs typeface="Arial"/>
              </a:rPr>
              <a:t> </a:t>
            </a:r>
            <a:r>
              <a:rPr lang="nl-BE" dirty="0" err="1">
                <a:latin typeface="Arial"/>
                <a:cs typeface="Arial"/>
              </a:rPr>
              <a:t>whole</a:t>
            </a:r>
            <a:r>
              <a:rPr lang="nl-BE" dirty="0">
                <a:latin typeface="Arial"/>
                <a:cs typeface="Arial"/>
              </a:rPr>
              <a:t> node memory,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full node.</a:t>
            </a:r>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36</a:t>
            </a:fld>
            <a:endParaRPr lang="nl-BE"/>
          </a:p>
        </p:txBody>
      </p:sp>
    </p:spTree>
    <p:extLst>
      <p:ext uri="{BB962C8B-B14F-4D97-AF65-F5344CB8AC3E}">
        <p14:creationId xmlns:p14="http://schemas.microsoft.com/office/powerpoint/2010/main" val="18906434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How do you get your hands on some compute credits? </a:t>
            </a:r>
            <a:endParaRPr lang="en-US" dirty="0"/>
          </a:p>
          <a:p>
            <a:r>
              <a:rPr lang="en-US" dirty="0">
                <a:latin typeface="Arial"/>
                <a:cs typeface="Arial"/>
              </a:rPr>
              <a:t>  Well first of all each user can request introduction credits. It is a one time thing, you get 2 million credits free of charge. </a:t>
            </a:r>
            <a:endParaRPr lang="en-US" dirty="0"/>
          </a:p>
          <a:p>
            <a:r>
              <a:rPr lang="en-US" dirty="0">
                <a:latin typeface="Arial"/>
                <a:cs typeface="Arial"/>
              </a:rPr>
              <a:t>  As the name indicates, it is meant to </a:t>
            </a:r>
            <a:r>
              <a:rPr lang="en-US" dirty="0" err="1">
                <a:latin typeface="Arial"/>
                <a:cs typeface="Arial"/>
              </a:rPr>
              <a:t>to</a:t>
            </a:r>
            <a:r>
              <a:rPr lang="en-US" dirty="0">
                <a:latin typeface="Arial"/>
                <a:cs typeface="Arial"/>
              </a:rPr>
              <a:t> give you some time to get acquainted with the Tier-2 cluster. </a:t>
            </a:r>
            <a:endParaRPr lang="en-US" dirty="0"/>
          </a:p>
          <a:p>
            <a:r>
              <a:rPr lang="en-US" dirty="0"/>
              <a:t>  Check the service catalog for the procedure to follow to request these introduction credits. </a:t>
            </a:r>
          </a:p>
          <a:p>
            <a:endParaRPr lang="en-US" dirty="0"/>
          </a:p>
          <a:p>
            <a:r>
              <a:rPr lang="en-US" dirty="0">
                <a:latin typeface="Arial"/>
                <a:cs typeface="Arial"/>
              </a:rPr>
              <a:t>  If you will be joining a research group that already is computing on the cluster then probably they already have a project with compute credits. </a:t>
            </a:r>
          </a:p>
          <a:p>
            <a:r>
              <a:rPr lang="en-US" dirty="0">
                <a:latin typeface="Arial"/>
                <a:cs typeface="Arial"/>
              </a:rPr>
              <a:t>  In that case just ask your fellow researchers the name of this project. </a:t>
            </a:r>
            <a:endParaRPr lang="en-US" dirty="0"/>
          </a:p>
          <a:p>
            <a:r>
              <a:rPr lang="en-US" dirty="0">
                <a:latin typeface="Arial"/>
                <a:cs typeface="Arial"/>
              </a:rPr>
              <a:t>Then go to the account page, do a join request, </a:t>
            </a:r>
            <a:endParaRPr lang="en-US" dirty="0"/>
          </a:p>
          <a:p>
            <a:r>
              <a:rPr lang="en-US" dirty="0">
                <a:latin typeface="Arial"/>
                <a:cs typeface="Arial"/>
              </a:rPr>
              <a:t>select the join group option, </a:t>
            </a:r>
            <a:endParaRPr lang="en-US" dirty="0"/>
          </a:p>
          <a:p>
            <a:r>
              <a:rPr lang="en-US" dirty="0">
                <a:latin typeface="Arial"/>
                <a:cs typeface="Arial"/>
              </a:rPr>
              <a:t>type in the name of the of the project and </a:t>
            </a:r>
            <a:endParaRPr lang="en-US" dirty="0"/>
          </a:p>
          <a:p>
            <a:r>
              <a:rPr lang="en-US" dirty="0">
                <a:latin typeface="Arial"/>
                <a:cs typeface="Arial"/>
              </a:rPr>
              <a:t>then send a request to be added to the group. </a:t>
            </a:r>
            <a:endParaRPr lang="en-US" dirty="0"/>
          </a:p>
          <a:p>
            <a:endParaRPr lang="en-US" dirty="0">
              <a:latin typeface="Arial"/>
              <a:cs typeface="Arial"/>
            </a:endParaRPr>
          </a:p>
          <a:p>
            <a:r>
              <a:rPr lang="en-US" dirty="0">
                <a:latin typeface="Arial"/>
                <a:cs typeface="Arial"/>
              </a:rPr>
              <a:t>  The moderator will see this group and can accept or reject. Once accepted you will be able to use the credits that are linked to this project group. </a:t>
            </a:r>
            <a:endParaRPr lang="en-US" dirty="0"/>
          </a:p>
          <a:p>
            <a:r>
              <a:rPr lang="en-US" dirty="0">
                <a:latin typeface="Arial"/>
                <a:cs typeface="Arial"/>
              </a:rPr>
              <a:t>  If you're starting, you have your own research group and you want to request project credits for yourself it's also possible. </a:t>
            </a:r>
          </a:p>
          <a:p>
            <a:r>
              <a:rPr lang="en-US" dirty="0">
                <a:latin typeface="Arial"/>
                <a:cs typeface="Arial"/>
              </a:rPr>
              <a:t>The procedure is in the service catalog but know that you best </a:t>
            </a:r>
            <a:endParaRPr lang="en-US" dirty="0"/>
          </a:p>
          <a:p>
            <a:r>
              <a:rPr lang="en-US" dirty="0">
                <a:latin typeface="Arial"/>
                <a:cs typeface="Arial"/>
              </a:rPr>
              <a:t>first create a new group, </a:t>
            </a:r>
            <a:endParaRPr lang="en-US" dirty="0"/>
          </a:p>
          <a:p>
            <a:r>
              <a:rPr lang="en-US" dirty="0">
                <a:latin typeface="Arial"/>
                <a:cs typeface="Arial"/>
              </a:rPr>
              <a:t>give it a name that makes sense to for you and start the name with P underscore. This will make it clear that is </a:t>
            </a:r>
            <a:r>
              <a:rPr lang="en-US" dirty="0" err="1">
                <a:latin typeface="Arial"/>
                <a:cs typeface="Arial"/>
              </a:rPr>
              <a:t>is</a:t>
            </a:r>
            <a:r>
              <a:rPr lang="en-US" dirty="0">
                <a:latin typeface="Arial"/>
                <a:cs typeface="Arial"/>
              </a:rPr>
              <a:t> a project meant for project credits.</a:t>
            </a:r>
            <a:endParaRPr lang="en-US" dirty="0"/>
          </a:p>
          <a:p>
            <a:r>
              <a:rPr lang="en-US" dirty="0">
                <a:latin typeface="Arial"/>
                <a:cs typeface="Arial"/>
              </a:rPr>
              <a:t>the system will automatically prefix your name with an L because it's a group created in Leuven. </a:t>
            </a:r>
            <a:endParaRPr lang="en-US" dirty="0"/>
          </a:p>
          <a:p>
            <a:r>
              <a:rPr lang="en-US" dirty="0">
                <a:latin typeface="Arial"/>
                <a:cs typeface="Arial"/>
              </a:rPr>
              <a:t>  Groups created by users in Ghent will have a G as a prefix and groups from Antwerp will have an A as a prefix.  </a:t>
            </a:r>
            <a:endParaRPr lang="en-US" dirty="0"/>
          </a:p>
          <a:p>
            <a:endParaRPr lang="en-US" dirty="0">
              <a:latin typeface="Arial"/>
              <a:cs typeface="Arial"/>
            </a:endParaRPr>
          </a:p>
          <a:p>
            <a:r>
              <a:rPr lang="en-US" dirty="0">
                <a:latin typeface="Arial"/>
                <a:cs typeface="Arial"/>
              </a:rPr>
              <a:t>  When you create a group you will be moderator of the group and you can decide who to invite, accept or remove from your group. </a:t>
            </a:r>
            <a:endParaRPr lang="en-US" dirty="0"/>
          </a:p>
          <a:p>
            <a:r>
              <a:rPr lang="en-US" dirty="0">
                <a:latin typeface="Arial"/>
                <a:cs typeface="Arial"/>
              </a:rPr>
              <a:t> You're in complete control of who has access to the compute credits that are bound to this group. </a:t>
            </a:r>
          </a:p>
          <a:p>
            <a:endParaRPr lang="en-US" dirty="0">
              <a:latin typeface="Arial"/>
              <a:cs typeface="Arial"/>
            </a:endParaRPr>
          </a:p>
          <a:p>
            <a:r>
              <a:rPr lang="en-US" dirty="0">
                <a:latin typeface="Arial"/>
                <a:cs typeface="Arial"/>
              </a:rPr>
              <a:t>By default the credits are available on all Tier-2 systems.</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37</a:t>
            </a:fld>
            <a:endParaRPr lang="nl-BE"/>
          </a:p>
        </p:txBody>
      </p:sp>
    </p:spTree>
    <p:extLst>
      <p:ext uri="{BB962C8B-B14F-4D97-AF65-F5344CB8AC3E}">
        <p14:creationId xmlns:p14="http://schemas.microsoft.com/office/powerpoint/2010/main" val="23777182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So once you have access to the compute credits how do you use them? </a:t>
            </a:r>
            <a:endParaRPr lang="en-US" dirty="0"/>
          </a:p>
          <a:p>
            <a:r>
              <a:rPr lang="en-US" dirty="0">
                <a:latin typeface="Arial"/>
                <a:cs typeface="Arial"/>
              </a:rPr>
              <a:t>  Well this has already been shown in the videos before. </a:t>
            </a:r>
            <a:endParaRPr lang="en-US" dirty="0"/>
          </a:p>
          <a:p>
            <a:r>
              <a:rPr lang="en-US" dirty="0">
                <a:latin typeface="Arial"/>
                <a:cs typeface="Arial"/>
              </a:rPr>
              <a:t>  You need to specify your project on the SBATCH directive with a minus A option and then the name of your project. </a:t>
            </a:r>
            <a:endParaRPr lang="en-US" dirty="0"/>
          </a:p>
          <a:p>
            <a:r>
              <a:rPr lang="en-US" dirty="0">
                <a:latin typeface="Arial"/>
                <a:cs typeface="Arial"/>
              </a:rPr>
              <a:t>  You can do this both in a </a:t>
            </a:r>
            <a:r>
              <a:rPr lang="en-US" dirty="0" err="1">
                <a:latin typeface="Arial"/>
                <a:cs typeface="Arial"/>
              </a:rPr>
              <a:t>Slurm</a:t>
            </a:r>
            <a:r>
              <a:rPr lang="en-US" dirty="0">
                <a:latin typeface="Arial"/>
                <a:cs typeface="Arial"/>
              </a:rPr>
              <a:t> script as on the SBATCH command line. </a:t>
            </a:r>
            <a:endParaRPr lang="en-US" dirty="0"/>
          </a:p>
          <a:p>
            <a:endParaRPr lang="en-US" dirty="0"/>
          </a:p>
          <a:p>
            <a:r>
              <a:rPr lang="en-US" dirty="0">
                <a:latin typeface="Arial"/>
                <a:cs typeface="Arial"/>
              </a:rPr>
              <a:t>  How does charging actually works? </a:t>
            </a:r>
            <a:endParaRPr lang="en-US" dirty="0"/>
          </a:p>
          <a:p>
            <a:r>
              <a:rPr lang="en-US" dirty="0">
                <a:latin typeface="Arial"/>
                <a:cs typeface="Arial"/>
              </a:rPr>
              <a:t>  First of all when you submit your job the maximum amount of credits that your job can cost will be computed. This is based on the number of CPU cores that you request, the number of requested GPUs , The type of the </a:t>
            </a:r>
            <a:r>
              <a:rPr lang="en-US" dirty="0" err="1">
                <a:latin typeface="Arial"/>
                <a:cs typeface="Arial"/>
              </a:rPr>
              <a:t>cpu</a:t>
            </a:r>
            <a:r>
              <a:rPr lang="en-US" dirty="0">
                <a:latin typeface="Arial"/>
                <a:cs typeface="Arial"/>
              </a:rPr>
              <a:t> and the requested wall time. </a:t>
            </a:r>
            <a:endParaRPr lang="en-US" dirty="0"/>
          </a:p>
          <a:p>
            <a:r>
              <a:rPr lang="en-US" dirty="0">
                <a:latin typeface="Arial"/>
                <a:cs typeface="Arial"/>
              </a:rPr>
              <a:t>  This gives the maximum amount of credits that will be used for this job. </a:t>
            </a:r>
            <a:endParaRPr lang="en-US" dirty="0"/>
          </a:p>
          <a:p>
            <a:r>
              <a:rPr lang="en-US" dirty="0">
                <a:latin typeface="Arial"/>
                <a:cs typeface="Arial"/>
              </a:rPr>
              <a:t>  Before the jobs get </a:t>
            </a:r>
            <a:r>
              <a:rPr lang="en-US" dirty="0" err="1">
                <a:latin typeface="Arial"/>
                <a:cs typeface="Arial"/>
              </a:rPr>
              <a:t>submittted</a:t>
            </a:r>
            <a:r>
              <a:rPr lang="en-US" dirty="0">
                <a:latin typeface="Arial"/>
                <a:cs typeface="Arial"/>
              </a:rPr>
              <a:t>, the system will check if there are enough credits available. This will take into account the current balance and the number of credits that are needed for any job that is currently running.</a:t>
            </a:r>
            <a:endParaRPr lang="en-US" dirty="0"/>
          </a:p>
          <a:p>
            <a:r>
              <a:rPr lang="en-US" dirty="0">
                <a:latin typeface="Arial"/>
                <a:cs typeface="Arial"/>
              </a:rPr>
              <a:t>  When the job is finished only the actual cost will be charged. So if you request three days wall time but your job is finished after one day you only will be charged for this one day of computation.</a:t>
            </a:r>
            <a:endParaRPr lang="en-US" dirty="0"/>
          </a:p>
          <a:p>
            <a:endParaRPr lang="en-US" dirty="0">
              <a:latin typeface="Arial"/>
              <a:cs typeface="Arial"/>
            </a:endParaRPr>
          </a:p>
          <a:p>
            <a:r>
              <a:rPr lang="en-US" dirty="0">
                <a:latin typeface="Arial"/>
                <a:cs typeface="Arial"/>
              </a:rPr>
              <a:t>With the </a:t>
            </a:r>
            <a:r>
              <a:rPr lang="en-US" dirty="0" err="1">
                <a:latin typeface="Arial"/>
                <a:cs typeface="Arial"/>
              </a:rPr>
              <a:t>sam</a:t>
            </a:r>
            <a:r>
              <a:rPr lang="en-US" dirty="0">
                <a:latin typeface="Arial"/>
                <a:cs typeface="Arial"/>
              </a:rPr>
              <a:t>-quote tool you can get a calculation of the credit cost, based on the specified parameters. </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38</a:t>
            </a:fld>
            <a:endParaRPr lang="nl-BE"/>
          </a:p>
        </p:txBody>
      </p:sp>
    </p:spTree>
    <p:extLst>
      <p:ext uri="{BB962C8B-B14F-4D97-AF65-F5344CB8AC3E}">
        <p14:creationId xmlns:p14="http://schemas.microsoft.com/office/powerpoint/2010/main" val="29139534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There are a number of commands that you can use to manage your credits. </a:t>
            </a:r>
            <a:endParaRPr lang="en-US" dirty="0"/>
          </a:p>
          <a:p>
            <a:r>
              <a:rPr lang="en-US" dirty="0">
                <a:latin typeface="Arial"/>
                <a:cs typeface="Arial"/>
              </a:rPr>
              <a:t>  One thing all the commands have in common that is that they start with </a:t>
            </a:r>
            <a:r>
              <a:rPr lang="en-US" dirty="0" err="1">
                <a:latin typeface="Arial"/>
                <a:cs typeface="Arial"/>
              </a:rPr>
              <a:t>sam</a:t>
            </a:r>
            <a:r>
              <a:rPr lang="en-US" dirty="0">
                <a:latin typeface="Arial"/>
                <a:cs typeface="Arial"/>
              </a:rPr>
              <a:t>-  </a:t>
            </a:r>
            <a:endParaRPr lang="en-US" dirty="0"/>
          </a:p>
          <a:p>
            <a:r>
              <a:rPr lang="en-US" dirty="0">
                <a:latin typeface="Arial"/>
                <a:cs typeface="Arial"/>
              </a:rPr>
              <a:t>  It is the abbreviation for "</a:t>
            </a:r>
            <a:r>
              <a:rPr lang="en-US" dirty="0" err="1">
                <a:latin typeface="Arial"/>
                <a:cs typeface="Arial"/>
              </a:rPr>
              <a:t>Slurm</a:t>
            </a:r>
            <a:r>
              <a:rPr lang="en-US" dirty="0">
                <a:latin typeface="Arial"/>
                <a:cs typeface="Arial"/>
              </a:rPr>
              <a:t> Accounting Manager" . These scripts </a:t>
            </a:r>
            <a:r>
              <a:rPr lang="en-US" dirty="0" err="1">
                <a:latin typeface="Arial"/>
                <a:cs typeface="Arial"/>
              </a:rPr>
              <a:t>wrapp</a:t>
            </a:r>
            <a:r>
              <a:rPr lang="en-US" dirty="0">
                <a:latin typeface="Arial"/>
                <a:cs typeface="Arial"/>
              </a:rPr>
              <a:t> standard </a:t>
            </a:r>
            <a:r>
              <a:rPr lang="en-US" dirty="0" err="1">
                <a:latin typeface="Arial"/>
                <a:cs typeface="Arial"/>
              </a:rPr>
              <a:t>slurm</a:t>
            </a:r>
            <a:r>
              <a:rPr lang="en-US" dirty="0">
                <a:latin typeface="Arial"/>
                <a:cs typeface="Arial"/>
              </a:rPr>
              <a:t> commands, but give you an easy to read output.</a:t>
            </a:r>
            <a:endParaRPr lang="en-US" dirty="0"/>
          </a:p>
          <a:p>
            <a:endParaRPr lang="en-US" dirty="0">
              <a:latin typeface="Arial"/>
              <a:cs typeface="Arial"/>
            </a:endParaRPr>
          </a:p>
          <a:p>
            <a:r>
              <a:rPr lang="en-US" dirty="0">
                <a:latin typeface="Arial"/>
                <a:cs typeface="Arial"/>
              </a:rPr>
              <a:t>  The first one is </a:t>
            </a:r>
            <a:r>
              <a:rPr lang="en-US" dirty="0" err="1">
                <a:latin typeface="Arial"/>
                <a:cs typeface="Arial"/>
              </a:rPr>
              <a:t>sam</a:t>
            </a:r>
            <a:r>
              <a:rPr lang="en-US" dirty="0">
                <a:latin typeface="Arial"/>
                <a:cs typeface="Arial"/>
              </a:rPr>
              <a:t>-balance. It will give you an overview of all your active projects and their status.  With the optional minus A you can query a specific account . </a:t>
            </a:r>
          </a:p>
          <a:p>
            <a:r>
              <a:rPr lang="en-US" dirty="0">
                <a:latin typeface="Arial"/>
                <a:cs typeface="Arial"/>
              </a:rPr>
              <a:t>In the overview The reserved column are credits of jobs that are still running and not yet have </a:t>
            </a:r>
            <a:r>
              <a:rPr lang="en-US" dirty="0" err="1">
                <a:latin typeface="Arial"/>
                <a:cs typeface="Arial"/>
              </a:rPr>
              <a:t>substracted</a:t>
            </a:r>
            <a:r>
              <a:rPr lang="en-US" dirty="0">
                <a:latin typeface="Arial"/>
                <a:cs typeface="Arial"/>
              </a:rPr>
              <a:t> from the account. The available column shows the effective amount of credits available to submit new jobs. </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39</a:t>
            </a:fld>
            <a:endParaRPr lang="nl-BE"/>
          </a:p>
        </p:txBody>
      </p:sp>
    </p:spTree>
    <p:extLst>
      <p:ext uri="{BB962C8B-B14F-4D97-AF65-F5344CB8AC3E}">
        <p14:creationId xmlns:p14="http://schemas.microsoft.com/office/powerpoint/2010/main" val="32790817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Another command which is very useful is the </a:t>
            </a:r>
            <a:r>
              <a:rPr lang="en-US" dirty="0" err="1">
                <a:latin typeface="Arial"/>
                <a:cs typeface="Arial"/>
              </a:rPr>
              <a:t>sam</a:t>
            </a:r>
            <a:r>
              <a:rPr lang="en-US" dirty="0">
                <a:latin typeface="Arial"/>
                <a:cs typeface="Arial"/>
              </a:rPr>
              <a:t>-list allocations, followed with minus A and the account name. The different deposits in this project will be shown, in this account and they all had a different deposit date.</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40</a:t>
            </a:fld>
            <a:endParaRPr lang="nl-BE"/>
          </a:p>
        </p:txBody>
      </p:sp>
    </p:spTree>
    <p:extLst>
      <p:ext uri="{BB962C8B-B14F-4D97-AF65-F5344CB8AC3E}">
        <p14:creationId xmlns:p14="http://schemas.microsoft.com/office/powerpoint/2010/main" val="22862000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Sam-quota will give you an estimated of the amount of credits you need to run the job. You can run it by supplying a batch script or by adding specific SBATCH directives on the command line.</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41</a:t>
            </a:fld>
            <a:endParaRPr lang="nl-BE"/>
          </a:p>
        </p:txBody>
      </p:sp>
    </p:spTree>
    <p:extLst>
      <p:ext uri="{BB962C8B-B14F-4D97-AF65-F5344CB8AC3E}">
        <p14:creationId xmlns:p14="http://schemas.microsoft.com/office/powerpoint/2010/main" val="17909721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Sam-Statement will give you an overview off all jobs that you </a:t>
            </a:r>
            <a:r>
              <a:rPr lang="en-US" dirty="0" err="1">
                <a:latin typeface="Arial"/>
                <a:cs typeface="Arial"/>
              </a:rPr>
              <a:t>submitten</a:t>
            </a:r>
            <a:r>
              <a:rPr lang="en-US" dirty="0">
                <a:latin typeface="Arial"/>
                <a:cs typeface="Arial"/>
              </a:rPr>
              <a:t> in a specific time period. You will only see your own jobs, unless you have elevated rights on the project account. </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42</a:t>
            </a:fld>
            <a:endParaRPr lang="nl-BE"/>
          </a:p>
        </p:txBody>
      </p:sp>
    </p:spTree>
    <p:extLst>
      <p:ext uri="{BB962C8B-B14F-4D97-AF65-F5344CB8AC3E}">
        <p14:creationId xmlns:p14="http://schemas.microsoft.com/office/powerpoint/2010/main" val="28882950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To summarize this is an overview of the different </a:t>
            </a:r>
            <a:r>
              <a:rPr lang="en-US" dirty="0" err="1">
                <a:latin typeface="Arial"/>
                <a:cs typeface="Arial"/>
              </a:rPr>
              <a:t>sam</a:t>
            </a:r>
            <a:r>
              <a:rPr lang="en-US" dirty="0">
                <a:latin typeface="Arial"/>
                <a:cs typeface="Arial"/>
              </a:rPr>
              <a:t> commands that are really useful for you so </a:t>
            </a:r>
          </a:p>
          <a:p>
            <a:r>
              <a:rPr lang="en-US" dirty="0" err="1">
                <a:latin typeface="Arial"/>
                <a:cs typeface="Arial"/>
              </a:rPr>
              <a:t>sam</a:t>
            </a:r>
            <a:r>
              <a:rPr lang="en-US" dirty="0">
                <a:latin typeface="Arial"/>
                <a:cs typeface="Arial"/>
              </a:rPr>
              <a:t>-balance to get an overview of the balance. </a:t>
            </a:r>
          </a:p>
          <a:p>
            <a:r>
              <a:rPr lang="en-US" dirty="0" err="1">
                <a:latin typeface="Arial"/>
                <a:cs typeface="Arial"/>
              </a:rPr>
              <a:t>sam</a:t>
            </a:r>
            <a:r>
              <a:rPr lang="en-US" dirty="0">
                <a:latin typeface="Arial"/>
                <a:cs typeface="Arial"/>
              </a:rPr>
              <a:t>-list allocations to have an overview of different deposits</a:t>
            </a:r>
          </a:p>
          <a:p>
            <a:r>
              <a:rPr lang="en-US" dirty="0">
                <a:latin typeface="Arial"/>
                <a:cs typeface="Arial"/>
              </a:rPr>
              <a:t>Sam-quote to get an estimation for the </a:t>
            </a:r>
            <a:r>
              <a:rPr lang="en-US" dirty="0" err="1">
                <a:latin typeface="Arial"/>
                <a:cs typeface="Arial"/>
              </a:rPr>
              <a:t>amut</a:t>
            </a:r>
            <a:r>
              <a:rPr lang="en-US" dirty="0">
                <a:latin typeface="Arial"/>
                <a:cs typeface="Arial"/>
              </a:rPr>
              <a:t> of credits that you need to run a job</a:t>
            </a:r>
          </a:p>
          <a:p>
            <a:r>
              <a:rPr lang="en-US" dirty="0">
                <a:latin typeface="Arial"/>
                <a:cs typeface="Arial"/>
              </a:rPr>
              <a:t>Sas-statement to </a:t>
            </a:r>
            <a:r>
              <a:rPr lang="en-US" dirty="0" err="1">
                <a:latin typeface="Arial"/>
                <a:cs typeface="Arial"/>
              </a:rPr>
              <a:t>giveyou</a:t>
            </a:r>
            <a:r>
              <a:rPr lang="en-US" dirty="0">
                <a:latin typeface="Arial"/>
                <a:cs typeface="Arial"/>
              </a:rPr>
              <a:t> a detailed overview of jobs that have run in a specific time window.</a:t>
            </a:r>
          </a:p>
          <a:p>
            <a:endParaRPr lang="en-US" dirty="0">
              <a:latin typeface="Arial"/>
              <a:cs typeface="Arial"/>
            </a:endParaRPr>
          </a:p>
          <a:p>
            <a:r>
              <a:rPr lang="en-US" dirty="0">
                <a:latin typeface="Arial"/>
                <a:cs typeface="Arial"/>
              </a:rPr>
              <a:t>This completes the basic information about the credit system. There are other things to tell but this is outside the scope of </a:t>
            </a:r>
            <a:r>
              <a:rPr lang="en-US" dirty="0" err="1">
                <a:latin typeface="Arial"/>
                <a:cs typeface="Arial"/>
              </a:rPr>
              <a:t>th</a:t>
            </a:r>
            <a:r>
              <a:rPr lang="en-US" dirty="0">
                <a:latin typeface="Arial"/>
                <a:cs typeface="Arial"/>
              </a:rPr>
              <a:t> </a:t>
            </a:r>
            <a:r>
              <a:rPr lang="en-US" dirty="0" err="1">
                <a:latin typeface="Arial"/>
                <a:cs typeface="Arial"/>
              </a:rPr>
              <a:t>eintroduction</a:t>
            </a:r>
            <a:r>
              <a:rPr lang="en-US" dirty="0">
                <a:latin typeface="Arial"/>
                <a:cs typeface="Arial"/>
              </a:rPr>
              <a:t>. If you have specific questions just don't hesitate to ask them in the follow-up online session or just send them to your service desk email address.</a:t>
            </a: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43</a:t>
            </a:fld>
            <a:endParaRPr lang="nl-BE"/>
          </a:p>
        </p:txBody>
      </p:sp>
    </p:spTree>
    <p:extLst>
      <p:ext uri="{BB962C8B-B14F-4D97-AF65-F5344CB8AC3E}">
        <p14:creationId xmlns:p14="http://schemas.microsoft.com/office/powerpoint/2010/main" val="33053346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44</a:t>
            </a:fld>
            <a:endParaRPr lang="en-US"/>
          </a:p>
        </p:txBody>
      </p:sp>
    </p:spTree>
    <p:extLst>
      <p:ext uri="{BB962C8B-B14F-4D97-AF65-F5344CB8AC3E}">
        <p14:creationId xmlns:p14="http://schemas.microsoft.com/office/powerpoint/2010/main" val="59427953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45</a:t>
            </a:fld>
            <a:endParaRPr lang="nl-BE"/>
          </a:p>
        </p:txBody>
      </p:sp>
    </p:spTree>
    <p:extLst>
      <p:ext uri="{BB962C8B-B14F-4D97-AF65-F5344CB8AC3E}">
        <p14:creationId xmlns:p14="http://schemas.microsoft.com/office/powerpoint/2010/main" val="415312414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48</a:t>
            </a:fld>
            <a:endParaRPr lang="nl-BE"/>
          </a:p>
        </p:txBody>
      </p:sp>
    </p:spTree>
    <p:extLst>
      <p:ext uri="{BB962C8B-B14F-4D97-AF65-F5344CB8AC3E}">
        <p14:creationId xmlns:p14="http://schemas.microsoft.com/office/powerpoint/2010/main" val="294147805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49</a:t>
            </a:fld>
            <a:endParaRPr lang="nl-BE"/>
          </a:p>
        </p:txBody>
      </p:sp>
    </p:spTree>
    <p:extLst>
      <p:ext uri="{BB962C8B-B14F-4D97-AF65-F5344CB8AC3E}">
        <p14:creationId xmlns:p14="http://schemas.microsoft.com/office/powerpoint/2010/main" val="39160721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50</a:t>
            </a:fld>
            <a:endParaRPr lang="en-US"/>
          </a:p>
        </p:txBody>
      </p:sp>
    </p:spTree>
    <p:extLst>
      <p:ext uri="{BB962C8B-B14F-4D97-AF65-F5344CB8AC3E}">
        <p14:creationId xmlns:p14="http://schemas.microsoft.com/office/powerpoint/2010/main" val="122629811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58</a:t>
            </a:fld>
            <a:endParaRPr lang="en-US"/>
          </a:p>
        </p:txBody>
      </p:sp>
    </p:spTree>
    <p:extLst>
      <p:ext uri="{BB962C8B-B14F-4D97-AF65-F5344CB8AC3E}">
        <p14:creationId xmlns:p14="http://schemas.microsoft.com/office/powerpoint/2010/main" val="2277448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67</a:t>
            </a:fld>
            <a:endParaRPr lang="nl-BE"/>
          </a:p>
        </p:txBody>
      </p:sp>
    </p:spTree>
    <p:extLst>
      <p:ext uri="{BB962C8B-B14F-4D97-AF65-F5344CB8AC3E}">
        <p14:creationId xmlns:p14="http://schemas.microsoft.com/office/powerpoint/2010/main" val="15229291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71</a:t>
            </a:fld>
            <a:endParaRPr lang="en-US"/>
          </a:p>
        </p:txBody>
      </p:sp>
    </p:spTree>
    <p:extLst>
      <p:ext uri="{BB962C8B-B14F-4D97-AF65-F5344CB8AC3E}">
        <p14:creationId xmlns:p14="http://schemas.microsoft.com/office/powerpoint/2010/main" val="113431476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74</a:t>
            </a:fld>
            <a:endParaRPr lang="en-US"/>
          </a:p>
        </p:txBody>
      </p:sp>
    </p:spTree>
    <p:extLst>
      <p:ext uri="{BB962C8B-B14F-4D97-AF65-F5344CB8AC3E}">
        <p14:creationId xmlns:p14="http://schemas.microsoft.com/office/powerpoint/2010/main" val="402909480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84</a:t>
            </a:fld>
            <a:endParaRPr lang="en-US"/>
          </a:p>
        </p:txBody>
      </p:sp>
    </p:spTree>
    <p:extLst>
      <p:ext uri="{BB962C8B-B14F-4D97-AF65-F5344CB8AC3E}">
        <p14:creationId xmlns:p14="http://schemas.microsoft.com/office/powerpoint/2010/main" val="21376156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95</a:t>
            </a:fld>
            <a:endParaRPr lang="en-US"/>
          </a:p>
        </p:txBody>
      </p:sp>
    </p:spTree>
    <p:extLst>
      <p:ext uri="{BB962C8B-B14F-4D97-AF65-F5344CB8AC3E}">
        <p14:creationId xmlns:p14="http://schemas.microsoft.com/office/powerpoint/2010/main" val="3453508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96</a:t>
            </a:fld>
            <a:endParaRPr lang="en-US"/>
          </a:p>
        </p:txBody>
      </p:sp>
    </p:spTree>
    <p:extLst>
      <p:ext uri="{BB962C8B-B14F-4D97-AF65-F5344CB8AC3E}">
        <p14:creationId xmlns:p14="http://schemas.microsoft.com/office/powerpoint/2010/main" val="1839598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baseline="0" dirty="0">
              <a:sym typeface="Wingdings" panose="05000000000000000000" pitchFamily="2" charset="2"/>
            </a:endParaRPr>
          </a:p>
        </p:txBody>
      </p:sp>
      <p:sp>
        <p:nvSpPr>
          <p:cNvPr id="4" name="Slide Number Placeholder 3"/>
          <p:cNvSpPr>
            <a:spLocks noGrp="1"/>
          </p:cNvSpPr>
          <p:nvPr>
            <p:ph type="sldNum" sz="quarter" idx="10"/>
          </p:nvPr>
        </p:nvSpPr>
        <p:spPr/>
        <p:txBody>
          <a:bodyPr/>
          <a:lstStyle/>
          <a:p>
            <a:fld id="{1792FB45-5863-49D1-8926-D42AE452AB79}" type="slidenum">
              <a:rPr lang="en-US" smtClean="0"/>
              <a:t>97</a:t>
            </a:fld>
            <a:endParaRPr lang="en-US"/>
          </a:p>
        </p:txBody>
      </p:sp>
    </p:spTree>
    <p:extLst>
      <p:ext uri="{BB962C8B-B14F-4D97-AF65-F5344CB8AC3E}">
        <p14:creationId xmlns:p14="http://schemas.microsoft.com/office/powerpoint/2010/main" val="27558072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92FB45-5863-49D1-8926-D42AE452AB79}" type="slidenum">
              <a:rPr lang="en-US" smtClean="0"/>
              <a:t>98</a:t>
            </a:fld>
            <a:endParaRPr lang="en-US"/>
          </a:p>
        </p:txBody>
      </p:sp>
    </p:spTree>
    <p:extLst>
      <p:ext uri="{BB962C8B-B14F-4D97-AF65-F5344CB8AC3E}">
        <p14:creationId xmlns:p14="http://schemas.microsoft.com/office/powerpoint/2010/main" val="409483712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99</a:t>
            </a:fld>
            <a:endParaRPr lang="en-US"/>
          </a:p>
        </p:txBody>
      </p:sp>
    </p:spTree>
    <p:extLst>
      <p:ext uri="{BB962C8B-B14F-4D97-AF65-F5344CB8AC3E}">
        <p14:creationId xmlns:p14="http://schemas.microsoft.com/office/powerpoint/2010/main" val="13653045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15" name="Picture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347650" y="392645"/>
            <a:ext cx="1844351" cy="718699"/>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175986" y="-3456972"/>
            <a:ext cx="3833929" cy="12198101"/>
          </a:xfrm>
          <a:prstGeom prst="rect">
            <a:avLst/>
          </a:prstGeom>
        </p:spPr>
      </p:pic>
      <p:sp>
        <p:nvSpPr>
          <p:cNvPr id="3" name="Subtitle 2"/>
          <p:cNvSpPr>
            <a:spLocks noGrp="1"/>
          </p:cNvSpPr>
          <p:nvPr>
            <p:ph type="subTitle" idx="1"/>
          </p:nvPr>
        </p:nvSpPr>
        <p:spPr>
          <a:xfrm>
            <a:off x="191344" y="3602038"/>
            <a:ext cx="11848256"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
        <p:nvSpPr>
          <p:cNvPr id="4" name="Date Placeholder 3"/>
          <p:cNvSpPr>
            <a:spLocks noGrp="1"/>
          </p:cNvSpPr>
          <p:nvPr>
            <p:ph type="dt" sz="half" idx="10"/>
          </p:nvPr>
        </p:nvSpPr>
        <p:spPr>
          <a:xfrm>
            <a:off x="2452396" y="6352794"/>
            <a:ext cx="2743200" cy="365125"/>
          </a:xfrm>
          <a:prstGeom prst="rect">
            <a:avLst/>
          </a:prstGeom>
        </p:spPr>
        <p:txBody>
          <a:bodyPr/>
          <a:lstStyle/>
          <a:p>
            <a:fld id="{AA2065AC-7EB1-C24F-8A42-535006515600}" type="datetimeFigureOut">
              <a:rPr lang="en-US" smtClean="0"/>
              <a:t>3/19/2026</a:t>
            </a:fld>
            <a:endParaRPr lang="en-US"/>
          </a:p>
        </p:txBody>
      </p:sp>
      <p:sp>
        <p:nvSpPr>
          <p:cNvPr id="5" name="Footer Placeholder 4" hidden="1"/>
          <p:cNvSpPr>
            <a:spLocks noGrp="1"/>
          </p:cNvSpPr>
          <p:nvPr>
            <p:ph type="ftr" sz="quarter" idx="11"/>
          </p:nvPr>
        </p:nvSpPr>
        <p:spPr>
          <a:xfrm>
            <a:off x="8610600" y="6356352"/>
            <a:ext cx="2121243" cy="365125"/>
          </a:xfrm>
          <a:prstGeom prst="rect">
            <a:avLst/>
          </a:prstGeom>
        </p:spPr>
        <p:txBody>
          <a:bodyPr/>
          <a:lstStyle/>
          <a:p>
            <a:endParaRPr lang="en-US"/>
          </a:p>
        </p:txBody>
      </p:sp>
      <p:sp>
        <p:nvSpPr>
          <p:cNvPr id="8" name="Rectangle 6"/>
          <p:cNvSpPr/>
          <p:nvPr/>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8345" y="5970675"/>
            <a:ext cx="3997596" cy="710771"/>
          </a:xfrm>
          <a:prstGeom prst="rect">
            <a:avLst/>
          </a:prstGeom>
        </p:spPr>
      </p:pic>
      <p:sp>
        <p:nvSpPr>
          <p:cNvPr id="20" name="TextBox 19"/>
          <p:cNvSpPr txBox="1"/>
          <p:nvPr/>
        </p:nvSpPr>
        <p:spPr>
          <a:xfrm>
            <a:off x="10347648" y="6245614"/>
            <a:ext cx="1791477" cy="300082"/>
          </a:xfrm>
          <a:prstGeom prst="rect">
            <a:avLst/>
          </a:prstGeom>
          <a:noFill/>
        </p:spPr>
        <p:txBody>
          <a:bodyPr wrap="square" rtlCol="0">
            <a:spAutoFit/>
          </a:bodyPr>
          <a:lstStyle/>
          <a:p>
            <a:r>
              <a:rPr lang="en-US" sz="1350" dirty="0">
                <a:solidFill>
                  <a:schemeClr val="bg2"/>
                </a:solidFill>
                <a:latin typeface="FlandersArtSans-Medium" panose="00000600000000000000" pitchFamily="2" charset="0"/>
              </a:rPr>
              <a:t>vscentrum</a:t>
            </a:r>
            <a:r>
              <a:rPr lang="en-US" sz="1350" dirty="0">
                <a:solidFill>
                  <a:schemeClr val="bg2"/>
                </a:solidFill>
              </a:rPr>
              <a:t>.be</a:t>
            </a:r>
          </a:p>
        </p:txBody>
      </p:sp>
      <p:sp>
        <p:nvSpPr>
          <p:cNvPr id="6" name="Slide Number Placeholder 5"/>
          <p:cNvSpPr>
            <a:spLocks noGrp="1"/>
          </p:cNvSpPr>
          <p:nvPr>
            <p:ph type="sldNum" sz="quarter" idx="12"/>
          </p:nvPr>
        </p:nvSpPr>
        <p:spPr/>
        <p:txBody>
          <a:bodyPr/>
          <a:lstStyle/>
          <a:p>
            <a:fld id="{2307FEF7-704B-9F41-A667-02488DE8B151}" type="slidenum">
              <a:rPr lang="en-US" smtClean="0"/>
              <a:t>‹#›</a:t>
            </a:fld>
            <a:endParaRPr lang="en-US"/>
          </a:p>
        </p:txBody>
      </p:sp>
      <p:sp>
        <p:nvSpPr>
          <p:cNvPr id="10" name="Title 9"/>
          <p:cNvSpPr>
            <a:spLocks noGrp="1"/>
          </p:cNvSpPr>
          <p:nvPr>
            <p:ph type="title"/>
          </p:nvPr>
        </p:nvSpPr>
        <p:spPr>
          <a:xfrm>
            <a:off x="191344" y="2175874"/>
            <a:ext cx="11848256" cy="1325563"/>
          </a:xfrm>
        </p:spPr>
        <p:txBody>
          <a:bodyPr/>
          <a:lstStyle>
            <a:lvl1pPr algn="ctr">
              <a:defRPr/>
            </a:lvl1pPr>
          </a:lstStyle>
          <a:p>
            <a:r>
              <a:rPr lang="en-US" dirty="0"/>
              <a:t>Click to edit Master title style</a:t>
            </a:r>
            <a:endParaRPr lang="nl-BE" dirty="0"/>
          </a:p>
        </p:txBody>
      </p:sp>
    </p:spTree>
    <p:extLst>
      <p:ext uri="{BB962C8B-B14F-4D97-AF65-F5344CB8AC3E}">
        <p14:creationId xmlns:p14="http://schemas.microsoft.com/office/powerpoint/2010/main" val="35609459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122945507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57397431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32275941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ingle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endParaRPr lang="nl-BE" dirty="0"/>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
        <p:nvSpPr>
          <p:cNvPr id="3" name="Picture Placeholder 2"/>
          <p:cNvSpPr>
            <a:spLocks noGrp="1"/>
          </p:cNvSpPr>
          <p:nvPr>
            <p:ph type="pic" sz="quarter" idx="13"/>
          </p:nvPr>
        </p:nvSpPr>
        <p:spPr>
          <a:xfrm>
            <a:off x="1028701" y="2514600"/>
            <a:ext cx="5067300" cy="3273552"/>
          </a:xfrm>
          <a:prstGeom prst="roundRect">
            <a:avLst>
              <a:gd name="adj" fmla="val 935"/>
            </a:avLst>
          </a:prstGeom>
          <a:solidFill>
            <a:schemeClr val="accent6">
              <a:lumMod val="50000"/>
            </a:schemeClr>
          </a:solidFill>
        </p:spPr>
        <p:txBody>
          <a:bodyPr/>
          <a:lstStyle>
            <a:lvl1pPr marL="0" indent="0">
              <a:buNone/>
              <a:defRPr sz="750"/>
            </a:lvl1pPr>
          </a:lstStyle>
          <a:p>
            <a:r>
              <a:rPr lang="en-US"/>
              <a:t>Click icon to add picture</a:t>
            </a:r>
          </a:p>
        </p:txBody>
      </p:sp>
    </p:spTree>
    <p:extLst>
      <p:ext uri="{BB962C8B-B14F-4D97-AF65-F5344CB8AC3E}">
        <p14:creationId xmlns:p14="http://schemas.microsoft.com/office/powerpoint/2010/main" val="140482600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el en object">
    <p:spTree>
      <p:nvGrpSpPr>
        <p:cNvPr id="1" name=""/>
        <p:cNvGrpSpPr/>
        <p:nvPr/>
      </p:nvGrpSpPr>
      <p:grpSpPr>
        <a:xfrm>
          <a:off x="0" y="0"/>
          <a:ext cx="0" cy="0"/>
          <a:chOff x="0" y="0"/>
          <a:chExt cx="0" cy="0"/>
        </a:xfrm>
      </p:grpSpPr>
      <p:sp>
        <p:nvSpPr>
          <p:cNvPr id="3" name="Tijdelijke aanduiding voor datum 2"/>
          <p:cNvSpPr>
            <a:spLocks noGrp="1"/>
          </p:cNvSpPr>
          <p:nvPr>
            <p:ph type="dt" sz="half" idx="10"/>
          </p:nvPr>
        </p:nvSpPr>
        <p:spPr/>
        <p:txBody>
          <a:bodyPr/>
          <a:lstStyle/>
          <a:p>
            <a:endParaRPr lang="nl-BE" dirty="0"/>
          </a:p>
        </p:txBody>
      </p:sp>
      <p:sp>
        <p:nvSpPr>
          <p:cNvPr id="5" name="Tijdelijke aanduiding voor dianummer 4"/>
          <p:cNvSpPr>
            <a:spLocks noGrp="1"/>
          </p:cNvSpPr>
          <p:nvPr>
            <p:ph type="sldNum" sz="quarter" idx="12"/>
          </p:nvPr>
        </p:nvSpPr>
        <p:spPr/>
        <p:txBody>
          <a:body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solidFill>
                  <a:schemeClr val="tx1"/>
                </a:solidFill>
                <a:latin typeface="+mn-lt"/>
                <a:ea typeface="Open Sans Extrabold" panose="020B0906030804020204" pitchFamily="34" charset="0"/>
                <a:cs typeface="Open Sans Extrabold" panose="020B0906030804020204" pitchFamily="34" charset="0"/>
              </a:defRPr>
            </a:lvl1pPr>
            <a:lvl2pPr>
              <a:defRPr>
                <a:solidFill>
                  <a:schemeClr val="tx1"/>
                </a:solidFill>
                <a:latin typeface="+mn-lt"/>
                <a:ea typeface="Open Sans Extrabold" panose="020B0906030804020204" pitchFamily="34" charset="0"/>
                <a:cs typeface="Open Sans Extrabold" panose="020B0906030804020204" pitchFamily="34" charset="0"/>
              </a:defRPr>
            </a:lvl2pPr>
            <a:lvl3pPr>
              <a:defRPr>
                <a:solidFill>
                  <a:schemeClr val="tx1"/>
                </a:solidFill>
                <a:latin typeface="+mn-lt"/>
                <a:ea typeface="Open Sans Extrabold" panose="020B0906030804020204" pitchFamily="34" charset="0"/>
                <a:cs typeface="Open Sans Extrabold" panose="020B0906030804020204" pitchFamily="34" charset="0"/>
              </a:defRPr>
            </a:lvl3pPr>
            <a:lvl4pPr>
              <a:defRPr>
                <a:solidFill>
                  <a:schemeClr val="tx1"/>
                </a:solidFill>
                <a:latin typeface="+mn-lt"/>
                <a:ea typeface="Open Sans Extrabold" panose="020B0906030804020204" pitchFamily="34" charset="0"/>
                <a:cs typeface="Open Sans Extrabold" panose="020B0906030804020204" pitchFamily="34" charset="0"/>
              </a:defRPr>
            </a:lvl4pPr>
            <a:lvl5pPr>
              <a:defRPr>
                <a:solidFill>
                  <a:schemeClr val="tx1"/>
                </a:solidFill>
                <a:latin typeface="+mn-lt"/>
                <a:ea typeface="Open Sans Extrabold" panose="020B0906030804020204" pitchFamily="34" charset="0"/>
                <a:cs typeface="Open Sans Extrabold" panose="020B0906030804020204" pitchFamily="34" charset="0"/>
              </a:defRPr>
            </a:lvl5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 name="Title 3"/>
          <p:cNvSpPr>
            <a:spLocks noGrp="1"/>
          </p:cNvSpPr>
          <p:nvPr>
            <p:ph type="title"/>
          </p:nvPr>
        </p:nvSpPr>
        <p:spPr>
          <a:xfrm>
            <a:off x="720000" y="-27384"/>
            <a:ext cx="11112000" cy="1325563"/>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996608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Alleen titel">
    <p:spTree>
      <p:nvGrpSpPr>
        <p:cNvPr id="1" name=""/>
        <p:cNvGrpSpPr/>
        <p:nvPr/>
      </p:nvGrpSpPr>
      <p:grpSpPr>
        <a:xfrm>
          <a:off x="0" y="0"/>
          <a:ext cx="0" cy="0"/>
          <a:chOff x="0" y="0"/>
          <a:chExt cx="0" cy="0"/>
        </a:xfrm>
      </p:grpSpPr>
      <p:sp>
        <p:nvSpPr>
          <p:cNvPr id="2" name="Title 1"/>
          <p:cNvSpPr>
            <a:spLocks noGrp="1"/>
          </p:cNvSpPr>
          <p:nvPr>
            <p:ph type="title"/>
          </p:nvPr>
        </p:nvSpPr>
        <p:spPr>
          <a:xfrm>
            <a:off x="838200" y="15205"/>
            <a:ext cx="10515600" cy="1181547"/>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289539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1_Alleen titel">
    <p:spTree>
      <p:nvGrpSpPr>
        <p:cNvPr id="1" name=""/>
        <p:cNvGrpSpPr/>
        <p:nvPr/>
      </p:nvGrpSpPr>
      <p:grpSpPr>
        <a:xfrm>
          <a:off x="0" y="0"/>
          <a:ext cx="0" cy="0"/>
          <a:chOff x="0" y="0"/>
          <a:chExt cx="0" cy="0"/>
        </a:xfrm>
      </p:grpSpPr>
      <p:sp>
        <p:nvSpPr>
          <p:cNvPr id="8" name="Footer Placeholder 7"/>
          <p:cNvSpPr>
            <a:spLocks noGrp="1"/>
          </p:cNvSpPr>
          <p:nvPr>
            <p:ph type="ftr" sz="quarter" idx="10"/>
          </p:nvPr>
        </p:nvSpPr>
        <p:spPr>
          <a:xfrm>
            <a:off x="4038600" y="6356352"/>
            <a:ext cx="4114800" cy="365125"/>
          </a:xfrm>
          <a:prstGeom prst="rect">
            <a:avLst/>
          </a:prstGeom>
        </p:spPr>
        <p:txBody>
          <a:bodyPr/>
          <a:lstStyle/>
          <a:p>
            <a:endParaRPr lang="nl-BE" dirty="0"/>
          </a:p>
        </p:txBody>
      </p:sp>
    </p:spTree>
    <p:extLst>
      <p:ext uri="{BB962C8B-B14F-4D97-AF65-F5344CB8AC3E}">
        <p14:creationId xmlns:p14="http://schemas.microsoft.com/office/powerpoint/2010/main" val="154103646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Tree>
    <p:extLst>
      <p:ext uri="{BB962C8B-B14F-4D97-AF65-F5344CB8AC3E}">
        <p14:creationId xmlns:p14="http://schemas.microsoft.com/office/powerpoint/2010/main" val="1089075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4161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dirty="0"/>
          </a:p>
        </p:txBody>
      </p:sp>
    </p:spTree>
    <p:extLst>
      <p:ext uri="{BB962C8B-B14F-4D97-AF65-F5344CB8AC3E}">
        <p14:creationId xmlns:p14="http://schemas.microsoft.com/office/powerpoint/2010/main" val="13149780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42707801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3/19/2026</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dirty="0"/>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2332698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922977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647247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1667600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0" i="0">
                <a:solidFill>
                  <a:schemeClr val="bg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Tree>
    <p:extLst>
      <p:ext uri="{BB962C8B-B14F-4D97-AF65-F5344CB8AC3E}">
        <p14:creationId xmlns:p14="http://schemas.microsoft.com/office/powerpoint/2010/main" val="1298340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a:p>
        </p:txBody>
      </p:sp>
    </p:spTree>
    <p:extLst>
      <p:ext uri="{BB962C8B-B14F-4D97-AF65-F5344CB8AC3E}">
        <p14:creationId xmlns:p14="http://schemas.microsoft.com/office/powerpoint/2010/main" val="18301531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C565815-05F0-455F-BBD6-9680ABD9D1CB}"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7235950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8598408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565815-05F0-455F-BBD6-9680ABD9D1CB}"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6886935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C565815-05F0-455F-BBD6-9680ABD9D1CB}" type="datetimeFigureOut">
              <a:rPr lang="en-US" smtClean="0"/>
              <a:t>3/19/2026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6424634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C565815-05F0-455F-BBD6-9680ABD9D1CB}" type="datetimeFigureOut">
              <a:rPr lang="en-US" smtClean="0"/>
              <a:t>3/19/2026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0751180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C565815-05F0-455F-BBD6-9680ABD9D1CB}" type="datetimeFigureOut">
              <a:rPr lang="en-US" smtClean="0"/>
              <a:t>3/19/2026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041763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565815-05F0-455F-BBD6-9680ABD9D1CB}" type="datetimeFigureOut">
              <a:rPr lang="en-US" smtClean="0"/>
              <a:t>3/19/2026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225389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3/19/2026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42127588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3/19/2026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4277512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61246656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705177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15.xml"/><Relationship Id="rId7"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Rectangle 7"/>
          <p:cNvSpPr/>
          <p:nvPr/>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1" y="6384346"/>
            <a:ext cx="502300" cy="365125"/>
          </a:xfrm>
          <a:prstGeom prst="rect">
            <a:avLst/>
          </a:prstGeom>
        </p:spPr>
        <p:txBody>
          <a:bodyPr vert="horz" lIns="91440" tIns="45720" rIns="91440" bIns="45720" rtlCol="0" anchor="ctr"/>
          <a:lstStyle>
            <a:lvl1pPr algn="r">
              <a:defRPr sz="900">
                <a:solidFill>
                  <a:schemeClr val="bg1"/>
                </a:solidFill>
              </a:defRPr>
            </a:lvl1pPr>
          </a:lstStyle>
          <a:p>
            <a:fld id="{F35D8031-C8E5-48F8-A3B6-81643B27A3AF}" type="slidenum">
              <a:rPr lang="nl-BE" smtClean="0"/>
              <a:pPr/>
              <a:t>‹#›</a:t>
            </a:fld>
            <a:endParaRPr lang="nl-BE" dirty="0"/>
          </a:p>
        </p:txBody>
      </p:sp>
      <p:pic>
        <p:nvPicPr>
          <p:cNvPr id="7" name="Picture 6"/>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10517240" y="6229447"/>
            <a:ext cx="1426467" cy="576073"/>
          </a:xfrm>
          <a:prstGeom prst="rect">
            <a:avLst/>
          </a:prstGeom>
        </p:spPr>
      </p:pic>
    </p:spTree>
    <p:extLst>
      <p:ext uri="{BB962C8B-B14F-4D97-AF65-F5344CB8AC3E}">
        <p14:creationId xmlns:p14="http://schemas.microsoft.com/office/powerpoint/2010/main" val="1330027387"/>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8" r:id="rId9"/>
    <p:sldLayoutId id="2147483739" r:id="rId10"/>
    <p:sldLayoutId id="2147483750" r:id="rId11"/>
    <p:sldLayoutId id="2147483761"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950646944"/>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58" r:id="rId5"/>
    <p:sldLayoutId id="2147483759"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565815-05F0-455F-BBD6-9680ABD9D1CB}" type="datetimeFigureOut">
              <a:rPr lang="en-US" smtClean="0"/>
              <a:t>3/19/2026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DDE5766-DCCA-445A-AA53-048753A2C1C5}" type="slidenum">
              <a:rPr lang="en-US" smtClean="0"/>
              <a:t>‹#›</a:t>
            </a:fld>
            <a:endParaRPr lang="en-US"/>
          </a:p>
        </p:txBody>
      </p:sp>
    </p:spTree>
    <p:extLst>
      <p:ext uri="{BB962C8B-B14F-4D97-AF65-F5344CB8AC3E}">
        <p14:creationId xmlns:p14="http://schemas.microsoft.com/office/powerpoint/2010/main" val="2750968184"/>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hyperlink" Target="https://github.com/gjbex/Training-sessions?tab=coc-ov-fil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6.png"/><Relationship Id="rId3" Type="http://schemas.openxmlformats.org/officeDocument/2006/relationships/image" Target="../media/image11.png"/><Relationship Id="rId21" Type="http://schemas.openxmlformats.org/officeDocument/2006/relationships/image" Target="../media/image29.png"/><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5.png"/><Relationship Id="rId2" Type="http://schemas.openxmlformats.org/officeDocument/2006/relationships/notesSlide" Target="../notesSlides/notesSlide6.xml"/><Relationship Id="rId16" Type="http://schemas.openxmlformats.org/officeDocument/2006/relationships/image" Target="../media/image24.png"/><Relationship Id="rId20" Type="http://schemas.openxmlformats.org/officeDocument/2006/relationships/image" Target="../media/image28.png"/><Relationship Id="rId1" Type="http://schemas.openxmlformats.org/officeDocument/2006/relationships/slideLayout" Target="../slideLayouts/slideLayout1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png"/><Relationship Id="rId10" Type="http://schemas.openxmlformats.org/officeDocument/2006/relationships/image" Target="../media/image18.png"/><Relationship Id="rId19" Type="http://schemas.openxmlformats.org/officeDocument/2006/relationships/image" Target="../media/image27.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 Id="rId22" Type="http://schemas.openxmlformats.org/officeDocument/2006/relationships/image" Target="../media/image30.png"/></Relationships>
</file>

<file path=ppt/slides/_rels/slide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hyperlink" Target="https://vscentrum.be/"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hyperlink" Target="https://docs.vscentrum.b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ccount.vscentrum.be/" TargetMode="External"/><Relationship Id="rId2" Type="http://schemas.openxmlformats.org/officeDocument/2006/relationships/image" Target="../media/image34.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hyperlink" Target="mailto:hpcinfo@kuleuven.be" TargetMode="Externa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8" Type="http://schemas.openxmlformats.org/officeDocument/2006/relationships/hyperlink" Target="https://icts.kuleuven.be/sc" TargetMode="External"/><Relationship Id="rId3" Type="http://schemas.openxmlformats.org/officeDocument/2006/relationships/hyperlink" Target="https://vlaams-supercomputing-centrum-vscdocumentation.readthedocs-hosted.com/en/latest/access/getting_access.html#create-a-public-private-key-pair" TargetMode="External"/><Relationship Id="rId7" Type="http://schemas.openxmlformats.org/officeDocument/2006/relationships/hyperlink" Target="https://icts.kuleuven.be/sc/forms/Aanvraagformulier_HPC_Credits" TargetMode="External"/><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hyperlink" Target="https://admin.kuleuven.be/icts/onderzoek/hpc/request-introduction-credits" TargetMode="External"/><Relationship Id="rId11" Type="http://schemas.openxmlformats.org/officeDocument/2006/relationships/image" Target="../media/image36.png"/><Relationship Id="rId5" Type="http://schemas.openxmlformats.org/officeDocument/2006/relationships/hyperlink" Target="https://vlaams-supercomputing-centrum-vscdocumentation.readthedocs-hosted.com/en/latest/access/getting_access.html#users-from-the-ku-leuven-and-uhasselt-association" TargetMode="External"/><Relationship Id="rId10" Type="http://schemas.openxmlformats.org/officeDocument/2006/relationships/image" Target="../media/image35.png"/><Relationship Id="rId4" Type="http://schemas.openxmlformats.org/officeDocument/2006/relationships/hyperlink" Target="https://account.vscentrum.be/" TargetMode="External"/><Relationship Id="rId9" Type="http://schemas.openxmlformats.org/officeDocument/2006/relationships/hyperlink" Target="https://icts.kuleuven.be/sc/onderzoeksgegevens/english-version/hpc_vsc_page"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vscentrum.be/en/education-and-trainings" TargetMode="External"/><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8" Type="http://schemas.openxmlformats.org/officeDocument/2006/relationships/image" Target="../media/image42.jpeg"/><Relationship Id="rId13" Type="http://schemas.openxmlformats.org/officeDocument/2006/relationships/image" Target="../media/image47.png"/><Relationship Id="rId18" Type="http://schemas.openxmlformats.org/officeDocument/2006/relationships/image" Target="../media/image52.png"/><Relationship Id="rId3" Type="http://schemas.openxmlformats.org/officeDocument/2006/relationships/image" Target="../media/image37.jpeg"/><Relationship Id="rId7" Type="http://schemas.openxmlformats.org/officeDocument/2006/relationships/image" Target="../media/image41.jpeg"/><Relationship Id="rId12" Type="http://schemas.openxmlformats.org/officeDocument/2006/relationships/image" Target="../media/image46.jpeg"/><Relationship Id="rId17" Type="http://schemas.openxmlformats.org/officeDocument/2006/relationships/image" Target="../media/image51.jpeg"/><Relationship Id="rId2" Type="http://schemas.openxmlformats.org/officeDocument/2006/relationships/notesSlide" Target="../notesSlides/notesSlide12.xml"/><Relationship Id="rId16" Type="http://schemas.openxmlformats.org/officeDocument/2006/relationships/image" Target="../media/image50.png"/><Relationship Id="rId20" Type="http://schemas.openxmlformats.org/officeDocument/2006/relationships/image" Target="../media/image54.png"/><Relationship Id="rId1" Type="http://schemas.openxmlformats.org/officeDocument/2006/relationships/slideLayout" Target="../slideLayouts/slideLayout8.xml"/><Relationship Id="rId6" Type="http://schemas.openxmlformats.org/officeDocument/2006/relationships/image" Target="../media/image40.jpeg"/><Relationship Id="rId11" Type="http://schemas.openxmlformats.org/officeDocument/2006/relationships/image" Target="../media/image45.png"/><Relationship Id="rId5" Type="http://schemas.openxmlformats.org/officeDocument/2006/relationships/image" Target="../media/image39.jpeg"/><Relationship Id="rId15" Type="http://schemas.openxmlformats.org/officeDocument/2006/relationships/image" Target="../media/image49.jpeg"/><Relationship Id="rId10" Type="http://schemas.openxmlformats.org/officeDocument/2006/relationships/image" Target="../media/image44.png"/><Relationship Id="rId19" Type="http://schemas.openxmlformats.org/officeDocument/2006/relationships/image" Target="../media/image53.png"/><Relationship Id="rId4" Type="http://schemas.openxmlformats.org/officeDocument/2006/relationships/image" Target="../media/image38.jpeg"/><Relationship Id="rId9" Type="http://schemas.openxmlformats.org/officeDocument/2006/relationships/image" Target="../media/image43.jpeg"/><Relationship Id="rId14" Type="http://schemas.openxmlformats.org/officeDocument/2006/relationships/image" Target="../media/image48.jpeg"/></Relationships>
</file>

<file path=ppt/slides/_rels/slide1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slideLayout" Target="../slideLayouts/slideLayout8.xml"/><Relationship Id="rId1" Type="http://schemas.openxmlformats.org/officeDocument/2006/relationships/tags" Target="../tags/tag1.xml"/><Relationship Id="rId4" Type="http://schemas.openxmlformats.org/officeDocument/2006/relationships/image" Target="../media/image5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3" Type="http://schemas.openxmlformats.org/officeDocument/2006/relationships/hyperlink" Target="https://docs.vscentrum.be/access/how_to_create_manage_vsc_groups.html" TargetMode="External"/><Relationship Id="rId2" Type="http://schemas.openxmlformats.org/officeDocument/2006/relationships/image" Target="../media/image59.png"/><Relationship Id="rId1" Type="http://schemas.openxmlformats.org/officeDocument/2006/relationships/slideLayout" Target="../slideLayouts/slideLayout6.xml"/><Relationship Id="rId4" Type="http://schemas.openxmlformats.org/officeDocument/2006/relationships/hyperlink" Target="https://icts.kuleuven.be/sc/onderzoeksgegevens/HPC"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admin.kuleuven.be/icts/onderzoek/hpc/hpc-storage" TargetMode="External"/><Relationship Id="rId2" Type="http://schemas.openxmlformats.org/officeDocument/2006/relationships/image" Target="../media/image59.png"/><Relationship Id="rId1" Type="http://schemas.openxmlformats.org/officeDocument/2006/relationships/slideLayout" Target="../slideLayouts/slideLayout6.xml"/><Relationship Id="rId4" Type="http://schemas.openxmlformats.org/officeDocument/2006/relationships/hyperlink" Target="https://icts.kuleuven.be/sc/english/research/HPC" TargetMode="Externa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image" Target="../media/image60.png"/><Relationship Id="rId2" Type="http://schemas.openxmlformats.org/officeDocument/2006/relationships/diagramData" Target="../diagrams/data3.xml"/><Relationship Id="rId1" Type="http://schemas.openxmlformats.org/officeDocument/2006/relationships/slideLayout" Target="../slideLayouts/slideLayout6.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hyperlink" Target="https://vlaams-supercomputing-centrum-vscdocumentation.readthedocs-hosted.com/en/latest/leuven/using_beegfs.html" TargetMode="External"/><Relationship Id="rId2" Type="http://schemas.openxmlformats.org/officeDocument/2006/relationships/diagramData" Target="../diagrams/data4.xml"/><Relationship Id="rId1" Type="http://schemas.openxmlformats.org/officeDocument/2006/relationships/slideLayout" Target="../slideLayouts/slideLayout6.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60.png"/><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2.xml.rels><?xml version="1.0" encoding="UTF-8" standalone="yes"?>
<Relationships xmlns="http://schemas.openxmlformats.org/package/2006/relationships"><Relationship Id="rId3" Type="http://schemas.openxmlformats.org/officeDocument/2006/relationships/hyperlink" Target="https://docs.vscentrum.be/globus/index.html" TargetMode="External"/><Relationship Id="rId2" Type="http://schemas.openxmlformats.org/officeDocument/2006/relationships/hyperlink" Target="https://www.vscentrum.be/data" TargetMode="Externa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8" Type="http://schemas.openxmlformats.org/officeDocument/2006/relationships/image" Target="../media/image67.png"/><Relationship Id="rId13" Type="http://schemas.openxmlformats.org/officeDocument/2006/relationships/image" Target="../media/image72.png"/><Relationship Id="rId3" Type="http://schemas.openxmlformats.org/officeDocument/2006/relationships/image" Target="../media/image62.svg"/><Relationship Id="rId7" Type="http://schemas.openxmlformats.org/officeDocument/2006/relationships/image" Target="../media/image66.svg"/><Relationship Id="rId12" Type="http://schemas.openxmlformats.org/officeDocument/2006/relationships/image" Target="../media/image71.svg"/><Relationship Id="rId17" Type="http://schemas.openxmlformats.org/officeDocument/2006/relationships/hyperlink" Target="https://icts.kuleuven.be/wijzers-beheer/en/Storagewijzer" TargetMode="External"/><Relationship Id="rId2" Type="http://schemas.openxmlformats.org/officeDocument/2006/relationships/image" Target="../media/image61.png"/><Relationship Id="rId16" Type="http://schemas.openxmlformats.org/officeDocument/2006/relationships/hyperlink" Target="https://icts.kuleuven.be/sc/english/storage/coldstorage" TargetMode="External"/><Relationship Id="rId1" Type="http://schemas.openxmlformats.org/officeDocument/2006/relationships/slideLayout" Target="../slideLayouts/slideLayout7.xml"/><Relationship Id="rId6" Type="http://schemas.openxmlformats.org/officeDocument/2006/relationships/image" Target="../media/image65.png"/><Relationship Id="rId11" Type="http://schemas.openxmlformats.org/officeDocument/2006/relationships/image" Target="../media/image70.png"/><Relationship Id="rId5" Type="http://schemas.openxmlformats.org/officeDocument/2006/relationships/image" Target="../media/image64.svg"/><Relationship Id="rId15" Type="http://schemas.openxmlformats.org/officeDocument/2006/relationships/hyperlink" Target="https://icts.kuleuven.be/sc/english/storage/mango" TargetMode="External"/><Relationship Id="rId10" Type="http://schemas.openxmlformats.org/officeDocument/2006/relationships/image" Target="../media/image69.png"/><Relationship Id="rId4" Type="http://schemas.openxmlformats.org/officeDocument/2006/relationships/image" Target="../media/image63.png"/><Relationship Id="rId9" Type="http://schemas.openxmlformats.org/officeDocument/2006/relationships/image" Target="../media/image68.svg"/><Relationship Id="rId14" Type="http://schemas.openxmlformats.org/officeDocument/2006/relationships/image" Target="../media/image73.svg"/></Relationships>
</file>

<file path=ppt/slides/_rels/slide34.xml.rels><?xml version="1.0" encoding="UTF-8" standalone="yes"?>
<Relationships xmlns="http://schemas.openxmlformats.org/package/2006/relationships"><Relationship Id="rId8" Type="http://schemas.openxmlformats.org/officeDocument/2006/relationships/image" Target="../media/image79.svg"/><Relationship Id="rId3" Type="http://schemas.openxmlformats.org/officeDocument/2006/relationships/image" Target="../media/image74.png"/><Relationship Id="rId7" Type="http://schemas.openxmlformats.org/officeDocument/2006/relationships/image" Target="../media/image78.png"/><Relationship Id="rId12" Type="http://schemas.openxmlformats.org/officeDocument/2006/relationships/image" Target="../media/image68.sv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77.svg"/><Relationship Id="rId11" Type="http://schemas.openxmlformats.org/officeDocument/2006/relationships/image" Target="../media/image67.png"/><Relationship Id="rId5" Type="http://schemas.openxmlformats.org/officeDocument/2006/relationships/image" Target="../media/image76.png"/><Relationship Id="rId10" Type="http://schemas.openxmlformats.org/officeDocument/2006/relationships/image" Target="../media/image81.svg"/><Relationship Id="rId4" Type="http://schemas.openxmlformats.org/officeDocument/2006/relationships/image" Target="../media/image75.svg"/><Relationship Id="rId9" Type="http://schemas.openxmlformats.org/officeDocument/2006/relationships/image" Target="../media/image80.png"/></Relationships>
</file>

<file path=ppt/slides/_rels/slide3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6.xml"/><Relationship Id="rId1" Type="http://schemas.openxmlformats.org/officeDocument/2006/relationships/tags" Target="../tags/tag2.xml"/><Relationship Id="rId4" Type="http://schemas.openxmlformats.org/officeDocument/2006/relationships/hyperlink" Target="https://icts.kuleuven.be/sc/english/research/HPC" TargetMode="Externa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19.xml"/><Relationship Id="rId7" Type="http://schemas.openxmlformats.org/officeDocument/2006/relationships/hyperlink" Target="https://icts.kuleuven.be/sc/english/research/HPC" TargetMode="External"/><Relationship Id="rId2" Type="http://schemas.openxmlformats.org/officeDocument/2006/relationships/slideLayout" Target="../slideLayouts/slideLayout6.xml"/><Relationship Id="rId1" Type="http://schemas.openxmlformats.org/officeDocument/2006/relationships/tags" Target="../tags/tag3.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7.xml"/><Relationship Id="rId1" Type="http://schemas.openxmlformats.org/officeDocument/2006/relationships/tags" Target="../tags/tag4.xml"/><Relationship Id="rId4" Type="http://schemas.openxmlformats.org/officeDocument/2006/relationships/image" Target="../media/image89.png"/></Relationships>
</file>

<file path=ppt/slides/_rels/slide46.xml.rels><?xml version="1.0" encoding="UTF-8" standalone="yes"?>
<Relationships xmlns="http://schemas.openxmlformats.org/package/2006/relationships"><Relationship Id="rId3" Type="http://schemas.openxmlformats.org/officeDocument/2006/relationships/hyperlink" Target="https://docs.vscentrum.be/access/text_mode_access_using_putty.html" TargetMode="External"/><Relationship Id="rId7" Type="http://schemas.openxmlformats.org/officeDocument/2006/relationships/hyperlink" Target="https://ondemand.hpc.kuleuven.be/" TargetMode="External"/><Relationship Id="rId2" Type="http://schemas.openxmlformats.org/officeDocument/2006/relationships/slideLayout" Target="../slideLayouts/slideLayout7.xml"/><Relationship Id="rId1" Type="http://schemas.openxmlformats.org/officeDocument/2006/relationships/tags" Target="../tags/tag5.xml"/><Relationship Id="rId6" Type="http://schemas.openxmlformats.org/officeDocument/2006/relationships/hyperlink" Target="https://docs.vscentrum.be/access/using_ssh_agent.html" TargetMode="External"/><Relationship Id="rId5" Type="http://schemas.openxmlformats.org/officeDocument/2006/relationships/hyperlink" Target="https://docs.vscentrum.be/access/generating_keys.html" TargetMode="External"/><Relationship Id="rId4" Type="http://schemas.openxmlformats.org/officeDocument/2006/relationships/hyperlink" Target="https://docs.vscentrum.be/access/access_using_mobaxterm.html" TargetMode="External"/></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6.xml"/></Relationships>
</file>

<file path=ppt/slides/_rels/slide48.xml.rels><?xml version="1.0" encoding="UTF-8" standalone="yes"?>
<Relationships xmlns="http://schemas.openxmlformats.org/package/2006/relationships"><Relationship Id="rId3" Type="http://schemas.openxmlformats.org/officeDocument/2006/relationships/image" Target="../media/image90.png"/><Relationship Id="rId7" Type="http://schemas.openxmlformats.org/officeDocument/2006/relationships/image" Target="../media/image93.png"/><Relationship Id="rId2" Type="http://schemas.openxmlformats.org/officeDocument/2006/relationships/notesSlide" Target="../notesSlides/notesSlide28.xml"/><Relationship Id="rId1" Type="http://schemas.openxmlformats.org/officeDocument/2006/relationships/slideLayout" Target="../slideLayouts/slideLayout6.xml"/><Relationship Id="rId6" Type="http://schemas.openxmlformats.org/officeDocument/2006/relationships/image" Target="../media/image59.png"/><Relationship Id="rId5" Type="http://schemas.openxmlformats.org/officeDocument/2006/relationships/image" Target="../media/image92.png"/><Relationship Id="rId4" Type="http://schemas.openxmlformats.org/officeDocument/2006/relationships/image" Target="../media/image9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9.xml"/><Relationship Id="rId1" Type="http://schemas.openxmlformats.org/officeDocument/2006/relationships/slideLayout" Target="../slideLayouts/slideLayout6.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91.png"/></Relationships>
</file>

<file path=ppt/slides/_rels/slide5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hyperlink" Target="https://vlaams-supercomputing-centrum-vscdocumentation.readthedocs-hosted.com/en/latest/access/data_transfer_with_filezilla.html" TargetMode="External"/><Relationship Id="rId7" Type="http://schemas.openxmlformats.org/officeDocument/2006/relationships/image" Target="../media/image95.png"/><Relationship Id="rId2" Type="http://schemas.openxmlformats.org/officeDocument/2006/relationships/slideLayout" Target="../slideLayouts/slideLayout7.xml"/><Relationship Id="rId1" Type="http://schemas.openxmlformats.org/officeDocument/2006/relationships/tags" Target="../tags/tag7.xml"/><Relationship Id="rId6" Type="http://schemas.openxmlformats.org/officeDocument/2006/relationships/image" Target="../media/image94.png"/><Relationship Id="rId5" Type="http://schemas.openxmlformats.org/officeDocument/2006/relationships/hyperlink" Target="https://vlaams-supercomputing-centrum-vscdocumentation.readthedocs-hosted.com/en/latest/globus/manage_globus_groups.html" TargetMode="External"/><Relationship Id="rId4" Type="http://schemas.openxmlformats.org/officeDocument/2006/relationships/hyperlink" Target="https://vlaams-supercomputing-centrum-vscdocumentation.readthedocs-hosted.com/en/latest/access/data_transfer_using_winscp.html" TargetMode="External"/><Relationship Id="rId9" Type="http://schemas.openxmlformats.org/officeDocument/2006/relationships/image" Target="../media/image97.png"/></Relationships>
</file>

<file path=ppt/slides/_rels/slide52.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hyperlink" Target="mailto:vsc3XXXX@login.hpc.kuleuven.be:/path/to/destination" TargetMode="Externa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5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04.png"/><Relationship Id="rId1" Type="http://schemas.openxmlformats.org/officeDocument/2006/relationships/slideLayout" Target="../slideLayouts/slideLayout7.xml"/><Relationship Id="rId5" Type="http://schemas.openxmlformats.org/officeDocument/2006/relationships/image" Target="../media/image105.jpg"/><Relationship Id="rId4" Type="http://schemas.openxmlformats.org/officeDocument/2006/relationships/hyperlink" Target="https://ondemand.hpc.kuleuven.be/"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4.png"/><Relationship Id="rId1" Type="http://schemas.openxmlformats.org/officeDocument/2006/relationships/slideLayout" Target="../slideLayouts/slideLayout7.xml"/><Relationship Id="rId5" Type="http://schemas.openxmlformats.org/officeDocument/2006/relationships/image" Target="../media/image107.PNG"/><Relationship Id="rId4" Type="http://schemas.openxmlformats.org/officeDocument/2006/relationships/image" Target="../media/image59.png"/></Relationships>
</file>

<file path=ppt/slides/_rels/slide6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04.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6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04.png"/><Relationship Id="rId1" Type="http://schemas.openxmlformats.org/officeDocument/2006/relationships/slideLayout" Target="../slideLayouts/slideLayout7.xml"/><Relationship Id="rId4" Type="http://schemas.openxmlformats.org/officeDocument/2006/relationships/image" Target="../media/image110.png"/></Relationships>
</file>

<file path=ppt/slides/_rels/slide6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04.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hyperlink" Target="https://docs.vscentrum.be/compute/portal/ondemand/jupyterlab.html#jupyterlab" TargetMode="External"/></Relationships>
</file>

<file path=ppt/slides/_rels/slide6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04.png"/><Relationship Id="rId1" Type="http://schemas.openxmlformats.org/officeDocument/2006/relationships/slideLayout" Target="../slideLayouts/slideLayout7.xml"/><Relationship Id="rId4" Type="http://schemas.openxmlformats.org/officeDocument/2006/relationships/hyperlink" Target="https://repo.continuum.io/miniconda/Miniconda3-latest-Linux-x86_64.sh" TargetMode="External"/></Relationships>
</file>

<file path=ppt/slides/_rels/slide66.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32.xml"/><Relationship Id="rId1" Type="http://schemas.openxmlformats.org/officeDocument/2006/relationships/slideLayout" Target="../slideLayouts/slideLayout7.xml"/><Relationship Id="rId5" Type="http://schemas.openxmlformats.org/officeDocument/2006/relationships/image" Target="../media/image112.jp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04.png"/><Relationship Id="rId1" Type="http://schemas.openxmlformats.org/officeDocument/2006/relationships/slideLayout" Target="../slideLayouts/slideLayout7.xml"/><Relationship Id="rId5" Type="http://schemas.openxmlformats.org/officeDocument/2006/relationships/image" Target="../media/image115.png"/><Relationship Id="rId4" Type="http://schemas.openxmlformats.org/officeDocument/2006/relationships/image" Target="../media/image114.png"/></Relationships>
</file>

<file path=ppt/slides/_rels/slide69.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04.png"/><Relationship Id="rId1" Type="http://schemas.openxmlformats.org/officeDocument/2006/relationships/slideLayout" Target="../slideLayouts/slideLayout7.xml"/><Relationship Id="rId5" Type="http://schemas.openxmlformats.org/officeDocument/2006/relationships/image" Target="../media/image118.png"/><Relationship Id="rId4" Type="http://schemas.openxmlformats.org/officeDocument/2006/relationships/image" Target="../media/image117.png"/></Relationships>
</file>

<file path=ppt/slides/_rels/slide70.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59.png"/><Relationship Id="rId1" Type="http://schemas.openxmlformats.org/officeDocument/2006/relationships/slideLayout" Target="../slideLayouts/slideLayout7.xml"/><Relationship Id="rId4" Type="http://schemas.openxmlformats.org/officeDocument/2006/relationships/image" Target="../media/image104.png"/></Relationships>
</file>

<file path=ppt/slides/_rels/slide7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9.xml"/></Relationships>
</file>

<file path=ppt/slides/_rels/slide73.xml.rels><?xml version="1.0" encoding="UTF-8" standalone="yes"?>
<Relationships xmlns="http://schemas.openxmlformats.org/package/2006/relationships"><Relationship Id="rId3" Type="http://schemas.openxmlformats.org/officeDocument/2006/relationships/hyperlink" Target="https://vlaams-supercomputing-centrum-vscdocumentation.readthedocs-hosted.com/en/latest/software/python_package_management.html?highlight=conda" TargetMode="External"/><Relationship Id="rId2" Type="http://schemas.openxmlformats.org/officeDocument/2006/relationships/image" Target="../media/image59.png"/><Relationship Id="rId1" Type="http://schemas.openxmlformats.org/officeDocument/2006/relationships/slideLayout" Target="../slideLayouts/slideLayout9.xml"/><Relationship Id="rId4" Type="http://schemas.openxmlformats.org/officeDocument/2006/relationships/hyperlink" Target="https://vlaams-supercomputing-centrum-vscdocumentation.readthedocs-hosted.com/en/latest/software/r_package_management.html?highlight=conda" TargetMode="External"/></Relationships>
</file>

<file path=ppt/slides/_rels/slide7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75.xml.rels><?xml version="1.0" encoding="UTF-8" standalone="yes"?>
<Relationships xmlns="http://schemas.openxmlformats.org/package/2006/relationships"><Relationship Id="rId8" Type="http://schemas.openxmlformats.org/officeDocument/2006/relationships/image" Target="../media/image125.png"/><Relationship Id="rId3" Type="http://schemas.openxmlformats.org/officeDocument/2006/relationships/image" Target="../media/image120.png"/><Relationship Id="rId7" Type="http://schemas.openxmlformats.org/officeDocument/2006/relationships/image" Target="../media/image124.png"/><Relationship Id="rId2" Type="http://schemas.openxmlformats.org/officeDocument/2006/relationships/image" Target="../media/image59.png"/><Relationship Id="rId1" Type="http://schemas.openxmlformats.org/officeDocument/2006/relationships/slideLayout" Target="../slideLayouts/slideLayout6.xml"/><Relationship Id="rId6" Type="http://schemas.openxmlformats.org/officeDocument/2006/relationships/image" Target="../media/image123.png"/><Relationship Id="rId5" Type="http://schemas.openxmlformats.org/officeDocument/2006/relationships/image" Target="../media/image122.png"/><Relationship Id="rId4" Type="http://schemas.openxmlformats.org/officeDocument/2006/relationships/image" Target="../media/image121.png"/><Relationship Id="rId9" Type="http://schemas.openxmlformats.org/officeDocument/2006/relationships/image" Target="../media/image126.png"/></Relationships>
</file>

<file path=ppt/slides/_rels/slide76.xml.rels><?xml version="1.0" encoding="UTF-8" standalone="yes"?>
<Relationships xmlns="http://schemas.openxmlformats.org/package/2006/relationships"><Relationship Id="rId8" Type="http://schemas.openxmlformats.org/officeDocument/2006/relationships/image" Target="../media/image125.png"/><Relationship Id="rId3" Type="http://schemas.openxmlformats.org/officeDocument/2006/relationships/image" Target="../media/image120.png"/><Relationship Id="rId7" Type="http://schemas.openxmlformats.org/officeDocument/2006/relationships/image" Target="../media/image124.png"/><Relationship Id="rId2" Type="http://schemas.openxmlformats.org/officeDocument/2006/relationships/image" Target="../media/image59.png"/><Relationship Id="rId1" Type="http://schemas.openxmlformats.org/officeDocument/2006/relationships/slideLayout" Target="../slideLayouts/slideLayout6.xml"/><Relationship Id="rId6" Type="http://schemas.openxmlformats.org/officeDocument/2006/relationships/image" Target="../media/image123.png"/><Relationship Id="rId5" Type="http://schemas.openxmlformats.org/officeDocument/2006/relationships/image" Target="../media/image122.png"/><Relationship Id="rId4" Type="http://schemas.openxmlformats.org/officeDocument/2006/relationships/image" Target="../media/image121.png"/><Relationship Id="rId9" Type="http://schemas.openxmlformats.org/officeDocument/2006/relationships/image" Target="../media/image126.png"/></Relationships>
</file>

<file path=ppt/slides/_rels/slide77.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image" Target="../media/image127.gif"/><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57.png"/><Relationship Id="rId1" Type="http://schemas.openxmlformats.org/officeDocument/2006/relationships/slideLayout" Target="../slideLayouts/slideLayout6.xml"/><Relationship Id="rId6" Type="http://schemas.openxmlformats.org/officeDocument/2006/relationships/image" Target="../media/image104.png"/><Relationship Id="rId5" Type="http://schemas.openxmlformats.org/officeDocument/2006/relationships/image" Target="../media/image130.png"/><Relationship Id="rId4" Type="http://schemas.openxmlformats.org/officeDocument/2006/relationships/image" Target="../media/image12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hyperlink" Target="https://slurm.schedmd.com/resource_limits.html" TargetMode="Externa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hyperlink" Target="https://atools.readthedocs.io/en/latest/" TargetMode="External"/><Relationship Id="rId5" Type="http://schemas.openxmlformats.org/officeDocument/2006/relationships/hyperlink" Target="https://www.youtube.com/watch?v=GlwaRyi1LVA" TargetMode="External"/><Relationship Id="rId4" Type="http://schemas.openxmlformats.org/officeDocument/2006/relationships/hyperlink" Target="https://github.com/gjbex/Workflows-for-HPC" TargetMode="External"/></Relationships>
</file>

<file path=ppt/slides/_rels/slide9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8.xml"/><Relationship Id="rId1" Type="http://schemas.openxmlformats.org/officeDocument/2006/relationships/slideLayout" Target="../slideLayouts/slideLayout6.xml"/><Relationship Id="rId4" Type="http://schemas.openxmlformats.org/officeDocument/2006/relationships/hyperlink" Target="https://account.vscentrum.be/" TargetMode="External"/></Relationships>
</file>

<file path=ppt/slides/_rels/slide9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3" Type="http://schemas.openxmlformats.org/officeDocument/2006/relationships/hyperlink" Target="https://admin.kuleuven.be/icts/HPCinfo_form/HPC-info-formulier" TargetMode="External"/><Relationship Id="rId7" Type="http://schemas.openxmlformats.org/officeDocument/2006/relationships/hyperlink" Target="https://status.vscentrum.be/" TargetMode="External"/><Relationship Id="rId2" Type="http://schemas.openxmlformats.org/officeDocument/2006/relationships/hyperlink" Target="mailto:hpcinfo@kuleuven.be" TargetMode="External"/><Relationship Id="rId1" Type="http://schemas.openxmlformats.org/officeDocument/2006/relationships/slideLayout" Target="../slideLayouts/slideLayout12.xml"/><Relationship Id="rId6" Type="http://schemas.openxmlformats.org/officeDocument/2006/relationships/hyperlink" Target="https://www.vscentrum.be/vsctraining" TargetMode="External"/><Relationship Id="rId5" Type="http://schemas.openxmlformats.org/officeDocument/2006/relationships/hyperlink" Target="https://docs.vscentrum.be/" TargetMode="External"/><Relationship Id="rId4" Type="http://schemas.openxmlformats.org/officeDocument/2006/relationships/hyperlink" Target="https://www.vscentrum.be/"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55440" y="1350707"/>
            <a:ext cx="9144000" cy="2387600"/>
          </a:xfrm>
        </p:spPr>
        <p:txBody>
          <a:bodyPr>
            <a:normAutofit/>
          </a:bodyPr>
          <a:lstStyle/>
          <a:p>
            <a:pPr algn="l"/>
            <a:r>
              <a:rPr lang="en-US" sz="6000" dirty="0">
                <a:solidFill>
                  <a:srgbClr val="4E5865"/>
                </a:solidFill>
              </a:rPr>
              <a:t>VSC HPC introduction course</a:t>
            </a:r>
          </a:p>
        </p:txBody>
      </p:sp>
      <p:sp>
        <p:nvSpPr>
          <p:cNvPr id="7" name="Rectangle 6">
            <a:extLst>
              <a:ext uri="{FF2B5EF4-FFF2-40B4-BE49-F238E27FC236}">
                <a16:creationId xmlns:a16="http://schemas.microsoft.com/office/drawing/2014/main" id="{E7C86E5E-9A10-867B-17CA-F9902B9425BB}"/>
              </a:ext>
            </a:extLst>
          </p:cNvPr>
          <p:cNvSpPr/>
          <p:nvPr/>
        </p:nvSpPr>
        <p:spPr>
          <a:xfrm>
            <a:off x="1221052" y="3666231"/>
            <a:ext cx="5757025" cy="523220"/>
          </a:xfrm>
          <a:prstGeom prst="rect">
            <a:avLst/>
          </a:prstGeom>
        </p:spPr>
        <p:txBody>
          <a:bodyPr wrap="none">
            <a:spAutoFit/>
          </a:bodyPr>
          <a:lstStyle/>
          <a:p>
            <a:r>
              <a:rPr lang="nl-BE" sz="2800" dirty="0">
                <a:solidFill>
                  <a:srgbClr val="4E5865"/>
                </a:solidFill>
                <a:latin typeface="+mj-lt"/>
                <a:hlinkClick r:id="rId3"/>
              </a:rPr>
              <a:t>https://hpcleuven.github.io/HPC-intro</a:t>
            </a:r>
            <a:endParaRPr lang="nl-BE" sz="2800" dirty="0">
              <a:solidFill>
                <a:srgbClr val="4E5865"/>
              </a:solidFill>
              <a:latin typeface="+mj-lt"/>
            </a:endParaRPr>
          </a:p>
        </p:txBody>
      </p:sp>
      <p:pic>
        <p:nvPicPr>
          <p:cNvPr id="8" name="Picture 7" descr="A close up of a logo&#10;&#10;Description automatically generated">
            <a:extLst>
              <a:ext uri="{FF2B5EF4-FFF2-40B4-BE49-F238E27FC236}">
                <a16:creationId xmlns:a16="http://schemas.microsoft.com/office/drawing/2014/main" id="{F7FC7D23-9716-5C97-01A7-CA290AB90C5C}"/>
              </a:ext>
            </a:extLst>
          </p:cNvPr>
          <p:cNvPicPr>
            <a:picLocks noChangeAspect="1"/>
          </p:cNvPicPr>
          <p:nvPr/>
        </p:nvPicPr>
        <p:blipFill rotWithShape="1">
          <a:blip r:embed="rId4">
            <a:extLst>
              <a:ext uri="{28A0092B-C50C-407E-A947-70E740481C1C}">
                <a14:useLocalDpi xmlns:a14="http://schemas.microsoft.com/office/drawing/2010/main" val="0"/>
              </a:ext>
            </a:extLst>
          </a:blip>
          <a:srcRect l="10687" t="11172" r="11763" b="11280"/>
          <a:stretch/>
        </p:blipFill>
        <p:spPr>
          <a:xfrm>
            <a:off x="8639410" y="3321373"/>
            <a:ext cx="3420000" cy="3420000"/>
          </a:xfrm>
          <a:prstGeom prst="rect">
            <a:avLst/>
          </a:prstGeom>
        </p:spPr>
      </p:pic>
    </p:spTree>
    <p:extLst>
      <p:ext uri="{BB962C8B-B14F-4D97-AF65-F5344CB8AC3E}">
        <p14:creationId xmlns:p14="http://schemas.microsoft.com/office/powerpoint/2010/main" val="2517957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13240" y="692696"/>
            <a:ext cx="5040560" cy="5040560"/>
          </a:xfrm>
          <a:prstGeom prst="rect">
            <a:avLst/>
          </a:prstGeom>
        </p:spPr>
      </p:pic>
      <p:sp>
        <p:nvSpPr>
          <p:cNvPr id="8" name="TextBox 7"/>
          <p:cNvSpPr txBox="1"/>
          <p:nvPr/>
        </p:nvSpPr>
        <p:spPr>
          <a:xfrm>
            <a:off x="838200" y="1400054"/>
            <a:ext cx="4825752" cy="2354491"/>
          </a:xfrm>
          <a:prstGeom prst="rect">
            <a:avLst/>
          </a:prstGeom>
          <a:noFill/>
          <a:ln w="19050">
            <a:solidFill>
              <a:schemeClr val="accent5"/>
            </a:solidFill>
          </a:ln>
        </p:spPr>
        <p:txBody>
          <a:bodyPr wrap="square" rtlCol="0" anchor="ctr">
            <a:spAutoFit/>
          </a:bodyPr>
          <a:lstStyle/>
          <a:p>
            <a:pPr marL="342900" indent="-342900">
              <a:buClr>
                <a:srgbClr val="DB6C30"/>
              </a:buClr>
              <a:buFont typeface="Wingdings" panose="05000000000000000000" pitchFamily="2" charset="2"/>
              <a:buChar char="q"/>
            </a:pPr>
            <a:r>
              <a:rPr lang="en-US" sz="2100" dirty="0"/>
              <a:t>Everything is available on </a:t>
            </a:r>
            <a:r>
              <a:rPr lang="en-US" sz="2100" dirty="0" err="1"/>
              <a:t>Github</a:t>
            </a:r>
            <a:r>
              <a:rPr lang="en-US" sz="2100" dirty="0"/>
              <a:t>:</a:t>
            </a:r>
            <a:br>
              <a:rPr lang="en-US" sz="2100" dirty="0"/>
            </a:br>
            <a:r>
              <a:rPr lang="nl-BE" sz="2100" dirty="0">
                <a:hlinkClick r:id="rId3"/>
              </a:rPr>
              <a:t>https://hpcleuven.github.io/HPC-intro/</a:t>
            </a:r>
            <a:endParaRPr lang="nl-BE" sz="2100" dirty="0"/>
          </a:p>
          <a:p>
            <a:pPr marL="342900" indent="-342900">
              <a:buClr>
                <a:srgbClr val="DB6C30"/>
              </a:buClr>
              <a:buFont typeface="Wingdings" panose="05000000000000000000" pitchFamily="2" charset="2"/>
              <a:buChar char="q"/>
            </a:pPr>
            <a:r>
              <a:rPr lang="en-US" sz="2100" dirty="0"/>
              <a:t>Video recordings </a:t>
            </a:r>
            <a:br>
              <a:rPr lang="en-US" sz="2100" dirty="0"/>
            </a:br>
            <a:r>
              <a:rPr lang="en-US" sz="2100" dirty="0"/>
              <a:t>- Scan the QR code</a:t>
            </a:r>
            <a:br>
              <a:rPr lang="en-US" sz="2100" dirty="0"/>
            </a:br>
            <a:r>
              <a:rPr lang="en-US" sz="2100" dirty="0"/>
              <a:t>- Recommended videos: ~2 </a:t>
            </a:r>
            <a:r>
              <a:rPr lang="en-US" sz="2100" dirty="0" err="1"/>
              <a:t>hrs</a:t>
            </a:r>
            <a:br>
              <a:rPr lang="en-US" sz="2100" dirty="0"/>
            </a:br>
            <a:r>
              <a:rPr lang="en-US" sz="2100" dirty="0"/>
              <a:t>- Optional videos: ~1 </a:t>
            </a:r>
            <a:r>
              <a:rPr lang="en-US" sz="2100" dirty="0" err="1"/>
              <a:t>hr</a:t>
            </a:r>
            <a:endParaRPr lang="en-US" sz="2100" dirty="0"/>
          </a:p>
        </p:txBody>
      </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a:t>
            </a:fld>
            <a:endParaRPr lang="nl-BE" sz="900" dirty="0">
              <a:solidFill>
                <a:schemeClr val="bg1"/>
              </a:solidFill>
            </a:endParaRPr>
          </a:p>
        </p:txBody>
      </p:sp>
      <p:sp>
        <p:nvSpPr>
          <p:cNvPr id="1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Training material</a:t>
            </a:r>
            <a:endParaRPr lang="en-US" altLang="en-US" dirty="0"/>
          </a:p>
        </p:txBody>
      </p:sp>
      <p:sp>
        <p:nvSpPr>
          <p:cNvPr id="2" name="TextBox 1">
            <a:extLst>
              <a:ext uri="{FF2B5EF4-FFF2-40B4-BE49-F238E27FC236}">
                <a16:creationId xmlns:a16="http://schemas.microsoft.com/office/drawing/2014/main" id="{282E1DB2-6DCD-C921-2B38-CFF384E30746}"/>
              </a:ext>
            </a:extLst>
          </p:cNvPr>
          <p:cNvSpPr txBox="1"/>
          <p:nvPr/>
        </p:nvSpPr>
        <p:spPr>
          <a:xfrm>
            <a:off x="838200" y="4169112"/>
            <a:ext cx="4825752" cy="1061829"/>
          </a:xfrm>
          <a:prstGeom prst="rect">
            <a:avLst/>
          </a:prstGeom>
          <a:noFill/>
          <a:ln w="19050">
            <a:solidFill>
              <a:schemeClr val="accent5"/>
            </a:solidFill>
          </a:ln>
        </p:spPr>
        <p:txBody>
          <a:bodyPr wrap="square" rtlCol="0" anchor="ctr">
            <a:spAutoFit/>
          </a:bodyPr>
          <a:lstStyle/>
          <a:p>
            <a:pPr>
              <a:buClr>
                <a:srgbClr val="DB6C30"/>
              </a:buClr>
            </a:pPr>
            <a:r>
              <a:rPr lang="en-US" sz="2100" dirty="0"/>
              <a:t>B</a:t>
            </a:r>
            <a:r>
              <a:rPr lang="nl-BE" sz="2100" dirty="0"/>
              <a:t>y </a:t>
            </a:r>
            <a:r>
              <a:rPr lang="nl-BE" sz="2100" dirty="0" err="1"/>
              <a:t>registering</a:t>
            </a:r>
            <a:r>
              <a:rPr lang="nl-BE" sz="2100" dirty="0"/>
              <a:t> </a:t>
            </a:r>
            <a:r>
              <a:rPr lang="nl-BE" sz="2100" dirty="0" err="1"/>
              <a:t>and</a:t>
            </a:r>
            <a:r>
              <a:rPr lang="nl-BE" sz="2100" dirty="0"/>
              <a:t> </a:t>
            </a:r>
            <a:r>
              <a:rPr lang="nl-BE" sz="2100" dirty="0" err="1"/>
              <a:t>participating</a:t>
            </a:r>
            <a:r>
              <a:rPr lang="nl-BE" sz="2100" dirty="0"/>
              <a:t> in VSC </a:t>
            </a:r>
            <a:r>
              <a:rPr lang="nl-BE" sz="2100" dirty="0" err="1"/>
              <a:t>trainings</a:t>
            </a:r>
            <a:r>
              <a:rPr lang="nl-BE" sz="2100" dirty="0"/>
              <a:t>, </a:t>
            </a:r>
            <a:r>
              <a:rPr lang="nl-BE" sz="2100" dirty="0" err="1"/>
              <a:t>you</a:t>
            </a:r>
            <a:r>
              <a:rPr lang="nl-BE" sz="2100" dirty="0"/>
              <a:t> accept </a:t>
            </a:r>
            <a:r>
              <a:rPr lang="nl-BE" sz="2100" dirty="0" err="1"/>
              <a:t>to</a:t>
            </a:r>
            <a:r>
              <a:rPr lang="nl-BE" sz="2100" dirty="0"/>
              <a:t> </a:t>
            </a:r>
            <a:r>
              <a:rPr lang="nl-BE" sz="2100" dirty="0" err="1"/>
              <a:t>abide</a:t>
            </a:r>
            <a:r>
              <a:rPr lang="nl-BE" sz="2100" dirty="0"/>
              <a:t> </a:t>
            </a:r>
            <a:r>
              <a:rPr lang="nl-BE" sz="2100" dirty="0" err="1"/>
              <a:t>by</a:t>
            </a:r>
            <a:r>
              <a:rPr lang="nl-BE" sz="2100" dirty="0"/>
              <a:t> </a:t>
            </a:r>
            <a:r>
              <a:rPr lang="nl-BE" sz="2100" dirty="0" err="1"/>
              <a:t>the</a:t>
            </a:r>
            <a:br>
              <a:rPr lang="nl-BE" sz="2100" dirty="0"/>
            </a:br>
            <a:r>
              <a:rPr lang="nl-BE" sz="2100" dirty="0">
                <a:hlinkClick r:id="rId4"/>
              </a:rPr>
              <a:t>VSC training Code of </a:t>
            </a:r>
            <a:r>
              <a:rPr lang="nl-BE" sz="2100" dirty="0" err="1">
                <a:hlinkClick r:id="rId4"/>
              </a:rPr>
              <a:t>Conduct</a:t>
            </a:r>
            <a:endParaRPr lang="en-US" sz="2100" dirty="0"/>
          </a:p>
        </p:txBody>
      </p:sp>
    </p:spTree>
    <p:extLst>
      <p:ext uri="{BB962C8B-B14F-4D97-AF65-F5344CB8AC3E}">
        <p14:creationId xmlns:p14="http://schemas.microsoft.com/office/powerpoint/2010/main" val="29035935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38C6C-E65C-C6D2-15ED-8138E5FC845F}"/>
            </a:ext>
          </a:extLst>
        </p:cNvPr>
        <p:cNvGrpSpPr/>
        <p:nvPr/>
      </p:nvGrpSpPr>
      <p:grpSpPr>
        <a:xfrm>
          <a:off x="0" y="0"/>
          <a:ext cx="0" cy="0"/>
          <a:chOff x="0" y="0"/>
          <a:chExt cx="0" cy="0"/>
        </a:xfrm>
      </p:grpSpPr>
      <p:sp>
        <p:nvSpPr>
          <p:cNvPr id="3" name="Oval 2">
            <a:extLst>
              <a:ext uri="{FF2B5EF4-FFF2-40B4-BE49-F238E27FC236}">
                <a16:creationId xmlns:a16="http://schemas.microsoft.com/office/drawing/2014/main" id="{A5F6F089-3EBD-3BA8-50EA-A76D17504E21}"/>
              </a:ext>
            </a:extLst>
          </p:cNvPr>
          <p:cNvSpPr/>
          <p:nvPr/>
        </p:nvSpPr>
        <p:spPr>
          <a:xfrm>
            <a:off x="3305690" y="943445"/>
            <a:ext cx="5538189" cy="5360760"/>
          </a:xfrm>
          <a:prstGeom prst="ellipse">
            <a:avLst/>
          </a:prstGeom>
          <a:solidFill>
            <a:schemeClr val="accent1">
              <a:alpha val="15000"/>
            </a:schemeClr>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1" name="Picture 2">
            <a:extLst>
              <a:ext uri="{FF2B5EF4-FFF2-40B4-BE49-F238E27FC236}">
                <a16:creationId xmlns:a16="http://schemas.microsoft.com/office/drawing/2014/main" id="{64198AB6-E0C3-644A-09BE-61CEF58377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0017" r="10017"/>
          <a:stretch/>
        </p:blipFill>
        <p:spPr bwMode="auto">
          <a:xfrm>
            <a:off x="2982815" y="1052736"/>
            <a:ext cx="6203220" cy="5171552"/>
          </a:xfrm>
          <a:prstGeom prst="rect">
            <a:avLst/>
          </a:prstGeom>
          <a:noFill/>
        </p:spPr>
      </p:pic>
      <p:sp>
        <p:nvSpPr>
          <p:cNvPr id="2" name="Slide Number Placeholder 1">
            <a:extLst>
              <a:ext uri="{FF2B5EF4-FFF2-40B4-BE49-F238E27FC236}">
                <a16:creationId xmlns:a16="http://schemas.microsoft.com/office/drawing/2014/main" id="{9D6B9F86-367F-7F54-9907-843E9A9CF039}"/>
              </a:ext>
            </a:extLst>
          </p:cNvPr>
          <p:cNvSpPr>
            <a:spLocks noGrp="1"/>
          </p:cNvSpPr>
          <p:nvPr>
            <p:ph type="sldNum" sz="quarter" idx="12"/>
          </p:nvPr>
        </p:nvSpPr>
        <p:spPr/>
        <p:txBody>
          <a:bodyPr/>
          <a:lstStyle/>
          <a:p>
            <a:fld id="{F35D8031-C8E5-48F8-A3B6-81643B27A3AF}" type="slidenum">
              <a:rPr lang="nl-BE" smtClean="0"/>
              <a:pPr/>
              <a:t>3</a:t>
            </a:fld>
            <a:endParaRPr lang="nl-BE" dirty="0"/>
          </a:p>
        </p:txBody>
      </p:sp>
      <p:sp>
        <p:nvSpPr>
          <p:cNvPr id="13314" name="Rectangle 2">
            <a:extLst>
              <a:ext uri="{FF2B5EF4-FFF2-40B4-BE49-F238E27FC236}">
                <a16:creationId xmlns:a16="http://schemas.microsoft.com/office/drawing/2014/main" id="{C8B3F9FB-1E5B-6920-7ADA-E1A19F1523BA}"/>
              </a:ext>
            </a:extLst>
          </p:cNvPr>
          <p:cNvSpPr>
            <a:spLocks noGrp="1" noChangeArrowheads="1"/>
          </p:cNvSpPr>
          <p:nvPr>
            <p:ph type="title"/>
          </p:nvPr>
        </p:nvSpPr>
        <p:spPr>
          <a:xfrm>
            <a:off x="720000" y="332657"/>
            <a:ext cx="11112000" cy="792088"/>
          </a:xfrm>
        </p:spPr>
        <p:txBody>
          <a:bodyPr/>
          <a:lstStyle/>
          <a:p>
            <a:r>
              <a:rPr lang="nl-BE" dirty="0" err="1"/>
              <a:t>What</a:t>
            </a:r>
            <a:r>
              <a:rPr lang="nl-BE" dirty="0"/>
              <a:t> is High Performance Computing</a:t>
            </a:r>
            <a:r>
              <a:rPr lang="en-US" dirty="0"/>
              <a:t>?</a:t>
            </a:r>
            <a:endParaRPr lang="en-US" altLang="en-US" dirty="0"/>
          </a:p>
        </p:txBody>
      </p:sp>
      <p:grpSp>
        <p:nvGrpSpPr>
          <p:cNvPr id="54" name="Group 53">
            <a:extLst>
              <a:ext uri="{FF2B5EF4-FFF2-40B4-BE49-F238E27FC236}">
                <a16:creationId xmlns:a16="http://schemas.microsoft.com/office/drawing/2014/main" id="{F8AD71E2-571A-ED28-5B51-AFF12DB3F61C}"/>
              </a:ext>
            </a:extLst>
          </p:cNvPr>
          <p:cNvGrpSpPr/>
          <p:nvPr/>
        </p:nvGrpSpPr>
        <p:grpSpPr>
          <a:xfrm>
            <a:off x="191344" y="1160394"/>
            <a:ext cx="4123040" cy="2268606"/>
            <a:chOff x="395377" y="1016378"/>
            <a:chExt cx="4123040" cy="2268606"/>
          </a:xfrm>
        </p:grpSpPr>
        <p:grpSp>
          <p:nvGrpSpPr>
            <p:cNvPr id="47" name="Group 46">
              <a:extLst>
                <a:ext uri="{FF2B5EF4-FFF2-40B4-BE49-F238E27FC236}">
                  <a16:creationId xmlns:a16="http://schemas.microsoft.com/office/drawing/2014/main" id="{297FFC45-A4D3-E7A8-DE21-A3F1F59BFB4F}"/>
                </a:ext>
              </a:extLst>
            </p:cNvPr>
            <p:cNvGrpSpPr/>
            <p:nvPr/>
          </p:nvGrpSpPr>
          <p:grpSpPr>
            <a:xfrm>
              <a:off x="407368" y="1016378"/>
              <a:ext cx="4111049" cy="2268606"/>
              <a:chOff x="479376" y="683248"/>
              <a:chExt cx="4111049" cy="2268606"/>
            </a:xfrm>
          </p:grpSpPr>
          <p:sp>
            <p:nvSpPr>
              <p:cNvPr id="7" name="TextBox 6">
                <a:extLst>
                  <a:ext uri="{FF2B5EF4-FFF2-40B4-BE49-F238E27FC236}">
                    <a16:creationId xmlns:a16="http://schemas.microsoft.com/office/drawing/2014/main" id="{19927DE4-BE97-B4E0-3EED-6DE6633BDE25}"/>
                  </a:ext>
                </a:extLst>
              </p:cNvPr>
              <p:cNvSpPr txBox="1"/>
              <p:nvPr/>
            </p:nvSpPr>
            <p:spPr>
              <a:xfrm>
                <a:off x="504372" y="683248"/>
                <a:ext cx="4086053" cy="2268606"/>
              </a:xfrm>
              <a:prstGeom prst="rect">
                <a:avLst/>
              </a:prstGeom>
              <a:noFill/>
              <a:ln w="19050">
                <a:noFill/>
              </a:ln>
            </p:spPr>
            <p:txBody>
              <a:bodyPr wrap="square" rtlCol="0" anchor="ctr">
                <a:noAutofit/>
              </a:bodyPr>
              <a:lstStyle/>
              <a:p>
                <a:pPr>
                  <a:buClr>
                    <a:srgbClr val="DB6C30"/>
                  </a:buClr>
                </a:pPr>
                <a:r>
                  <a:rPr lang="en-US" sz="2100" dirty="0"/>
                  <a:t>Using many computers together to solve large-scale, complex problems faster than one</a:t>
                </a:r>
                <a:br>
                  <a:rPr lang="en-US" sz="2100" dirty="0"/>
                </a:br>
                <a:r>
                  <a:rPr lang="en-US" sz="2100" dirty="0"/>
                  <a:t>computer can</a:t>
                </a:r>
              </a:p>
            </p:txBody>
          </p:sp>
          <p:grpSp>
            <p:nvGrpSpPr>
              <p:cNvPr id="33" name="Group 32">
                <a:extLst>
                  <a:ext uri="{FF2B5EF4-FFF2-40B4-BE49-F238E27FC236}">
                    <a16:creationId xmlns:a16="http://schemas.microsoft.com/office/drawing/2014/main" id="{AB18B7C5-3EF5-88C3-7D6F-DF2896B5DAA8}"/>
                  </a:ext>
                </a:extLst>
              </p:cNvPr>
              <p:cNvGrpSpPr/>
              <p:nvPr/>
            </p:nvGrpSpPr>
            <p:grpSpPr>
              <a:xfrm>
                <a:off x="479376" y="1109715"/>
                <a:ext cx="4086053" cy="1455189"/>
                <a:chOff x="479376" y="1109715"/>
                <a:chExt cx="4086053" cy="1455189"/>
              </a:xfrm>
            </p:grpSpPr>
            <p:cxnSp>
              <p:nvCxnSpPr>
                <p:cNvPr id="24" name="Straight Connector 23">
                  <a:extLst>
                    <a:ext uri="{FF2B5EF4-FFF2-40B4-BE49-F238E27FC236}">
                      <a16:creationId xmlns:a16="http://schemas.microsoft.com/office/drawing/2014/main" id="{642338CA-D27B-76C7-A941-F3FE95B6DE5D}"/>
                    </a:ext>
                  </a:extLst>
                </p:cNvPr>
                <p:cNvCxnSpPr>
                  <a:cxnSpLocks/>
                </p:cNvCxnSpPr>
                <p:nvPr/>
              </p:nvCxnSpPr>
              <p:spPr>
                <a:xfrm flipH="1" flipV="1">
                  <a:off x="479376" y="1109715"/>
                  <a:ext cx="4086053" cy="1503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03464E6-3588-CE91-9A32-D681CBDE35D4}"/>
                    </a:ext>
                  </a:extLst>
                </p:cNvPr>
                <p:cNvCxnSpPr>
                  <a:cxnSpLocks/>
                </p:cNvCxnSpPr>
                <p:nvPr/>
              </p:nvCxnSpPr>
              <p:spPr>
                <a:xfrm>
                  <a:off x="479376" y="1121184"/>
                  <a:ext cx="0" cy="144372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C6CF579-CEAC-1811-1A64-3CDFB34D12CF}"/>
                    </a:ext>
                  </a:extLst>
                </p:cNvPr>
                <p:cNvCxnSpPr>
                  <a:cxnSpLocks/>
                </p:cNvCxnSpPr>
                <p:nvPr/>
              </p:nvCxnSpPr>
              <p:spPr>
                <a:xfrm>
                  <a:off x="479376" y="2564904"/>
                  <a:ext cx="3162788"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sp>
          <p:nvSpPr>
            <p:cNvPr id="50" name="TextBox 49">
              <a:extLst>
                <a:ext uri="{FF2B5EF4-FFF2-40B4-BE49-F238E27FC236}">
                  <a16:creationId xmlns:a16="http://schemas.microsoft.com/office/drawing/2014/main" id="{15CF5762-432F-CC85-DFC7-6C0A2115B556}"/>
                </a:ext>
              </a:extLst>
            </p:cNvPr>
            <p:cNvSpPr txBox="1"/>
            <p:nvPr/>
          </p:nvSpPr>
          <p:spPr>
            <a:xfrm>
              <a:off x="395377" y="1067365"/>
              <a:ext cx="1092111" cy="400110"/>
            </a:xfrm>
            <a:prstGeom prst="rect">
              <a:avLst/>
            </a:prstGeom>
            <a:solidFill>
              <a:schemeClr val="accent1"/>
            </a:solidFill>
          </p:spPr>
          <p:txBody>
            <a:bodyPr wrap="square" rtlCol="0">
              <a:spAutoFit/>
            </a:bodyPr>
            <a:lstStyle/>
            <a:p>
              <a:r>
                <a:rPr lang="en-US" sz="2000" b="1" dirty="0">
                  <a:solidFill>
                    <a:schemeClr val="bg1"/>
                  </a:solidFill>
                </a:rPr>
                <a:t>Concept</a:t>
              </a:r>
              <a:endParaRPr lang="nl-BE" sz="2000" b="1" dirty="0">
                <a:solidFill>
                  <a:schemeClr val="bg1"/>
                </a:solidFill>
              </a:endParaRPr>
            </a:p>
          </p:txBody>
        </p:sp>
      </p:grpSp>
      <p:grpSp>
        <p:nvGrpSpPr>
          <p:cNvPr id="13320" name="Group 13319">
            <a:extLst>
              <a:ext uri="{FF2B5EF4-FFF2-40B4-BE49-F238E27FC236}">
                <a16:creationId xmlns:a16="http://schemas.microsoft.com/office/drawing/2014/main" id="{8BAF40CD-6D71-C840-3EF1-EDE1C933E310}"/>
              </a:ext>
            </a:extLst>
          </p:cNvPr>
          <p:cNvGrpSpPr/>
          <p:nvPr/>
        </p:nvGrpSpPr>
        <p:grpSpPr>
          <a:xfrm>
            <a:off x="186028" y="3878243"/>
            <a:ext cx="4181780" cy="1943712"/>
            <a:chOff x="186028" y="3878243"/>
            <a:chExt cx="4181780" cy="1943712"/>
          </a:xfrm>
        </p:grpSpPr>
        <p:cxnSp>
          <p:nvCxnSpPr>
            <p:cNvPr id="38" name="Straight Connector 37">
              <a:extLst>
                <a:ext uri="{FF2B5EF4-FFF2-40B4-BE49-F238E27FC236}">
                  <a16:creationId xmlns:a16="http://schemas.microsoft.com/office/drawing/2014/main" id="{1E71370D-1644-0199-C24C-4BF8194A6E78}"/>
                </a:ext>
              </a:extLst>
            </p:cNvPr>
            <p:cNvCxnSpPr>
              <a:cxnSpLocks/>
            </p:cNvCxnSpPr>
            <p:nvPr/>
          </p:nvCxnSpPr>
          <p:spPr>
            <a:xfrm flipH="1">
              <a:off x="191344" y="4293096"/>
              <a:ext cx="317477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DE0ADCC-6AAD-FDC8-4F84-372658C793A5}"/>
                </a:ext>
              </a:extLst>
            </p:cNvPr>
            <p:cNvCxnSpPr>
              <a:cxnSpLocks/>
            </p:cNvCxnSpPr>
            <p:nvPr/>
          </p:nvCxnSpPr>
          <p:spPr>
            <a:xfrm flipV="1">
              <a:off x="203335" y="4221088"/>
              <a:ext cx="0" cy="151216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D2BAC29B-223E-69B2-4667-4B5ECF81470C}"/>
                </a:ext>
              </a:extLst>
            </p:cNvPr>
            <p:cNvCxnSpPr>
              <a:cxnSpLocks/>
            </p:cNvCxnSpPr>
            <p:nvPr/>
          </p:nvCxnSpPr>
          <p:spPr>
            <a:xfrm>
              <a:off x="189835" y="5727413"/>
              <a:ext cx="4177973" cy="1168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2A7CD1EF-0B32-54A6-672B-3E3FAD20D630}"/>
                </a:ext>
              </a:extLst>
            </p:cNvPr>
            <p:cNvSpPr txBox="1"/>
            <p:nvPr/>
          </p:nvSpPr>
          <p:spPr>
            <a:xfrm>
              <a:off x="186028" y="3878243"/>
              <a:ext cx="1922284" cy="403639"/>
            </a:xfrm>
            <a:prstGeom prst="rect">
              <a:avLst/>
            </a:prstGeom>
            <a:solidFill>
              <a:schemeClr val="accent1"/>
            </a:solidFill>
          </p:spPr>
          <p:txBody>
            <a:bodyPr wrap="square" rtlCol="0">
              <a:noAutofit/>
            </a:bodyPr>
            <a:lstStyle/>
            <a:p>
              <a:r>
                <a:rPr lang="en-US" sz="2000" b="1" dirty="0">
                  <a:solidFill>
                    <a:schemeClr val="bg1"/>
                  </a:solidFill>
                </a:rPr>
                <a:t>Hardware Layer</a:t>
              </a:r>
              <a:endParaRPr lang="nl-BE" sz="2000" b="1" dirty="0">
                <a:solidFill>
                  <a:schemeClr val="bg1"/>
                </a:solidFill>
              </a:endParaRPr>
            </a:p>
          </p:txBody>
        </p:sp>
        <p:sp>
          <p:nvSpPr>
            <p:cNvPr id="55" name="TextBox 54">
              <a:extLst>
                <a:ext uri="{FF2B5EF4-FFF2-40B4-BE49-F238E27FC236}">
                  <a16:creationId xmlns:a16="http://schemas.microsoft.com/office/drawing/2014/main" id="{BB2CFB98-DB30-966C-136C-8CBBB00E1CF4}"/>
                </a:ext>
              </a:extLst>
            </p:cNvPr>
            <p:cNvSpPr txBox="1"/>
            <p:nvPr/>
          </p:nvSpPr>
          <p:spPr>
            <a:xfrm>
              <a:off x="197254" y="4293096"/>
              <a:ext cx="3361225" cy="1528859"/>
            </a:xfrm>
            <a:prstGeom prst="rect">
              <a:avLst/>
            </a:prstGeom>
            <a:noFill/>
          </p:spPr>
          <p:txBody>
            <a:bodyPr wrap="square" rtlCol="0">
              <a:spAutoFit/>
            </a:bodyPr>
            <a:lstStyle/>
            <a:p>
              <a:r>
                <a:rPr lang="en-US" dirty="0"/>
                <a:t>Hundreds of nodes</a:t>
              </a:r>
              <a:br>
                <a:rPr lang="en-US" dirty="0"/>
              </a:br>
              <a:r>
                <a:rPr lang="en-US" dirty="0"/>
                <a:t>Tens of cores per node</a:t>
              </a:r>
            </a:p>
            <a:p>
              <a:r>
                <a:rPr lang="en-US" dirty="0"/>
                <a:t>Large memory</a:t>
              </a:r>
            </a:p>
            <a:p>
              <a:r>
                <a:rPr lang="en-US" dirty="0"/>
                <a:t>Fast interconnect</a:t>
              </a:r>
            </a:p>
            <a:p>
              <a:r>
                <a:rPr lang="en-US" dirty="0"/>
                <a:t>GPUs and Network filesystem</a:t>
              </a:r>
              <a:endParaRPr lang="nl-BE" dirty="0"/>
            </a:p>
          </p:txBody>
        </p:sp>
      </p:grpSp>
      <p:grpSp>
        <p:nvGrpSpPr>
          <p:cNvPr id="59" name="Group 58">
            <a:extLst>
              <a:ext uri="{FF2B5EF4-FFF2-40B4-BE49-F238E27FC236}">
                <a16:creationId xmlns:a16="http://schemas.microsoft.com/office/drawing/2014/main" id="{02583DC1-1659-8ECF-D103-8B9728264418}"/>
              </a:ext>
            </a:extLst>
          </p:cNvPr>
          <p:cNvGrpSpPr/>
          <p:nvPr/>
        </p:nvGrpSpPr>
        <p:grpSpPr>
          <a:xfrm>
            <a:off x="7652049" y="1016378"/>
            <a:ext cx="4260324" cy="1918825"/>
            <a:chOff x="7652049" y="1016378"/>
            <a:chExt cx="4260324" cy="1918825"/>
          </a:xfrm>
        </p:grpSpPr>
        <p:grpSp>
          <p:nvGrpSpPr>
            <p:cNvPr id="20" name="Group 19">
              <a:extLst>
                <a:ext uri="{FF2B5EF4-FFF2-40B4-BE49-F238E27FC236}">
                  <a16:creationId xmlns:a16="http://schemas.microsoft.com/office/drawing/2014/main" id="{B89A62F3-5E78-F3A3-BC6B-BA3B26B1D5A2}"/>
                </a:ext>
              </a:extLst>
            </p:cNvPr>
            <p:cNvGrpSpPr/>
            <p:nvPr/>
          </p:nvGrpSpPr>
          <p:grpSpPr>
            <a:xfrm>
              <a:off x="7652049" y="1412776"/>
              <a:ext cx="4253449" cy="1311173"/>
              <a:chOff x="7176120" y="1109715"/>
              <a:chExt cx="4253449" cy="1311173"/>
            </a:xfrm>
          </p:grpSpPr>
          <p:cxnSp>
            <p:nvCxnSpPr>
              <p:cNvPr id="8" name="Straight Connector 7">
                <a:extLst>
                  <a:ext uri="{FF2B5EF4-FFF2-40B4-BE49-F238E27FC236}">
                    <a16:creationId xmlns:a16="http://schemas.microsoft.com/office/drawing/2014/main" id="{B4080E82-4F77-F499-ACF0-5F141A7A090A}"/>
                  </a:ext>
                </a:extLst>
              </p:cNvPr>
              <p:cNvCxnSpPr>
                <a:cxnSpLocks/>
              </p:cNvCxnSpPr>
              <p:nvPr/>
            </p:nvCxnSpPr>
            <p:spPr>
              <a:xfrm>
                <a:off x="7176120" y="1109715"/>
                <a:ext cx="425344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840D770-F9C1-A315-C815-AEE1A1FD72C0}"/>
                  </a:ext>
                </a:extLst>
              </p:cNvPr>
              <p:cNvCxnSpPr>
                <a:cxnSpLocks/>
              </p:cNvCxnSpPr>
              <p:nvPr/>
            </p:nvCxnSpPr>
            <p:spPr>
              <a:xfrm>
                <a:off x="11427609" y="1124745"/>
                <a:ext cx="0" cy="129614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449079F-562A-2B57-2A00-2426AF31C167}"/>
                  </a:ext>
                </a:extLst>
              </p:cNvPr>
              <p:cNvCxnSpPr>
                <a:cxnSpLocks/>
              </p:cNvCxnSpPr>
              <p:nvPr/>
            </p:nvCxnSpPr>
            <p:spPr>
              <a:xfrm flipH="1">
                <a:off x="8212359" y="2420888"/>
                <a:ext cx="3217210" cy="0"/>
              </a:xfrm>
              <a:prstGeom prst="line">
                <a:avLst/>
              </a:prstGeom>
              <a:ln w="38100"/>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5A65C7FA-359D-E17E-B771-AD783D73EDAD}"/>
                </a:ext>
              </a:extLst>
            </p:cNvPr>
            <p:cNvSpPr txBox="1"/>
            <p:nvPr/>
          </p:nvSpPr>
          <p:spPr>
            <a:xfrm>
              <a:off x="10135322" y="1016378"/>
              <a:ext cx="1777051" cy="407635"/>
            </a:xfrm>
            <a:prstGeom prst="rect">
              <a:avLst/>
            </a:prstGeom>
            <a:solidFill>
              <a:schemeClr val="accent1"/>
            </a:solidFill>
          </p:spPr>
          <p:txBody>
            <a:bodyPr wrap="square" rtlCol="0">
              <a:spAutoFit/>
            </a:bodyPr>
            <a:lstStyle/>
            <a:p>
              <a:r>
                <a:rPr lang="en-US" sz="2000" b="1" dirty="0">
                  <a:solidFill>
                    <a:schemeClr val="bg1"/>
                  </a:solidFill>
                </a:rPr>
                <a:t>Software Layer</a:t>
              </a:r>
              <a:endParaRPr lang="nl-BE" sz="2000" b="1" dirty="0">
                <a:solidFill>
                  <a:schemeClr val="bg1"/>
                </a:solidFill>
              </a:endParaRPr>
            </a:p>
          </p:txBody>
        </p:sp>
        <p:sp>
          <p:nvSpPr>
            <p:cNvPr id="58" name="TextBox 57">
              <a:extLst>
                <a:ext uri="{FF2B5EF4-FFF2-40B4-BE49-F238E27FC236}">
                  <a16:creationId xmlns:a16="http://schemas.microsoft.com/office/drawing/2014/main" id="{06024C55-7F2A-8CF8-0BB3-FA469CA9F41F}"/>
                </a:ext>
              </a:extLst>
            </p:cNvPr>
            <p:cNvSpPr txBox="1"/>
            <p:nvPr/>
          </p:nvSpPr>
          <p:spPr>
            <a:xfrm>
              <a:off x="7828112" y="1457875"/>
              <a:ext cx="4077386" cy="1477328"/>
            </a:xfrm>
            <a:prstGeom prst="rect">
              <a:avLst/>
            </a:prstGeom>
            <a:noFill/>
          </p:spPr>
          <p:txBody>
            <a:bodyPr wrap="square" rtlCol="0">
              <a:noAutofit/>
            </a:bodyPr>
            <a:lstStyle/>
            <a:p>
              <a:r>
                <a:rPr lang="en-US" dirty="0"/>
                <a:t>   Linux OS + system libraries</a:t>
              </a:r>
              <a:br>
                <a:rPr lang="en-US" dirty="0"/>
              </a:br>
              <a:r>
                <a:rPr lang="en-US" dirty="0"/>
                <a:t>       (GCC) Compilers</a:t>
              </a:r>
              <a:br>
                <a:rPr lang="en-US" dirty="0"/>
              </a:br>
              <a:r>
                <a:rPr lang="en-US" dirty="0"/>
                <a:t>          Parallel libraries (OpenMP, MPI, …)</a:t>
              </a:r>
              <a:br>
                <a:rPr lang="en-US" dirty="0"/>
              </a:br>
              <a:r>
                <a:rPr lang="en-US" dirty="0"/>
                <a:t>            Parallelized software</a:t>
              </a:r>
              <a:br>
                <a:rPr lang="en-US" dirty="0"/>
              </a:br>
              <a:r>
                <a:rPr lang="en-US" dirty="0"/>
                <a:t>          </a:t>
              </a:r>
              <a:endParaRPr lang="nl-BE" dirty="0"/>
            </a:p>
          </p:txBody>
        </p:sp>
      </p:grpSp>
      <p:grpSp>
        <p:nvGrpSpPr>
          <p:cNvPr id="13337" name="Group 13336">
            <a:extLst>
              <a:ext uri="{FF2B5EF4-FFF2-40B4-BE49-F238E27FC236}">
                <a16:creationId xmlns:a16="http://schemas.microsoft.com/office/drawing/2014/main" id="{DB00584C-C570-ACCB-B697-68C262BF90E8}"/>
              </a:ext>
            </a:extLst>
          </p:cNvPr>
          <p:cNvGrpSpPr/>
          <p:nvPr/>
        </p:nvGrpSpPr>
        <p:grpSpPr>
          <a:xfrm>
            <a:off x="7762250" y="3525421"/>
            <a:ext cx="4177973" cy="2252958"/>
            <a:chOff x="7824194" y="3525421"/>
            <a:chExt cx="4116029" cy="2252958"/>
          </a:xfrm>
        </p:grpSpPr>
        <p:grpSp>
          <p:nvGrpSpPr>
            <p:cNvPr id="13331" name="Group 13330">
              <a:extLst>
                <a:ext uri="{FF2B5EF4-FFF2-40B4-BE49-F238E27FC236}">
                  <a16:creationId xmlns:a16="http://schemas.microsoft.com/office/drawing/2014/main" id="{8137C062-0638-BE7A-F18C-07378EF99885}"/>
                </a:ext>
              </a:extLst>
            </p:cNvPr>
            <p:cNvGrpSpPr/>
            <p:nvPr/>
          </p:nvGrpSpPr>
          <p:grpSpPr>
            <a:xfrm>
              <a:off x="7824194" y="3525421"/>
              <a:ext cx="4116029" cy="2252958"/>
              <a:chOff x="7824194" y="3486140"/>
              <a:chExt cx="4116029" cy="2252958"/>
            </a:xfrm>
          </p:grpSpPr>
          <p:cxnSp>
            <p:nvCxnSpPr>
              <p:cNvPr id="13322" name="Straight Connector 13321">
                <a:extLst>
                  <a:ext uri="{FF2B5EF4-FFF2-40B4-BE49-F238E27FC236}">
                    <a16:creationId xmlns:a16="http://schemas.microsoft.com/office/drawing/2014/main" id="{06AA5C48-DDE7-327F-DA6B-A8F99A3DE7C7}"/>
                  </a:ext>
                </a:extLst>
              </p:cNvPr>
              <p:cNvCxnSpPr>
                <a:cxnSpLocks/>
              </p:cNvCxnSpPr>
              <p:nvPr/>
            </p:nvCxnSpPr>
            <p:spPr>
              <a:xfrm>
                <a:off x="8843879" y="3893775"/>
                <a:ext cx="306161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3325" name="Straight Connector 13324">
                <a:extLst>
                  <a:ext uri="{FF2B5EF4-FFF2-40B4-BE49-F238E27FC236}">
                    <a16:creationId xmlns:a16="http://schemas.microsoft.com/office/drawing/2014/main" id="{0A32C67F-98F5-ABCE-BC6F-B9CD96A1DBA2}"/>
                  </a:ext>
                </a:extLst>
              </p:cNvPr>
              <p:cNvCxnSpPr>
                <a:cxnSpLocks/>
              </p:cNvCxnSpPr>
              <p:nvPr/>
            </p:nvCxnSpPr>
            <p:spPr>
              <a:xfrm flipH="1">
                <a:off x="11903538" y="3893775"/>
                <a:ext cx="25110" cy="183363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3328" name="Straight Connector 13327">
                <a:extLst>
                  <a:ext uri="{FF2B5EF4-FFF2-40B4-BE49-F238E27FC236}">
                    <a16:creationId xmlns:a16="http://schemas.microsoft.com/office/drawing/2014/main" id="{070D9617-8E68-A5F6-A2CD-7387E3897277}"/>
                  </a:ext>
                </a:extLst>
              </p:cNvPr>
              <p:cNvCxnSpPr>
                <a:cxnSpLocks/>
              </p:cNvCxnSpPr>
              <p:nvPr/>
            </p:nvCxnSpPr>
            <p:spPr>
              <a:xfrm flipH="1" flipV="1">
                <a:off x="7824194" y="5727413"/>
                <a:ext cx="4081304" cy="1168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3330" name="TextBox 13329">
                <a:extLst>
                  <a:ext uri="{FF2B5EF4-FFF2-40B4-BE49-F238E27FC236}">
                    <a16:creationId xmlns:a16="http://schemas.microsoft.com/office/drawing/2014/main" id="{4701DDB9-EFB2-702B-CFA1-4C387F3E4F13}"/>
                  </a:ext>
                </a:extLst>
              </p:cNvPr>
              <p:cNvSpPr txBox="1"/>
              <p:nvPr/>
            </p:nvSpPr>
            <p:spPr>
              <a:xfrm>
                <a:off x="10388820" y="3486140"/>
                <a:ext cx="1551403" cy="407635"/>
              </a:xfrm>
              <a:prstGeom prst="rect">
                <a:avLst/>
              </a:prstGeom>
              <a:solidFill>
                <a:schemeClr val="accent1"/>
              </a:solidFill>
            </p:spPr>
            <p:txBody>
              <a:bodyPr wrap="square" rtlCol="0">
                <a:spAutoFit/>
              </a:bodyPr>
              <a:lstStyle/>
              <a:p>
                <a:r>
                  <a:rPr lang="en-US" sz="2000" b="1" dirty="0">
                    <a:solidFill>
                      <a:schemeClr val="bg1"/>
                    </a:solidFill>
                  </a:rPr>
                  <a:t>Applications</a:t>
                </a:r>
                <a:endParaRPr lang="nl-BE" sz="2000" b="1" dirty="0">
                  <a:solidFill>
                    <a:schemeClr val="bg1"/>
                  </a:solidFill>
                </a:endParaRPr>
              </a:p>
            </p:txBody>
          </p:sp>
        </p:grpSp>
        <p:sp>
          <p:nvSpPr>
            <p:cNvPr id="13335" name="TextBox 13334">
              <a:extLst>
                <a:ext uri="{FF2B5EF4-FFF2-40B4-BE49-F238E27FC236}">
                  <a16:creationId xmlns:a16="http://schemas.microsoft.com/office/drawing/2014/main" id="{0E2D78EC-0639-9657-AE0B-8AC07CC8BCA0}"/>
                </a:ext>
              </a:extLst>
            </p:cNvPr>
            <p:cNvSpPr txBox="1"/>
            <p:nvPr/>
          </p:nvSpPr>
          <p:spPr>
            <a:xfrm>
              <a:off x="7828112" y="3978930"/>
              <a:ext cx="4084260" cy="1754326"/>
            </a:xfrm>
            <a:prstGeom prst="rect">
              <a:avLst/>
            </a:prstGeom>
            <a:noFill/>
          </p:spPr>
          <p:txBody>
            <a:bodyPr wrap="square" rtlCol="0">
              <a:spAutoFit/>
            </a:bodyPr>
            <a:lstStyle/>
            <a:p>
              <a:r>
                <a:rPr lang="en-US" dirty="0"/>
                <a:t>                Genomics</a:t>
              </a:r>
              <a:br>
                <a:rPr lang="en-US" dirty="0"/>
              </a:br>
              <a:r>
                <a:rPr lang="en-US" dirty="0"/>
                <a:t>               Numerical (CFD) simulations</a:t>
              </a:r>
              <a:br>
                <a:rPr lang="en-US" dirty="0"/>
              </a:br>
              <a:r>
                <a:rPr lang="en-US" dirty="0"/>
                <a:t>              Molecular dynamics</a:t>
              </a:r>
              <a:br>
                <a:rPr lang="en-US" dirty="0"/>
              </a:br>
              <a:r>
                <a:rPr lang="en-US" dirty="0"/>
                <a:t>            Long-term weather predictions</a:t>
              </a:r>
              <a:br>
                <a:rPr lang="en-US" dirty="0"/>
              </a:br>
              <a:r>
                <a:rPr lang="en-US" dirty="0"/>
                <a:t>         Machine learning and AI</a:t>
              </a:r>
              <a:br>
                <a:rPr lang="en-US" dirty="0"/>
              </a:br>
              <a:r>
                <a:rPr lang="en-US" dirty="0"/>
                <a:t>      data pre-/post-processing</a:t>
              </a:r>
              <a:endParaRPr lang="nl-BE" dirty="0"/>
            </a:p>
          </p:txBody>
        </p:sp>
      </p:grpSp>
    </p:spTree>
    <p:extLst>
      <p:ext uri="{BB962C8B-B14F-4D97-AF65-F5344CB8AC3E}">
        <p14:creationId xmlns:p14="http://schemas.microsoft.com/office/powerpoint/2010/main" val="2045067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3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3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a:t>
            </a:fld>
            <a:endParaRPr lang="nl-BE" dirty="0"/>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19536" y="1124744"/>
            <a:ext cx="7983914" cy="4490952"/>
          </a:xfrm>
          <a:prstGeom prst="roundRect">
            <a:avLst/>
          </a:prstGeom>
        </p:spPr>
      </p:pic>
      <p:sp>
        <p:nvSpPr>
          <p:cNvPr id="3" name="Rectangle 2"/>
          <p:cNvSpPr/>
          <p:nvPr/>
        </p:nvSpPr>
        <p:spPr>
          <a:xfrm>
            <a:off x="1415480" y="5687437"/>
            <a:ext cx="9142295" cy="423321"/>
          </a:xfrm>
          <a:prstGeom prst="rect">
            <a:avLst/>
          </a:prstGeom>
        </p:spPr>
        <p:txBody>
          <a:bodyPr wrap="square">
            <a:spAutoFit/>
          </a:bodyPr>
          <a:lstStyle/>
          <a:p>
            <a:pPr algn="ctr">
              <a:lnSpc>
                <a:spcPct val="130000"/>
              </a:lnSpc>
            </a:pPr>
            <a:r>
              <a:rPr lang="en-US" altLang="nl-BE" dirty="0">
                <a:solidFill>
                  <a:schemeClr val="tx2"/>
                </a:solidFill>
              </a:rPr>
              <a:t>The concept is simple:</a:t>
            </a:r>
            <a:r>
              <a:rPr lang="pl-PL" altLang="nl-BE" dirty="0">
                <a:solidFill>
                  <a:schemeClr val="tx2"/>
                </a:solidFill>
              </a:rPr>
              <a:t> </a:t>
            </a:r>
            <a:r>
              <a:rPr lang="en-US" altLang="nl-BE" b="1" dirty="0">
                <a:solidFill>
                  <a:schemeClr val="tx2"/>
                </a:solidFill>
              </a:rPr>
              <a:t>parallelism</a:t>
            </a:r>
            <a:r>
              <a:rPr lang="en-US" altLang="nl-BE" dirty="0">
                <a:solidFill>
                  <a:schemeClr val="tx2"/>
                </a:solidFill>
              </a:rPr>
              <a:t> = employing multiple processors for a single problem</a:t>
            </a: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dirty="0" err="1"/>
              <a:t>What</a:t>
            </a:r>
            <a:r>
              <a:rPr lang="nl-BE" dirty="0"/>
              <a:t> is High Performance Computing</a:t>
            </a:r>
            <a:r>
              <a:rPr lang="en-US" dirty="0"/>
              <a:t>?</a:t>
            </a:r>
            <a:endParaRPr lang="en-US" altLang="en-US" dirty="0"/>
          </a:p>
        </p:txBody>
      </p:sp>
    </p:spTree>
    <p:extLst>
      <p:ext uri="{BB962C8B-B14F-4D97-AF65-F5344CB8AC3E}">
        <p14:creationId xmlns:p14="http://schemas.microsoft.com/office/powerpoint/2010/main" val="2453864208"/>
      </p:ext>
    </p:extLst>
  </p:cSld>
  <p:clrMapOvr>
    <a:masterClrMapping/>
  </p:clrMapOvr>
  <p:extLst>
    <p:ext uri="{3A86A75C-4F4B-4683-9AE1-C65F6400EC91}">
      <p14:laserTraceLst xmlns:p14="http://schemas.microsoft.com/office/powerpoint/2010/main">
        <p14:tracePtLst>
          <p14:tracePt t="31596" x="3765550" y="3792538"/>
          <p14:tracePt t="31714" x="3756025" y="3792538"/>
          <p14:tracePt t="31775" x="3746500" y="3792538"/>
          <p14:tracePt t="31787" x="3729038" y="3792538"/>
          <p14:tracePt t="31794" x="3684588" y="3792538"/>
          <p14:tracePt t="31803" x="3613150" y="3792538"/>
          <p14:tracePt t="31814" x="3541713" y="3792538"/>
          <p14:tracePt t="31831" x="3478213" y="3783013"/>
          <p14:tracePt t="31848" x="3343275" y="3765550"/>
          <p14:tracePt t="31864" x="3236913" y="3738563"/>
          <p14:tracePt t="31882" x="3182938" y="3729038"/>
          <p14:tracePt t="31898" x="3092450" y="3702050"/>
          <p14:tracePt t="31914" x="3038475" y="3684588"/>
          <p14:tracePt t="31931" x="3011488" y="3684588"/>
          <p14:tracePt t="31948" x="2976563" y="3667125"/>
          <p14:tracePt t="31964" x="2959100" y="3667125"/>
          <p14:tracePt t="31983" x="2949575" y="3667125"/>
          <p14:tracePt t="31998" x="2940050" y="3657600"/>
          <p14:tracePt t="32042" x="2932113" y="3657600"/>
          <p14:tracePt t="32083" x="2932113" y="3648075"/>
          <p14:tracePt t="32112" x="2932113" y="3640138"/>
          <p14:tracePt t="32132" x="2940050" y="3621088"/>
          <p14:tracePt t="32142" x="3030538" y="3568700"/>
          <p14:tracePt t="32153" x="3146425" y="3495675"/>
          <p14:tracePt t="32164" x="3236913" y="3441700"/>
          <p14:tracePt t="32181" x="3370263" y="3370263"/>
          <p14:tracePt t="32197" x="3406775" y="3352800"/>
          <p14:tracePt t="32214" x="3451225" y="3325813"/>
          <p14:tracePt t="32231" x="3460750" y="3316288"/>
          <p14:tracePt t="32260" x="3397250" y="3316288"/>
          <p14:tracePt t="32270" x="3254375" y="3370263"/>
          <p14:tracePt t="32281" x="3101975" y="3416300"/>
          <p14:tracePt t="32297" x="2976563" y="3460750"/>
          <p14:tracePt t="32314" x="2752725" y="3559175"/>
          <p14:tracePt t="32331" x="2608263" y="3630613"/>
          <p14:tracePt t="32347" x="2573338" y="3667125"/>
          <p14:tracePt t="32364" x="2519363" y="3694113"/>
          <p14:tracePt t="32381" x="2501900" y="3711575"/>
          <p14:tracePt t="32401" x="2501900" y="3721100"/>
          <p14:tracePt t="32414" x="2509838" y="3729038"/>
          <p14:tracePt t="32431" x="2662238" y="3746500"/>
          <p14:tracePt t="32447" x="2743200" y="3746500"/>
          <p14:tracePt t="32464" x="2868613" y="3746500"/>
          <p14:tracePt t="32480" x="2922588" y="3738563"/>
          <p14:tracePt t="32497" x="2940050" y="3738563"/>
          <p14:tracePt t="32514" x="2959100" y="3721100"/>
          <p14:tracePt t="32530" x="2967038" y="3721100"/>
          <p14:tracePt t="32548" x="2940050" y="3711575"/>
          <p14:tracePt t="32564" x="2787650" y="3711575"/>
          <p14:tracePt t="32580" x="2401888" y="3819525"/>
          <p14:tracePt t="32597" x="2070100" y="3944938"/>
          <p14:tracePt t="32614" x="1963738" y="3989388"/>
          <p14:tracePt t="32630" x="1811338" y="4070350"/>
          <p14:tracePt t="32647" x="1739900" y="4105275"/>
          <p14:tracePt t="32664" x="1720850" y="4114800"/>
          <p14:tracePt t="32680" x="1712913" y="4124325"/>
          <p14:tracePt t="32707" x="1801813" y="4078288"/>
          <p14:tracePt t="32718" x="1892300" y="4016375"/>
          <p14:tracePt t="32730" x="1981200" y="3962400"/>
          <p14:tracePt t="32747" x="2079625" y="3890963"/>
          <p14:tracePt t="32763" x="2106613" y="3863975"/>
          <p14:tracePt t="32780" x="2133600" y="3846513"/>
          <p14:tracePt t="32797" x="2143125" y="3827463"/>
          <p14:tracePt t="32817" x="2106613" y="3836988"/>
          <p14:tracePt t="32830" x="1963738" y="3898900"/>
          <p14:tracePt t="32847" x="1649413" y="4078288"/>
          <p14:tracePt t="32863" x="1550988" y="4124325"/>
          <p14:tracePt t="32880" x="1416050" y="4213225"/>
          <p14:tracePt t="32897" x="1354138" y="4249738"/>
          <p14:tracePt t="32913" x="1335088" y="4257675"/>
          <p14:tracePt t="32930" x="1327150" y="4267200"/>
          <p14:tracePt t="32947" x="1327150" y="4257675"/>
          <p14:tracePt t="32963" x="1416050" y="4213225"/>
          <p14:tracePt t="32980" x="1560513" y="4097338"/>
          <p14:tracePt t="32997" x="1631950" y="4033838"/>
          <p14:tracePt t="33013" x="1649413" y="4025900"/>
          <p14:tracePt t="33030" x="1666875" y="4006850"/>
          <p14:tracePt t="33047" x="1676400" y="4006850"/>
          <p14:tracePt t="33066" x="1639888" y="4025900"/>
          <p14:tracePt t="33080" x="1587500" y="4087813"/>
          <p14:tracePt t="33097" x="1514475" y="4151313"/>
          <p14:tracePt t="33114" x="1487488" y="4178300"/>
          <p14:tracePt t="33130" x="1479550" y="4186238"/>
          <p14:tracePt t="33147" x="1470025" y="4186238"/>
          <p14:tracePt t="33164" x="1460500" y="4186238"/>
          <p14:tracePt t="33849" x="1639888" y="4114800"/>
          <p14:tracePt t="33859" x="1944688" y="3971925"/>
          <p14:tracePt t="33871" x="2249488" y="3827463"/>
          <p14:tracePt t="33888" x="2868613" y="3505200"/>
          <p14:tracePt t="33905" x="3155950" y="3325813"/>
          <p14:tracePt t="33921" x="3640138" y="2994025"/>
          <p14:tracePt t="33938" x="3863975" y="2824163"/>
          <p14:tracePt t="33955" x="3917950" y="2779713"/>
          <p14:tracePt t="33971" x="3979863" y="2743200"/>
          <p14:tracePt t="33988" x="3989388" y="2743200"/>
          <p14:tracePt t="34005" x="4006850" y="2779713"/>
          <p14:tracePt t="34021" x="3881438" y="3038475"/>
          <p14:tracePt t="34038" x="3586163" y="3397250"/>
          <p14:tracePt t="34055" x="3389313" y="3568700"/>
          <p14:tracePt t="34071" x="2913063" y="3898900"/>
          <p14:tracePt t="34088" x="2455863" y="4105275"/>
          <p14:tracePt t="34105" x="2312988" y="4132263"/>
          <p14:tracePt t="34121" x="2089150" y="4151313"/>
          <p14:tracePt t="34138" x="1909763" y="4078288"/>
          <p14:tracePt t="34154" x="1855788" y="3989388"/>
          <p14:tracePt t="34171" x="1819275" y="3746500"/>
          <p14:tracePt t="34188" x="1917700" y="3451225"/>
          <p14:tracePt t="34205" x="2044700" y="3316288"/>
          <p14:tracePt t="34221" x="2374900" y="3111500"/>
          <p14:tracePt t="34238" x="2806700" y="3021013"/>
          <p14:tracePt t="34254" x="2984500" y="3021013"/>
          <p14:tracePt t="34271" x="3254375" y="3084513"/>
          <p14:tracePt t="34288" x="3416300" y="3209925"/>
          <p14:tracePt t="34304" x="3451225" y="3281363"/>
          <p14:tracePt t="34321" x="3441700" y="3487738"/>
          <p14:tracePt t="34338" x="3128963" y="3792538"/>
          <p14:tracePt t="34354" x="2868613" y="3971925"/>
          <p14:tracePt t="34371" x="2170113" y="4267200"/>
          <p14:tracePt t="34388" x="1460500" y="4446588"/>
          <p14:tracePt t="34405" x="995363" y="4464050"/>
          <p14:tracePt t="34421" x="850900" y="4437063"/>
          <p14:tracePt t="34438" x="673100" y="4330700"/>
          <p14:tracePt t="34455" x="592138" y="4203700"/>
          <p14:tracePt t="34471" x="573088" y="4159250"/>
          <p14:tracePt t="34488" x="573088" y="4070350"/>
          <p14:tracePt t="34504" x="592138" y="4033838"/>
          <p14:tracePt t="34521" x="627063" y="3989388"/>
          <p14:tracePt t="34538" x="663575" y="3962400"/>
          <p14:tracePt t="34554" x="690563" y="3952875"/>
          <p14:tracePt t="34571" x="698500" y="3952875"/>
          <p14:tracePt t="34588" x="708025" y="3952875"/>
          <p14:tracePt t="34614" x="717550" y="3952875"/>
          <p14:tracePt t="34644" x="725488" y="3952875"/>
          <p14:tracePt t="34654" x="725488" y="3962400"/>
          <p14:tracePt t="34693" x="725488" y="3971925"/>
          <p14:tracePt t="34703" x="735013" y="3979863"/>
          <p14:tracePt t="34724" x="744538" y="3979863"/>
          <p14:tracePt t="34733" x="752475" y="3989388"/>
          <p14:tracePt t="34743" x="762000" y="3998913"/>
          <p14:tracePt t="34754" x="788988" y="4006850"/>
          <p14:tracePt t="34771" x="806450" y="4016375"/>
          <p14:tracePt t="34787" x="869950" y="4060825"/>
          <p14:tracePt t="34804" x="941388" y="4097338"/>
          <p14:tracePt t="34821" x="968375" y="4114800"/>
          <p14:tracePt t="34837" x="1039813" y="4151313"/>
          <p14:tracePt t="34854" x="1084263" y="4168775"/>
          <p14:tracePt t="34871" x="1103313" y="4178300"/>
          <p14:tracePt t="34887" x="1111250" y="4178300"/>
          <p14:tracePt t="34904" x="1130300" y="4178300"/>
          <p14:tracePt t="34921" x="1138238" y="4178300"/>
          <p14:tracePt t="34937" x="1147763" y="4178300"/>
          <p14:tracePt t="34954" x="1174750" y="4178300"/>
          <p14:tracePt t="34971" x="1201738" y="4178300"/>
          <p14:tracePt t="34987" x="1282700" y="4195763"/>
          <p14:tracePt t="35004" x="1344613" y="4213225"/>
          <p14:tracePt t="35021" x="1408113" y="4249738"/>
          <p14:tracePt t="35037" x="1425575" y="4267200"/>
          <p14:tracePt t="35054" x="1452563" y="4303713"/>
          <p14:tracePt t="35070" x="1470025" y="4321175"/>
          <p14:tracePt t="35087" x="1479550" y="4330700"/>
          <p14:tracePt t="35104" x="1479550" y="4356100"/>
          <p14:tracePt t="35120" x="1470025" y="4419600"/>
          <p14:tracePt t="35137" x="1460500" y="4456113"/>
          <p14:tracePt t="35154" x="1452563" y="4518025"/>
          <p14:tracePt t="35781" x="0" y="0"/>
        </p14:tracePtLst>
      </p14:laserTraceLst>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a:t>
            </a:fld>
            <a:endParaRPr lang="nl-BE" sz="900" dirty="0">
              <a:solidFill>
                <a:schemeClr val="bg1"/>
              </a:solidFill>
            </a:endParaRPr>
          </a:p>
        </p:txBody>
      </p:sp>
      <p:sp>
        <p:nvSpPr>
          <p:cNvPr id="2" name="Rectangle 2">
            <a:extLst>
              <a:ext uri="{FF2B5EF4-FFF2-40B4-BE49-F238E27FC236}">
                <a16:creationId xmlns:a16="http://schemas.microsoft.com/office/drawing/2014/main" id="{8EEB5A54-8A14-65E2-46D6-AF1BC1DED8E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outline</a:t>
            </a:r>
            <a:endParaRPr lang="en-US" altLang="en-US" dirty="0"/>
          </a:p>
        </p:txBody>
      </p:sp>
      <p:grpSp>
        <p:nvGrpSpPr>
          <p:cNvPr id="10" name="Group 9">
            <a:extLst>
              <a:ext uri="{FF2B5EF4-FFF2-40B4-BE49-F238E27FC236}">
                <a16:creationId xmlns:a16="http://schemas.microsoft.com/office/drawing/2014/main" id="{76E60B2B-F5AA-B221-947B-83AEAA7272D0}"/>
              </a:ext>
            </a:extLst>
          </p:cNvPr>
          <p:cNvGrpSpPr/>
          <p:nvPr/>
        </p:nvGrpSpPr>
        <p:grpSpPr>
          <a:xfrm>
            <a:off x="511494" y="1271662"/>
            <a:ext cx="5333357" cy="4029546"/>
            <a:chOff x="511494" y="1030723"/>
            <a:chExt cx="5333357" cy="4029546"/>
          </a:xfrm>
        </p:grpSpPr>
        <p:sp>
          <p:nvSpPr>
            <p:cNvPr id="3" name="TextBox 2"/>
            <p:cNvSpPr txBox="1"/>
            <p:nvPr/>
          </p:nvSpPr>
          <p:spPr>
            <a:xfrm>
              <a:off x="518042" y="1413117"/>
              <a:ext cx="5326809" cy="3647152"/>
            </a:xfrm>
            <a:prstGeom prst="rect">
              <a:avLst/>
            </a:prstGeom>
            <a:noFill/>
            <a:ln w="2540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100" dirty="0"/>
                <a:t>VSC</a:t>
              </a:r>
            </a:p>
            <a:p>
              <a:pPr marL="324000" indent="-324000">
                <a:buClr>
                  <a:srgbClr val="DB6C30"/>
                </a:buClr>
                <a:buFont typeface="Wingdings" panose="05000000000000000000" pitchFamily="2" charset="2"/>
                <a:buChar char="q"/>
              </a:pPr>
              <a:r>
                <a:rPr lang="en-US" sz="2100" dirty="0"/>
                <a:t>Tier-2 clusters</a:t>
              </a:r>
            </a:p>
            <a:p>
              <a:pPr marL="324000" indent="-324000">
                <a:buClr>
                  <a:srgbClr val="DB6C30"/>
                </a:buClr>
                <a:buFont typeface="Wingdings" panose="05000000000000000000" pitchFamily="2" charset="2"/>
                <a:buChar char="q"/>
              </a:pPr>
              <a:r>
                <a:rPr lang="en-US" sz="2100" dirty="0"/>
                <a:t>Storage</a:t>
              </a:r>
            </a:p>
            <a:p>
              <a:pPr marL="324000" indent="-324000">
                <a:buClr>
                  <a:srgbClr val="DB6C30"/>
                </a:buClr>
                <a:buFont typeface="Wingdings" panose="05000000000000000000" pitchFamily="2" charset="2"/>
                <a:buChar char="q"/>
              </a:pPr>
              <a:r>
                <a:rPr lang="en-US" sz="2100" dirty="0"/>
                <a:t>Accounting</a:t>
              </a:r>
            </a:p>
            <a:p>
              <a:pPr marL="324000" indent="-324000">
                <a:buClr>
                  <a:srgbClr val="DB6C30"/>
                </a:buClr>
                <a:buFont typeface="Wingdings" panose="05000000000000000000" pitchFamily="2" charset="2"/>
                <a:buChar char="q"/>
              </a:pPr>
              <a:r>
                <a:rPr lang="en-US" sz="2100" dirty="0"/>
                <a:t>Login</a:t>
              </a:r>
              <a:br>
                <a:rPr lang="en-US" sz="2100" dirty="0"/>
              </a:br>
              <a:r>
                <a:rPr lang="en-US" sz="2100" dirty="0"/>
                <a:t>Open OnDemand</a:t>
              </a:r>
              <a:br>
                <a:rPr lang="en-US" sz="2100" dirty="0"/>
              </a:br>
              <a:r>
                <a:rPr lang="en-US" sz="2100" dirty="0"/>
                <a:t>SSH client &amp; terminal</a:t>
              </a:r>
            </a:p>
            <a:p>
              <a:pPr marL="324000" indent="-324000">
                <a:buClr>
                  <a:srgbClr val="DB6C30"/>
                </a:buClr>
                <a:buFont typeface="Wingdings" panose="05000000000000000000" pitchFamily="2" charset="2"/>
                <a:buChar char="q"/>
              </a:pPr>
              <a:r>
                <a:rPr lang="en-US" sz="2100" dirty="0"/>
                <a:t>Data transfer</a:t>
              </a:r>
              <a:br>
                <a:rPr lang="en-US" sz="2100" dirty="0"/>
              </a:br>
              <a:r>
                <a:rPr lang="en-US" sz="2100" dirty="0"/>
                <a:t>FileZilla</a:t>
              </a:r>
              <a:br>
                <a:rPr lang="en-US" sz="2100" dirty="0"/>
              </a:br>
              <a:r>
                <a:rPr lang="en-US" sz="2100" dirty="0" err="1"/>
                <a:t>rsync</a:t>
              </a:r>
              <a:br>
                <a:rPr lang="en-US" sz="2100" dirty="0"/>
              </a:br>
              <a:r>
                <a:rPr lang="en-US" sz="2100" dirty="0"/>
                <a:t>Globus</a:t>
              </a:r>
            </a:p>
          </p:txBody>
        </p:sp>
        <p:sp>
          <p:nvSpPr>
            <p:cNvPr id="9" name="TextBox 8">
              <a:extLst>
                <a:ext uri="{FF2B5EF4-FFF2-40B4-BE49-F238E27FC236}">
                  <a16:creationId xmlns:a16="http://schemas.microsoft.com/office/drawing/2014/main" id="{87586110-722A-4490-5C5D-C78335ED5432}"/>
                </a:ext>
              </a:extLst>
            </p:cNvPr>
            <p:cNvSpPr txBox="1"/>
            <p:nvPr/>
          </p:nvSpPr>
          <p:spPr>
            <a:xfrm>
              <a:off x="511494" y="1030723"/>
              <a:ext cx="1905550" cy="400110"/>
            </a:xfrm>
            <a:prstGeom prst="rect">
              <a:avLst/>
            </a:prstGeom>
            <a:solidFill>
              <a:schemeClr val="accent1"/>
            </a:solidFill>
          </p:spPr>
          <p:txBody>
            <a:bodyPr wrap="square" rtlCol="0">
              <a:spAutoFit/>
            </a:bodyPr>
            <a:lstStyle/>
            <a:p>
              <a:r>
                <a:rPr lang="en-US" sz="2000" b="1" dirty="0"/>
                <a:t>Part 1: Basics</a:t>
              </a:r>
              <a:endParaRPr lang="nl-BE" sz="2000" b="1" dirty="0"/>
            </a:p>
          </p:txBody>
        </p:sp>
      </p:grpSp>
      <p:grpSp>
        <p:nvGrpSpPr>
          <p:cNvPr id="11" name="Group 10">
            <a:extLst>
              <a:ext uri="{FF2B5EF4-FFF2-40B4-BE49-F238E27FC236}">
                <a16:creationId xmlns:a16="http://schemas.microsoft.com/office/drawing/2014/main" id="{12F9E280-9B11-66A2-7709-C1EB7BC08AEF}"/>
              </a:ext>
            </a:extLst>
          </p:cNvPr>
          <p:cNvGrpSpPr/>
          <p:nvPr/>
        </p:nvGrpSpPr>
        <p:grpSpPr>
          <a:xfrm>
            <a:off x="6505191" y="1268264"/>
            <a:ext cx="5343518" cy="2035106"/>
            <a:chOff x="501333" y="1030723"/>
            <a:chExt cx="5343518" cy="2035106"/>
          </a:xfrm>
        </p:grpSpPr>
        <p:sp>
          <p:nvSpPr>
            <p:cNvPr id="12" name="TextBox 11">
              <a:extLst>
                <a:ext uri="{FF2B5EF4-FFF2-40B4-BE49-F238E27FC236}">
                  <a16:creationId xmlns:a16="http://schemas.microsoft.com/office/drawing/2014/main" id="{1CA2BB6B-6046-2458-A97D-9D240453F2CA}"/>
                </a:ext>
              </a:extLst>
            </p:cNvPr>
            <p:cNvSpPr txBox="1"/>
            <p:nvPr/>
          </p:nvSpPr>
          <p:spPr>
            <a:xfrm>
              <a:off x="518042" y="1434613"/>
              <a:ext cx="5326809" cy="1631216"/>
            </a:xfrm>
            <a:prstGeom prst="rect">
              <a:avLst/>
            </a:prstGeom>
            <a:noFill/>
            <a:ln w="2540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000" dirty="0"/>
                <a:t>Using Open OnDemand</a:t>
              </a:r>
            </a:p>
            <a:p>
              <a:pPr marL="324000" indent="-324000">
                <a:buClr>
                  <a:srgbClr val="DB6C30"/>
                </a:buClr>
                <a:buFont typeface="Wingdings" panose="05000000000000000000" pitchFamily="2" charset="2"/>
                <a:buChar char="q"/>
              </a:pPr>
              <a:r>
                <a:rPr lang="en-US" sz="2000" dirty="0"/>
                <a:t>Software</a:t>
              </a:r>
            </a:p>
            <a:p>
              <a:pPr marL="324000" indent="-324000">
                <a:buClr>
                  <a:srgbClr val="DB6C30"/>
                </a:buClr>
                <a:buFont typeface="Wingdings" panose="05000000000000000000" pitchFamily="2" charset="2"/>
                <a:buChar char="q"/>
              </a:pPr>
              <a:r>
                <a:rPr lang="en-US" sz="2000" dirty="0" err="1"/>
                <a:t>Miniconda</a:t>
              </a:r>
              <a:endParaRPr lang="en-US" sz="2000" dirty="0"/>
            </a:p>
            <a:p>
              <a:pPr marL="324000" indent="-324000">
                <a:buClr>
                  <a:srgbClr val="DB6C30"/>
                </a:buClr>
                <a:buFont typeface="Wingdings" panose="05000000000000000000" pitchFamily="2" charset="2"/>
                <a:buChar char="q"/>
              </a:pPr>
              <a:r>
                <a:rPr lang="en-US" sz="2000" dirty="0"/>
                <a:t>Batch jobs</a:t>
              </a:r>
            </a:p>
            <a:p>
              <a:pPr marL="324000" indent="-324000">
                <a:buClr>
                  <a:srgbClr val="DB6C30"/>
                </a:buClr>
                <a:buFont typeface="Wingdings" panose="05000000000000000000" pitchFamily="2" charset="2"/>
                <a:buChar char="q"/>
              </a:pPr>
              <a:r>
                <a:rPr lang="en-US" sz="2000" dirty="0"/>
                <a:t>Demo: try things yourself</a:t>
              </a:r>
            </a:p>
          </p:txBody>
        </p:sp>
        <p:sp>
          <p:nvSpPr>
            <p:cNvPr id="13" name="TextBox 12">
              <a:extLst>
                <a:ext uri="{FF2B5EF4-FFF2-40B4-BE49-F238E27FC236}">
                  <a16:creationId xmlns:a16="http://schemas.microsoft.com/office/drawing/2014/main" id="{EA15D92B-96CB-26DF-576A-A0D336448DED}"/>
                </a:ext>
              </a:extLst>
            </p:cNvPr>
            <p:cNvSpPr txBox="1"/>
            <p:nvPr/>
          </p:nvSpPr>
          <p:spPr>
            <a:xfrm>
              <a:off x="501333" y="1030723"/>
              <a:ext cx="2055789" cy="400110"/>
            </a:xfrm>
            <a:prstGeom prst="rect">
              <a:avLst/>
            </a:prstGeom>
            <a:solidFill>
              <a:schemeClr val="accent1"/>
            </a:solidFill>
          </p:spPr>
          <p:txBody>
            <a:bodyPr wrap="square" rtlCol="0">
              <a:spAutoFit/>
            </a:bodyPr>
            <a:lstStyle/>
            <a:p>
              <a:r>
                <a:rPr lang="en-US" sz="2000" b="1" dirty="0"/>
                <a:t>Part 2: Hands-on</a:t>
              </a:r>
              <a:endParaRPr lang="nl-BE" sz="2000" b="1" dirty="0"/>
            </a:p>
          </p:txBody>
        </p:sp>
      </p:grpSp>
    </p:spTree>
    <p:extLst>
      <p:ext uri="{BB962C8B-B14F-4D97-AF65-F5344CB8AC3E}">
        <p14:creationId xmlns:p14="http://schemas.microsoft.com/office/powerpoint/2010/main" val="30045405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271464" y="4005064"/>
            <a:ext cx="3442224" cy="861774"/>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VSC </a:t>
            </a:r>
            <a:br>
              <a:rPr lang="en-US" sz="3200" b="1" dirty="0">
                <a:solidFill>
                  <a:schemeClr val="bg1"/>
                </a:solidFill>
                <a:ea typeface="Roboto" panose="02000000000000000000" pitchFamily="2" charset="0"/>
              </a:rPr>
            </a:br>
            <a:r>
              <a:rPr lang="en-US" b="1" dirty="0">
                <a:solidFill>
                  <a:schemeClr val="bg1"/>
                </a:solidFill>
                <a:ea typeface="Roboto" panose="02000000000000000000" pitchFamily="2" charset="0"/>
              </a:rPr>
              <a:t>(</a:t>
            </a:r>
            <a:r>
              <a:rPr lang="en-US" b="1" dirty="0" err="1">
                <a:solidFill>
                  <a:schemeClr val="bg1"/>
                </a:solidFill>
                <a:ea typeface="Roboto" panose="02000000000000000000" pitchFamily="2" charset="0"/>
              </a:rPr>
              <a:t>Vlaams</a:t>
            </a:r>
            <a:r>
              <a:rPr lang="en-US" b="1" dirty="0">
                <a:solidFill>
                  <a:schemeClr val="bg1"/>
                </a:solidFill>
                <a:ea typeface="Roboto" panose="02000000000000000000" pitchFamily="2" charset="0"/>
              </a:rPr>
              <a:t> Supercomputer Centrum)</a:t>
            </a:r>
            <a:endParaRPr lang="en-US" sz="3200" b="1" dirty="0">
              <a:solidFill>
                <a:schemeClr val="bg1"/>
              </a:solidFill>
              <a:ea typeface="Roboto" panose="02000000000000000000" pitchFamily="2" charset="0"/>
            </a:endParaRPr>
          </a:p>
        </p:txBody>
      </p:sp>
      <p:sp>
        <p:nvSpPr>
          <p:cNvPr id="6" name="Slide Number Placeholder 5"/>
          <p:cNvSpPr>
            <a:spLocks noGrp="1"/>
          </p:cNvSpPr>
          <p:nvPr>
            <p:ph type="sldNum" sz="quarter" idx="12"/>
          </p:nvPr>
        </p:nvSpPr>
        <p:spPr/>
        <p:txBody>
          <a:bodyPr/>
          <a:lstStyle/>
          <a:p>
            <a:fld id="{A2912448-FEEC-49E8-9588-2DF1F90D57C2}" type="slidenum">
              <a:rPr lang="en-US" smtClean="0"/>
              <a:t>6</a:t>
            </a:fld>
            <a:endParaRPr lang="en-US"/>
          </a:p>
        </p:txBody>
      </p:sp>
    </p:spTree>
    <p:extLst>
      <p:ext uri="{BB962C8B-B14F-4D97-AF65-F5344CB8AC3E}">
        <p14:creationId xmlns:p14="http://schemas.microsoft.com/office/powerpoint/2010/main" val="29229661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0517123" y="6230111"/>
            <a:ext cx="1426463" cy="576071"/>
          </a:xfrm>
          <a:prstGeom prst="rect">
            <a:avLst/>
          </a:prstGeom>
          <a:blipFill>
            <a:blip r:embed="rId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 name="object 3"/>
          <p:cNvSpPr txBox="1"/>
          <p:nvPr/>
        </p:nvSpPr>
        <p:spPr>
          <a:xfrm>
            <a:off x="1151329" y="6512424"/>
            <a:ext cx="1054100" cy="239395"/>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400" b="0" i="0" u="none" strike="noStrike" kern="1200" cap="none" spc="20" normalizeH="0" baseline="0" noProof="0" dirty="0">
                <a:ln>
                  <a:noFill/>
                </a:ln>
                <a:solidFill>
                  <a:srgbClr val="FFFFFF"/>
                </a:solidFill>
                <a:effectLst/>
                <a:uLnTx/>
                <a:uFillTx/>
                <a:latin typeface="Calibri"/>
                <a:ea typeface="+mn-ea"/>
                <a:cs typeface="Calibri"/>
              </a:rPr>
              <a:t>vscentrum.be</a:t>
            </a:r>
            <a:endParaRPr kumimoji="0" sz="14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4" name="object 4"/>
          <p:cNvSpPr/>
          <p:nvPr/>
        </p:nvSpPr>
        <p:spPr>
          <a:xfrm>
            <a:off x="83819" y="298704"/>
            <a:ext cx="9143999" cy="4230623"/>
          </a:xfrm>
          <a:prstGeom prst="rect">
            <a:avLst/>
          </a:prstGeom>
          <a:blipFill>
            <a:blip r:embed="rId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 name="object 5"/>
          <p:cNvSpPr/>
          <p:nvPr/>
        </p:nvSpPr>
        <p:spPr>
          <a:xfrm>
            <a:off x="174793" y="356329"/>
            <a:ext cx="9043898" cy="4855059"/>
          </a:xfrm>
          <a:prstGeom prst="rect">
            <a:avLst/>
          </a:prstGeom>
          <a:blipFill>
            <a:blip r:embed="rId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6" name="object 6"/>
          <p:cNvSpPr txBox="1"/>
          <p:nvPr/>
        </p:nvSpPr>
        <p:spPr>
          <a:xfrm>
            <a:off x="4741410" y="2794537"/>
            <a:ext cx="145415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V </a:t>
            </a:r>
            <a:r>
              <a:rPr kumimoji="0" sz="1100" b="0" i="0" u="none" strike="noStrike" kern="1200" cap="none" spc="50" normalizeH="0" baseline="0" noProof="0" dirty="0">
                <a:ln>
                  <a:noFill/>
                </a:ln>
                <a:solidFill>
                  <a:srgbClr val="FFFFFF"/>
                </a:solidFill>
                <a:effectLst/>
                <a:uLnTx/>
                <a:uFillTx/>
                <a:latin typeface="Calibri"/>
                <a:ea typeface="+mn-ea"/>
                <a:cs typeface="Calibri"/>
              </a:rPr>
              <a:t>l </a:t>
            </a:r>
            <a:r>
              <a:rPr kumimoji="0" sz="1100" b="0" i="0" u="none" strike="noStrike" kern="1200" cap="none" spc="10" normalizeH="0" baseline="0" noProof="0" dirty="0">
                <a:ln>
                  <a:noFill/>
                </a:ln>
                <a:solidFill>
                  <a:srgbClr val="FFFFFF"/>
                </a:solidFill>
                <a:effectLst/>
                <a:uLnTx/>
                <a:uFillTx/>
                <a:latin typeface="Calibri"/>
                <a:ea typeface="+mn-ea"/>
                <a:cs typeface="Calibri"/>
              </a:rPr>
              <a:t>a </a:t>
            </a:r>
            <a:r>
              <a:rPr kumimoji="0" sz="1100" b="0" i="0" u="none" strike="noStrike" kern="1200" cap="none" spc="2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s </a:t>
            </a:r>
            <a:r>
              <a:rPr kumimoji="0" sz="1100" b="0" i="0" u="none" strike="noStrike" kern="1200" cap="none" spc="-15" normalizeH="0" baseline="0" noProof="0" dirty="0">
                <a:ln>
                  <a:noFill/>
                </a:ln>
                <a:solidFill>
                  <a:srgbClr val="FFFFFF"/>
                </a:solidFill>
                <a:effectLst/>
                <a:uLnTx/>
                <a:uFillTx/>
                <a:latin typeface="Calibri"/>
                <a:ea typeface="+mn-ea"/>
                <a:cs typeface="Calibri"/>
              </a:rPr>
              <a:t>- </a:t>
            </a:r>
            <a:r>
              <a:rPr kumimoji="0" sz="1100" b="0" i="0" u="none" strike="noStrike" kern="1200" cap="none" spc="-5" normalizeH="0" baseline="0" noProof="0" dirty="0">
                <a:ln>
                  <a:noFill/>
                </a:ln>
                <a:solidFill>
                  <a:srgbClr val="FFFFFF"/>
                </a:solidFill>
                <a:effectLst/>
                <a:uLnTx/>
                <a:uFillTx/>
                <a:latin typeface="Calibri"/>
                <a:ea typeface="+mn-ea"/>
                <a:cs typeface="Calibri"/>
              </a:rPr>
              <a:t>B </a:t>
            </a:r>
            <a:r>
              <a:rPr kumimoji="0" sz="1100" b="0" i="0" u="none" strike="noStrike" kern="1200" cap="none" spc="20" normalizeH="0" baseline="0" noProof="0" dirty="0">
                <a:ln>
                  <a:noFill/>
                </a:ln>
                <a:solidFill>
                  <a:srgbClr val="FFFFFF"/>
                </a:solidFill>
                <a:effectLst/>
                <a:uLnTx/>
                <a:uFillTx/>
                <a:latin typeface="Calibri"/>
                <a:ea typeface="+mn-ea"/>
                <a:cs typeface="Calibri"/>
              </a:rPr>
              <a:t>r </a:t>
            </a:r>
            <a:r>
              <a:rPr kumimoji="0" sz="1100" b="0" i="0" u="none" strike="noStrike" kern="1200" cap="none" spc="70" normalizeH="0" baseline="0" noProof="0" dirty="0">
                <a:ln>
                  <a:noFill/>
                </a:ln>
                <a:solidFill>
                  <a:srgbClr val="FFFFFF"/>
                </a:solidFill>
                <a:effectLst/>
                <a:uLnTx/>
                <a:uFillTx/>
                <a:latin typeface="Calibri"/>
                <a:ea typeface="+mn-ea"/>
                <a:cs typeface="Calibri"/>
              </a:rPr>
              <a:t>a b a </a:t>
            </a:r>
            <a:r>
              <a:rPr kumimoji="0" sz="1100" b="0" i="0" u="none" strike="noStrike" kern="1200" cap="none" spc="20" normalizeH="0" baseline="0" noProof="0" dirty="0">
                <a:ln>
                  <a:noFill/>
                </a:ln>
                <a:solidFill>
                  <a:srgbClr val="FFFFFF"/>
                </a:solidFill>
                <a:effectLst/>
                <a:uLnTx/>
                <a:uFillTx/>
                <a:latin typeface="Calibri"/>
                <a:ea typeface="+mn-ea"/>
                <a:cs typeface="Calibri"/>
              </a:rPr>
              <a:t>n</a:t>
            </a:r>
            <a:r>
              <a:rPr kumimoji="0" sz="1100" b="0" i="0" u="none" strike="noStrike" kern="1200" cap="none" spc="-20"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7" name="object 7"/>
          <p:cNvSpPr/>
          <p:nvPr/>
        </p:nvSpPr>
        <p:spPr>
          <a:xfrm>
            <a:off x="5538408" y="2051612"/>
            <a:ext cx="2273300" cy="3475990"/>
          </a:xfrm>
          <a:custGeom>
            <a:avLst/>
            <a:gdLst/>
            <a:ahLst/>
            <a:cxnLst/>
            <a:rect l="l" t="t" r="r" b="b"/>
            <a:pathLst>
              <a:path w="2273300" h="3475990">
                <a:moveTo>
                  <a:pt x="0" y="0"/>
                </a:moveTo>
                <a:lnTo>
                  <a:pt x="2273274" y="3475482"/>
                </a:lnTo>
              </a:path>
            </a:pathLst>
          </a:custGeom>
          <a:ln w="3175">
            <a:solidFill>
              <a:srgbClr val="333639"/>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8" name="object 8"/>
          <p:cNvSpPr txBox="1"/>
          <p:nvPr/>
        </p:nvSpPr>
        <p:spPr>
          <a:xfrm>
            <a:off x="9554081" y="2086318"/>
            <a:ext cx="1378585" cy="29972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800" b="0" i="0" u="none" strike="noStrike" kern="1200" cap="none" spc="60" normalizeH="0" baseline="0" noProof="0" dirty="0">
                <a:ln>
                  <a:noFill/>
                </a:ln>
                <a:solidFill>
                  <a:srgbClr val="333639"/>
                </a:solidFill>
                <a:effectLst/>
                <a:uLnTx/>
                <a:uFillTx/>
                <a:latin typeface="Calibri"/>
                <a:ea typeface="+mn-ea"/>
                <a:cs typeface="Calibri"/>
              </a:rPr>
              <a:t>Supported</a:t>
            </a:r>
            <a:r>
              <a:rPr kumimoji="0" sz="1800" b="0" i="0" u="none" strike="noStrike" kern="1200" cap="none" spc="-5" normalizeH="0" baseline="0" noProof="0" dirty="0">
                <a:ln>
                  <a:noFill/>
                </a:ln>
                <a:solidFill>
                  <a:srgbClr val="333639"/>
                </a:solidFill>
                <a:effectLst/>
                <a:uLnTx/>
                <a:uFillTx/>
                <a:latin typeface="Calibri"/>
                <a:ea typeface="+mn-ea"/>
                <a:cs typeface="Calibri"/>
              </a:rPr>
              <a:t> </a:t>
            </a:r>
            <a:r>
              <a:rPr kumimoji="0" sz="1800" b="0" i="0" u="none" strike="noStrike" kern="1200" cap="none" spc="75" normalizeH="0" baseline="0" noProof="0" dirty="0">
                <a:ln>
                  <a:noFill/>
                </a:ln>
                <a:solidFill>
                  <a:srgbClr val="333639"/>
                </a:solidFill>
                <a:effectLst/>
                <a:uLnTx/>
                <a:uFillTx/>
                <a:latin typeface="Calibri"/>
                <a:ea typeface="+mn-ea"/>
                <a:cs typeface="Calibri"/>
              </a:rPr>
              <a:t>by</a:t>
            </a:r>
            <a:endParaRPr kumimoji="0" sz="1800" b="0" i="0" u="none" strike="noStrike" kern="1200" cap="none" spc="0" normalizeH="0" baseline="0" noProof="0">
              <a:ln>
                <a:noFill/>
              </a:ln>
              <a:solidFill>
                <a:srgbClr val="333639"/>
              </a:solidFill>
              <a:effectLst/>
              <a:uLnTx/>
              <a:uFillTx/>
              <a:latin typeface="Calibri"/>
              <a:ea typeface="+mn-ea"/>
              <a:cs typeface="Calibri"/>
            </a:endParaRPr>
          </a:p>
        </p:txBody>
      </p:sp>
      <p:sp>
        <p:nvSpPr>
          <p:cNvPr id="9" name="object 9"/>
          <p:cNvSpPr/>
          <p:nvPr/>
        </p:nvSpPr>
        <p:spPr>
          <a:xfrm>
            <a:off x="9685019" y="2409444"/>
            <a:ext cx="2104643" cy="902207"/>
          </a:xfrm>
          <a:prstGeom prst="rect">
            <a:avLst/>
          </a:prstGeom>
          <a:blipFill>
            <a:blip r:embed="rId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0" name="object 10"/>
          <p:cNvSpPr/>
          <p:nvPr/>
        </p:nvSpPr>
        <p:spPr>
          <a:xfrm>
            <a:off x="9770364" y="2482595"/>
            <a:ext cx="1933955" cy="755903"/>
          </a:xfrm>
          <a:prstGeom prst="rect">
            <a:avLst/>
          </a:prstGeom>
          <a:blipFill>
            <a:blip r:embed="rId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1" name="object 11"/>
          <p:cNvSpPr/>
          <p:nvPr/>
        </p:nvSpPr>
        <p:spPr>
          <a:xfrm>
            <a:off x="1197863" y="4741164"/>
            <a:ext cx="1652015" cy="393191"/>
          </a:xfrm>
          <a:prstGeom prst="rect">
            <a:avLst/>
          </a:prstGeom>
          <a:blipFill>
            <a:blip r:embed="rId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2" name="object 12"/>
          <p:cNvSpPr/>
          <p:nvPr/>
        </p:nvSpPr>
        <p:spPr>
          <a:xfrm>
            <a:off x="3395471" y="5364479"/>
            <a:ext cx="1615439" cy="460247"/>
          </a:xfrm>
          <a:prstGeom prst="rect">
            <a:avLst/>
          </a:prstGeom>
          <a:blipFill>
            <a:blip r:embed="rId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3" name="object 13"/>
          <p:cNvSpPr/>
          <p:nvPr/>
        </p:nvSpPr>
        <p:spPr>
          <a:xfrm>
            <a:off x="5568696" y="4937759"/>
            <a:ext cx="1295399" cy="550163"/>
          </a:xfrm>
          <a:prstGeom prst="rect">
            <a:avLst/>
          </a:prstGeom>
          <a:blipFill>
            <a:blip r:embed="rId1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4" name="object 14"/>
          <p:cNvSpPr/>
          <p:nvPr/>
        </p:nvSpPr>
        <p:spPr>
          <a:xfrm>
            <a:off x="7975092" y="5384291"/>
            <a:ext cx="1865375" cy="376427"/>
          </a:xfrm>
          <a:prstGeom prst="rect">
            <a:avLst/>
          </a:prstGeom>
          <a:blipFill>
            <a:blip r:embed="rId1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5" name="object 15"/>
          <p:cNvSpPr/>
          <p:nvPr/>
        </p:nvSpPr>
        <p:spPr>
          <a:xfrm>
            <a:off x="8755380" y="4038600"/>
            <a:ext cx="1043939" cy="702563"/>
          </a:xfrm>
          <a:prstGeom prst="rect">
            <a:avLst/>
          </a:prstGeom>
          <a:blipFill>
            <a:blip r:embed="rId1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6" name="object 16"/>
          <p:cNvSpPr/>
          <p:nvPr/>
        </p:nvSpPr>
        <p:spPr>
          <a:xfrm>
            <a:off x="2179320"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7" name="object 17"/>
          <p:cNvSpPr/>
          <p:nvPr/>
        </p:nvSpPr>
        <p:spPr>
          <a:xfrm>
            <a:off x="1478280"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8" name="object 18"/>
          <p:cNvSpPr/>
          <p:nvPr/>
        </p:nvSpPr>
        <p:spPr>
          <a:xfrm>
            <a:off x="1618488"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9" name="object 19"/>
          <p:cNvSpPr/>
          <p:nvPr/>
        </p:nvSpPr>
        <p:spPr>
          <a:xfrm>
            <a:off x="1758695"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0" name="object 20"/>
          <p:cNvSpPr/>
          <p:nvPr/>
        </p:nvSpPr>
        <p:spPr>
          <a:xfrm>
            <a:off x="1898904"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1" name="object 21"/>
          <p:cNvSpPr/>
          <p:nvPr/>
        </p:nvSpPr>
        <p:spPr>
          <a:xfrm>
            <a:off x="2039111"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2" name="object 22"/>
          <p:cNvSpPr/>
          <p:nvPr/>
        </p:nvSpPr>
        <p:spPr>
          <a:xfrm>
            <a:off x="2319527"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3" name="object 23"/>
          <p:cNvSpPr/>
          <p:nvPr/>
        </p:nvSpPr>
        <p:spPr>
          <a:xfrm>
            <a:off x="2459735"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4" name="object 24"/>
          <p:cNvSpPr/>
          <p:nvPr/>
        </p:nvSpPr>
        <p:spPr>
          <a:xfrm>
            <a:off x="2599944"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5" name="object 25"/>
          <p:cNvSpPr/>
          <p:nvPr/>
        </p:nvSpPr>
        <p:spPr>
          <a:xfrm>
            <a:off x="1197863"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6" name="object 26"/>
          <p:cNvSpPr/>
          <p:nvPr/>
        </p:nvSpPr>
        <p:spPr>
          <a:xfrm>
            <a:off x="1338072"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7" name="object 27"/>
          <p:cNvSpPr/>
          <p:nvPr/>
        </p:nvSpPr>
        <p:spPr>
          <a:xfrm>
            <a:off x="4392167" y="5894832"/>
            <a:ext cx="117347" cy="248411"/>
          </a:xfrm>
          <a:prstGeom prst="rect">
            <a:avLst/>
          </a:prstGeom>
          <a:blipFill>
            <a:blip r:embed="rId1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8" name="object 28"/>
          <p:cNvSpPr/>
          <p:nvPr/>
        </p:nvSpPr>
        <p:spPr>
          <a:xfrm>
            <a:off x="39913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9" name="object 29"/>
          <p:cNvSpPr/>
          <p:nvPr/>
        </p:nvSpPr>
        <p:spPr>
          <a:xfrm>
            <a:off x="4125467"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0" name="object 30"/>
          <p:cNvSpPr/>
          <p:nvPr/>
        </p:nvSpPr>
        <p:spPr>
          <a:xfrm>
            <a:off x="42580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1" name="object 31"/>
          <p:cNvSpPr/>
          <p:nvPr/>
        </p:nvSpPr>
        <p:spPr>
          <a:xfrm>
            <a:off x="7243571" y="5628132"/>
            <a:ext cx="128015" cy="307847"/>
          </a:xfrm>
          <a:prstGeom prst="rect">
            <a:avLst/>
          </a:prstGeom>
          <a:blipFill>
            <a:blip r:embed="rId1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2" name="object 32"/>
          <p:cNvSpPr/>
          <p:nvPr/>
        </p:nvSpPr>
        <p:spPr>
          <a:xfrm>
            <a:off x="5597652" y="5628132"/>
            <a:ext cx="128015" cy="307847"/>
          </a:xfrm>
          <a:prstGeom prst="rect">
            <a:avLst/>
          </a:prstGeom>
          <a:blipFill>
            <a:blip r:embed="rId1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3" name="object 33"/>
          <p:cNvSpPr/>
          <p:nvPr/>
        </p:nvSpPr>
        <p:spPr>
          <a:xfrm>
            <a:off x="5448300" y="5628132"/>
            <a:ext cx="128015" cy="30784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4" name="object 34"/>
          <p:cNvSpPr/>
          <p:nvPr/>
        </p:nvSpPr>
        <p:spPr>
          <a:xfrm>
            <a:off x="6495288" y="5628132"/>
            <a:ext cx="128015" cy="307847"/>
          </a:xfrm>
          <a:prstGeom prst="rect">
            <a:avLst/>
          </a:prstGeom>
          <a:blipFill>
            <a:blip r:embed="rId2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5" name="object 35"/>
          <p:cNvSpPr/>
          <p:nvPr/>
        </p:nvSpPr>
        <p:spPr>
          <a:xfrm>
            <a:off x="5747003"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6" name="object 36"/>
          <p:cNvSpPr/>
          <p:nvPr/>
        </p:nvSpPr>
        <p:spPr>
          <a:xfrm>
            <a:off x="589635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7" name="object 37"/>
          <p:cNvSpPr/>
          <p:nvPr/>
        </p:nvSpPr>
        <p:spPr>
          <a:xfrm>
            <a:off x="6045708" y="5628132"/>
            <a:ext cx="129539"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8" name="object 38"/>
          <p:cNvSpPr/>
          <p:nvPr/>
        </p:nvSpPr>
        <p:spPr>
          <a:xfrm>
            <a:off x="6196584"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9" name="object 39"/>
          <p:cNvSpPr/>
          <p:nvPr/>
        </p:nvSpPr>
        <p:spPr>
          <a:xfrm>
            <a:off x="634593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0" name="object 40"/>
          <p:cNvSpPr/>
          <p:nvPr/>
        </p:nvSpPr>
        <p:spPr>
          <a:xfrm>
            <a:off x="6644640"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1" name="object 41"/>
          <p:cNvSpPr/>
          <p:nvPr/>
        </p:nvSpPr>
        <p:spPr>
          <a:xfrm>
            <a:off x="6793992"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2" name="object 42"/>
          <p:cNvSpPr/>
          <p:nvPr/>
        </p:nvSpPr>
        <p:spPr>
          <a:xfrm>
            <a:off x="6944868"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3" name="object 43"/>
          <p:cNvSpPr/>
          <p:nvPr/>
        </p:nvSpPr>
        <p:spPr>
          <a:xfrm>
            <a:off x="7094219"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4" name="object 44"/>
          <p:cNvSpPr/>
          <p:nvPr/>
        </p:nvSpPr>
        <p:spPr>
          <a:xfrm>
            <a:off x="8036052"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5" name="object 45"/>
          <p:cNvSpPr/>
          <p:nvPr/>
        </p:nvSpPr>
        <p:spPr>
          <a:xfrm>
            <a:off x="818388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6" name="object 46"/>
          <p:cNvSpPr/>
          <p:nvPr/>
        </p:nvSpPr>
        <p:spPr>
          <a:xfrm>
            <a:off x="8333231" y="5807964"/>
            <a:ext cx="129538"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7" name="object 47"/>
          <p:cNvSpPr/>
          <p:nvPr/>
        </p:nvSpPr>
        <p:spPr>
          <a:xfrm>
            <a:off x="848106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8" name="object 48"/>
          <p:cNvSpPr/>
          <p:nvPr/>
        </p:nvSpPr>
        <p:spPr>
          <a:xfrm>
            <a:off x="8625840" y="5807964"/>
            <a:ext cx="129539" cy="315467"/>
          </a:xfrm>
          <a:prstGeom prst="rect">
            <a:avLst/>
          </a:prstGeom>
          <a:blipFill>
            <a:blip r:embed="rId2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9" name="object 49"/>
          <p:cNvSpPr/>
          <p:nvPr/>
        </p:nvSpPr>
        <p:spPr>
          <a:xfrm>
            <a:off x="9913619" y="4408932"/>
            <a:ext cx="149350"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0" name="object 50"/>
          <p:cNvSpPr/>
          <p:nvPr/>
        </p:nvSpPr>
        <p:spPr>
          <a:xfrm>
            <a:off x="10082783" y="4408932"/>
            <a:ext cx="150875"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1" name="object 51"/>
          <p:cNvSpPr txBox="1">
            <a:spLocks noGrp="1"/>
          </p:cNvSpPr>
          <p:nvPr>
            <p:ph type="title"/>
          </p:nvPr>
        </p:nvSpPr>
        <p:spPr>
          <a:xfrm>
            <a:off x="166855" y="192069"/>
            <a:ext cx="4024629" cy="635000"/>
          </a:xfrm>
          <a:prstGeom prst="rect">
            <a:avLst/>
          </a:prstGeom>
        </p:spPr>
        <p:txBody>
          <a:bodyPr vert="horz" wrap="square" lIns="0" tIns="12065" rIns="0" bIns="0" rtlCol="0">
            <a:spAutoFit/>
          </a:bodyPr>
          <a:lstStyle/>
          <a:p>
            <a:pPr marL="12700">
              <a:lnSpc>
                <a:spcPct val="100000"/>
              </a:lnSpc>
              <a:spcBef>
                <a:spcPts val="95"/>
              </a:spcBef>
            </a:pPr>
            <a:r>
              <a:rPr sz="4000" b="1" spc="35" dirty="0">
                <a:solidFill>
                  <a:srgbClr val="333639"/>
                </a:solidFill>
                <a:latin typeface="Trebuchet MS"/>
                <a:cs typeface="Trebuchet MS"/>
              </a:rPr>
              <a:t>VSC</a:t>
            </a:r>
            <a:r>
              <a:rPr sz="4000" b="1" spc="-50" dirty="0">
                <a:solidFill>
                  <a:srgbClr val="333639"/>
                </a:solidFill>
                <a:latin typeface="Trebuchet MS"/>
                <a:cs typeface="Trebuchet MS"/>
              </a:rPr>
              <a:t> </a:t>
            </a:r>
            <a:r>
              <a:rPr sz="4000" spc="45" dirty="0">
                <a:solidFill>
                  <a:srgbClr val="333639"/>
                </a:solidFill>
              </a:rPr>
              <a:t>PARTNERSHIP</a:t>
            </a:r>
            <a:endParaRPr sz="4000" dirty="0">
              <a:latin typeface="Trebuchet MS"/>
              <a:cs typeface="Trebuchet MS"/>
            </a:endParaRPr>
          </a:p>
        </p:txBody>
      </p:sp>
      <p:sp>
        <p:nvSpPr>
          <p:cNvPr id="52" name="object 52"/>
          <p:cNvSpPr txBox="1"/>
          <p:nvPr/>
        </p:nvSpPr>
        <p:spPr>
          <a:xfrm>
            <a:off x="742120" y="2310154"/>
            <a:ext cx="1465448"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35" normalizeH="0" baseline="0" noProof="0" dirty="0">
                <a:ln>
                  <a:noFill/>
                </a:ln>
                <a:solidFill>
                  <a:srgbClr val="FFFFFF"/>
                </a:solidFill>
                <a:effectLst/>
                <a:uLnTx/>
                <a:uFillTx/>
                <a:latin typeface="Calibri"/>
                <a:ea typeface="+mn-ea"/>
                <a:cs typeface="Calibri"/>
              </a:rPr>
              <a:t>e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kumimoji="0" lang="en-US" sz="1100" b="0" i="0" u="none" strike="noStrike" kern="1200" cap="none" spc="30" normalizeH="0" baseline="0" noProof="0" dirty="0">
                <a:ln>
                  <a:noFill/>
                </a:ln>
                <a:solidFill>
                  <a:srgbClr val="FFFFFF"/>
                </a:solidFill>
                <a:effectLst/>
                <a:uLnTx/>
                <a:uFillTx/>
                <a:latin typeface="Calibri"/>
                <a:ea typeface="+mn-ea"/>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4" name="object 54"/>
          <p:cNvSpPr txBox="1"/>
          <p:nvPr/>
        </p:nvSpPr>
        <p:spPr>
          <a:xfrm>
            <a:off x="2927648" y="2094130"/>
            <a:ext cx="1422445"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15" normalizeH="0" baseline="0" noProof="0" dirty="0">
                <a:ln>
                  <a:noFill/>
                </a:ln>
                <a:solidFill>
                  <a:srgbClr val="FFFFFF"/>
                </a:solidFill>
                <a:effectLst/>
                <a:uLnTx/>
                <a:uFillTx/>
                <a:latin typeface="Calibri"/>
                <a:ea typeface="+mn-ea"/>
                <a:cs typeface="Calibri"/>
              </a:rPr>
              <a:t>O o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lang="en-US" sz="1100" spc="30" dirty="0">
                <a:solidFill>
                  <a:srgbClr val="FFFFFF"/>
                </a:solidFill>
                <a:latin typeface="Calibri"/>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6" name="object 56"/>
          <p:cNvSpPr txBox="1"/>
          <p:nvPr/>
        </p:nvSpPr>
        <p:spPr>
          <a:xfrm>
            <a:off x="5316058" y="1374520"/>
            <a:ext cx="978535"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n </a:t>
            </a:r>
            <a:r>
              <a:rPr kumimoji="0" sz="1100" b="0" i="0" u="none" strike="noStrike" kern="1200" cap="none" spc="30" normalizeH="0" baseline="0" noProof="0" dirty="0">
                <a:ln>
                  <a:noFill/>
                </a:ln>
                <a:solidFill>
                  <a:srgbClr val="FFFFFF"/>
                </a:solidFill>
                <a:effectLst/>
                <a:uLnTx/>
                <a:uFillTx/>
                <a:latin typeface="Calibri"/>
                <a:ea typeface="+mn-ea"/>
                <a:cs typeface="Calibri"/>
              </a:rPr>
              <a:t>t </a:t>
            </a: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10" normalizeH="0" baseline="0" noProof="0" dirty="0">
                <a:ln>
                  <a:noFill/>
                </a:ln>
                <a:solidFill>
                  <a:srgbClr val="FFFFFF"/>
                </a:solidFill>
                <a:effectLst/>
                <a:uLnTx/>
                <a:uFillTx/>
                <a:latin typeface="Calibri"/>
                <a:ea typeface="+mn-ea"/>
                <a:cs typeface="Calibri"/>
              </a:rPr>
              <a:t>e </a:t>
            </a:r>
            <a:r>
              <a:rPr kumimoji="0" sz="1100" b="0" i="0" u="none" strike="noStrike" kern="1200" cap="none" spc="20" normalizeH="0" baseline="0" noProof="0" dirty="0">
                <a:ln>
                  <a:noFill/>
                </a:ln>
                <a:solidFill>
                  <a:srgbClr val="FFFFFF"/>
                </a:solidFill>
                <a:effectLst/>
                <a:uLnTx/>
                <a:uFillTx/>
                <a:latin typeface="Calibri"/>
                <a:ea typeface="+mn-ea"/>
                <a:cs typeface="Calibri"/>
              </a:rPr>
              <a:t>r p </a:t>
            </a:r>
            <a:r>
              <a:rPr kumimoji="0" sz="1100" b="0" i="0" u="none" strike="noStrike" kern="1200" cap="none" spc="-35" normalizeH="0" baseline="0" noProof="0" dirty="0">
                <a:ln>
                  <a:noFill/>
                </a:ln>
                <a:solidFill>
                  <a:srgbClr val="FFFFFF"/>
                </a:solidFill>
                <a:effectLst/>
                <a:uLnTx/>
                <a:uFillTx/>
                <a:latin typeface="Calibri"/>
                <a:ea typeface="+mn-ea"/>
                <a:cs typeface="Calibri"/>
              </a:rPr>
              <a:t>e</a:t>
            </a:r>
            <a:r>
              <a:rPr kumimoji="0" sz="1100" b="0" i="0" u="none" strike="noStrike" kern="1200" cap="none" spc="25" normalizeH="0" baseline="0" noProof="0" dirty="0">
                <a:ln>
                  <a:noFill/>
                </a:ln>
                <a:solidFill>
                  <a:srgbClr val="FFFFFF"/>
                </a:solidFill>
                <a:effectLst/>
                <a:uLnTx/>
                <a:uFillTx/>
                <a:latin typeface="Calibri"/>
                <a:ea typeface="+mn-ea"/>
                <a:cs typeface="Calibri"/>
              </a:rPr>
              <a:t> n</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57" name="object 57"/>
          <p:cNvSpPr txBox="1"/>
          <p:nvPr/>
        </p:nvSpPr>
        <p:spPr>
          <a:xfrm>
            <a:off x="7464152" y="2276872"/>
            <a:ext cx="74549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60" normalizeH="0" baseline="0" noProof="0" dirty="0">
                <a:ln>
                  <a:noFill/>
                </a:ln>
                <a:solidFill>
                  <a:srgbClr val="FFFFFF"/>
                </a:solidFill>
                <a:effectLst/>
                <a:uLnTx/>
                <a:uFillTx/>
                <a:latin typeface="Calibri"/>
                <a:ea typeface="+mn-ea"/>
                <a:cs typeface="Calibri"/>
              </a:rPr>
              <a:t>L </a:t>
            </a:r>
            <a:r>
              <a:rPr kumimoji="0" sz="1100" b="0" i="0" u="none" strike="noStrike" kern="1200" cap="none" spc="35" normalizeH="0" baseline="0" noProof="0" dirty="0">
                <a:ln>
                  <a:noFill/>
                </a:ln>
                <a:solidFill>
                  <a:srgbClr val="FFFFFF"/>
                </a:solidFill>
                <a:effectLst/>
                <a:uLnTx/>
                <a:uFillTx/>
                <a:latin typeface="Calibri"/>
                <a:ea typeface="+mn-ea"/>
                <a:cs typeface="Calibri"/>
              </a:rPr>
              <a:t>i </a:t>
            </a:r>
            <a:r>
              <a:rPr kumimoji="0" sz="1100" b="0" i="0" u="none" strike="noStrike" kern="1200" cap="none" spc="6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b </a:t>
            </a:r>
            <a:r>
              <a:rPr kumimoji="0" sz="1100" b="0" i="0" u="none" strike="noStrike" kern="1200" cap="none" spc="25" normalizeH="0" baseline="0" noProof="0" dirty="0">
                <a:ln>
                  <a:noFill/>
                </a:ln>
                <a:solidFill>
                  <a:srgbClr val="FFFFFF"/>
                </a:solidFill>
                <a:effectLst/>
                <a:uLnTx/>
                <a:uFillTx/>
                <a:latin typeface="Calibri"/>
                <a:ea typeface="+mn-ea"/>
                <a:cs typeface="Calibri"/>
              </a:rPr>
              <a:t>u </a:t>
            </a:r>
            <a:r>
              <a:rPr kumimoji="0" sz="1100" b="0" i="0" u="none" strike="noStrike" kern="1200" cap="none" spc="20" normalizeH="0" baseline="0" noProof="0" dirty="0">
                <a:ln>
                  <a:noFill/>
                </a:ln>
                <a:solidFill>
                  <a:srgbClr val="FFFFFF"/>
                </a:solidFill>
                <a:effectLst/>
                <a:uLnTx/>
                <a:uFillTx/>
                <a:latin typeface="Calibri"/>
                <a:ea typeface="+mn-ea"/>
                <a:cs typeface="Calibri"/>
              </a:rPr>
              <a:t>r</a:t>
            </a:r>
            <a:r>
              <a:rPr kumimoji="0" sz="1100" b="0" i="0" u="none" strike="noStrike" kern="1200" cap="none" spc="-30" normalizeH="0" baseline="0" noProof="0" dirty="0">
                <a:ln>
                  <a:noFill/>
                </a:ln>
                <a:solidFill>
                  <a:srgbClr val="FFFFFF"/>
                </a:solidFill>
                <a:effectLst/>
                <a:uLnTx/>
                <a:uFillTx/>
                <a:latin typeface="Calibri"/>
                <a:ea typeface="+mn-ea"/>
                <a:cs typeface="Calibri"/>
              </a:rPr>
              <a:t> </a:t>
            </a:r>
            <a:r>
              <a:rPr kumimoji="0" sz="1100" b="0" i="0" u="none" strike="noStrike" kern="1200" cap="none" spc="35" normalizeH="0" baseline="0" noProof="0" dirty="0">
                <a:ln>
                  <a:noFill/>
                </a:ln>
                <a:solidFill>
                  <a:srgbClr val="FFFFFF"/>
                </a:solidFill>
                <a:effectLst/>
                <a:uLnTx/>
                <a:uFillTx/>
                <a:latin typeface="Calibri"/>
                <a:ea typeface="+mn-ea"/>
                <a:cs typeface="Calibri"/>
              </a:rPr>
              <a:t>g</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8" name="object 58"/>
          <p:cNvSpPr txBox="1"/>
          <p:nvPr/>
        </p:nvSpPr>
        <p:spPr>
          <a:xfrm>
            <a:off x="4949215" y="3626693"/>
            <a:ext cx="629920" cy="16256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900" b="0" i="0" u="none" strike="noStrike" kern="1200" cap="none" spc="-5" normalizeH="0" baseline="0" noProof="0" dirty="0">
                <a:ln>
                  <a:noFill/>
                </a:ln>
                <a:solidFill>
                  <a:srgbClr val="FFFFFF"/>
                </a:solidFill>
                <a:effectLst/>
                <a:uLnTx/>
                <a:uFillTx/>
                <a:latin typeface="Calibri"/>
                <a:ea typeface="+mn-ea"/>
                <a:cs typeface="Calibri"/>
              </a:rPr>
              <a:t>B </a:t>
            </a:r>
            <a:r>
              <a:rPr kumimoji="0" sz="900" b="0" i="0" u="none" strike="noStrike" kern="1200" cap="none" spc="15" normalizeH="0" baseline="0" noProof="0" dirty="0">
                <a:ln>
                  <a:noFill/>
                </a:ln>
                <a:solidFill>
                  <a:srgbClr val="FFFFFF"/>
                </a:solidFill>
                <a:effectLst/>
                <a:uLnTx/>
                <a:uFillTx/>
                <a:latin typeface="Calibri"/>
                <a:ea typeface="+mn-ea"/>
                <a:cs typeface="Calibri"/>
              </a:rPr>
              <a:t>r </a:t>
            </a:r>
            <a:r>
              <a:rPr kumimoji="0" sz="900" b="0" i="0" u="none" strike="noStrike" kern="1200" cap="none" spc="110" normalizeH="0" baseline="0" noProof="0" dirty="0">
                <a:ln>
                  <a:noFill/>
                </a:ln>
                <a:solidFill>
                  <a:srgbClr val="FFFFFF"/>
                </a:solidFill>
                <a:effectLst/>
                <a:uLnTx/>
                <a:uFillTx/>
                <a:latin typeface="Calibri"/>
                <a:ea typeface="+mn-ea"/>
                <a:cs typeface="Calibri"/>
              </a:rPr>
              <a:t>u </a:t>
            </a:r>
            <a:r>
              <a:rPr kumimoji="0" sz="900" b="0" i="0" u="none" strike="noStrike" kern="1200" cap="none" spc="10" normalizeH="0" baseline="0" noProof="0" dirty="0">
                <a:ln>
                  <a:noFill/>
                </a:ln>
                <a:solidFill>
                  <a:srgbClr val="FFFFFF"/>
                </a:solidFill>
                <a:effectLst/>
                <a:uLnTx/>
                <a:uFillTx/>
                <a:latin typeface="Calibri"/>
                <a:ea typeface="+mn-ea"/>
                <a:cs typeface="Calibri"/>
              </a:rPr>
              <a:t>s </a:t>
            </a:r>
            <a:r>
              <a:rPr kumimoji="0" sz="900" b="0" i="0" u="none" strike="noStrike" kern="1200" cap="none" spc="5" normalizeH="0" baseline="0" noProof="0" dirty="0">
                <a:ln>
                  <a:noFill/>
                </a:ln>
                <a:solidFill>
                  <a:srgbClr val="FFFFFF"/>
                </a:solidFill>
                <a:effectLst/>
                <a:uLnTx/>
                <a:uFillTx/>
                <a:latin typeface="Calibri"/>
                <a:ea typeface="+mn-ea"/>
                <a:cs typeface="Calibri"/>
              </a:rPr>
              <a:t>s </a:t>
            </a:r>
            <a:r>
              <a:rPr kumimoji="0" sz="900" b="0" i="0" u="none" strike="noStrike" kern="1200" cap="none" spc="75" normalizeH="0" baseline="0" noProof="0" dirty="0">
                <a:ln>
                  <a:noFill/>
                </a:ln>
                <a:solidFill>
                  <a:srgbClr val="FFFFFF"/>
                </a:solidFill>
                <a:effectLst/>
                <a:uLnTx/>
                <a:uFillTx/>
                <a:latin typeface="Calibri"/>
                <a:ea typeface="+mn-ea"/>
                <a:cs typeface="Calibri"/>
              </a:rPr>
              <a:t>e</a:t>
            </a:r>
            <a:r>
              <a:rPr kumimoji="0" sz="900" b="0" i="0" u="none" strike="noStrike" kern="1200" cap="none" spc="175" normalizeH="0" baseline="0" noProof="0" dirty="0">
                <a:ln>
                  <a:noFill/>
                </a:ln>
                <a:solidFill>
                  <a:srgbClr val="FFFFFF"/>
                </a:solidFill>
                <a:effectLst/>
                <a:uLnTx/>
                <a:uFillTx/>
                <a:latin typeface="Calibri"/>
                <a:ea typeface="+mn-ea"/>
                <a:cs typeface="Calibri"/>
              </a:rPr>
              <a:t> </a:t>
            </a:r>
            <a:r>
              <a:rPr kumimoji="0" sz="900" b="0" i="0" u="none" strike="noStrike" kern="1200" cap="none" spc="-10" normalizeH="0" baseline="0" noProof="0" dirty="0">
                <a:ln>
                  <a:noFill/>
                </a:ln>
                <a:solidFill>
                  <a:srgbClr val="FFFFFF"/>
                </a:solidFill>
                <a:effectLst/>
                <a:uLnTx/>
                <a:uFillTx/>
                <a:latin typeface="Calibri"/>
                <a:ea typeface="+mn-ea"/>
                <a:cs typeface="Calibri"/>
              </a:rPr>
              <a:t>l</a:t>
            </a:r>
            <a:r>
              <a:rPr kumimoji="0" sz="900" b="0" i="0" u="none" strike="noStrike" kern="1200" cap="none" spc="95" normalizeH="0" baseline="0" noProof="0" dirty="0">
                <a:ln>
                  <a:noFill/>
                </a:ln>
                <a:solidFill>
                  <a:srgbClr val="FFFFFF"/>
                </a:solidFill>
                <a:effectLst/>
                <a:uLnTx/>
                <a:uFillTx/>
                <a:latin typeface="Calibri"/>
                <a:ea typeface="+mn-ea"/>
                <a:cs typeface="Calibri"/>
              </a:rPr>
              <a:t> </a:t>
            </a:r>
            <a:endParaRPr kumimoji="0" sz="900" b="0" i="0" u="none" strike="noStrike" kern="1200" cap="none" spc="0" normalizeH="0" baseline="0" noProof="0">
              <a:ln>
                <a:noFill/>
              </a:ln>
              <a:solidFill>
                <a:srgbClr val="333639"/>
              </a:solidFill>
              <a:effectLst/>
              <a:uLnTx/>
              <a:uFillTx/>
              <a:latin typeface="Calibri"/>
              <a:ea typeface="+mn-ea"/>
              <a:cs typeface="Calibri"/>
            </a:endParaRPr>
          </a:p>
        </p:txBody>
      </p:sp>
      <p:sp>
        <p:nvSpPr>
          <p:cNvPr id="5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a:t>
            </a:fld>
            <a:endParaRPr lang="nl-BE" sz="900" dirty="0">
              <a:solidFill>
                <a:schemeClr val="bg1"/>
              </a:solidFill>
            </a:endParaRPr>
          </a:p>
        </p:txBody>
      </p:sp>
    </p:spTree>
    <p:extLst>
      <p:ext uri="{BB962C8B-B14F-4D97-AF65-F5344CB8AC3E}">
        <p14:creationId xmlns:p14="http://schemas.microsoft.com/office/powerpoint/2010/main" val="10858587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8</a:t>
            </a:fld>
            <a:endParaRPr lang="nl-BE"/>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1271465" y="1082865"/>
            <a:ext cx="9059688" cy="4801578"/>
          </a:xfrm>
          <a:prstGeom prst="rect">
            <a:avLst/>
          </a:prstGeom>
        </p:spPr>
      </p:pic>
      <p:sp>
        <p:nvSpPr>
          <p:cNvPr id="6" name="Rounded Rectangular Callout 5"/>
          <p:cNvSpPr/>
          <p:nvPr/>
        </p:nvSpPr>
        <p:spPr>
          <a:xfrm>
            <a:off x="3522078" y="297423"/>
            <a:ext cx="2635991" cy="695028"/>
          </a:xfrm>
          <a:prstGeom prst="wedgeRoundRectCallout">
            <a:avLst>
              <a:gd name="adj1" fmla="val 72121"/>
              <a:gd name="adj2" fmla="val 15872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Extensive set of courses every academic year</a:t>
            </a:r>
            <a:endParaRPr lang="nl-BE" sz="1600" dirty="0"/>
          </a:p>
        </p:txBody>
      </p:sp>
      <p:sp>
        <p:nvSpPr>
          <p:cNvPr id="7" name="Rounded Rectangular Callout 6"/>
          <p:cNvSpPr/>
          <p:nvPr/>
        </p:nvSpPr>
        <p:spPr>
          <a:xfrm>
            <a:off x="6384032" y="302527"/>
            <a:ext cx="5400600" cy="695028"/>
          </a:xfrm>
          <a:prstGeom prst="wedgeRoundRectCallout">
            <a:avLst>
              <a:gd name="adj1" fmla="val -22892"/>
              <a:gd name="adj2" fmla="val 17926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Links to the VSC </a:t>
            </a:r>
            <a:r>
              <a:rPr lang="en-US" sz="1600" b="1" dirty="0"/>
              <a:t>account page</a:t>
            </a:r>
            <a:r>
              <a:rPr lang="en-US" sz="1600" dirty="0"/>
              <a:t> and the VSC </a:t>
            </a:r>
            <a:r>
              <a:rPr lang="en-US" sz="1600" b="1" dirty="0"/>
              <a:t>documentation</a:t>
            </a:r>
            <a:br>
              <a:rPr lang="en-US" sz="1600" dirty="0"/>
            </a:br>
            <a:r>
              <a:rPr lang="en-US" sz="1600" dirty="0"/>
              <a:t>(answers &gt;80% of your questions!)</a:t>
            </a:r>
            <a:endParaRPr lang="nl-BE" sz="1600" dirty="0"/>
          </a:p>
        </p:txBody>
      </p:sp>
      <p:sp>
        <p:nvSpPr>
          <p:cNvPr id="10" name="Rounded Rectangular Callout 9"/>
          <p:cNvSpPr/>
          <p:nvPr/>
        </p:nvSpPr>
        <p:spPr>
          <a:xfrm>
            <a:off x="191344" y="298003"/>
            <a:ext cx="3096344" cy="699552"/>
          </a:xfrm>
          <a:prstGeom prst="wedgeRoundRectCallout">
            <a:avLst>
              <a:gd name="adj1" fmla="val -24116"/>
              <a:gd name="adj2" fmla="val 4431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t>Visit </a:t>
            </a:r>
            <a:r>
              <a:rPr lang="en-US" sz="2000" b="1" dirty="0">
                <a:hlinkClick r:id="rId4"/>
              </a:rPr>
              <a:t>https://vscentrum.be</a:t>
            </a:r>
            <a:endParaRPr lang="nl-BE" sz="2000" b="1" dirty="0"/>
          </a:p>
        </p:txBody>
      </p:sp>
    </p:spTree>
    <p:extLst>
      <p:ext uri="{BB962C8B-B14F-4D97-AF65-F5344CB8AC3E}">
        <p14:creationId xmlns:p14="http://schemas.microsoft.com/office/powerpoint/2010/main" val="1408188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08787A-BC50-7621-B508-C18B0B052BEA}"/>
              </a:ext>
            </a:extLst>
          </p:cNvPr>
          <p:cNvPicPr>
            <a:picLocks noChangeAspect="1"/>
          </p:cNvPicPr>
          <p:nvPr/>
        </p:nvPicPr>
        <p:blipFill>
          <a:blip r:embed="rId2"/>
          <a:stretch>
            <a:fillRect/>
          </a:stretch>
        </p:blipFill>
        <p:spPr>
          <a:xfrm>
            <a:off x="1343472" y="166328"/>
            <a:ext cx="9703090" cy="6116801"/>
          </a:xfrm>
          <a:prstGeom prst="rect">
            <a:avLst/>
          </a:prstGeom>
        </p:spPr>
      </p:pic>
      <p:sp>
        <p:nvSpPr>
          <p:cNvPr id="4"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9</a:t>
            </a:fld>
            <a:endParaRPr lang="nl-BE" sz="900" dirty="0">
              <a:solidFill>
                <a:schemeClr val="bg1"/>
              </a:solidFill>
            </a:endParaRPr>
          </a:p>
        </p:txBody>
      </p:sp>
    </p:spTree>
    <p:extLst>
      <p:ext uri="{BB962C8B-B14F-4D97-AF65-F5344CB8AC3E}">
        <p14:creationId xmlns:p14="http://schemas.microsoft.com/office/powerpoint/2010/main" val="150674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10</a:t>
            </a:fld>
            <a:endParaRPr lang="nl-BE"/>
          </a:p>
        </p:txBody>
      </p:sp>
      <p:pic>
        <p:nvPicPr>
          <p:cNvPr id="7" name="Picture 6" descr="A screenshot of a computer&#10;&#10;Description automatically generated">
            <a:extLst>
              <a:ext uri="{FF2B5EF4-FFF2-40B4-BE49-F238E27FC236}">
                <a16:creationId xmlns:a16="http://schemas.microsoft.com/office/drawing/2014/main" id="{77F4BE9A-FE46-6376-3E84-D0E869E52E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5812" y="802761"/>
            <a:ext cx="9480376" cy="5036450"/>
          </a:xfrm>
          <a:prstGeom prst="rect">
            <a:avLst/>
          </a:prstGeom>
        </p:spPr>
      </p:pic>
      <p:grpSp>
        <p:nvGrpSpPr>
          <p:cNvPr id="5" name="Group 4"/>
          <p:cNvGrpSpPr/>
          <p:nvPr/>
        </p:nvGrpSpPr>
        <p:grpSpPr>
          <a:xfrm>
            <a:off x="9480376" y="2060847"/>
            <a:ext cx="1872208" cy="1620180"/>
            <a:chOff x="10331380" y="3313788"/>
            <a:chExt cx="1616907" cy="1166530"/>
          </a:xfrm>
        </p:grpSpPr>
        <p:cxnSp>
          <p:nvCxnSpPr>
            <p:cNvPr id="6" name="Straight Arrow Connector 5"/>
            <p:cNvCxnSpPr>
              <a:cxnSpLocks/>
              <a:stCxn id="4" idx="0"/>
            </p:cNvCxnSpPr>
            <p:nvPr/>
          </p:nvCxnSpPr>
          <p:spPr>
            <a:xfrm flipH="1" flipV="1">
              <a:off x="10331380" y="3313788"/>
              <a:ext cx="932831" cy="518458"/>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p:cNvSpPr/>
            <p:nvPr/>
          </p:nvSpPr>
          <p:spPr>
            <a:xfrm>
              <a:off x="10580135" y="3832246"/>
              <a:ext cx="1368152" cy="648072"/>
            </a:xfrm>
            <a:prstGeom prst="rect">
              <a:avLst/>
            </a:prstGeom>
            <a:solidFill>
              <a:schemeClr val="accent1"/>
            </a:solid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en-US" sz="1400" dirty="0">
                  <a:solidFill>
                    <a:schemeClr val="bg1"/>
                  </a:solidFill>
                </a:rPr>
                <a:t>Enter your keywords here; e.g. ‘</a:t>
              </a:r>
              <a:r>
                <a:rPr lang="en-US" sz="1400" dirty="0" err="1">
                  <a:solidFill>
                    <a:schemeClr val="bg1"/>
                  </a:solidFill>
                </a:rPr>
                <a:t>Ondemand</a:t>
              </a:r>
              <a:r>
                <a:rPr lang="en-US" sz="1400" dirty="0">
                  <a:solidFill>
                    <a:schemeClr val="bg1"/>
                  </a:solidFill>
                </a:rPr>
                <a:t>’</a:t>
              </a:r>
              <a:endParaRPr lang="nl-BE" sz="1400" dirty="0">
                <a:solidFill>
                  <a:schemeClr val="bg1"/>
                </a:solidFill>
              </a:endParaRPr>
            </a:p>
          </p:txBody>
        </p:sp>
      </p:grpSp>
      <p:sp>
        <p:nvSpPr>
          <p:cNvPr id="11" name="Rounded Rectangular Callout 9">
            <a:extLst>
              <a:ext uri="{FF2B5EF4-FFF2-40B4-BE49-F238E27FC236}">
                <a16:creationId xmlns:a16="http://schemas.microsoft.com/office/drawing/2014/main" id="{2825AE81-F738-19EF-BE0D-AD084CC2686C}"/>
              </a:ext>
            </a:extLst>
          </p:cNvPr>
          <p:cNvSpPr/>
          <p:nvPr/>
        </p:nvSpPr>
        <p:spPr>
          <a:xfrm>
            <a:off x="1559496" y="194786"/>
            <a:ext cx="3312368" cy="416379"/>
          </a:xfrm>
          <a:prstGeom prst="wedgeRoundRectCallout">
            <a:avLst>
              <a:gd name="adj1" fmla="val 11879"/>
              <a:gd name="adj2" fmla="val 20574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hlinkClick r:id="rId4"/>
              </a:rPr>
              <a:t>https://docs.vscentrum.be</a:t>
            </a:r>
            <a:endParaRPr lang="nl-BE" sz="2000" b="1" dirty="0"/>
          </a:p>
        </p:txBody>
      </p:sp>
    </p:spTree>
    <p:extLst>
      <p:ext uri="{BB962C8B-B14F-4D97-AF65-F5344CB8AC3E}">
        <p14:creationId xmlns:p14="http://schemas.microsoft.com/office/powerpoint/2010/main" val="41342205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11</a:t>
            </a:fld>
            <a:endParaRPr lang="nl-BE"/>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7609" y="1556793"/>
            <a:ext cx="6950023" cy="4214853"/>
          </a:xfrm>
          <a:prstGeom prst="rect">
            <a:avLst/>
          </a:prstGeom>
        </p:spPr>
      </p:pic>
      <p:grpSp>
        <p:nvGrpSpPr>
          <p:cNvPr id="19" name="Group 18"/>
          <p:cNvGrpSpPr/>
          <p:nvPr/>
        </p:nvGrpSpPr>
        <p:grpSpPr>
          <a:xfrm>
            <a:off x="479376" y="332656"/>
            <a:ext cx="5112568" cy="1872208"/>
            <a:chOff x="-1044624" y="332656"/>
            <a:chExt cx="5112568" cy="1872208"/>
          </a:xfrm>
        </p:grpSpPr>
        <p:sp>
          <p:nvSpPr>
            <p:cNvPr id="4" name="Rounded Rectangle 3"/>
            <p:cNvSpPr/>
            <p:nvPr/>
          </p:nvSpPr>
          <p:spPr>
            <a:xfrm>
              <a:off x="-1044624" y="332656"/>
              <a:ext cx="4176464" cy="936103"/>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Manage your VSC account at</a:t>
              </a:r>
              <a:br>
                <a:rPr lang="en-US" sz="2000" dirty="0"/>
              </a:br>
              <a:r>
                <a:rPr lang="en-US" sz="2000" b="1" dirty="0">
                  <a:solidFill>
                    <a:schemeClr val="bg2"/>
                  </a:solidFill>
                  <a:hlinkClick r:id="rId3"/>
                </a:rPr>
                <a:t>https://account.vscentrum.be</a:t>
              </a:r>
              <a:endParaRPr lang="nl-BE" sz="2000" b="1" dirty="0">
                <a:solidFill>
                  <a:schemeClr val="bg2"/>
                </a:solidFill>
              </a:endParaRPr>
            </a:p>
          </p:txBody>
        </p:sp>
        <p:sp>
          <p:nvSpPr>
            <p:cNvPr id="5" name="Oval 4"/>
            <p:cNvSpPr/>
            <p:nvPr/>
          </p:nvSpPr>
          <p:spPr>
            <a:xfrm>
              <a:off x="1979712" y="1844824"/>
              <a:ext cx="2088232" cy="360040"/>
            </a:xfrm>
            <a:prstGeom prst="ellipse">
              <a:avLst/>
            </a:prstGeom>
            <a:noFill/>
            <a:ln w="381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nl-BE"/>
            </a:p>
          </p:txBody>
        </p:sp>
        <p:cxnSp>
          <p:nvCxnSpPr>
            <p:cNvPr id="7" name="Straight Connector 6"/>
            <p:cNvCxnSpPr>
              <a:cxnSpLocks/>
              <a:stCxn id="4" idx="2"/>
              <a:endCxn id="5" idx="0"/>
            </p:cNvCxnSpPr>
            <p:nvPr/>
          </p:nvCxnSpPr>
          <p:spPr>
            <a:xfrm>
              <a:off x="1043608" y="1268759"/>
              <a:ext cx="1980220" cy="576065"/>
            </a:xfrm>
            <a:prstGeom prst="line">
              <a:avLst/>
            </a:prstGeom>
          </p:spPr>
          <p:style>
            <a:lnRef idx="1">
              <a:schemeClr val="accent4"/>
            </a:lnRef>
            <a:fillRef idx="0">
              <a:schemeClr val="accent4"/>
            </a:fillRef>
            <a:effectRef idx="0">
              <a:schemeClr val="accent4"/>
            </a:effectRef>
            <a:fontRef idx="minor">
              <a:schemeClr val="tx1"/>
            </a:fontRef>
          </p:style>
        </p:cxnSp>
      </p:grpSp>
      <p:grpSp>
        <p:nvGrpSpPr>
          <p:cNvPr id="20" name="Group 19"/>
          <p:cNvGrpSpPr/>
          <p:nvPr/>
        </p:nvGrpSpPr>
        <p:grpSpPr>
          <a:xfrm>
            <a:off x="4151784" y="2321172"/>
            <a:ext cx="1944216" cy="963812"/>
            <a:chOff x="2627784" y="2321172"/>
            <a:chExt cx="1944216" cy="963812"/>
          </a:xfrm>
        </p:grpSpPr>
        <p:sp>
          <p:nvSpPr>
            <p:cNvPr id="8" name="Line Callout 1 7"/>
            <p:cNvSpPr/>
            <p:nvPr/>
          </p:nvSpPr>
          <p:spPr>
            <a:xfrm>
              <a:off x="2843808" y="2321172"/>
              <a:ext cx="1728192" cy="576064"/>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Add/remove your public keys</a:t>
              </a:r>
              <a:endParaRPr lang="nl-BE" sz="1600" dirty="0"/>
            </a:p>
          </p:txBody>
        </p:sp>
        <p:cxnSp>
          <p:nvCxnSpPr>
            <p:cNvPr id="10" name="Straight Arrow Connector 9"/>
            <p:cNvCxnSpPr/>
            <p:nvPr/>
          </p:nvCxnSpPr>
          <p:spPr>
            <a:xfrm flipH="1">
              <a:off x="2627784" y="2852936"/>
              <a:ext cx="216024" cy="432048"/>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1" name="Group 20"/>
          <p:cNvGrpSpPr/>
          <p:nvPr/>
        </p:nvGrpSpPr>
        <p:grpSpPr>
          <a:xfrm>
            <a:off x="4367808" y="3573016"/>
            <a:ext cx="1656184" cy="1224136"/>
            <a:chOff x="2843808" y="3573016"/>
            <a:chExt cx="1656184" cy="1224136"/>
          </a:xfrm>
        </p:grpSpPr>
        <p:sp>
          <p:nvSpPr>
            <p:cNvPr id="12" name="Line Callout 1 11"/>
            <p:cNvSpPr/>
            <p:nvPr/>
          </p:nvSpPr>
          <p:spPr>
            <a:xfrm>
              <a:off x="2843808" y="3933056"/>
              <a:ext cx="1656184" cy="864096"/>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Create or request to join a new group</a:t>
              </a:r>
              <a:endParaRPr lang="nl-BE" dirty="0"/>
            </a:p>
          </p:txBody>
        </p:sp>
        <p:cxnSp>
          <p:nvCxnSpPr>
            <p:cNvPr id="14" name="Straight Arrow Connector 13"/>
            <p:cNvCxnSpPr>
              <a:stCxn id="12" idx="3"/>
            </p:cNvCxnSpPr>
            <p:nvPr/>
          </p:nvCxnSpPr>
          <p:spPr>
            <a:xfrm flipV="1">
              <a:off x="3671900" y="3573016"/>
              <a:ext cx="468052" cy="36004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2" name="Group 21"/>
          <p:cNvGrpSpPr/>
          <p:nvPr/>
        </p:nvGrpSpPr>
        <p:grpSpPr>
          <a:xfrm>
            <a:off x="6679436" y="3593584"/>
            <a:ext cx="3016964" cy="1131560"/>
            <a:chOff x="5155436" y="3593584"/>
            <a:chExt cx="3016964" cy="1131560"/>
          </a:xfrm>
        </p:grpSpPr>
        <p:sp>
          <p:nvSpPr>
            <p:cNvPr id="15" name="Line Callout 1 14"/>
            <p:cNvSpPr/>
            <p:nvPr/>
          </p:nvSpPr>
          <p:spPr>
            <a:xfrm>
              <a:off x="5364087" y="4005064"/>
              <a:ext cx="2808313"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a:t>Moderate your VSC groups (add/remove users)</a:t>
              </a:r>
              <a:endParaRPr lang="nl-BE" dirty="0"/>
            </a:p>
          </p:txBody>
        </p:sp>
        <p:cxnSp>
          <p:nvCxnSpPr>
            <p:cNvPr id="17" name="Straight Arrow Connector 16"/>
            <p:cNvCxnSpPr/>
            <p:nvPr/>
          </p:nvCxnSpPr>
          <p:spPr>
            <a:xfrm flipH="1" flipV="1">
              <a:off x="5155436" y="3593584"/>
              <a:ext cx="208651" cy="41148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18" name="Group 17"/>
          <p:cNvGrpSpPr/>
          <p:nvPr/>
        </p:nvGrpSpPr>
        <p:grpSpPr>
          <a:xfrm>
            <a:off x="290357" y="3356992"/>
            <a:ext cx="2457271" cy="1008112"/>
            <a:chOff x="2843808" y="3645024"/>
            <a:chExt cx="2112795" cy="1008112"/>
          </a:xfrm>
        </p:grpSpPr>
        <p:sp>
          <p:nvSpPr>
            <p:cNvPr id="23" name="Line Callout 1 22"/>
            <p:cNvSpPr/>
            <p:nvPr/>
          </p:nvSpPr>
          <p:spPr>
            <a:xfrm>
              <a:off x="2843808" y="3933056"/>
              <a:ext cx="1656184"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View public keys</a:t>
              </a:r>
              <a:br>
                <a:rPr lang="en-US" dirty="0"/>
              </a:br>
              <a:r>
                <a:rPr lang="en-US" dirty="0"/>
                <a:t>Request account</a:t>
              </a:r>
              <a:endParaRPr lang="nl-BE" dirty="0"/>
            </a:p>
          </p:txBody>
        </p:sp>
        <p:cxnSp>
          <p:nvCxnSpPr>
            <p:cNvPr id="24" name="Straight Arrow Connector 23"/>
            <p:cNvCxnSpPr/>
            <p:nvPr/>
          </p:nvCxnSpPr>
          <p:spPr>
            <a:xfrm flipV="1">
              <a:off x="4492254" y="3645024"/>
              <a:ext cx="464349" cy="288032"/>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sp>
        <p:nvSpPr>
          <p:cNvPr id="6" name="Rectangle 5">
            <a:extLst>
              <a:ext uri="{FF2B5EF4-FFF2-40B4-BE49-F238E27FC236}">
                <a16:creationId xmlns:a16="http://schemas.microsoft.com/office/drawing/2014/main" id="{81C0C022-5D2F-FB2F-3D61-86B475D533D0}"/>
              </a:ext>
            </a:extLst>
          </p:cNvPr>
          <p:cNvSpPr/>
          <p:nvPr/>
        </p:nvSpPr>
        <p:spPr>
          <a:xfrm>
            <a:off x="2855640" y="5013176"/>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B80A86D4-7ECC-BF9C-7127-6A696669C9F1}"/>
              </a:ext>
            </a:extLst>
          </p:cNvPr>
          <p:cNvSpPr/>
          <p:nvPr/>
        </p:nvSpPr>
        <p:spPr>
          <a:xfrm>
            <a:off x="3503712" y="5405957"/>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2CC3A492-4886-6DE4-FDE4-D547FFF90A7C}"/>
              </a:ext>
            </a:extLst>
          </p:cNvPr>
          <p:cNvSpPr/>
          <p:nvPr/>
        </p:nvSpPr>
        <p:spPr>
          <a:xfrm>
            <a:off x="3035660" y="5601502"/>
            <a:ext cx="900099" cy="14445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03138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12</a:t>
            </a:fld>
            <a:endParaRPr lang="nl-BE"/>
          </a:p>
        </p:txBody>
      </p:sp>
      <p:grpSp>
        <p:nvGrpSpPr>
          <p:cNvPr id="45" name="Group 44"/>
          <p:cNvGrpSpPr/>
          <p:nvPr/>
        </p:nvGrpSpPr>
        <p:grpSpPr>
          <a:xfrm>
            <a:off x="705370" y="1227474"/>
            <a:ext cx="7704855" cy="4822180"/>
            <a:chOff x="719572" y="1017910"/>
            <a:chExt cx="7704855" cy="4822180"/>
          </a:xfrm>
        </p:grpSpPr>
        <p:grpSp>
          <p:nvGrpSpPr>
            <p:cNvPr id="27" name="Group 26"/>
            <p:cNvGrpSpPr/>
            <p:nvPr/>
          </p:nvGrpSpPr>
          <p:grpSpPr>
            <a:xfrm>
              <a:off x="3493319" y="1236462"/>
              <a:ext cx="4931107" cy="1122388"/>
              <a:chOff x="2773747" y="218552"/>
              <a:chExt cx="4931107" cy="1122388"/>
            </a:xfrm>
          </p:grpSpPr>
          <p:sp>
            <p:nvSpPr>
              <p:cNvPr id="43" name="Round Same Side Corner Rectangle 42"/>
              <p:cNvSpPr/>
              <p:nvPr/>
            </p:nvSpPr>
            <p:spPr>
              <a:xfrm rot="5400000">
                <a:off x="4687642" y="-1676273"/>
                <a:ext cx="1103318"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44" name="Round Same Side Corner Rectangle 4"/>
              <p:cNvSpPr/>
              <p:nvPr/>
            </p:nvSpPr>
            <p:spPr>
              <a:xfrm>
                <a:off x="2773749" y="218552"/>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FontTx/>
                  <a:buChar char="••"/>
                </a:pPr>
                <a:r>
                  <a:rPr lang="en-US" sz="2000" dirty="0"/>
                  <a:t>Helpdesk (</a:t>
                </a:r>
                <a:r>
                  <a:rPr lang="en-US" sz="2000" dirty="0">
                    <a:hlinkClick r:id="rId2"/>
                  </a:rPr>
                  <a:t>hpcinfo@kuleuven.be</a:t>
                </a:r>
                <a:r>
                  <a:rPr lang="en-US" sz="2000" dirty="0"/>
                  <a:t>) </a:t>
                </a:r>
              </a:p>
              <a:p>
                <a:pPr marL="171450" lvl="1" indent="-171450" defTabSz="711200">
                  <a:lnSpc>
                    <a:spcPct val="90000"/>
                  </a:lnSpc>
                  <a:spcBef>
                    <a:spcPct val="0"/>
                  </a:spcBef>
                  <a:spcAft>
                    <a:spcPct val="15000"/>
                  </a:spcAft>
                  <a:buChar char="••"/>
                </a:pPr>
                <a:r>
                  <a:rPr lang="en-US" sz="2000" dirty="0"/>
                  <a:t>Monitoring and reporting</a:t>
                </a:r>
              </a:p>
            </p:txBody>
          </p:sp>
        </p:grpSp>
        <p:grpSp>
          <p:nvGrpSpPr>
            <p:cNvPr id="28" name="Group 27"/>
            <p:cNvGrpSpPr/>
            <p:nvPr/>
          </p:nvGrpSpPr>
          <p:grpSpPr>
            <a:xfrm>
              <a:off x="719572" y="1017910"/>
              <a:ext cx="2773748" cy="1554782"/>
              <a:chOff x="0" y="0"/>
              <a:chExt cx="2773748" cy="1554782"/>
            </a:xfrm>
          </p:grpSpPr>
          <p:sp>
            <p:nvSpPr>
              <p:cNvPr id="41" name="Rounded Rectangle 40"/>
              <p:cNvSpPr/>
              <p:nvPr/>
            </p:nvSpPr>
            <p:spPr>
              <a:xfrm>
                <a:off x="0" y="0"/>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42" name="Rounded Rectangle 6"/>
              <p:cNvSpPr/>
              <p:nvPr/>
            </p:nvSpPr>
            <p:spPr>
              <a:xfrm>
                <a:off x="75898" y="75898"/>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Basic support</a:t>
                </a:r>
              </a:p>
            </p:txBody>
          </p:sp>
        </p:grpSp>
        <p:grpSp>
          <p:nvGrpSpPr>
            <p:cNvPr id="29" name="Group 28"/>
            <p:cNvGrpSpPr/>
            <p:nvPr/>
          </p:nvGrpSpPr>
          <p:grpSpPr>
            <a:xfrm>
              <a:off x="3493318" y="2778245"/>
              <a:ext cx="4931107" cy="1289126"/>
              <a:chOff x="2773746" y="1760335"/>
              <a:chExt cx="4931107" cy="1289126"/>
            </a:xfrm>
          </p:grpSpPr>
          <p:sp>
            <p:nvSpPr>
              <p:cNvPr id="39" name="Round Same Side Corner Rectangle 38"/>
              <p:cNvSpPr/>
              <p:nvPr/>
            </p:nvSpPr>
            <p:spPr>
              <a:xfrm rot="5400000">
                <a:off x="4594737" y="-60656"/>
                <a:ext cx="1289126"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r>
                  <a:rPr lang="en-US" dirty="0"/>
                  <a:t> </a:t>
                </a:r>
                <a:endParaRPr lang="nl-BE" dirty="0"/>
              </a:p>
            </p:txBody>
          </p:sp>
          <p:sp>
            <p:nvSpPr>
              <p:cNvPr id="40" name="Round Same Side Corner Rectangle 8"/>
              <p:cNvSpPr/>
              <p:nvPr/>
            </p:nvSpPr>
            <p:spPr>
              <a:xfrm>
                <a:off x="2773749" y="1851074"/>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GB" sz="2000" dirty="0"/>
                  <a:t>Installation and porting</a:t>
                </a:r>
              </a:p>
              <a:p>
                <a:pPr marL="171450" lvl="1" indent="-171450" defTabSz="711200">
                  <a:lnSpc>
                    <a:spcPct val="90000"/>
                  </a:lnSpc>
                  <a:spcBef>
                    <a:spcPct val="0"/>
                  </a:spcBef>
                  <a:spcAft>
                    <a:spcPct val="15000"/>
                  </a:spcAft>
                  <a:buChar char="••"/>
                </a:pPr>
                <a:r>
                  <a:rPr lang="en-GB" sz="2000" dirty="0"/>
                  <a:t>Optimisation and debugging</a:t>
                </a:r>
              </a:p>
              <a:p>
                <a:pPr marL="171450" lvl="1" indent="-171450" defTabSz="711200">
                  <a:lnSpc>
                    <a:spcPct val="90000"/>
                  </a:lnSpc>
                  <a:spcBef>
                    <a:spcPct val="0"/>
                  </a:spcBef>
                  <a:spcAft>
                    <a:spcPct val="15000"/>
                  </a:spcAft>
                  <a:buChar char="••"/>
                </a:pPr>
                <a:r>
                  <a:rPr lang="en-GB" sz="2000" dirty="0"/>
                  <a:t>Benchmarking</a:t>
                </a:r>
              </a:p>
              <a:p>
                <a:pPr marL="171450" lvl="1" indent="-171450" defTabSz="711200">
                  <a:lnSpc>
                    <a:spcPct val="90000"/>
                  </a:lnSpc>
                  <a:spcBef>
                    <a:spcPct val="0"/>
                  </a:spcBef>
                  <a:spcAft>
                    <a:spcPct val="15000"/>
                  </a:spcAft>
                  <a:buChar char="••"/>
                </a:pPr>
                <a:r>
                  <a:rPr lang="en-GB" sz="2000" dirty="0"/>
                  <a:t>Workflows </a:t>
                </a:r>
                <a:r>
                  <a:rPr lang="pl-PL" sz="2000" dirty="0"/>
                  <a:t>and</a:t>
                </a:r>
                <a:r>
                  <a:rPr lang="en-GB" sz="2000" dirty="0"/>
                  <a:t> best practices</a:t>
                </a:r>
              </a:p>
            </p:txBody>
          </p:sp>
        </p:grpSp>
        <p:grpSp>
          <p:nvGrpSpPr>
            <p:cNvPr id="30" name="Group 29"/>
            <p:cNvGrpSpPr/>
            <p:nvPr/>
          </p:nvGrpSpPr>
          <p:grpSpPr>
            <a:xfrm>
              <a:off x="719572" y="2652786"/>
              <a:ext cx="2773748" cy="1554782"/>
              <a:chOff x="0" y="1634876"/>
              <a:chExt cx="2773748" cy="1554782"/>
            </a:xfrm>
          </p:grpSpPr>
          <p:sp>
            <p:nvSpPr>
              <p:cNvPr id="37" name="Rounded Rectangle 36"/>
              <p:cNvSpPr/>
              <p:nvPr/>
            </p:nvSpPr>
            <p:spPr>
              <a:xfrm>
                <a:off x="0" y="1634876"/>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8" name="Rounded Rectangle 10"/>
              <p:cNvSpPr/>
              <p:nvPr/>
            </p:nvSpPr>
            <p:spPr>
              <a:xfrm>
                <a:off x="75898" y="1710774"/>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Application support</a:t>
                </a:r>
              </a:p>
            </p:txBody>
          </p:sp>
        </p:grpSp>
        <p:grpSp>
          <p:nvGrpSpPr>
            <p:cNvPr id="31" name="Group 30"/>
            <p:cNvGrpSpPr/>
            <p:nvPr/>
          </p:nvGrpSpPr>
          <p:grpSpPr>
            <a:xfrm>
              <a:off x="3493320" y="4440786"/>
              <a:ext cx="4931107" cy="1243825"/>
              <a:chOff x="2773748" y="3422876"/>
              <a:chExt cx="4931107" cy="1243825"/>
            </a:xfrm>
          </p:grpSpPr>
          <p:sp>
            <p:nvSpPr>
              <p:cNvPr id="35" name="Round Same Side Corner Rectangle 34"/>
              <p:cNvSpPr/>
              <p:nvPr/>
            </p:nvSpPr>
            <p:spPr>
              <a:xfrm rot="5400000">
                <a:off x="4617389" y="1579235"/>
                <a:ext cx="1243825"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36" name="Round Same Side Corner Rectangle 12"/>
              <p:cNvSpPr/>
              <p:nvPr/>
            </p:nvSpPr>
            <p:spPr>
              <a:xfrm>
                <a:off x="2773749" y="3483595"/>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US" sz="2000" dirty="0"/>
                  <a:t>Documentation and tutorials</a:t>
                </a:r>
              </a:p>
              <a:p>
                <a:pPr marL="171450" lvl="1" indent="-171450" defTabSz="711200">
                  <a:lnSpc>
                    <a:spcPct val="90000"/>
                  </a:lnSpc>
                  <a:spcBef>
                    <a:spcPct val="0"/>
                  </a:spcBef>
                  <a:spcAft>
                    <a:spcPct val="15000"/>
                  </a:spcAft>
                  <a:buChar char="••"/>
                </a:pPr>
                <a:r>
                  <a:rPr lang="en-US" sz="2000" dirty="0"/>
                  <a:t>Scheduled trainings and workshops</a:t>
                </a:r>
              </a:p>
              <a:p>
                <a:pPr marL="171450" lvl="1" indent="-171450" defTabSz="711200">
                  <a:lnSpc>
                    <a:spcPct val="90000"/>
                  </a:lnSpc>
                  <a:spcBef>
                    <a:spcPct val="0"/>
                  </a:spcBef>
                  <a:spcAft>
                    <a:spcPct val="15000"/>
                  </a:spcAft>
                  <a:buChar char="••"/>
                </a:pPr>
                <a:r>
                  <a:rPr lang="en-US" sz="2000" dirty="0"/>
                  <a:t>Workshops on request</a:t>
                </a:r>
              </a:p>
              <a:p>
                <a:pPr marL="171450" lvl="1" indent="-171450" defTabSz="711200">
                  <a:lnSpc>
                    <a:spcPct val="90000"/>
                  </a:lnSpc>
                  <a:spcBef>
                    <a:spcPct val="0"/>
                  </a:spcBef>
                  <a:spcAft>
                    <a:spcPct val="15000"/>
                  </a:spcAft>
                  <a:buChar char="••"/>
                </a:pPr>
                <a:r>
                  <a:rPr lang="en-US" sz="2000" dirty="0"/>
                  <a:t>One-to-one sessions</a:t>
                </a:r>
              </a:p>
            </p:txBody>
          </p:sp>
        </p:grpSp>
        <p:grpSp>
          <p:nvGrpSpPr>
            <p:cNvPr id="32" name="Group 31"/>
            <p:cNvGrpSpPr/>
            <p:nvPr/>
          </p:nvGrpSpPr>
          <p:grpSpPr>
            <a:xfrm>
              <a:off x="719572" y="4285308"/>
              <a:ext cx="2773748" cy="1554782"/>
              <a:chOff x="0" y="3267398"/>
              <a:chExt cx="2773748" cy="1554782"/>
            </a:xfrm>
          </p:grpSpPr>
          <p:sp>
            <p:nvSpPr>
              <p:cNvPr id="33" name="Rounded Rectangle 32"/>
              <p:cNvSpPr/>
              <p:nvPr/>
            </p:nvSpPr>
            <p:spPr>
              <a:xfrm>
                <a:off x="0" y="3267398"/>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4" name="Rounded Rectangle 14"/>
              <p:cNvSpPr/>
              <p:nvPr/>
            </p:nvSpPr>
            <p:spPr>
              <a:xfrm>
                <a:off x="75898" y="3343296"/>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Training</a:t>
                </a:r>
              </a:p>
            </p:txBody>
          </p:sp>
        </p:grpSp>
      </p:grpSp>
      <p:sp>
        <p:nvSpPr>
          <p:cNvPr id="23"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Support and services</a:t>
            </a:r>
            <a:endParaRPr lang="en-US" altLang="en-US" dirty="0"/>
          </a:p>
        </p:txBody>
      </p:sp>
    </p:spTree>
    <p:extLst>
      <p:ext uri="{BB962C8B-B14F-4D97-AF65-F5344CB8AC3E}">
        <p14:creationId xmlns:p14="http://schemas.microsoft.com/office/powerpoint/2010/main" val="31785783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18042" y="1312307"/>
            <a:ext cx="7322128" cy="4708981"/>
          </a:xfrm>
          <a:prstGeom prst="rect">
            <a:avLst/>
          </a:prstGeom>
          <a:noFill/>
          <a:ln w="1905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000" dirty="0"/>
              <a:t>(Optional) Create a secure (4096 bit) </a:t>
            </a:r>
            <a:r>
              <a:rPr lang="en-US" sz="2000" dirty="0">
                <a:hlinkClick r:id="rId3"/>
              </a:rPr>
              <a:t>SSH key pairs</a:t>
            </a:r>
            <a:br>
              <a:rPr lang="en-US" sz="2000" dirty="0"/>
            </a:br>
            <a:r>
              <a:rPr lang="en-US" sz="2000" dirty="0"/>
              <a:t>Upload it on the account page: </a:t>
            </a:r>
            <a:r>
              <a:rPr lang="en-US" sz="2000" dirty="0">
                <a:hlinkClick r:id="rId4"/>
              </a:rPr>
              <a:t>https://account.vscentrum.be</a:t>
            </a:r>
            <a:r>
              <a:rPr lang="en-US" sz="2000" dirty="0"/>
              <a:t> </a:t>
            </a:r>
          </a:p>
          <a:p>
            <a:pPr marL="324000" indent="-324000">
              <a:buClr>
                <a:srgbClr val="DB6C30"/>
              </a:buClr>
              <a:buFont typeface="Wingdings" panose="05000000000000000000" pitchFamily="2" charset="2"/>
              <a:buChar char="q"/>
            </a:pPr>
            <a:r>
              <a:rPr lang="en-US" sz="2000" dirty="0"/>
              <a:t>You need to </a:t>
            </a:r>
            <a:r>
              <a:rPr lang="en-US" sz="2000" dirty="0">
                <a:hlinkClick r:id="rId5"/>
              </a:rPr>
              <a:t>request a VSC account</a:t>
            </a:r>
            <a:r>
              <a:rPr lang="en-US" sz="2000" dirty="0"/>
              <a:t> </a:t>
            </a:r>
            <a:br>
              <a:rPr lang="en-US" sz="2000" dirty="0"/>
            </a:br>
            <a:r>
              <a:rPr lang="en-US" sz="2000" dirty="0"/>
              <a:t>Normally gets processed swiftly</a:t>
            </a:r>
          </a:p>
          <a:p>
            <a:pPr marL="324000" indent="-324000">
              <a:buClr>
                <a:srgbClr val="DB6C30"/>
              </a:buClr>
              <a:buFont typeface="Wingdings" panose="05000000000000000000" pitchFamily="2" charset="2"/>
              <a:buChar char="q"/>
            </a:pPr>
            <a:r>
              <a:rPr lang="en-US" sz="2000" dirty="0"/>
              <a:t>Request </a:t>
            </a:r>
            <a:r>
              <a:rPr lang="en-US" sz="2000" dirty="0">
                <a:hlinkClick r:id="rId6"/>
              </a:rPr>
              <a:t>introductory credits</a:t>
            </a:r>
            <a:r>
              <a:rPr lang="en-US" sz="2000" dirty="0"/>
              <a:t> (2M free credits for 6 months)</a:t>
            </a:r>
          </a:p>
          <a:p>
            <a:pPr marL="324000" indent="-324000">
              <a:buClr>
                <a:srgbClr val="DB6C30"/>
              </a:buClr>
              <a:buFont typeface="Wingdings" panose="05000000000000000000" pitchFamily="2" charset="2"/>
              <a:buChar char="q"/>
            </a:pPr>
            <a:r>
              <a:rPr lang="en-US" sz="2000" dirty="0"/>
              <a:t>Request </a:t>
            </a:r>
            <a:r>
              <a:rPr lang="en-US" sz="2000" dirty="0">
                <a:hlinkClick r:id="rId7"/>
              </a:rPr>
              <a:t>project credits</a:t>
            </a:r>
            <a:r>
              <a:rPr lang="en-US" sz="2000" dirty="0"/>
              <a:t> (for supervisors and project leaders)</a:t>
            </a:r>
            <a:br>
              <a:rPr lang="en-US" sz="2000" dirty="0"/>
            </a:br>
            <a:r>
              <a:rPr lang="en-US" sz="2000" dirty="0"/>
              <a:t>You need to create a VSC group</a:t>
            </a:r>
            <a:br>
              <a:rPr lang="en-US" sz="2000" dirty="0"/>
            </a:br>
            <a:r>
              <a:rPr lang="en-US" sz="2000" dirty="0"/>
              <a:t>Add users to the group to give them access to use credits</a:t>
            </a:r>
            <a:br>
              <a:rPr lang="en-US" sz="2000" dirty="0"/>
            </a:br>
            <a:r>
              <a:rPr lang="en-US" sz="2000" dirty="0"/>
              <a:t>Fill out the request form</a:t>
            </a:r>
          </a:p>
          <a:p>
            <a:pPr marL="324000" indent="-324000">
              <a:buClr>
                <a:srgbClr val="DB6C30"/>
              </a:buClr>
              <a:buFont typeface="Wingdings" panose="05000000000000000000" pitchFamily="2" charset="2"/>
              <a:buChar char="q"/>
            </a:pPr>
            <a:r>
              <a:rPr lang="en-US" sz="2000" dirty="0"/>
              <a:t>Extra storage requests</a:t>
            </a:r>
            <a:br>
              <a:rPr lang="en-US" sz="2000" dirty="0"/>
            </a:br>
            <a:r>
              <a:rPr lang="en-US" sz="2000" dirty="0"/>
              <a:t>Scratch extension: free of charge</a:t>
            </a:r>
            <a:br>
              <a:rPr lang="en-US" sz="2000" dirty="0"/>
            </a:br>
            <a:r>
              <a:rPr lang="en-US" sz="2000" dirty="0"/>
              <a:t>Staging storage: 20 € per TB per year</a:t>
            </a:r>
          </a:p>
          <a:p>
            <a:pPr marL="324000" indent="-324000">
              <a:buClr>
                <a:srgbClr val="DB6C30"/>
              </a:buClr>
              <a:buFont typeface="Wingdings" panose="05000000000000000000" pitchFamily="2" charset="2"/>
              <a:buChar char="q"/>
            </a:pPr>
            <a:r>
              <a:rPr lang="en-US" sz="2000" dirty="0"/>
              <a:t>All service costs (compute and storage) are described </a:t>
            </a:r>
            <a:br>
              <a:rPr lang="en-US" sz="2000" dirty="0"/>
            </a:br>
            <a:r>
              <a:rPr lang="en-US" sz="2000" dirty="0"/>
              <a:t>in the ICTS service catalog: </a:t>
            </a:r>
            <a:r>
              <a:rPr lang="nl-BE" sz="2000" dirty="0">
                <a:hlinkClick r:id="rId8"/>
              </a:rPr>
              <a:t>https://icts.kuleuven.be/sc</a:t>
            </a:r>
            <a:br>
              <a:rPr lang="nl-BE" sz="2000" dirty="0"/>
            </a:br>
            <a:r>
              <a:rPr lang="nl-BE" sz="2000" dirty="0"/>
              <a:t>Click on </a:t>
            </a:r>
            <a:r>
              <a:rPr lang="nl-BE" sz="2000" dirty="0">
                <a:hlinkClick r:id="rId9"/>
              </a:rPr>
              <a:t>High Performance Computing</a:t>
            </a:r>
            <a:r>
              <a:rPr lang="nl-BE" sz="2000" dirty="0"/>
              <a:t> (NL/EN)</a:t>
            </a:r>
          </a:p>
        </p:txBody>
      </p:sp>
      <p:pic>
        <p:nvPicPr>
          <p:cNvPr id="5" name="Picture 4"/>
          <p:cNvPicPr>
            <a:picLocks noChangeAspect="1"/>
          </p:cNvPicPr>
          <p:nvPr/>
        </p:nvPicPr>
        <p:blipFill>
          <a:blip r:embed="rId10"/>
          <a:stretch>
            <a:fillRect/>
          </a:stretch>
        </p:blipFill>
        <p:spPr>
          <a:xfrm>
            <a:off x="8400256" y="3589751"/>
            <a:ext cx="3546352" cy="2417409"/>
          </a:xfrm>
          <a:prstGeom prst="rect">
            <a:avLst/>
          </a:prstGeom>
        </p:spPr>
      </p:pic>
      <p:pic>
        <p:nvPicPr>
          <p:cNvPr id="6" name="Picture 5"/>
          <p:cNvPicPr>
            <a:picLocks noChangeAspect="1"/>
          </p:cNvPicPr>
          <p:nvPr/>
        </p:nvPicPr>
        <p:blipFill>
          <a:blip r:embed="rId11"/>
          <a:stretch>
            <a:fillRect/>
          </a:stretch>
        </p:blipFill>
        <p:spPr>
          <a:xfrm>
            <a:off x="8400256" y="977298"/>
            <a:ext cx="3546352" cy="2163670"/>
          </a:xfrm>
          <a:prstGeom prst="rect">
            <a:avLst/>
          </a:prstGeom>
        </p:spPr>
      </p:pic>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13</a:t>
            </a:fld>
            <a:endParaRPr lang="nl-BE" sz="900" dirty="0">
              <a:solidFill>
                <a:schemeClr val="bg1"/>
              </a:solidFill>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Become a VSC user</a:t>
            </a:r>
          </a:p>
        </p:txBody>
      </p:sp>
    </p:spTree>
    <p:extLst>
      <p:ext uri="{BB962C8B-B14F-4D97-AF65-F5344CB8AC3E}">
        <p14:creationId xmlns:p14="http://schemas.microsoft.com/office/powerpoint/2010/main" val="2209278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825625"/>
            <a:ext cx="10515600" cy="4351338"/>
          </a:xfrm>
        </p:spPr>
        <p:txBody>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14</a:t>
            </a:fld>
            <a:endParaRPr lang="nl-BE"/>
          </a:p>
        </p:txBody>
      </p:sp>
      <p:sp>
        <p:nvSpPr>
          <p:cNvPr id="4" name="TextBox 3"/>
          <p:cNvSpPr txBox="1"/>
          <p:nvPr/>
        </p:nvSpPr>
        <p:spPr>
          <a:xfrm>
            <a:off x="3066010" y="2102879"/>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462197" y="2105310"/>
            <a:ext cx="1215721" cy="369332"/>
          </a:xfrm>
          <a:prstGeom prst="rect">
            <a:avLst/>
          </a:prstGeom>
          <a:solidFill>
            <a:schemeClr val="accent3">
              <a:lumMod val="40000"/>
              <a:lumOff val="60000"/>
            </a:schemeClr>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817758" y="2337313"/>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systems</a:t>
            </a:r>
            <a:endParaRPr lang="nl-BE" dirty="0">
              <a:solidFill>
                <a:schemeClr val="tx1">
                  <a:lumMod val="75000"/>
                </a:schemeClr>
              </a:solidFill>
            </a:endParaRPr>
          </a:p>
        </p:txBody>
      </p:sp>
      <p:sp>
        <p:nvSpPr>
          <p:cNvPr id="7" name="TextBox 6"/>
          <p:cNvSpPr txBox="1"/>
          <p:nvPr/>
        </p:nvSpPr>
        <p:spPr>
          <a:xfrm>
            <a:off x="6103730" y="2799034"/>
            <a:ext cx="3760608" cy="1754326"/>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endParaRPr lang="nl-BE" dirty="0">
              <a:solidFill>
                <a:schemeClr val="tx1">
                  <a:lumMod val="75000"/>
                </a:schemeClr>
              </a:solidFill>
            </a:endParaRPr>
          </a:p>
        </p:txBody>
      </p:sp>
      <p:sp>
        <p:nvSpPr>
          <p:cNvPr id="8" name="TextBox 7"/>
          <p:cNvSpPr txBox="1"/>
          <p:nvPr/>
        </p:nvSpPr>
        <p:spPr>
          <a:xfrm>
            <a:off x="5302336" y="2817405"/>
            <a:ext cx="326884"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C</a:t>
            </a:r>
          </a:p>
        </p:txBody>
      </p:sp>
      <p:sp>
        <p:nvSpPr>
          <p:cNvPr id="9" name="TextBox 8"/>
          <p:cNvSpPr txBox="1"/>
          <p:nvPr/>
        </p:nvSpPr>
        <p:spPr>
          <a:xfrm>
            <a:off x="3071285" y="1366969"/>
            <a:ext cx="2725379" cy="646331"/>
          </a:xfrm>
          <a:prstGeom prst="rect">
            <a:avLst/>
          </a:prstGeom>
          <a:noFill/>
          <a:ln>
            <a:solidFill>
              <a:schemeClr val="tx1"/>
            </a:solidFill>
          </a:ln>
        </p:spPr>
        <p:txBody>
          <a:bodyPr wrap="square" rtlCol="0">
            <a:spAutoFit/>
          </a:bodyPr>
          <a:lstStyle/>
          <a:p>
            <a:r>
              <a:rPr lang="en-US" dirty="0" err="1">
                <a:solidFill>
                  <a:schemeClr val="tx1">
                    <a:lumMod val="75000"/>
                  </a:schemeClr>
                </a:solidFill>
              </a:rPr>
              <a:t>Matlab</a:t>
            </a:r>
            <a:r>
              <a:rPr lang="en-US" dirty="0">
                <a:solidFill>
                  <a:schemeClr val="tx1">
                    <a:lumMod val="75000"/>
                  </a:schemeClr>
                </a:solidFill>
              </a:rPr>
              <a:t> (</a:t>
            </a:r>
            <a:r>
              <a:rPr lang="en-US" dirty="0" err="1">
                <a:solidFill>
                  <a:schemeClr val="tx1">
                    <a:lumMod val="75000"/>
                  </a:schemeClr>
                </a:solidFill>
              </a:rPr>
              <a:t>Supercalculator</a:t>
            </a:r>
            <a:r>
              <a:rPr lang="en-US" dirty="0">
                <a:solidFill>
                  <a:schemeClr val="tx1">
                    <a:lumMod val="75000"/>
                  </a:schemeClr>
                </a:solidFill>
              </a:rPr>
              <a:t>)</a:t>
            </a:r>
          </a:p>
          <a:p>
            <a:r>
              <a:rPr lang="en-US" dirty="0" err="1">
                <a:solidFill>
                  <a:schemeClr val="tx1">
                    <a:lumMod val="75000"/>
                  </a:schemeClr>
                </a:solidFill>
              </a:rPr>
              <a:t>Matlab</a:t>
            </a:r>
            <a:r>
              <a:rPr lang="en-US" dirty="0">
                <a:solidFill>
                  <a:schemeClr val="tx1">
                    <a:lumMod val="75000"/>
                  </a:schemeClr>
                </a:solidFill>
              </a:rPr>
              <a:t> programming</a:t>
            </a:r>
            <a:endParaRPr lang="nl-BE" dirty="0">
              <a:solidFill>
                <a:schemeClr val="tx1">
                  <a:lumMod val="75000"/>
                </a:schemeClr>
              </a:solidFill>
            </a:endParaRPr>
          </a:p>
        </p:txBody>
      </p:sp>
      <p:sp>
        <p:nvSpPr>
          <p:cNvPr id="10" name="TextBox 9"/>
          <p:cNvSpPr txBox="1"/>
          <p:nvPr/>
        </p:nvSpPr>
        <p:spPr>
          <a:xfrm>
            <a:off x="6614458" y="5004975"/>
            <a:ext cx="1089151" cy="369332"/>
          </a:xfrm>
          <a:prstGeom prst="rect">
            <a:avLst/>
          </a:prstGeom>
          <a:noFill/>
          <a:ln>
            <a:solidFill>
              <a:schemeClr val="tx1"/>
            </a:solidFill>
          </a:ln>
        </p:spPr>
        <p:txBody>
          <a:bodyPr wrap="squar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5917823" y="5220347"/>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stCxn id="4" idx="3"/>
            <a:endCxn id="5" idx="1"/>
          </p:cNvCxnSpPr>
          <p:nvPr/>
        </p:nvCxnSpPr>
        <p:spPr>
          <a:xfrm>
            <a:off x="3802109" y="2287545"/>
            <a:ext cx="660088" cy="243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a:stCxn id="4" idx="3"/>
          </p:cNvCxnSpPr>
          <p:nvPr/>
        </p:nvCxnSpPr>
        <p:spPr>
          <a:xfrm>
            <a:off x="3802109" y="2287545"/>
            <a:ext cx="974811" cy="109644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4" idx="3"/>
            <a:endCxn id="8" idx="1"/>
          </p:cNvCxnSpPr>
          <p:nvPr/>
        </p:nvCxnSpPr>
        <p:spPr>
          <a:xfrm>
            <a:off x="3802109" y="2287545"/>
            <a:ext cx="1500227" cy="71452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p:cNvCxnSpPr>
          <p:nvPr/>
        </p:nvCxnSpPr>
        <p:spPr>
          <a:xfrm>
            <a:off x="4948143" y="4052287"/>
            <a:ext cx="1674359" cy="93815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p:cNvCxnSpPr>
          <p:nvPr/>
        </p:nvCxnSpPr>
        <p:spPr>
          <a:xfrm>
            <a:off x="4933114" y="4095082"/>
            <a:ext cx="1043562" cy="112526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7647905" y="246326"/>
            <a:ext cx="2454164" cy="923330"/>
          </a:xfrm>
          <a:prstGeom prst="rect">
            <a:avLst/>
          </a:prstGeom>
          <a:noFill/>
          <a:ln w="19050">
            <a:solidFill>
              <a:schemeClr val="tx1"/>
            </a:solidFill>
          </a:ln>
        </p:spPr>
        <p:txBody>
          <a:bodyPr wrap="square" rtlCol="0">
            <a:spAutoFit/>
          </a:bodyPr>
          <a:lstStyle/>
          <a:p>
            <a:r>
              <a:rPr lang="en-US" dirty="0" err="1"/>
              <a:t>Infosessions</a:t>
            </a:r>
            <a:r>
              <a:rPr lang="pl-PL" dirty="0"/>
              <a:t>:</a:t>
            </a:r>
            <a:endParaRPr lang="en-US" dirty="0"/>
          </a:p>
          <a:p>
            <a:pPr marL="285750" indent="-285750">
              <a:buFont typeface="Arial" panose="020B0604020202020204" pitchFamily="34" charset="0"/>
              <a:buChar char="•"/>
            </a:pPr>
            <a:r>
              <a:rPr lang="en-US" dirty="0"/>
              <a:t>Containers</a:t>
            </a:r>
          </a:p>
          <a:p>
            <a:pPr marL="285750" indent="-285750">
              <a:buFont typeface="Arial" panose="020B0604020202020204" pitchFamily="34" charset="0"/>
              <a:buChar char="•"/>
            </a:pPr>
            <a:r>
              <a:rPr lang="en-US" dirty="0"/>
              <a:t>Notebooks</a:t>
            </a:r>
          </a:p>
        </p:txBody>
      </p:sp>
      <p:sp>
        <p:nvSpPr>
          <p:cNvPr id="18" name="TextBox 17"/>
          <p:cNvSpPr txBox="1"/>
          <p:nvPr/>
        </p:nvSpPr>
        <p:spPr>
          <a:xfrm>
            <a:off x="7883785" y="477145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200031" y="3762344"/>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5" name="TextBox 24"/>
          <p:cNvSpPr txBox="1"/>
          <p:nvPr/>
        </p:nvSpPr>
        <p:spPr>
          <a:xfrm>
            <a:off x="2861074" y="5309926"/>
            <a:ext cx="2699504"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a:t>
            </a:r>
            <a:endParaRPr lang="nl-BE" dirty="0">
              <a:solidFill>
                <a:schemeClr val="tx1">
                  <a:lumMod val="75000"/>
                </a:schemeClr>
              </a:solidFill>
            </a:endParaRPr>
          </a:p>
        </p:txBody>
      </p:sp>
      <p:sp>
        <p:nvSpPr>
          <p:cNvPr id="27" name="TextBox 26"/>
          <p:cNvSpPr txBox="1"/>
          <p:nvPr/>
        </p:nvSpPr>
        <p:spPr>
          <a:xfrm>
            <a:off x="2200031" y="4509120"/>
            <a:ext cx="2834302"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19334" y="5805264"/>
            <a:ext cx="8352930" cy="369332"/>
          </a:xfrm>
          <a:prstGeom prst="rect">
            <a:avLst/>
          </a:prstGeom>
          <a:ln w="19050">
            <a:noFill/>
          </a:ln>
        </p:spPr>
        <p:txBody>
          <a:bodyPr wrap="square">
            <a:spAutoFit/>
          </a:bodyPr>
          <a:lstStyle/>
          <a:p>
            <a:pPr marL="342900" indent="-342900"/>
            <a:r>
              <a:rPr lang="pl-PL" altLang="en-US" b="1" dirty="0" err="1"/>
              <a:t>Stay</a:t>
            </a:r>
            <a:r>
              <a:rPr lang="pl-PL" altLang="en-US" b="1" dirty="0"/>
              <a:t> </a:t>
            </a:r>
            <a:r>
              <a:rPr lang="pl-PL" altLang="en-US" b="1" dirty="0" err="1"/>
              <a:t>up</a:t>
            </a:r>
            <a:r>
              <a:rPr lang="pl-PL" altLang="en-US" b="1" dirty="0"/>
              <a:t>-to-</a:t>
            </a:r>
            <a:r>
              <a:rPr lang="pl-PL" altLang="en-US" b="1" dirty="0" err="1"/>
              <a:t>date</a:t>
            </a:r>
            <a:r>
              <a:rPr lang="pl-PL" altLang="en-US" b="1" dirty="0"/>
              <a:t> </a:t>
            </a:r>
            <a:r>
              <a:rPr lang="pl-PL" altLang="en-US" b="1" dirty="0">
                <a:hlinkClick r:id="rId3">
                  <a:extLst>
                    <a:ext uri="{A12FA001-AC4F-418D-AE19-62706E023703}">
                      <ahyp:hlinkClr xmlns:ahyp="http://schemas.microsoft.com/office/drawing/2018/hyperlinkcolor" val="tx"/>
                    </a:ext>
                  </a:extLst>
                </a:hlinkClick>
              </a:rPr>
              <a:t>https://www.vscentrum.be/en/education-and-trainings</a:t>
            </a:r>
            <a:endParaRPr lang="pl-PL" altLang="en-US" b="1" dirty="0"/>
          </a:p>
        </p:txBody>
      </p:sp>
      <p:cxnSp>
        <p:nvCxnSpPr>
          <p:cNvPr id="28" name="Straight Arrow Connector 27"/>
          <p:cNvCxnSpPr>
            <a:cxnSpLocks/>
            <a:stCxn id="5" idx="3"/>
            <a:endCxn id="29" idx="1"/>
          </p:cNvCxnSpPr>
          <p:nvPr/>
        </p:nvCxnSpPr>
        <p:spPr>
          <a:xfrm flipV="1">
            <a:off x="5677918" y="1608377"/>
            <a:ext cx="415133" cy="68159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093051" y="142371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722086" y="146272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012207" y="130607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346703" y="167540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241985" y="1904690"/>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093051" y="1896102"/>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200305" y="3375002"/>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7880471" y="5215182"/>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sp>
        <p:nvSpPr>
          <p:cNvPr id="37" name="TextBox 36"/>
          <p:cNvSpPr txBox="1"/>
          <p:nvPr/>
        </p:nvSpPr>
        <p:spPr>
          <a:xfrm>
            <a:off x="10223146" y="2806502"/>
            <a:ext cx="1581178" cy="369332"/>
          </a:xfrm>
          <a:prstGeom prst="rect">
            <a:avLst/>
          </a:prstGeom>
          <a:noFill/>
          <a:ln>
            <a:solidFill>
              <a:schemeClr val="tx1"/>
            </a:solidFill>
          </a:ln>
        </p:spPr>
        <p:txBody>
          <a:bodyPr wrap="square" rtlCol="0">
            <a:spAutoFit/>
          </a:bodyPr>
          <a:lstStyle/>
          <a:p>
            <a:r>
              <a:rPr lang="en-US" dirty="0"/>
              <a:t>w</a:t>
            </a:r>
            <a:r>
              <a:rPr lang="pl-PL" dirty="0" err="1"/>
              <a:t>orker</a:t>
            </a:r>
            <a:r>
              <a:rPr lang="en-US" dirty="0"/>
              <a:t>/</a:t>
            </a:r>
            <a:r>
              <a:rPr lang="en-US" dirty="0" err="1"/>
              <a:t>atools</a:t>
            </a:r>
            <a:endParaRPr lang="en-US" dirty="0"/>
          </a:p>
        </p:txBody>
      </p:sp>
      <p:cxnSp>
        <p:nvCxnSpPr>
          <p:cNvPr id="38" name="Straight Arrow Connector 37"/>
          <p:cNvCxnSpPr>
            <a:stCxn id="5" idx="3"/>
          </p:cNvCxnSpPr>
          <p:nvPr/>
        </p:nvCxnSpPr>
        <p:spPr>
          <a:xfrm>
            <a:off x="5677918" y="2289976"/>
            <a:ext cx="415133" cy="46215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7A4F7BC4-8166-E68A-7C0A-B3424E1CC34B}"/>
              </a:ext>
            </a:extLst>
          </p:cNvPr>
          <p:cNvSpPr txBox="1"/>
          <p:nvPr/>
        </p:nvSpPr>
        <p:spPr>
          <a:xfrm>
            <a:off x="6099926" y="2347717"/>
            <a:ext cx="1467241"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22" name="TextBox 21">
            <a:extLst>
              <a:ext uri="{FF2B5EF4-FFF2-40B4-BE49-F238E27FC236}">
                <a16:creationId xmlns:a16="http://schemas.microsoft.com/office/drawing/2014/main" id="{4CDE9AC7-B51C-F4EB-9174-5FEB59219F09}"/>
              </a:ext>
            </a:extLst>
          </p:cNvPr>
          <p:cNvSpPr txBox="1"/>
          <p:nvPr/>
        </p:nvSpPr>
        <p:spPr>
          <a:xfrm>
            <a:off x="9930878" y="3275692"/>
            <a:ext cx="2171562" cy="369332"/>
          </a:xfrm>
          <a:prstGeom prst="rect">
            <a:avLst/>
          </a:prstGeom>
          <a:noFill/>
          <a:ln>
            <a:solidFill>
              <a:schemeClr val="tx1"/>
            </a:solidFill>
          </a:ln>
        </p:spPr>
        <p:txBody>
          <a:bodyPr wrap="square" rtlCol="0">
            <a:spAutoFit/>
          </a:bodyPr>
          <a:lstStyle/>
          <a:p>
            <a:r>
              <a:rPr lang="nl-BE" dirty="0"/>
              <a:t>Julia </a:t>
            </a:r>
            <a:r>
              <a:rPr lang="nl-BE" dirty="0" err="1"/>
              <a:t>good</a:t>
            </a:r>
            <a:r>
              <a:rPr lang="nl-BE" dirty="0"/>
              <a:t> bad </a:t>
            </a:r>
            <a:r>
              <a:rPr lang="nl-BE" dirty="0" err="1"/>
              <a:t>ugly</a:t>
            </a:r>
            <a:endParaRPr lang="en-US" dirty="0"/>
          </a:p>
        </p:txBody>
      </p:sp>
      <p:sp>
        <p:nvSpPr>
          <p:cNvPr id="3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VSC training</a:t>
            </a:r>
          </a:p>
        </p:txBody>
      </p:sp>
    </p:spTree>
    <p:extLst>
      <p:ext uri="{BB962C8B-B14F-4D97-AF65-F5344CB8AC3E}">
        <p14:creationId xmlns:p14="http://schemas.microsoft.com/office/powerpoint/2010/main" val="6385003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15</a:t>
            </a:fld>
            <a:endParaRPr lang="nl-BE" dirty="0"/>
          </a:p>
        </p:txBody>
      </p:sp>
      <p:sp>
        <p:nvSpPr>
          <p:cNvPr id="49155" name="Rectangle 3"/>
          <p:cNvSpPr>
            <a:spLocks noGrp="1" noChangeArrowheads="1"/>
          </p:cNvSpPr>
          <p:nvPr>
            <p:ph idx="1"/>
          </p:nvPr>
        </p:nvSpPr>
        <p:spPr>
          <a:xfrm>
            <a:off x="624532" y="1538739"/>
            <a:ext cx="5075685" cy="1260241"/>
          </a:xfrm>
          <a:ln w="19050">
            <a:solidFill>
              <a:schemeClr val="accent5"/>
            </a:solidFill>
          </a:ln>
        </p:spPr>
        <p:txBody>
          <a:bodyPr anchor="ctr"/>
          <a:lstStyle/>
          <a:p>
            <a:pPr marL="324000" indent="-324000">
              <a:buClr>
                <a:srgbClr val="DB6C30"/>
              </a:buClr>
              <a:buFont typeface="Wingdings" panose="05000000000000000000" pitchFamily="2" charset="2"/>
              <a:buChar char="q"/>
            </a:pPr>
            <a:r>
              <a:rPr lang="en-US" sz="2000" dirty="0"/>
              <a:t>a contractual obligation for the VSC</a:t>
            </a:r>
          </a:p>
          <a:p>
            <a:pPr marL="324000" indent="-324000">
              <a:buClr>
                <a:srgbClr val="DB6C30"/>
              </a:buClr>
              <a:buFont typeface="Wingdings" panose="05000000000000000000" pitchFamily="2" charset="2"/>
              <a:buChar char="q"/>
            </a:pPr>
            <a:r>
              <a:rPr lang="en-US" sz="2000" dirty="0"/>
              <a:t>helps VSC to secure funding</a:t>
            </a:r>
          </a:p>
          <a:p>
            <a:pPr marL="324000" indent="-324000">
              <a:buClr>
                <a:srgbClr val="DB6C30"/>
              </a:buClr>
              <a:buFont typeface="Wingdings" panose="05000000000000000000" pitchFamily="2" charset="2"/>
              <a:buChar char="q"/>
            </a:pPr>
            <a:r>
              <a:rPr lang="en-US" sz="2000" dirty="0"/>
              <a:t>you will benefit from it in the long run</a:t>
            </a:r>
          </a:p>
        </p:txBody>
      </p:sp>
      <p:grpSp>
        <p:nvGrpSpPr>
          <p:cNvPr id="4" name="Group 3"/>
          <p:cNvGrpSpPr/>
          <p:nvPr/>
        </p:nvGrpSpPr>
        <p:grpSpPr>
          <a:xfrm>
            <a:off x="5951983" y="3212976"/>
            <a:ext cx="5112877" cy="2232248"/>
            <a:chOff x="5951983" y="2708920"/>
            <a:chExt cx="5112877" cy="2088232"/>
          </a:xfrm>
        </p:grpSpPr>
        <p:sp>
          <p:nvSpPr>
            <p:cNvPr id="6" name="Rectangle 3"/>
            <p:cNvSpPr txBox="1">
              <a:spLocks noChangeArrowheads="1"/>
            </p:cNvSpPr>
            <p:nvPr/>
          </p:nvSpPr>
          <p:spPr>
            <a:xfrm>
              <a:off x="5951983" y="3140968"/>
              <a:ext cx="5112877" cy="1656184"/>
            </a:xfrm>
            <a:prstGeom prst="rect">
              <a:avLst/>
            </a:prstGeom>
            <a:ln w="19050">
              <a:solidFill>
                <a:schemeClr val="accent5"/>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000" i="1" dirty="0"/>
                <a:t> The resources and services used in this work were provided by the VSC (Flemish Supercomputer Center), funded by the Research Foundation - Flanders (FWO) and the Flemish Government.</a:t>
              </a:r>
              <a:endParaRPr lang="en-US" sz="2000" dirty="0"/>
            </a:p>
          </p:txBody>
        </p:sp>
        <p:sp>
          <p:nvSpPr>
            <p:cNvPr id="8" name="Rectangle 7"/>
            <p:cNvSpPr/>
            <p:nvPr/>
          </p:nvSpPr>
          <p:spPr>
            <a:xfrm>
              <a:off x="8976628"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English</a:t>
              </a:r>
              <a:endParaRPr lang="nl-BE" dirty="0"/>
            </a:p>
          </p:txBody>
        </p:sp>
      </p:grpSp>
      <p:sp>
        <p:nvSpPr>
          <p:cNvPr id="10" name="Rectangle 9"/>
          <p:cNvSpPr/>
          <p:nvPr/>
        </p:nvSpPr>
        <p:spPr>
          <a:xfrm>
            <a:off x="3611985" y="1106692"/>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Why?</a:t>
            </a:r>
            <a:endParaRPr lang="nl-BE" dirty="0"/>
          </a:p>
        </p:txBody>
      </p:sp>
      <p:grpSp>
        <p:nvGrpSpPr>
          <p:cNvPr id="7" name="Group 6"/>
          <p:cNvGrpSpPr/>
          <p:nvPr/>
        </p:nvGrpSpPr>
        <p:grpSpPr>
          <a:xfrm>
            <a:off x="624532" y="3212976"/>
            <a:ext cx="5078090" cy="2232248"/>
            <a:chOff x="624532" y="2708920"/>
            <a:chExt cx="5078090" cy="2232248"/>
          </a:xfrm>
        </p:grpSpPr>
        <p:sp>
          <p:nvSpPr>
            <p:cNvPr id="5" name="Rectangle 3"/>
            <p:cNvSpPr txBox="1">
              <a:spLocks noChangeArrowheads="1"/>
            </p:cNvSpPr>
            <p:nvPr/>
          </p:nvSpPr>
          <p:spPr>
            <a:xfrm>
              <a:off x="624532" y="3140968"/>
              <a:ext cx="5075685" cy="1800200"/>
            </a:xfrm>
            <a:prstGeom prst="rect">
              <a:avLst/>
            </a:prstGeom>
            <a:ln w="19050">
              <a:solidFill>
                <a:schemeClr val="accent5"/>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sz="2000" i="1" dirty="0"/>
            </a:p>
            <a:p>
              <a:pPr marL="0" indent="0">
                <a:buNone/>
              </a:pPr>
              <a:r>
                <a:rPr lang="nl-BE" sz="2000" i="1" dirty="0"/>
                <a:t>De infrastructuur en dienstverlening gebruikt in dit werk werd voorzien door het VSC (Vlaams Supercomputer Centrum), gefinancierd door het FWO en de Vlaamse overheid.</a:t>
              </a:r>
            </a:p>
            <a:p>
              <a:pPr marL="0" indent="0">
                <a:buNone/>
              </a:pPr>
              <a:endParaRPr lang="en-US" sz="2000" dirty="0"/>
            </a:p>
          </p:txBody>
        </p:sp>
        <p:sp>
          <p:nvSpPr>
            <p:cNvPr id="11" name="Rectangle 10"/>
            <p:cNvSpPr/>
            <p:nvPr/>
          </p:nvSpPr>
          <p:spPr>
            <a:xfrm>
              <a:off x="3614390"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het </a:t>
              </a:r>
              <a:r>
                <a:rPr lang="en-US" dirty="0" err="1"/>
                <a:t>Nederlands</a:t>
              </a:r>
              <a:endParaRPr lang="nl-BE" dirty="0"/>
            </a:p>
          </p:txBody>
        </p:sp>
      </p:grpSp>
      <p:grpSp>
        <p:nvGrpSpPr>
          <p:cNvPr id="9" name="Group 8"/>
          <p:cNvGrpSpPr/>
          <p:nvPr/>
        </p:nvGrpSpPr>
        <p:grpSpPr>
          <a:xfrm>
            <a:off x="5989175" y="1106692"/>
            <a:ext cx="5075685" cy="1692288"/>
            <a:chOff x="5989175" y="1106692"/>
            <a:chExt cx="5075685" cy="1692288"/>
          </a:xfrm>
        </p:grpSpPr>
        <p:sp>
          <p:nvSpPr>
            <p:cNvPr id="3" name="Rectangle 2"/>
            <p:cNvSpPr/>
            <p:nvPr/>
          </p:nvSpPr>
          <p:spPr>
            <a:xfrm>
              <a:off x="8904312" y="1106692"/>
              <a:ext cx="2160548"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For KU Leuven users</a:t>
              </a:r>
              <a:endParaRPr lang="nl-BE" dirty="0"/>
            </a:p>
          </p:txBody>
        </p:sp>
        <p:sp>
          <p:nvSpPr>
            <p:cNvPr id="13" name="Rectangle 3"/>
            <p:cNvSpPr txBox="1">
              <a:spLocks noChangeArrowheads="1"/>
            </p:cNvSpPr>
            <p:nvPr/>
          </p:nvSpPr>
          <p:spPr>
            <a:xfrm>
              <a:off x="5989175" y="1538740"/>
              <a:ext cx="5075685" cy="1260240"/>
            </a:xfrm>
            <a:prstGeom prst="rect">
              <a:avLst/>
            </a:prstGeom>
            <a:ln w="19050">
              <a:solidFill>
                <a:schemeClr val="accent5"/>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chemeClr val="accent1"/>
                </a:buClr>
                <a:buFont typeface="Wingdings" panose="05000000000000000000" pitchFamily="2" charset="2"/>
                <a:buChar char="q"/>
              </a:pPr>
              <a:r>
                <a:rPr lang="en-US" sz="2000" dirty="0"/>
                <a:t>add the relevant papers to the “KUL-HPC” virtual collection in Lirias</a:t>
              </a:r>
            </a:p>
            <a:p>
              <a:pPr marL="324000" indent="-324000">
                <a:buClr>
                  <a:schemeClr val="accent1"/>
                </a:buClr>
                <a:buFont typeface="Wingdings" panose="05000000000000000000" pitchFamily="2" charset="2"/>
                <a:buChar char="q"/>
              </a:pPr>
              <a:endParaRPr lang="en-US" sz="2000" dirty="0"/>
            </a:p>
          </p:txBody>
        </p:sp>
      </p:grpSp>
      <p:sp>
        <p:nvSpPr>
          <p:cNvPr id="1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acknowledge VSC in publications</a:t>
            </a:r>
            <a:endParaRPr lang="en-US" sz="3200" dirty="0"/>
          </a:p>
        </p:txBody>
      </p:sp>
    </p:spTree>
    <p:extLst>
      <p:ext uri="{BB962C8B-B14F-4D97-AF65-F5344CB8AC3E}">
        <p14:creationId xmlns:p14="http://schemas.microsoft.com/office/powerpoint/2010/main" val="265340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35573" y="4150659"/>
            <a:ext cx="256813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Tier-2 clusters</a:t>
            </a:r>
          </a:p>
        </p:txBody>
      </p:sp>
      <p:sp>
        <p:nvSpPr>
          <p:cNvPr id="6" name="Slide Number Placeholder 5"/>
          <p:cNvSpPr>
            <a:spLocks noGrp="1"/>
          </p:cNvSpPr>
          <p:nvPr>
            <p:ph type="sldNum" sz="quarter" idx="12"/>
          </p:nvPr>
        </p:nvSpPr>
        <p:spPr/>
        <p:txBody>
          <a:bodyPr/>
          <a:lstStyle/>
          <a:p>
            <a:fld id="{A2912448-FEEC-49E8-9588-2DF1F90D57C2}" type="slidenum">
              <a:rPr lang="en-US" smtClean="0"/>
              <a:t>16</a:t>
            </a:fld>
            <a:endParaRPr lang="en-US"/>
          </a:p>
        </p:txBody>
      </p:sp>
    </p:spTree>
    <p:extLst>
      <p:ext uri="{BB962C8B-B14F-4D97-AF65-F5344CB8AC3E}">
        <p14:creationId xmlns:p14="http://schemas.microsoft.com/office/powerpoint/2010/main" val="4803833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Up Arrow 119"/>
          <p:cNvSpPr/>
          <p:nvPr/>
        </p:nvSpPr>
        <p:spPr>
          <a:xfrm rot="3341531">
            <a:off x="4325335" y="-271709"/>
            <a:ext cx="1325440" cy="6832523"/>
          </a:xfrm>
          <a:prstGeom prst="upArrow">
            <a:avLst>
              <a:gd name="adj1" fmla="val 50000"/>
              <a:gd name="adj2" fmla="val 92270"/>
            </a:avLst>
          </a:prstGeom>
          <a:solidFill>
            <a:schemeClr val="tx1">
              <a:lumMod val="20000"/>
              <a:lumOff val="80000"/>
            </a:schemeClr>
          </a:solidFill>
          <a:ln>
            <a:solidFill>
              <a:schemeClr val="bg1">
                <a:alpha val="90000"/>
              </a:schemeClr>
            </a:solidFill>
          </a:ln>
          <a:effectLst/>
          <a:scene3d>
            <a:camera prst="orthographicFront"/>
            <a:lightRig rig="balanced" dir="t"/>
          </a:scene3d>
          <a:sp3d prstMaterial="meta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FlandersArtSans-Regular"/>
              <a:ea typeface="+mn-ea"/>
              <a:cs typeface="+mn-cs"/>
            </a:endParaRPr>
          </a:p>
        </p:txBody>
      </p:sp>
      <p:graphicFrame>
        <p:nvGraphicFramePr>
          <p:cNvPr id="33" name="Tabel 44"/>
          <p:cNvGraphicFramePr>
            <a:graphicFrameLocks noGrp="1"/>
          </p:cNvGraphicFramePr>
          <p:nvPr>
            <p:extLst>
              <p:ext uri="{D42A27DB-BD31-4B8C-83A1-F6EECF244321}">
                <p14:modId xmlns:p14="http://schemas.microsoft.com/office/powerpoint/2010/main" val="2879557186"/>
              </p:ext>
            </p:extLst>
          </p:nvPr>
        </p:nvGraphicFramePr>
        <p:xfrm>
          <a:off x="4254796" y="4871751"/>
          <a:ext cx="6953772" cy="872770"/>
        </p:xfrm>
        <a:graphic>
          <a:graphicData uri="http://schemas.openxmlformats.org/drawingml/2006/table">
            <a:tbl>
              <a:tblPr firstRow="1" bandRow="1"/>
              <a:tblGrid>
                <a:gridCol w="1304100">
                  <a:extLst>
                    <a:ext uri="{9D8B030D-6E8A-4147-A177-3AD203B41FA5}">
                      <a16:colId xmlns:a16="http://schemas.microsoft.com/office/drawing/2014/main" val="20001"/>
                    </a:ext>
                  </a:extLst>
                </a:gridCol>
                <a:gridCol w="1705360">
                  <a:extLst>
                    <a:ext uri="{9D8B030D-6E8A-4147-A177-3AD203B41FA5}">
                      <a16:colId xmlns:a16="http://schemas.microsoft.com/office/drawing/2014/main" val="20002"/>
                    </a:ext>
                  </a:extLst>
                </a:gridCol>
                <a:gridCol w="1962861">
                  <a:extLst>
                    <a:ext uri="{9D8B030D-6E8A-4147-A177-3AD203B41FA5}">
                      <a16:colId xmlns:a16="http://schemas.microsoft.com/office/drawing/2014/main" val="20003"/>
                    </a:ext>
                  </a:extLst>
                </a:gridCol>
                <a:gridCol w="1981451">
                  <a:extLst>
                    <a:ext uri="{9D8B030D-6E8A-4147-A177-3AD203B41FA5}">
                      <a16:colId xmlns:a16="http://schemas.microsoft.com/office/drawing/2014/main" val="20004"/>
                    </a:ext>
                  </a:extLst>
                </a:gridCol>
              </a:tblGrid>
              <a:tr h="5019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eaLnBrk="0" fontAlgn="base" hangingPunct="0">
                        <a:spcBef>
                          <a:spcPct val="0"/>
                        </a:spcBef>
                        <a:spcAft>
                          <a:spcPct val="0"/>
                        </a:spcAft>
                      </a:pP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STEVIN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HYDRA</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LEIBNIZ/VAUGHAN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Genius/</a:t>
                      </a: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wICE</a:t>
                      </a: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a:t>
                      </a: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Mindwell</a:t>
                      </a:r>
                      <a:endPar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endParaRPr>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34" name="Oval 124"/>
          <p:cNvSpPr>
            <a:spLocks/>
          </p:cNvSpPr>
          <p:nvPr/>
        </p:nvSpPr>
        <p:spPr>
          <a:xfrm rot="21540000">
            <a:off x="1721950" y="4685503"/>
            <a:ext cx="791618" cy="793355"/>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5" name="TextBox 129"/>
          <p:cNvSpPr txBox="1"/>
          <p:nvPr/>
        </p:nvSpPr>
        <p:spPr>
          <a:xfrm>
            <a:off x="1487488" y="4852491"/>
            <a:ext cx="1267096" cy="400110"/>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dirty="0">
                <a:ln>
                  <a:noFill/>
                </a:ln>
                <a:solidFill>
                  <a:srgbClr val="FFFFFF"/>
                </a:solidFill>
                <a:effectLst/>
                <a:uLnTx/>
                <a:uFillTx/>
                <a:ea typeface="+mn-ea"/>
                <a:cs typeface="Calibri Light"/>
              </a:rPr>
              <a:t>Tier-2</a:t>
            </a:r>
          </a:p>
        </p:txBody>
      </p:sp>
      <p:sp>
        <p:nvSpPr>
          <p:cNvPr id="37" name="Rechthoek 4"/>
          <p:cNvSpPr/>
          <p:nvPr/>
        </p:nvSpPr>
        <p:spPr>
          <a:xfrm>
            <a:off x="6826713" y="3539729"/>
            <a:ext cx="3286477" cy="1015663"/>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Hortense</a:t>
            </a:r>
            <a:br>
              <a:rPr lang="en-US" sz="3600" dirty="0">
                <a:solidFill>
                  <a:srgbClr val="DB6C30"/>
                </a:solidFill>
                <a:latin typeface="Open Sans Extrabold" panose="020B0906030804020204" pitchFamily="34" charset="0"/>
                <a:ea typeface="Open Sans Extrabold" panose="020B0906030804020204" pitchFamily="34" charset="0"/>
                <a:cs typeface="Open Sans Extrabold" panose="020B0906030804020204" pitchFamily="34" charset="0"/>
              </a:rPr>
            </a:b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a:t>
            </a:r>
            <a:r>
              <a:rPr kumimoji="0" lang="en-US" sz="2400" b="0" i="0" u="none" strike="noStrike" kern="1200" cap="none" spc="0" normalizeH="0" baseline="0" noProof="0" dirty="0" err="1">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UGent</a:t>
            </a: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 2022 - 2026)</a:t>
            </a:r>
          </a:p>
        </p:txBody>
      </p:sp>
      <p:sp>
        <p:nvSpPr>
          <p:cNvPr id="38" name="Oval 124"/>
          <p:cNvSpPr>
            <a:spLocks/>
          </p:cNvSpPr>
          <p:nvPr/>
        </p:nvSpPr>
        <p:spPr>
          <a:xfrm rot="21540000">
            <a:off x="4129429" y="2573917"/>
            <a:ext cx="1260000" cy="12600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9" name="TextBox 129"/>
          <p:cNvSpPr txBox="1"/>
          <p:nvPr/>
        </p:nvSpPr>
        <p:spPr>
          <a:xfrm>
            <a:off x="4133233" y="2883773"/>
            <a:ext cx="1267096" cy="584775"/>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200" b="0" i="0" u="none" strike="noStrike" kern="0" cap="none" spc="0" normalizeH="0" baseline="0" noProof="0" dirty="0">
                <a:ln>
                  <a:noFill/>
                </a:ln>
                <a:solidFill>
                  <a:srgbClr val="FFFFFF"/>
                </a:solidFill>
                <a:effectLst/>
                <a:uLnTx/>
                <a:uFillTx/>
                <a:ea typeface="+mn-ea"/>
                <a:cs typeface="Calibri Light"/>
              </a:rPr>
              <a:t>Tier-1</a:t>
            </a:r>
          </a:p>
        </p:txBody>
      </p:sp>
      <p:sp>
        <p:nvSpPr>
          <p:cNvPr id="40" name="Oval 124"/>
          <p:cNvSpPr>
            <a:spLocks/>
          </p:cNvSpPr>
          <p:nvPr/>
        </p:nvSpPr>
        <p:spPr>
          <a:xfrm rot="21540000">
            <a:off x="6615485" y="286015"/>
            <a:ext cx="1872129" cy="18911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41" name="TextBox 129"/>
          <p:cNvSpPr txBox="1"/>
          <p:nvPr/>
        </p:nvSpPr>
        <p:spPr>
          <a:xfrm>
            <a:off x="6653825" y="799483"/>
            <a:ext cx="1786947" cy="830997"/>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4800" b="0" i="0" u="none" strike="noStrike" kern="0" cap="none" spc="0" normalizeH="0" baseline="0" noProof="0" dirty="0">
                <a:ln>
                  <a:noFill/>
                </a:ln>
                <a:solidFill>
                  <a:srgbClr val="FFFFFF"/>
                </a:solidFill>
                <a:effectLst/>
                <a:uLnTx/>
                <a:uFillTx/>
                <a:ea typeface="+mn-ea"/>
                <a:cs typeface="Calibri Light"/>
              </a:rPr>
              <a:t>Tier-0</a:t>
            </a:r>
          </a:p>
        </p:txBody>
      </p:sp>
      <p:pic>
        <p:nvPicPr>
          <p:cNvPr id="42" name="Picture 1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83980" y="854580"/>
            <a:ext cx="771307" cy="403717"/>
          </a:xfrm>
          <a:prstGeom prst="roundRect">
            <a:avLst/>
          </a:prstGeom>
          <a:ln w="12700" cap="rnd">
            <a:solidFill>
              <a:schemeClr val="accent1"/>
            </a:solidFill>
          </a:ln>
          <a:effectLst>
            <a:outerShdw blurRad="50800" dist="38100" dir="5400000" algn="t" rotWithShape="0">
              <a:prstClr val="black">
                <a:alpha val="40000"/>
              </a:prstClr>
            </a:outerShdw>
          </a:effectLst>
        </p:spPr>
      </p:pic>
      <p:pic>
        <p:nvPicPr>
          <p:cNvPr id="43" name="Picture 1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78972" y="1368692"/>
            <a:ext cx="847720" cy="44371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4" name="Picture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10986" y="1009538"/>
            <a:ext cx="894213" cy="468048"/>
          </a:xfrm>
          <a:prstGeom prst="roundRect">
            <a:avLst/>
          </a:prstGeom>
          <a:ln cap="rnd">
            <a:solidFill>
              <a:schemeClr val="accent1"/>
            </a:solidFill>
          </a:ln>
          <a:effectLst>
            <a:outerShdw blurRad="50800" dist="38100" dir="2700000" algn="tl" rotWithShape="0">
              <a:prstClr val="black">
                <a:alpha val="40000"/>
              </a:prstClr>
            </a:outerShdw>
          </a:effectLst>
        </p:spPr>
      </p:pic>
      <p:pic>
        <p:nvPicPr>
          <p:cNvPr id="45" name="Picture 134"/>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184897" y="1777877"/>
            <a:ext cx="839046" cy="43917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6" name="Picture 13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77385" y="1714031"/>
            <a:ext cx="854604" cy="447316"/>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7" name="Picture 16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09779" y="1315032"/>
            <a:ext cx="801604" cy="419575"/>
          </a:xfrm>
          <a:prstGeom prst="roundRect">
            <a:avLst>
              <a:gd name="adj" fmla="val 2169"/>
            </a:avLst>
          </a:prstGeom>
          <a:ln cap="rnd">
            <a:solidFill>
              <a:schemeClr val="accent1"/>
            </a:solidFill>
          </a:ln>
          <a:effectLst>
            <a:outerShdw blurRad="50800" dist="38100" dir="2700000" algn="tl" rotWithShape="0">
              <a:prstClr val="black">
                <a:alpha val="40000"/>
              </a:prstClr>
            </a:outerShdw>
          </a:effectLst>
        </p:spPr>
      </p:pic>
      <p:pic>
        <p:nvPicPr>
          <p:cNvPr id="48" name="Picture 2" descr="http://www.prace-project.eu/IMG/jpg/PRACE_Logo_pos_4c.jpg"/>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0808491" y="1642023"/>
            <a:ext cx="1117196" cy="761811"/>
          </a:xfrm>
          <a:prstGeom prst="ellipse">
            <a:avLst/>
          </a:prstGeom>
          <a:noFill/>
          <a:ln>
            <a:solidFill>
              <a:srgbClr val="F2FFE2"/>
            </a:solidFill>
          </a:ln>
          <a:extLst>
            <a:ext uri="{909E8E84-426E-40dd-AFC4-6F175D3DCCD1}">
              <a14:hiddenFill xmlns:a14="http://schemas.microsoft.com/office/drawing/2010/main" xmlns="">
                <a:solidFill>
                  <a:srgbClr val="FFFFFF"/>
                </a:solidFill>
              </a14:hiddenFill>
            </a:ext>
          </a:extLst>
        </p:spPr>
      </p:pic>
      <p:sp>
        <p:nvSpPr>
          <p:cNvPr id="49" name="Rounded Rectangle 48"/>
          <p:cNvSpPr/>
          <p:nvPr/>
        </p:nvSpPr>
        <p:spPr bwMode="auto">
          <a:xfrm>
            <a:off x="4434816" y="4735864"/>
            <a:ext cx="6773752" cy="1095017"/>
          </a:xfrm>
          <a:prstGeom prst="roundRect">
            <a:avLst/>
          </a:prstGeom>
          <a:noFill/>
          <a:ln w="38100" cap="flat" cmpd="sng" algn="ctr">
            <a:solidFill>
              <a:schemeClr val="accent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333639"/>
              </a:solidFill>
              <a:effectLst/>
              <a:uLnTx/>
              <a:uFillTx/>
              <a:latin typeface="Arial" charset="0"/>
              <a:ea typeface="ＭＳ Ｐゴシック" pitchFamily="20" charset="-128"/>
              <a:cs typeface="+mn-cs"/>
            </a:endParaRPr>
          </a:p>
        </p:txBody>
      </p:sp>
      <p:pic>
        <p:nvPicPr>
          <p:cNvPr id="51" name="Picture 50"/>
          <p:cNvPicPr>
            <a:picLocks noChangeAspect="1"/>
          </p:cNvPicPr>
          <p:nvPr/>
        </p:nvPicPr>
        <p:blipFill>
          <a:blip r:embed="rId10"/>
          <a:stretch>
            <a:fillRect/>
          </a:stretch>
        </p:blipFill>
        <p:spPr>
          <a:xfrm>
            <a:off x="9805199" y="1963952"/>
            <a:ext cx="828000" cy="438840"/>
          </a:xfrm>
          <a:prstGeom prst="roundRect">
            <a:avLst/>
          </a:prstGeom>
          <a:ln w="12700">
            <a:solidFill>
              <a:schemeClr val="accent1"/>
            </a:solidFill>
          </a:ln>
        </p:spPr>
      </p:pic>
      <p:pic>
        <p:nvPicPr>
          <p:cNvPr id="52" name="Picture 51"/>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9296563" y="4972643"/>
            <a:ext cx="784714" cy="279958"/>
          </a:xfrm>
          <a:prstGeom prst="rect">
            <a:avLst/>
          </a:prstGeom>
        </p:spPr>
      </p:pic>
      <p:pic>
        <p:nvPicPr>
          <p:cNvPr id="53" name="Picture 52"/>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5874976" y="4902683"/>
            <a:ext cx="951737" cy="423903"/>
          </a:xfrm>
          <a:prstGeom prst="rect">
            <a:avLst/>
          </a:prstGeom>
        </p:spPr>
      </p:pic>
      <p:pic>
        <p:nvPicPr>
          <p:cNvPr id="54" name="Picture 53"/>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4592507" y="4861056"/>
            <a:ext cx="581627" cy="465400"/>
          </a:xfrm>
          <a:prstGeom prst="rect">
            <a:avLst/>
          </a:prstGeom>
        </p:spPr>
      </p:pic>
      <p:pic>
        <p:nvPicPr>
          <p:cNvPr id="55" name="Picture 54"/>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7692944" y="4926351"/>
            <a:ext cx="800209" cy="400105"/>
          </a:xfrm>
          <a:prstGeom prst="rect">
            <a:avLst/>
          </a:prstGeom>
        </p:spPr>
      </p:pic>
      <p:pic>
        <p:nvPicPr>
          <p:cNvPr id="56" name="Picture 55"/>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10143411" y="4985688"/>
            <a:ext cx="993149" cy="235397"/>
          </a:xfrm>
          <a:prstGeom prst="rect">
            <a:avLst/>
          </a:prstGeom>
        </p:spPr>
      </p:pic>
      <p:pic>
        <p:nvPicPr>
          <p:cNvPr id="57" name="Picture 56"/>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1433710" y="3429000"/>
            <a:ext cx="1443679" cy="563137"/>
          </a:xfrm>
          <a:prstGeom prst="rect">
            <a:avLst/>
          </a:prstGeom>
        </p:spPr>
      </p:pic>
      <p:pic>
        <p:nvPicPr>
          <p:cNvPr id="58" name="Content Placeholder 5"/>
          <p:cNvPicPr>
            <a:picLocks noChangeAspect="1"/>
          </p:cNvPicPr>
          <p:nvPr/>
        </p:nvPicPr>
        <p:blipFill rotWithShape="1">
          <a:blip r:embed="rId17" cstate="print">
            <a:extLst>
              <a:ext uri="{28A0092B-C50C-407E-A947-70E740481C1C}">
                <a14:useLocalDpi xmlns:a14="http://schemas.microsoft.com/office/drawing/2010/main" val="0"/>
              </a:ext>
            </a:extLst>
          </a:blip>
          <a:srcRect l="6434" t="20842" r="7505" b="19832"/>
          <a:stretch/>
        </p:blipFill>
        <p:spPr>
          <a:xfrm>
            <a:off x="2748402" y="4979291"/>
            <a:ext cx="1487884" cy="684672"/>
          </a:xfrm>
          <a:prstGeom prst="roundRect">
            <a:avLst/>
          </a:prstGeom>
          <a:ln w="28575">
            <a:solidFill>
              <a:srgbClr val="DB6C30"/>
            </a:solidFill>
          </a:ln>
        </p:spPr>
      </p:pic>
      <p:sp>
        <p:nvSpPr>
          <p:cNvPr id="30"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17</a:t>
            </a:fld>
            <a:endParaRPr lang="nl-BE" sz="900" dirty="0">
              <a:solidFill>
                <a:schemeClr val="bg1"/>
              </a:solidFill>
            </a:endParaRPr>
          </a:p>
        </p:txBody>
      </p:sp>
      <p:sp>
        <p:nvSpPr>
          <p:cNvPr id="32" name="Rectangle 2"/>
          <p:cNvSpPr txBox="1">
            <a:spLocks noChangeArrowheads="1"/>
          </p:cNvSpPr>
          <p:nvPr/>
        </p:nvSpPr>
        <p:spPr>
          <a:xfrm>
            <a:off x="720000" y="332657"/>
            <a:ext cx="5472113"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marL="12700" lvl="0" defTabSz="914400">
              <a:lnSpc>
                <a:spcPct val="100000"/>
              </a:lnSpc>
              <a:spcBef>
                <a:spcPts val="95"/>
              </a:spcBef>
              <a:defRPr/>
            </a:pPr>
            <a:r>
              <a:rPr lang="en-GB" sz="3200" b="1" spc="35" dirty="0">
                <a:solidFill>
                  <a:srgbClr val="333639"/>
                </a:solidFill>
                <a:cs typeface="Trebuchet MS"/>
              </a:rPr>
              <a:t>VSC</a:t>
            </a:r>
            <a:r>
              <a:rPr lang="en-GB" sz="3200" b="1" spc="-50" dirty="0">
                <a:solidFill>
                  <a:srgbClr val="333639"/>
                </a:solidFill>
                <a:latin typeface="Trebuchet MS"/>
                <a:cs typeface="Trebuchet MS"/>
              </a:rPr>
              <a:t> </a:t>
            </a:r>
            <a:r>
              <a:rPr lang="en-GB" sz="3200" spc="45" dirty="0">
                <a:solidFill>
                  <a:srgbClr val="333639"/>
                </a:solidFill>
              </a:rPr>
              <a:t>HPC infrastructure</a:t>
            </a:r>
            <a:endParaRPr lang="en-GB" sz="3200" dirty="0">
              <a:solidFill>
                <a:srgbClr val="333639"/>
              </a:solidFill>
              <a:latin typeface="Trebuchet MS"/>
              <a:cs typeface="Trebuchet MS"/>
            </a:endParaRPr>
          </a:p>
        </p:txBody>
      </p:sp>
      <p:sp>
        <p:nvSpPr>
          <p:cNvPr id="2" name="Rechthoek 4">
            <a:extLst>
              <a:ext uri="{FF2B5EF4-FFF2-40B4-BE49-F238E27FC236}">
                <a16:creationId xmlns:a16="http://schemas.microsoft.com/office/drawing/2014/main" id="{F25DDA83-4F5F-8FF7-BE3C-1682E2D661AE}"/>
              </a:ext>
            </a:extLst>
          </p:cNvPr>
          <p:cNvSpPr/>
          <p:nvPr/>
        </p:nvSpPr>
        <p:spPr>
          <a:xfrm>
            <a:off x="7262628" y="2960623"/>
            <a:ext cx="1945276"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(VUB, 2026)</a:t>
            </a:r>
          </a:p>
        </p:txBody>
      </p:sp>
      <p:pic>
        <p:nvPicPr>
          <p:cNvPr id="4" name="Picture 3">
            <a:extLst>
              <a:ext uri="{FF2B5EF4-FFF2-40B4-BE49-F238E27FC236}">
                <a16:creationId xmlns:a16="http://schemas.microsoft.com/office/drawing/2014/main" id="{D1E54B2E-343A-2C20-E45F-E796BF22E5B2}"/>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0776520" y="476672"/>
            <a:ext cx="1103646" cy="1103646"/>
          </a:xfrm>
          <a:prstGeom prst="rect">
            <a:avLst/>
          </a:prstGeom>
        </p:spPr>
      </p:pic>
      <p:pic>
        <p:nvPicPr>
          <p:cNvPr id="36" name="Afbeelding 29"/>
          <p:cNvPicPr>
            <a:picLocks noChangeAspect="1"/>
          </p:cNvPicPr>
          <p:nvPr/>
        </p:nvPicPr>
        <p:blipFill>
          <a:blip r:embed="rId19" cstate="print">
            <a:extLst>
              <a:ext uri="{28A0092B-C50C-407E-A947-70E740481C1C}">
                <a14:useLocalDpi xmlns:a14="http://schemas.microsoft.com/office/drawing/2010/main" val="0"/>
              </a:ext>
            </a:extLst>
          </a:blip>
          <a:srcRect l="23526" r="23526"/>
          <a:stretch/>
        </p:blipFill>
        <p:spPr>
          <a:xfrm>
            <a:off x="5142250" y="3601094"/>
            <a:ext cx="1637484" cy="941553"/>
          </a:xfrm>
          <a:prstGeom prst="roundRect">
            <a:avLst/>
          </a:prstGeom>
          <a:ln w="28575">
            <a:solidFill>
              <a:schemeClr val="accent1"/>
            </a:solidFill>
          </a:ln>
        </p:spPr>
      </p:pic>
      <p:pic>
        <p:nvPicPr>
          <p:cNvPr id="3" name="Afbeelding 2" descr="Afbeelding met Lettertype, Graphics, tekst, logo&#10;&#10;Door AI gegenereerde inhoud is mogelijk onjuist.">
            <a:extLst>
              <a:ext uri="{FF2B5EF4-FFF2-40B4-BE49-F238E27FC236}">
                <a16:creationId xmlns:a16="http://schemas.microsoft.com/office/drawing/2014/main" id="{9D4FE40A-A1B8-D264-AF46-58FFCD90E9B0}"/>
              </a:ext>
            </a:extLst>
          </p:cNvPr>
          <p:cNvPicPr>
            <a:picLocks noChangeAspect="1"/>
          </p:cNvPicPr>
          <p:nvPr/>
        </p:nvPicPr>
        <p:blipFill>
          <a:blip r:embed="rId20"/>
          <a:srcRect b="25164"/>
          <a:stretch>
            <a:fillRect/>
          </a:stretch>
        </p:blipFill>
        <p:spPr>
          <a:xfrm>
            <a:off x="5282902" y="2607045"/>
            <a:ext cx="2139515" cy="792088"/>
          </a:xfrm>
          <a:prstGeom prst="rect">
            <a:avLst/>
          </a:prstGeom>
        </p:spPr>
      </p:pic>
    </p:spTree>
    <p:extLst>
      <p:ext uri="{BB962C8B-B14F-4D97-AF65-F5344CB8AC3E}">
        <p14:creationId xmlns:p14="http://schemas.microsoft.com/office/powerpoint/2010/main" val="1003376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2C181-2E8D-EC7C-F73C-CF653C651D65}"/>
            </a:ext>
          </a:extLst>
        </p:cNvPr>
        <p:cNvGrpSpPr/>
        <p:nvPr/>
      </p:nvGrpSpPr>
      <p:grpSpPr>
        <a:xfrm>
          <a:off x="0" y="0"/>
          <a:ext cx="0" cy="0"/>
          <a:chOff x="0" y="0"/>
          <a:chExt cx="0" cy="0"/>
        </a:xfrm>
      </p:grpSpPr>
      <p:pic>
        <p:nvPicPr>
          <p:cNvPr id="3" name="Afbeelding 2" descr="Afbeelding met Lettertype, Graphics, tekst, logo&#10;&#10;Door AI gegenereerde inhoud is mogelijk onjuist.">
            <a:extLst>
              <a:ext uri="{FF2B5EF4-FFF2-40B4-BE49-F238E27FC236}">
                <a16:creationId xmlns:a16="http://schemas.microsoft.com/office/drawing/2014/main" id="{FF537F24-B1DE-7827-719B-8644A1C28C64}"/>
              </a:ext>
            </a:extLst>
          </p:cNvPr>
          <p:cNvPicPr>
            <a:picLocks noChangeAspect="1"/>
          </p:cNvPicPr>
          <p:nvPr/>
        </p:nvPicPr>
        <p:blipFill>
          <a:blip r:embed="rId2"/>
          <a:srcRect b="25996"/>
          <a:stretch>
            <a:fillRect/>
          </a:stretch>
        </p:blipFill>
        <p:spPr>
          <a:xfrm>
            <a:off x="3431704" y="2110955"/>
            <a:ext cx="6550495" cy="2398165"/>
          </a:xfrm>
          <a:prstGeom prst="rect">
            <a:avLst/>
          </a:prstGeom>
        </p:spPr>
      </p:pic>
    </p:spTree>
    <p:extLst>
      <p:ext uri="{BB962C8B-B14F-4D97-AF65-F5344CB8AC3E}">
        <p14:creationId xmlns:p14="http://schemas.microsoft.com/office/powerpoint/2010/main" val="6458176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p:cNvGrpSpPr/>
          <p:nvPr/>
        </p:nvGrpSpPr>
        <p:grpSpPr>
          <a:xfrm>
            <a:off x="551383" y="1268760"/>
            <a:ext cx="5035105" cy="4094856"/>
            <a:chOff x="6208615" y="1074273"/>
            <a:chExt cx="5798610" cy="4836606"/>
          </a:xfrm>
        </p:grpSpPr>
        <p:pic>
          <p:nvPicPr>
            <p:cNvPr id="110" name="Picture 10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40016" y="2060848"/>
              <a:ext cx="5767209" cy="3850031"/>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112" name="TextBox 111"/>
            <p:cNvSpPr txBox="1"/>
            <p:nvPr/>
          </p:nvSpPr>
          <p:spPr>
            <a:xfrm>
              <a:off x="6208615" y="1074273"/>
              <a:ext cx="5798610" cy="836114"/>
            </a:xfrm>
            <a:prstGeom prst="rect">
              <a:avLst/>
            </a:prstGeom>
            <a:noFill/>
          </p:spPr>
          <p:txBody>
            <a:bodyPr wrap="square" rtlCol="0">
              <a:spAutoFit/>
            </a:bodyPr>
            <a:lstStyle/>
            <a:p>
              <a:pPr algn="ctr"/>
              <a:r>
                <a:rPr lang="en-US" sz="2000" b="1" dirty="0"/>
                <a:t>Genius </a:t>
              </a:r>
              <a:r>
                <a:rPr lang="en-US" sz="2000" dirty="0"/>
                <a:t>(2018 - 2026) </a:t>
              </a:r>
              <a:br>
                <a:rPr lang="en-US" sz="2000" dirty="0"/>
              </a:br>
              <a:r>
                <a:rPr lang="en-US" sz="2000" dirty="0"/>
                <a:t>250 nodes  |  8936 cores</a:t>
              </a:r>
              <a:endParaRPr lang="nl-BE" sz="2000" dirty="0"/>
            </a:p>
          </p:txBody>
        </p:sp>
      </p:grpSp>
      <p:grpSp>
        <p:nvGrpSpPr>
          <p:cNvPr id="5" name="Group 4">
            <a:extLst>
              <a:ext uri="{FF2B5EF4-FFF2-40B4-BE49-F238E27FC236}">
                <a16:creationId xmlns:a16="http://schemas.microsoft.com/office/drawing/2014/main" id="{563222DC-0E37-403D-BD27-1CAAB6678B14}"/>
              </a:ext>
            </a:extLst>
          </p:cNvPr>
          <p:cNvGrpSpPr/>
          <p:nvPr/>
        </p:nvGrpSpPr>
        <p:grpSpPr>
          <a:xfrm>
            <a:off x="6384032" y="260648"/>
            <a:ext cx="5195900" cy="3741370"/>
            <a:chOff x="6363326" y="1352962"/>
            <a:chExt cx="5195900" cy="3741370"/>
          </a:xfrm>
        </p:grpSpPr>
        <p:pic>
          <p:nvPicPr>
            <p:cNvPr id="3" name="Picture 2" descr="Text&#10;&#10;Description automatically generated">
              <a:extLst>
                <a:ext uri="{FF2B5EF4-FFF2-40B4-BE49-F238E27FC236}">
                  <a16:creationId xmlns:a16="http://schemas.microsoft.com/office/drawing/2014/main" id="{64F7F281-76E9-439E-A8A2-9FA894C523C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3326" y="2184628"/>
              <a:ext cx="5195900" cy="2909704"/>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4" name="TextBox 3">
              <a:extLst>
                <a:ext uri="{FF2B5EF4-FFF2-40B4-BE49-F238E27FC236}">
                  <a16:creationId xmlns:a16="http://schemas.microsoft.com/office/drawing/2014/main" id="{BEB05BC8-7E7C-4F96-B1EB-746FFE1BC15B}"/>
                </a:ext>
              </a:extLst>
            </p:cNvPr>
            <p:cNvSpPr txBox="1"/>
            <p:nvPr/>
          </p:nvSpPr>
          <p:spPr>
            <a:xfrm>
              <a:off x="6363326" y="1352962"/>
              <a:ext cx="5195900" cy="707886"/>
            </a:xfrm>
            <a:prstGeom prst="rect">
              <a:avLst/>
            </a:prstGeom>
            <a:noFill/>
          </p:spPr>
          <p:txBody>
            <a:bodyPr wrap="square" rtlCol="0">
              <a:spAutoFit/>
            </a:bodyPr>
            <a:lstStyle/>
            <a:p>
              <a:pPr algn="ctr"/>
              <a:r>
                <a:rPr lang="en-US" sz="2000" b="1" dirty="0" err="1"/>
                <a:t>wICE</a:t>
              </a:r>
              <a:r>
                <a:rPr lang="en-US" sz="2000" dirty="0"/>
                <a:t> (since September 2022)</a:t>
              </a:r>
              <a:br>
                <a:rPr lang="en-US" sz="2000" dirty="0"/>
              </a:br>
              <a:r>
                <a:rPr lang="en-US" sz="2000" dirty="0"/>
                <a:t>186 nodes  |  13392 cores</a:t>
              </a:r>
              <a:endParaRPr lang="nl-BE" sz="2000" dirty="0"/>
            </a:p>
          </p:txBody>
        </p:sp>
      </p:gr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19</a:t>
            </a:fld>
            <a:endParaRPr lang="nl-BE" sz="900" dirty="0">
              <a:solidFill>
                <a:schemeClr val="bg1"/>
              </a:solidFill>
            </a:endParaRPr>
          </a:p>
        </p:txBody>
      </p:sp>
      <p:sp>
        <p:nvSpPr>
          <p:cNvPr id="1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clusters @ KU Leuven</a:t>
            </a:r>
          </a:p>
        </p:txBody>
      </p:sp>
      <p:sp>
        <p:nvSpPr>
          <p:cNvPr id="2" name="Rectangle: Rounded Corners 1">
            <a:extLst>
              <a:ext uri="{FF2B5EF4-FFF2-40B4-BE49-F238E27FC236}">
                <a16:creationId xmlns:a16="http://schemas.microsoft.com/office/drawing/2014/main" id="{58D41200-0517-2A58-E202-969DB2055E94}"/>
              </a:ext>
            </a:extLst>
          </p:cNvPr>
          <p:cNvSpPr/>
          <p:nvPr/>
        </p:nvSpPr>
        <p:spPr>
          <a:xfrm>
            <a:off x="407368" y="5517232"/>
            <a:ext cx="5373334" cy="50405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Most of Genius will be decommissioned in early 2026</a:t>
            </a:r>
            <a:endParaRPr lang="nl-BE" b="1" dirty="0"/>
          </a:p>
        </p:txBody>
      </p:sp>
      <p:sp>
        <p:nvSpPr>
          <p:cNvPr id="7" name="TextBox 6">
            <a:extLst>
              <a:ext uri="{FF2B5EF4-FFF2-40B4-BE49-F238E27FC236}">
                <a16:creationId xmlns:a16="http://schemas.microsoft.com/office/drawing/2014/main" id="{7286CBCD-2513-19BE-312B-A7E269BBCBF9}"/>
              </a:ext>
            </a:extLst>
          </p:cNvPr>
          <p:cNvSpPr txBox="1"/>
          <p:nvPr/>
        </p:nvSpPr>
        <p:spPr>
          <a:xfrm>
            <a:off x="6384032" y="4653136"/>
            <a:ext cx="5195900" cy="707886"/>
          </a:xfrm>
          <a:prstGeom prst="rect">
            <a:avLst/>
          </a:prstGeom>
          <a:noFill/>
        </p:spPr>
        <p:txBody>
          <a:bodyPr wrap="square" rtlCol="0">
            <a:spAutoFit/>
          </a:bodyPr>
          <a:lstStyle/>
          <a:p>
            <a:r>
              <a:rPr lang="en-US" sz="2000" b="1" dirty="0"/>
              <a:t>… and a new cluster is already being installed!</a:t>
            </a:r>
            <a:br>
              <a:rPr lang="en-US" sz="2000" b="1" dirty="0"/>
            </a:br>
            <a:r>
              <a:rPr lang="en-US" sz="2000" b="1" dirty="0"/>
              <a:t>Early pilot phase around April/May 2026</a:t>
            </a:r>
            <a:endParaRPr lang="nl-BE" sz="2000" b="1" dirty="0"/>
          </a:p>
        </p:txBody>
      </p:sp>
    </p:spTree>
    <p:custDataLst>
      <p:tags r:id="rId1"/>
    </p:custDataLst>
    <p:extLst>
      <p:ext uri="{BB962C8B-B14F-4D97-AF65-F5344CB8AC3E}">
        <p14:creationId xmlns:p14="http://schemas.microsoft.com/office/powerpoint/2010/main" val="4276224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p:cNvGraphicFramePr>
            <a:graphicFrameLocks noGrp="1"/>
          </p:cNvGraphicFramePr>
          <p:nvPr>
            <p:extLst>
              <p:ext uri="{D42A27DB-BD31-4B8C-83A1-F6EECF244321}">
                <p14:modId xmlns:p14="http://schemas.microsoft.com/office/powerpoint/2010/main" val="2079491135"/>
              </p:ext>
            </p:extLst>
          </p:nvPr>
        </p:nvGraphicFramePr>
        <p:xfrm>
          <a:off x="804290" y="1775392"/>
          <a:ext cx="10081121" cy="1919342"/>
        </p:xfrm>
        <a:graphic>
          <a:graphicData uri="http://schemas.openxmlformats.org/drawingml/2006/table">
            <a:tbl>
              <a:tblPr>
                <a:tableStyleId>{5C22544A-7EE6-4342-B048-85BDC9FD1C3A}</a:tableStyleId>
              </a:tblPr>
              <a:tblGrid>
                <a:gridCol w="1927975">
                  <a:extLst>
                    <a:ext uri="{9D8B030D-6E8A-4147-A177-3AD203B41FA5}">
                      <a16:colId xmlns:a16="http://schemas.microsoft.com/office/drawing/2014/main" val="1052959117"/>
                    </a:ext>
                  </a:extLst>
                </a:gridCol>
                <a:gridCol w="1656184">
                  <a:extLst>
                    <a:ext uri="{9D8B030D-6E8A-4147-A177-3AD203B41FA5}">
                      <a16:colId xmlns:a16="http://schemas.microsoft.com/office/drawing/2014/main" val="44479686"/>
                    </a:ext>
                  </a:extLst>
                </a:gridCol>
                <a:gridCol w="1080120">
                  <a:extLst>
                    <a:ext uri="{9D8B030D-6E8A-4147-A177-3AD203B41FA5}">
                      <a16:colId xmlns:a16="http://schemas.microsoft.com/office/drawing/2014/main" val="2291407436"/>
                    </a:ext>
                  </a:extLst>
                </a:gridCol>
                <a:gridCol w="1102780">
                  <a:extLst>
                    <a:ext uri="{9D8B030D-6E8A-4147-A177-3AD203B41FA5}">
                      <a16:colId xmlns:a16="http://schemas.microsoft.com/office/drawing/2014/main" val="4190090989"/>
                    </a:ext>
                  </a:extLst>
                </a:gridCol>
                <a:gridCol w="1416584">
                  <a:extLst>
                    <a:ext uri="{9D8B030D-6E8A-4147-A177-3AD203B41FA5}">
                      <a16:colId xmlns:a16="http://schemas.microsoft.com/office/drawing/2014/main" val="3999970807"/>
                    </a:ext>
                  </a:extLst>
                </a:gridCol>
                <a:gridCol w="1448739">
                  <a:extLst>
                    <a:ext uri="{9D8B030D-6E8A-4147-A177-3AD203B41FA5}">
                      <a16:colId xmlns:a16="http://schemas.microsoft.com/office/drawing/2014/main" val="3433497480"/>
                    </a:ext>
                  </a:extLst>
                </a:gridCol>
                <a:gridCol w="1448739">
                  <a:extLst>
                    <a:ext uri="{9D8B030D-6E8A-4147-A177-3AD203B41FA5}">
                      <a16:colId xmlns:a16="http://schemas.microsoft.com/office/drawing/2014/main" val="284707978"/>
                    </a:ext>
                  </a:extLst>
                </a:gridCol>
              </a:tblGrid>
              <a:tr h="445163">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Planned end of life</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620132">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u="none" strike="noStrike" dirty="0">
                          <a:effectLst/>
                        </a:rPr>
                        <a:t>Skylake P100 </a:t>
                      </a:r>
                      <a:r>
                        <a:rPr lang="en-US" sz="1600" b="1" u="none" strike="noStrike" dirty="0">
                          <a:effectLst/>
                        </a:rPr>
                        <a:t>GPU</a:t>
                      </a:r>
                      <a:endParaRPr lang="en-US" sz="16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600" u="none" strike="noStrike" dirty="0">
                          <a:effectLst/>
                        </a:rPr>
                        <a:t>Xeon Gold 6140</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600" b="1" u="none" strike="noStrike" dirty="0">
                          <a:effectLst/>
                        </a:rPr>
                        <a:t>4xP100</a:t>
                      </a:r>
                      <a:r>
                        <a:rPr lang="en-US" sz="1600" u="none" strike="noStrike" dirty="0">
                          <a:effectLst/>
                        </a:rPr>
                        <a:t> SXM2 16GB</a:t>
                      </a:r>
                      <a:endParaRPr lang="en-US" sz="16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6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600" b="1" u="none" strike="noStrike" dirty="0">
                          <a:effectLst/>
                        </a:rPr>
                        <a:t>192 GB</a:t>
                      </a:r>
                      <a:endParaRPr lang="en-US" sz="16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600" b="1" u="none" strike="noStrike" dirty="0">
                          <a:effectLst/>
                        </a:rPr>
                        <a:t>5000</a:t>
                      </a:r>
                      <a:endParaRPr lang="en-US" sz="16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600" b="0" i="0" u="none" strike="noStrike" dirty="0">
                          <a:solidFill>
                            <a:srgbClr val="000000"/>
                          </a:solidFill>
                          <a:effectLst/>
                          <a:latin typeface="Calibri" panose="020F0502020204030204" pitchFamily="34" charset="0"/>
                        </a:rPr>
                        <a:t>gpu_p100</a:t>
                      </a:r>
                    </a:p>
                  </a:txBody>
                  <a:tcPr marL="9525" marR="9525" marT="9525" marB="0" anchor="ctr"/>
                </a:tc>
                <a:tc>
                  <a:txBody>
                    <a:bodyPr/>
                    <a:lstStyle/>
                    <a:p>
                      <a:pPr algn="ctr" fontAlgn="b"/>
                      <a:r>
                        <a:rPr lang="en-US" sz="1600" b="0" i="0" u="none" strike="noStrike" dirty="0">
                          <a:solidFill>
                            <a:srgbClr val="000000"/>
                          </a:solidFill>
                          <a:effectLst/>
                          <a:latin typeface="Calibri" panose="020F0502020204030204" pitchFamily="34" charset="0"/>
                        </a:rPr>
                        <a:t>2027 (?)</a:t>
                      </a:r>
                    </a:p>
                  </a:txBody>
                  <a:tcPr marL="9525" marR="9525" marT="9525" marB="0" anchor="ctr"/>
                </a:tc>
                <a:extLst>
                  <a:ext uri="{0D108BD9-81ED-4DB2-BD59-A6C34878D82A}">
                    <a16:rowId xmlns:a16="http://schemas.microsoft.com/office/drawing/2014/main" val="1304480439"/>
                  </a:ext>
                </a:extLst>
              </a:tr>
              <a:tr h="620132">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dirty="0" err="1">
                          <a:solidFill>
                            <a:srgbClr val="000000"/>
                          </a:solidFill>
                          <a:effectLst/>
                          <a:latin typeface="Calibri" panose="020F0502020204030204" pitchFamily="34" charset="0"/>
                        </a:rPr>
                        <a:t>Cascadelake</a:t>
                      </a:r>
                      <a:r>
                        <a:rPr lang="en-US" sz="1600" b="0" i="0" u="none" strike="noStrike" dirty="0">
                          <a:solidFill>
                            <a:srgbClr val="000000"/>
                          </a:solidFill>
                          <a:effectLst/>
                          <a:latin typeface="Calibri" panose="020F0502020204030204" pitchFamily="34" charset="0"/>
                        </a:rPr>
                        <a:t> V100 </a:t>
                      </a:r>
                      <a:r>
                        <a:rPr lang="en-US" sz="1600" b="1" i="0" u="none" strike="noStrike" dirty="0">
                          <a:solidFill>
                            <a:srgbClr val="000000"/>
                          </a:solidFill>
                          <a:effectLst/>
                          <a:latin typeface="Calibri" panose="020F0502020204030204" pitchFamily="34" charset="0"/>
                        </a:rPr>
                        <a:t>GPU</a:t>
                      </a:r>
                    </a:p>
                  </a:txBody>
                  <a:tcPr marL="9525" marR="9525" marT="9525"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dirty="0">
                          <a:solidFill>
                            <a:srgbClr val="000000"/>
                          </a:solidFill>
                          <a:effectLst/>
                          <a:latin typeface="Calibri" panose="020F0502020204030204" pitchFamily="34" charset="0"/>
                        </a:rPr>
                        <a:t>Xeon Gold 6240</a:t>
                      </a:r>
                      <a:br>
                        <a:rPr lang="en-US" sz="1600" b="0" i="0" u="none" strike="noStrike" dirty="0">
                          <a:solidFill>
                            <a:srgbClr val="000000"/>
                          </a:solidFill>
                          <a:effectLst/>
                          <a:latin typeface="Calibri" panose="020F0502020204030204" pitchFamily="34" charset="0"/>
                        </a:rPr>
                      </a:br>
                      <a:r>
                        <a:rPr lang="en-US" sz="1600" b="1" i="0" u="none" strike="noStrike" dirty="0">
                          <a:solidFill>
                            <a:srgbClr val="000000"/>
                          </a:solidFill>
                          <a:effectLst/>
                          <a:latin typeface="Calibri" panose="020F0502020204030204" pitchFamily="34" charset="0"/>
                        </a:rPr>
                        <a:t>8xV100</a:t>
                      </a:r>
                      <a:r>
                        <a:rPr lang="en-US" sz="1600" b="0" i="0" u="none" strike="noStrike" dirty="0">
                          <a:solidFill>
                            <a:srgbClr val="000000"/>
                          </a:solidFill>
                          <a:effectLst/>
                          <a:latin typeface="Calibri" panose="020F0502020204030204" pitchFamily="34" charset="0"/>
                        </a:rPr>
                        <a:t> SXM2 32GB</a:t>
                      </a:r>
                    </a:p>
                  </a:txBody>
                  <a:tcPr marL="9525" marR="9525" marT="9525" marB="0" anchor="ctr"/>
                </a:tc>
                <a:tc>
                  <a:txBody>
                    <a:bodyPr/>
                    <a:lstStyle/>
                    <a:p>
                      <a:pPr algn="ctr" fontAlgn="b"/>
                      <a:r>
                        <a:rPr lang="en-US" sz="16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600" b="1" i="0" u="none" strike="noStrike" dirty="0">
                          <a:solidFill>
                            <a:srgbClr val="000000"/>
                          </a:solidFill>
                          <a:effectLst/>
                          <a:latin typeface="Calibri" panose="020F0502020204030204" pitchFamily="34" charset="0"/>
                        </a:rPr>
                        <a:t>768 GB</a:t>
                      </a:r>
                    </a:p>
                  </a:txBody>
                  <a:tcPr marL="9525" marR="9525" marT="9525" marB="0" anchor="ctr"/>
                </a:tc>
                <a:tc>
                  <a:txBody>
                    <a:bodyPr/>
                    <a:lstStyle/>
                    <a:p>
                      <a:pPr algn="ctr" fontAlgn="b"/>
                      <a:r>
                        <a:rPr lang="en-US" sz="1600" b="1" i="0" u="none" strike="noStrike" dirty="0">
                          <a:solidFill>
                            <a:srgbClr val="000000"/>
                          </a:solidFill>
                          <a:effectLst/>
                          <a:latin typeface="Calibri" panose="020F0502020204030204" pitchFamily="34" charset="0"/>
                        </a:rPr>
                        <a:t>21000</a:t>
                      </a:r>
                    </a:p>
                  </a:txBody>
                  <a:tcPr marL="9525" marR="9525" marT="9525" marB="0" anchor="ctr"/>
                </a:tc>
                <a:tc>
                  <a:txBody>
                    <a:bodyPr/>
                    <a:lstStyle/>
                    <a:p>
                      <a:pPr algn="ctr" fontAlgn="b"/>
                      <a:r>
                        <a:rPr lang="en-US" sz="1600" b="0" i="0" u="none" strike="noStrike" dirty="0">
                          <a:solidFill>
                            <a:srgbClr val="000000"/>
                          </a:solidFill>
                          <a:effectLst/>
                          <a:latin typeface="Calibri" panose="020F0502020204030204" pitchFamily="34" charset="0"/>
                        </a:rPr>
                        <a:t>gpu_v100</a:t>
                      </a:r>
                    </a:p>
                  </a:txBody>
                  <a:tcPr marL="9525" marR="9525" marT="9525" marB="0" anchor="ctr"/>
                </a:tc>
                <a:tc>
                  <a:txBody>
                    <a:bodyPr/>
                    <a:lstStyle/>
                    <a:p>
                      <a:pPr algn="ctr" fontAlgn="b"/>
                      <a:r>
                        <a:rPr lang="en-US" sz="1600" b="0" i="0" u="none" strike="noStrike" dirty="0">
                          <a:solidFill>
                            <a:srgbClr val="000000"/>
                          </a:solidFill>
                          <a:effectLst/>
                          <a:latin typeface="Calibri" panose="020F0502020204030204" pitchFamily="34" charset="0"/>
                        </a:rPr>
                        <a:t>2027 (?)</a:t>
                      </a:r>
                    </a:p>
                  </a:txBody>
                  <a:tcPr marL="9525" marR="9525" marT="9525" marB="0" anchor="ctr"/>
                </a:tc>
                <a:extLst>
                  <a:ext uri="{0D108BD9-81ED-4DB2-BD59-A6C34878D82A}">
                    <a16:rowId xmlns:a16="http://schemas.microsoft.com/office/drawing/2014/main" val="3368972878"/>
                  </a:ext>
                </a:extLst>
              </a:tr>
            </a:tbl>
          </a:graphicData>
        </a:graphic>
      </p:graphicFrame>
      <p:sp>
        <p:nvSpPr>
          <p:cNvPr id="7" name="Rectangle 2"/>
          <p:cNvSpPr txBox="1">
            <a:spLocks noChangeArrowheads="1"/>
          </p:cNvSpPr>
          <p:nvPr/>
        </p:nvSpPr>
        <p:spPr>
          <a:xfrm>
            <a:off x="711641" y="154896"/>
            <a:ext cx="11112000" cy="60980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Tier-2 cluster </a:t>
            </a:r>
            <a:r>
              <a:rPr lang="en-US" altLang="en-US" sz="3200" dirty="0"/>
              <a:t>–</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Genius</a:t>
            </a:r>
          </a:p>
        </p:txBody>
      </p:sp>
      <p:grpSp>
        <p:nvGrpSpPr>
          <p:cNvPr id="2" name="Group 1">
            <a:extLst>
              <a:ext uri="{FF2B5EF4-FFF2-40B4-BE49-F238E27FC236}">
                <a16:creationId xmlns:a16="http://schemas.microsoft.com/office/drawing/2014/main" id="{A52095DF-5371-BAB6-1A60-D07C2D9690FD}"/>
              </a:ext>
            </a:extLst>
          </p:cNvPr>
          <p:cNvGrpSpPr/>
          <p:nvPr/>
        </p:nvGrpSpPr>
        <p:grpSpPr>
          <a:xfrm>
            <a:off x="804289" y="5097958"/>
            <a:ext cx="10081121" cy="923330"/>
            <a:chOff x="1140973" y="5005393"/>
            <a:chExt cx="9645357" cy="923330"/>
          </a:xfrm>
        </p:grpSpPr>
        <p:sp>
          <p:nvSpPr>
            <p:cNvPr id="3" name="TextBox 2">
              <a:extLst>
                <a:ext uri="{FF2B5EF4-FFF2-40B4-BE49-F238E27FC236}">
                  <a16:creationId xmlns:a16="http://schemas.microsoft.com/office/drawing/2014/main" id="{980DEDEC-F2E7-A441-6C42-F0F5A3B4EC60}"/>
                </a:ext>
              </a:extLst>
            </p:cNvPr>
            <p:cNvSpPr txBox="1"/>
            <p:nvPr/>
          </p:nvSpPr>
          <p:spPr>
            <a:xfrm>
              <a:off x="1140973" y="5005393"/>
              <a:ext cx="9645357" cy="923330"/>
            </a:xfrm>
            <a:prstGeom prst="rect">
              <a:avLst/>
            </a:prstGeom>
            <a:noFill/>
            <a:ln w="25400">
              <a:solidFill>
                <a:schemeClr val="accent1"/>
              </a:solidFill>
            </a:ln>
          </p:spPr>
          <p:txBody>
            <a:bodyPr wrap="square" numCol="2" spcCol="144000" rtlCol="0">
              <a:spAutoFit/>
            </a:bodyPr>
            <a:lstStyle/>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CPU nodes: </a:t>
              </a:r>
              <a:r>
                <a:rPr kumimoji="0" lang="en-US" sz="1800" i="0" u="none" strike="noStrike" kern="1200" cap="none" spc="0" normalizeH="0" baseline="0" noProof="0" dirty="0">
                  <a:ln>
                    <a:noFill/>
                  </a:ln>
                  <a:solidFill>
                    <a:srgbClr val="333639"/>
                  </a:solidFill>
                  <a:effectLst/>
                  <a:uLnTx/>
                  <a:uFillTx/>
                  <a:latin typeface="FlandersArtSans-Regular"/>
                  <a:ea typeface="+mn-ea"/>
                  <a:cs typeface="+mn-cs"/>
                </a:rPr>
                <a:t>Decommissioning: March 2026</a:t>
              </a:r>
              <a:endParaRPr kumimoji="0" lang="en-US" sz="1800" b="0" i="0" u="none" strike="noStrike" kern="1200" cap="none" spc="0" normalizeH="0" baseline="0" noProof="0" dirty="0">
                <a:ln>
                  <a:noFill/>
                </a:ln>
                <a:solidFill>
                  <a:srgbClr val="333639"/>
                </a:solidFill>
                <a:effectLst/>
                <a:uLnTx/>
                <a:uFillTx/>
                <a:latin typeface="FlandersArtSans-Regular"/>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GPU nodes: </a:t>
              </a:r>
              <a:r>
                <a:rPr kumimoji="0" lang="en-US" sz="1800" i="0" u="none" strike="noStrike" kern="1200" cap="none" spc="0" normalizeH="0" baseline="0" noProof="0" dirty="0">
                  <a:ln>
                    <a:noFill/>
                  </a:ln>
                  <a:solidFill>
                    <a:srgbClr val="333639"/>
                  </a:solidFill>
                  <a:effectLst/>
                  <a:uLnTx/>
                  <a:uFillTx/>
                  <a:latin typeface="FlandersArtSans-Regular"/>
                  <a:ea typeface="+mn-ea"/>
                  <a:cs typeface="+mn-cs"/>
                </a:rPr>
                <a:t>Will stay until 2027</a:t>
              </a:r>
              <a:endParaRPr kumimoji="0" lang="en-US" sz="1800" b="0" i="0" u="none" strike="noStrike" kern="1200" cap="none" spc="0" normalizeH="0" baseline="0" noProof="0" dirty="0">
                <a:ln>
                  <a:noFill/>
                </a:ln>
                <a:solidFill>
                  <a:srgbClr val="333639"/>
                </a:solidFill>
                <a:effectLst/>
                <a:uLnTx/>
                <a:uFillTx/>
                <a:latin typeface="FlandersArtSans-Regular"/>
                <a:ea typeface="+mn-ea"/>
                <a:cs typeface="+mn-cs"/>
              </a:endParaRPr>
            </a:p>
            <a:p>
              <a:pPr marL="285750" indent="-285750">
                <a:buFont typeface="Courier New" panose="02070309020205020404" pitchFamily="49" charset="0"/>
                <a:buChar char="o"/>
                <a:defRPr/>
              </a:pPr>
              <a:r>
                <a:rPr lang="en-US" b="1" dirty="0">
                  <a:solidFill>
                    <a:srgbClr val="333639"/>
                  </a:solidFill>
                </a:rPr>
                <a:t>Current OS: </a:t>
              </a:r>
              <a:r>
                <a:rPr lang="en-US" dirty="0">
                  <a:solidFill>
                    <a:srgbClr val="333639"/>
                  </a:solidFill>
                </a:rPr>
                <a:t>Rocky8</a:t>
              </a:r>
            </a:p>
            <a:p>
              <a:pPr marL="285750" indent="-285750">
                <a:buFont typeface="Courier New" panose="02070309020205020404" pitchFamily="49" charset="0"/>
                <a:buChar char="o"/>
                <a:defRPr/>
              </a:pPr>
              <a:r>
                <a:rPr lang="en-US" b="1" dirty="0">
                  <a:solidFill>
                    <a:srgbClr val="333639"/>
                  </a:solidFill>
                </a:rPr>
                <a:t>Future OS: </a:t>
              </a:r>
              <a:r>
                <a:rPr lang="en-US" dirty="0">
                  <a:solidFill>
                    <a:srgbClr val="333639"/>
                  </a:solidFill>
                </a:rPr>
                <a:t>Rocky9 (soon)</a:t>
              </a:r>
              <a:endParaRPr lang="nl-BE" dirty="0">
                <a:solidFill>
                  <a:srgbClr val="333639"/>
                </a:solidFill>
              </a:endParaRPr>
            </a:p>
          </p:txBody>
        </p:sp>
        <p:sp>
          <p:nvSpPr>
            <p:cNvPr id="5" name="TextBox 4">
              <a:extLst>
                <a:ext uri="{FF2B5EF4-FFF2-40B4-BE49-F238E27FC236}">
                  <a16:creationId xmlns:a16="http://schemas.microsoft.com/office/drawing/2014/main" id="{6B4A7B03-9A15-75B0-C532-6DC8CFC78AB0}"/>
                </a:ext>
              </a:extLst>
            </p:cNvPr>
            <p:cNvSpPr txBox="1"/>
            <p:nvPr/>
          </p:nvSpPr>
          <p:spPr>
            <a:xfrm>
              <a:off x="9310167" y="5026245"/>
              <a:ext cx="1476163" cy="369332"/>
            </a:xfrm>
            <a:prstGeom prst="rect">
              <a:avLst/>
            </a:prstGeom>
            <a:solidFill>
              <a:schemeClr val="accent2"/>
            </a:solidFill>
            <a:ln w="25400">
              <a:solidFill>
                <a:schemeClr val="accent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spTree>
    <p:extLst>
      <p:ext uri="{BB962C8B-B14F-4D97-AF65-F5344CB8AC3E}">
        <p14:creationId xmlns:p14="http://schemas.microsoft.com/office/powerpoint/2010/main" val="789526718"/>
      </p:ext>
    </p:extLst>
  </p:cSld>
  <p:clrMapOvr>
    <a:masterClrMapping/>
  </p:clrMapOvr>
  <mc:AlternateContent xmlns:mc="http://schemas.openxmlformats.org/markup-compatibility/2006" xmlns:p14="http://schemas.microsoft.com/office/powerpoint/2010/main">
    <mc:Choice Requires="p14">
      <p:transition spd="slow" p14:dur="2000" advTm="143980"/>
    </mc:Choice>
    <mc:Fallback xmlns="">
      <p:transition spd="slow" advTm="14398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p:cNvGraphicFramePr>
            <a:graphicFrameLocks noGrp="1"/>
          </p:cNvGraphicFramePr>
          <p:nvPr>
            <p:extLst>
              <p:ext uri="{D42A27DB-BD31-4B8C-83A1-F6EECF244321}">
                <p14:modId xmlns:p14="http://schemas.microsoft.com/office/powerpoint/2010/main" val="2646334908"/>
              </p:ext>
            </p:extLst>
          </p:nvPr>
        </p:nvGraphicFramePr>
        <p:xfrm>
          <a:off x="695400" y="793221"/>
          <a:ext cx="10081120" cy="4241203"/>
        </p:xfrm>
        <a:graphic>
          <a:graphicData uri="http://schemas.openxmlformats.org/drawingml/2006/table">
            <a:tbl>
              <a:tblPr>
                <a:tableStyleId>{5C22544A-7EE6-4342-B048-85BDC9FD1C3A}</a:tableStyleId>
              </a:tblPr>
              <a:tblGrid>
                <a:gridCol w="2130827">
                  <a:extLst>
                    <a:ext uri="{9D8B030D-6E8A-4147-A177-3AD203B41FA5}">
                      <a16:colId xmlns:a16="http://schemas.microsoft.com/office/drawing/2014/main" val="1052959117"/>
                    </a:ext>
                  </a:extLst>
                </a:gridCol>
                <a:gridCol w="1878445">
                  <a:extLst>
                    <a:ext uri="{9D8B030D-6E8A-4147-A177-3AD203B41FA5}">
                      <a16:colId xmlns:a16="http://schemas.microsoft.com/office/drawing/2014/main" val="44479686"/>
                    </a:ext>
                  </a:extLst>
                </a:gridCol>
                <a:gridCol w="1127915">
                  <a:extLst>
                    <a:ext uri="{9D8B030D-6E8A-4147-A177-3AD203B41FA5}">
                      <a16:colId xmlns:a16="http://schemas.microsoft.com/office/drawing/2014/main" val="2291407436"/>
                    </a:ext>
                  </a:extLst>
                </a:gridCol>
                <a:gridCol w="1564338">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1691875">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err="1">
                          <a:effectLst/>
                        </a:rPr>
                        <a:t>Icelake</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72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256 GB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3455</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batch_icelake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a:effectLst/>
                        </a:rPr>
                        <a:t>Sapphire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chemeClr val="tx1"/>
                          </a:solidFill>
                          <a:effectLst/>
                          <a:latin typeface="+mn-lt"/>
                        </a:rPr>
                        <a:t>Xeon 8468</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96</a:t>
                      </a:r>
                    </a:p>
                  </a:txBody>
                  <a:tcPr marL="9525" marR="9525" marT="9525" marB="0" anchor="ctr"/>
                </a:tc>
                <a:tc>
                  <a:txBody>
                    <a:bodyPr/>
                    <a:lstStyle/>
                    <a:p>
                      <a:pPr algn="ctr" fontAlgn="b"/>
                      <a:r>
                        <a:rPr lang="en-US" sz="1800" b="1" u="none" strike="noStrike" dirty="0">
                          <a:effectLst/>
                        </a:rPr>
                        <a:t>256 GB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batch_</a:t>
                      </a:r>
                      <a:br>
                        <a:rPr lang="en-US" sz="1800" b="0" i="0" u="none" strike="noStrike" dirty="0">
                          <a:solidFill>
                            <a:srgbClr val="000000"/>
                          </a:solidFill>
                          <a:effectLst/>
                          <a:latin typeface="Calibri" panose="020F0502020204030204" pitchFamily="34" charset="0"/>
                        </a:rPr>
                      </a:br>
                      <a:r>
                        <a:rPr lang="en-US" sz="1800" b="0" i="0" u="none" strike="noStrike" dirty="0" err="1">
                          <a:solidFill>
                            <a:srgbClr val="000000"/>
                          </a:solidFill>
                          <a:effectLst/>
                          <a:latin typeface="Calibri" panose="020F0502020204030204" pitchFamily="34" charset="0"/>
                        </a:rPr>
                        <a:t>sapphirerapids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2 TB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8139273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Xeon</a:t>
                      </a:r>
                      <a:r>
                        <a:rPr kumimoji="0" lang="nl-BE" sz="1800" b="0" i="0" u="none" strike="noStrike" kern="1200" cap="none" spc="0" normalizeH="0" baseline="0" noProof="0" dirty="0">
                          <a:ln>
                            <a:noFill/>
                          </a:ln>
                          <a:solidFill>
                            <a:srgbClr val="333639"/>
                          </a:solidFill>
                          <a:effectLst/>
                          <a:uLnTx/>
                          <a:uFillTx/>
                          <a:latin typeface="+mn-lt"/>
                          <a:ea typeface="+mn-ea"/>
                          <a:cs typeface="+mn-cs"/>
                        </a:rPr>
                        <a:t> 8360Y</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8 TB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111900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hugemem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4xA100</a:t>
                      </a:r>
                      <a:r>
                        <a:rPr lang="en-US" sz="1800" u="none" strike="noStrike" dirty="0">
                          <a:effectLst/>
                        </a:rPr>
                        <a:t> SXM2 80GB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512 GB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a:t>
                      </a:r>
                    </a:p>
                  </a:txBody>
                  <a:tcPr marL="9525" marR="9525" marT="9525" marB="0" anchor="ctr"/>
                </a:tc>
                <a:extLst>
                  <a:ext uri="{0D108BD9-81ED-4DB2-BD59-A6C34878D82A}">
                    <a16:rowId xmlns:a16="http://schemas.microsoft.com/office/drawing/2014/main" val="130448043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Genoa H100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Epyc</a:t>
                      </a:r>
                      <a:r>
                        <a:rPr kumimoji="0" lang="nl-BE" sz="1800" b="0" i="0" u="none" strike="noStrike" kern="1200" cap="none" spc="0" normalizeH="0" baseline="0" noProof="0" dirty="0">
                          <a:ln>
                            <a:noFill/>
                          </a:ln>
                          <a:solidFill>
                            <a:srgbClr val="333639"/>
                          </a:solidFill>
                          <a:effectLst/>
                          <a:uLnTx/>
                          <a:uFillTx/>
                          <a:latin typeface="+mn-lt"/>
                          <a:ea typeface="+mn-ea"/>
                          <a:cs typeface="+mn-cs"/>
                        </a:rPr>
                        <a:t> 9334 </a:t>
                      </a:r>
                      <a:r>
                        <a:rPr lang="en-US" sz="1800" b="1" u="none" strike="noStrike" dirty="0">
                          <a:effectLst/>
                        </a:rPr>
                        <a:t>4xH100</a:t>
                      </a:r>
                      <a:r>
                        <a:rPr lang="en-US" sz="1800" u="none" strike="noStrike" dirty="0">
                          <a:effectLst/>
                        </a:rPr>
                        <a:t> SXM5 80GB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tc>
                <a:tc>
                  <a:txBody>
                    <a:bodyPr/>
                    <a:lstStyle/>
                    <a:p>
                      <a:pPr algn="ctr" fontAlgn="b"/>
                      <a:r>
                        <a:rPr lang="en-US" sz="1800" b="1" u="none" strike="noStrike" dirty="0">
                          <a:effectLst/>
                        </a:rPr>
                        <a:t>768 GB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chemeClr val="tx1"/>
                          </a:solidFill>
                          <a:effectLst/>
                          <a:latin typeface="+mn-lt"/>
                        </a:rPr>
                        <a:t>11700</a:t>
                      </a:r>
                    </a:p>
                  </a:txBody>
                  <a:tcPr marL="9525" marR="9525" marT="9525" marB="0" anchor="ctr"/>
                </a:tc>
                <a:tc>
                  <a:txBody>
                    <a:bodyPr/>
                    <a:lstStyle/>
                    <a:p>
                      <a:pPr algn="ctr" fontAlgn="b"/>
                      <a:r>
                        <a:rPr lang="en-US" sz="1800" b="0" i="0" u="none" strike="noStrike" dirty="0">
                          <a:solidFill>
                            <a:schemeClr val="tx1"/>
                          </a:solidFill>
                          <a:effectLst/>
                          <a:latin typeface="+mn-lt"/>
                        </a:rPr>
                        <a:t>gpu_h100</a:t>
                      </a:r>
                    </a:p>
                  </a:txBody>
                  <a:tcPr marL="9525" marR="9525" marT="9525" marB="0" anchor="ctr"/>
                </a:tc>
                <a:extLst>
                  <a:ext uri="{0D108BD9-81ED-4DB2-BD59-A6C34878D82A}">
                    <a16:rowId xmlns:a16="http://schemas.microsoft.com/office/drawing/2014/main" val="225280647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i="0" u="none" strike="noStrike" dirty="0">
                          <a:solidFill>
                            <a:schemeClr val="tx1"/>
                          </a:solidFill>
                          <a:effectLst/>
                          <a:latin typeface="+mn-lt"/>
                        </a:rPr>
                        <a:t>interactive</a:t>
                      </a:r>
                    </a:p>
                  </a:txBody>
                  <a:tcPr marL="9525" marR="9525" marT="9525" marB="0" anchor="ctr"/>
                </a:tc>
                <a:tc>
                  <a:txBody>
                    <a:bodyPr/>
                    <a:lstStyle/>
                    <a:p>
                      <a:pPr algn="ctr" fontAlgn="b"/>
                      <a:r>
                        <a:rPr lang="en-US" sz="1800" b="0" i="0" u="none" strike="noStrike" dirty="0">
                          <a:solidFill>
                            <a:schemeClr val="tx1"/>
                          </a:solidFill>
                          <a:effectLst/>
                          <a:latin typeface="+mn-lt"/>
                        </a:rPr>
                        <a:t>Xeon 8358</a:t>
                      </a:r>
                      <a:br>
                        <a:rPr lang="en-US" sz="1800" b="0" i="0" u="none" strike="noStrike" dirty="0">
                          <a:solidFill>
                            <a:schemeClr val="tx1"/>
                          </a:solidFill>
                          <a:effectLst/>
                          <a:latin typeface="+mn-lt"/>
                        </a:rPr>
                      </a:br>
                      <a:r>
                        <a:rPr lang="en-US" sz="1800" b="1" i="0" u="none" strike="noStrike" dirty="0">
                          <a:solidFill>
                            <a:schemeClr val="tx1"/>
                          </a:solidFill>
                          <a:effectLst/>
                          <a:latin typeface="+mn-lt"/>
                        </a:rPr>
                        <a:t>1xA100</a:t>
                      </a:r>
                      <a:r>
                        <a:rPr lang="en-US" sz="1800" b="0" i="0" u="none" strike="noStrike" dirty="0">
                          <a:solidFill>
                            <a:schemeClr val="tx1"/>
                          </a:solidFill>
                          <a:effectLst/>
                          <a:latin typeface="+mn-lt"/>
                        </a:rPr>
                        <a:t> SXM2 80GB</a:t>
                      </a:r>
                    </a:p>
                  </a:txBody>
                  <a:tcPr marL="9525" marR="9525" marT="9525" marB="0" anchor="ctr"/>
                </a:tc>
                <a:tc>
                  <a:txBody>
                    <a:bodyPr/>
                    <a:lstStyle/>
                    <a:p>
                      <a:pPr algn="ctr" fontAlgn="b"/>
                      <a:r>
                        <a:rPr lang="en-US" sz="1800" b="0" i="0" u="none" strike="noStrike" dirty="0">
                          <a:solidFill>
                            <a:schemeClr val="tx1"/>
                          </a:solidFill>
                          <a:effectLst/>
                          <a:latin typeface="+mn-lt"/>
                        </a:rPr>
                        <a:t>64</a:t>
                      </a:r>
                    </a:p>
                  </a:txBody>
                  <a:tcPr marL="9525" marR="9525" marT="9525" marB="0" anchor="ctr"/>
                </a:tc>
                <a:tc>
                  <a:txBody>
                    <a:bodyPr/>
                    <a:lstStyle/>
                    <a:p>
                      <a:pPr algn="ctr" fontAlgn="b"/>
                      <a:r>
                        <a:rPr lang="en-US" sz="1800" b="1" i="0" u="none" strike="noStrike" dirty="0">
                          <a:solidFill>
                            <a:schemeClr val="tx1"/>
                          </a:solidFill>
                          <a:effectLst/>
                          <a:latin typeface="+mn-lt"/>
                        </a:rPr>
                        <a:t>512 GB</a:t>
                      </a:r>
                    </a:p>
                  </a:txBody>
                  <a:tcPr marL="9525" marR="9525" marT="9525" marB="0" anchor="ctr"/>
                </a:tc>
                <a:tc>
                  <a:txBody>
                    <a:bodyPr/>
                    <a:lstStyle/>
                    <a:p>
                      <a:pPr algn="ctr" fontAlgn="b"/>
                      <a:r>
                        <a:rPr lang="en-US" sz="1800" b="1" i="0" u="none" strike="noStrike" dirty="0">
                          <a:solidFill>
                            <a:schemeClr val="tx1"/>
                          </a:solidFill>
                          <a:effectLst/>
                          <a:latin typeface="+mn-lt"/>
                        </a:rPr>
                        <a:t>7500</a:t>
                      </a:r>
                    </a:p>
                  </a:txBody>
                  <a:tcPr marL="9525" marR="9525" marT="9525" marB="0" anchor="ctr"/>
                </a:tc>
                <a:tc>
                  <a:txBody>
                    <a:bodyPr/>
                    <a:lstStyle/>
                    <a:p>
                      <a:pPr algn="ctr" fontAlgn="b"/>
                      <a:r>
                        <a:rPr lang="en-US" sz="1800" b="0" i="0" u="none" strike="noStrike" dirty="0">
                          <a:solidFill>
                            <a:schemeClr val="tx1"/>
                          </a:solidFill>
                          <a:effectLst/>
                          <a:latin typeface="+mn-lt"/>
                        </a:rPr>
                        <a:t>interactive</a:t>
                      </a:r>
                    </a:p>
                  </a:txBody>
                  <a:tcPr marL="9525" marR="9525" marT="9525" marB="0" anchor="ctr"/>
                </a:tc>
                <a:extLst>
                  <a:ext uri="{0D108BD9-81ED-4DB2-BD59-A6C34878D82A}">
                    <a16:rowId xmlns:a16="http://schemas.microsoft.com/office/drawing/2014/main" val="3876089204"/>
                  </a:ext>
                </a:extLst>
              </a:tr>
            </a:tbl>
          </a:graphicData>
        </a:graphic>
      </p:graphicFrame>
      <p:sp>
        <p:nvSpPr>
          <p:cNvPr id="7" name="Rectangle 2"/>
          <p:cNvSpPr txBox="1">
            <a:spLocks noChangeArrowheads="1"/>
          </p:cNvSpPr>
          <p:nvPr/>
        </p:nvSpPr>
        <p:spPr>
          <a:xfrm>
            <a:off x="711641" y="154896"/>
            <a:ext cx="11112000" cy="60980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Tier-2 cluster </a:t>
            </a:r>
            <a:r>
              <a:rPr lang="en-US" altLang="en-US" sz="3200" dirty="0"/>
              <a:t>–</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kumimoji="0" lang="en-US" altLang="en-US" sz="3200" b="0" i="0" u="none" strike="noStrike" kern="1200" cap="none" spc="0" normalizeH="0" baseline="0" noProof="0" dirty="0" err="1">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wICE</a:t>
            </a:r>
            <a:endPar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endParaRPr>
          </a:p>
        </p:txBody>
      </p:sp>
      <p:grpSp>
        <p:nvGrpSpPr>
          <p:cNvPr id="8" name="Group 7">
            <a:extLst>
              <a:ext uri="{FF2B5EF4-FFF2-40B4-BE49-F238E27FC236}">
                <a16:creationId xmlns:a16="http://schemas.microsoft.com/office/drawing/2014/main" id="{D6F1F406-D225-EBE3-B2F3-5785255B49A7}"/>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E142B640-CEF2-6705-2C46-F273E3964179}"/>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9.6 (after 18 Feb ’26)</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10" name="TextBox 2">
              <a:extLst>
                <a:ext uri="{FF2B5EF4-FFF2-40B4-BE49-F238E27FC236}">
                  <a16:creationId xmlns:a16="http://schemas.microsoft.com/office/drawing/2014/main" id="{DDCBDC5E-DAC0-96B3-077D-AB2E46969FF0}"/>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spTree>
    <p:extLst>
      <p:ext uri="{BB962C8B-B14F-4D97-AF65-F5344CB8AC3E}">
        <p14:creationId xmlns:p14="http://schemas.microsoft.com/office/powerpoint/2010/main" val="2387768626"/>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p:cNvGrpSpPr/>
          <p:nvPr/>
        </p:nvGrpSpPr>
        <p:grpSpPr>
          <a:xfrm>
            <a:off x="8908104" y="3748062"/>
            <a:ext cx="1839292" cy="1800000"/>
            <a:chOff x="7555434" y="-124702"/>
            <a:chExt cx="1839292" cy="1800000"/>
          </a:xfrm>
        </p:grpSpPr>
        <p:sp>
          <p:nvSpPr>
            <p:cNvPr id="20" name="Cross 19"/>
            <p:cNvSpPr/>
            <p:nvPr/>
          </p:nvSpPr>
          <p:spPr>
            <a:xfrm rot="2696149">
              <a:off x="7594132" y="-124702"/>
              <a:ext cx="1800000" cy="1800000"/>
            </a:xfrm>
            <a:prstGeom prst="plus">
              <a:avLst>
                <a:gd name="adj" fmla="val 41222"/>
              </a:avLst>
            </a:prstGeom>
            <a:solidFill>
              <a:srgbClr val="FF0000">
                <a:alpha val="67000"/>
              </a:srgbClr>
            </a:solidFill>
            <a:ln>
              <a:solidFill>
                <a:srgbClr val="C00000">
                  <a:alpha val="67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1" name="Rounded Rectangle 60">
              <a:extLst>
                <a:ext uri="{FF2B5EF4-FFF2-40B4-BE49-F238E27FC236}">
                  <a16:creationId xmlns:a16="http://schemas.microsoft.com/office/drawing/2014/main" id="{5F032C59-944D-41A3-943E-9B4EA37C5211}"/>
                </a:ext>
              </a:extLst>
            </p:cNvPr>
            <p:cNvSpPr/>
            <p:nvPr/>
          </p:nvSpPr>
          <p:spPr>
            <a:xfrm>
              <a:off x="7555434" y="311840"/>
              <a:ext cx="1839292" cy="913876"/>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333639"/>
                  </a:solidFill>
                </a:rPr>
                <a:t>No Dedicated Login Nodes</a:t>
              </a:r>
            </a:p>
          </p:txBody>
        </p:sp>
      </p:grpSp>
      <p:grpSp>
        <p:nvGrpSpPr>
          <p:cNvPr id="28" name="Group 27"/>
          <p:cNvGrpSpPr/>
          <p:nvPr/>
        </p:nvGrpSpPr>
        <p:grpSpPr>
          <a:xfrm>
            <a:off x="780528" y="1484784"/>
            <a:ext cx="4737549" cy="4324888"/>
            <a:chOff x="420487" y="1888196"/>
            <a:chExt cx="4737549" cy="4324888"/>
          </a:xfrm>
        </p:grpSpPr>
        <p:grpSp>
          <p:nvGrpSpPr>
            <p:cNvPr id="16" name="Group 15"/>
            <p:cNvGrpSpPr/>
            <p:nvPr/>
          </p:nvGrpSpPr>
          <p:grpSpPr>
            <a:xfrm>
              <a:off x="420487" y="1888196"/>
              <a:ext cx="4731491" cy="3744416"/>
              <a:chOff x="479376" y="1443092"/>
              <a:chExt cx="4731491" cy="3744416"/>
            </a:xfrm>
          </p:grpSpPr>
          <p:sp>
            <p:nvSpPr>
              <p:cNvPr id="61" name="Rounded Rectangle 60"/>
              <p:cNvSpPr/>
              <p:nvPr/>
            </p:nvSpPr>
            <p:spPr>
              <a:xfrm>
                <a:off x="479376" y="1978422"/>
                <a:ext cx="4731491" cy="3209086"/>
              </a:xfrm>
              <a:prstGeom prst="roundRect">
                <a:avLst>
                  <a:gd name="adj" fmla="val 6839"/>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TextBox 114">
                <a:extLst>
                  <a:ext uri="{FF2B5EF4-FFF2-40B4-BE49-F238E27FC236}">
                    <a16:creationId xmlns:a16="http://schemas.microsoft.com/office/drawing/2014/main" id="{12BA0A7F-6D16-43C6-B6AB-D8E148BD9DB2}"/>
                  </a:ext>
                </a:extLst>
              </p:cNvPr>
              <p:cNvSpPr txBox="1"/>
              <p:nvPr/>
            </p:nvSpPr>
            <p:spPr>
              <a:xfrm>
                <a:off x="825568" y="1443092"/>
                <a:ext cx="1231427" cy="369332"/>
              </a:xfrm>
              <a:prstGeom prst="rect">
                <a:avLst/>
              </a:prstGeom>
              <a:noFill/>
            </p:spPr>
            <p:txBody>
              <a:bodyPr wrap="none" rtlCol="0">
                <a:spAutoFit/>
              </a:bodyPr>
              <a:lstStyle/>
              <a:p>
                <a:pPr algn="ctr"/>
                <a:r>
                  <a:rPr lang="nl-BE" b="1" dirty="0" err="1"/>
                  <a:t>Thin</a:t>
                </a:r>
                <a:r>
                  <a:rPr lang="nl-BE" b="1" dirty="0"/>
                  <a:t> </a:t>
                </a:r>
                <a:r>
                  <a:rPr lang="nl-BE" b="1" dirty="0" err="1"/>
                  <a:t>nodes</a:t>
                </a:r>
                <a:endParaRPr lang="nl-BE" b="1" dirty="0"/>
              </a:p>
            </p:txBody>
          </p:sp>
          <p:grpSp>
            <p:nvGrpSpPr>
              <p:cNvPr id="15" name="Group 14"/>
              <p:cNvGrpSpPr/>
              <p:nvPr/>
            </p:nvGrpSpPr>
            <p:grpSpPr>
              <a:xfrm>
                <a:off x="725910" y="2205528"/>
                <a:ext cx="4239238" cy="2785657"/>
                <a:chOff x="725910" y="2205528"/>
                <a:chExt cx="4239238" cy="2785657"/>
              </a:xfrm>
            </p:grpSpPr>
            <p:grpSp>
              <p:nvGrpSpPr>
                <p:cNvPr id="7" name="Group 6">
                  <a:extLst>
                    <a:ext uri="{FF2B5EF4-FFF2-40B4-BE49-F238E27FC236}">
                      <a16:creationId xmlns:a16="http://schemas.microsoft.com/office/drawing/2014/main" id="{83CA99C2-8AF6-41D5-B951-9680D14F690F}"/>
                    </a:ext>
                  </a:extLst>
                </p:cNvPr>
                <p:cNvGrpSpPr/>
                <p:nvPr/>
              </p:nvGrpSpPr>
              <p:grpSpPr>
                <a:xfrm>
                  <a:off x="2847789" y="2205528"/>
                  <a:ext cx="2102082" cy="1237372"/>
                  <a:chOff x="4335173" y="1731635"/>
                  <a:chExt cx="2102082" cy="1237372"/>
                </a:xfrm>
              </p:grpSpPr>
              <p:pic>
                <p:nvPicPr>
                  <p:cNvPr id="62" name="Picture 61"/>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63" name="Picture 62"/>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64" name="Picture 63"/>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65" name="Picture 64"/>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66" name="Picture 65"/>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67" name="Picture 66"/>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68" name="Picture 67"/>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69" name="Picture 68"/>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70" name="Picture 69"/>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71" name="Picture 70"/>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72" name="Picture 71"/>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73" name="Picture 72"/>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74" name="Picture 73"/>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75" name="Picture 74"/>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76" name="Picture 75"/>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77" name="Picture 76"/>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78" name="Picture 77"/>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79" name="Picture 78"/>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80" name="Picture 79"/>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81" name="Picture 80"/>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82" name="Picture 81"/>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83" name="Picture 82"/>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84" name="Picture 83"/>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85" name="Picture 84"/>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86" name="Picture 85"/>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87" name="Picture 86"/>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88" name="Picture 87"/>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89" name="Picture 88"/>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90" name="Picture 89"/>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91" name="Picture 90"/>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92" name="Picture 91"/>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93" name="Picture 92"/>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94" name="Picture 93"/>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95" name="Picture 94"/>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96" name="Picture 95"/>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97" name="Picture 96"/>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98" name="Picture 97"/>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99" name="Picture 98"/>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pic>
                <p:nvPicPr>
                  <p:cNvPr id="100" name="Picture 99"/>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6183" y="2668414"/>
                    <a:ext cx="200239" cy="300593"/>
                  </a:xfrm>
                  <a:prstGeom prst="rect">
                    <a:avLst/>
                  </a:prstGeom>
                </p:spPr>
              </p:pic>
              <p:pic>
                <p:nvPicPr>
                  <p:cNvPr id="101" name="Picture 100"/>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7016" y="2668414"/>
                    <a:ext cx="200239" cy="300593"/>
                  </a:xfrm>
                  <a:prstGeom prst="rect">
                    <a:avLst/>
                  </a:prstGeom>
                </p:spPr>
              </p:pic>
            </p:grpSp>
            <p:grpSp>
              <p:nvGrpSpPr>
                <p:cNvPr id="325" name="Group 324">
                  <a:extLst>
                    <a:ext uri="{FF2B5EF4-FFF2-40B4-BE49-F238E27FC236}">
                      <a16:creationId xmlns:a16="http://schemas.microsoft.com/office/drawing/2014/main" id="{57F9EA76-F73D-484C-8551-D7E34068711D}"/>
                    </a:ext>
                  </a:extLst>
                </p:cNvPr>
                <p:cNvGrpSpPr/>
                <p:nvPr/>
              </p:nvGrpSpPr>
              <p:grpSpPr>
                <a:xfrm>
                  <a:off x="725910" y="2205528"/>
                  <a:ext cx="2102082" cy="1237372"/>
                  <a:chOff x="4335173" y="1731635"/>
                  <a:chExt cx="2102082" cy="1237372"/>
                </a:xfrm>
              </p:grpSpPr>
              <p:pic>
                <p:nvPicPr>
                  <p:cNvPr id="326" name="Picture 325">
                    <a:extLst>
                      <a:ext uri="{FF2B5EF4-FFF2-40B4-BE49-F238E27FC236}">
                        <a16:creationId xmlns:a16="http://schemas.microsoft.com/office/drawing/2014/main" id="{36725644-7E72-416F-9443-02842F64024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327" name="Picture 326">
                    <a:extLst>
                      <a:ext uri="{FF2B5EF4-FFF2-40B4-BE49-F238E27FC236}">
                        <a16:creationId xmlns:a16="http://schemas.microsoft.com/office/drawing/2014/main" id="{2C44A0CD-87A1-40F6-8E6F-A3B9861EECD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328" name="Picture 327">
                    <a:extLst>
                      <a:ext uri="{FF2B5EF4-FFF2-40B4-BE49-F238E27FC236}">
                        <a16:creationId xmlns:a16="http://schemas.microsoft.com/office/drawing/2014/main" id="{43E92B0C-A9AC-4A87-99B3-EB9403C39A7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329" name="Picture 328">
                    <a:extLst>
                      <a:ext uri="{FF2B5EF4-FFF2-40B4-BE49-F238E27FC236}">
                        <a16:creationId xmlns:a16="http://schemas.microsoft.com/office/drawing/2014/main" id="{D9C23BE3-C4DF-4BC9-A7D3-082A9D52E1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330" name="Picture 329">
                    <a:extLst>
                      <a:ext uri="{FF2B5EF4-FFF2-40B4-BE49-F238E27FC236}">
                        <a16:creationId xmlns:a16="http://schemas.microsoft.com/office/drawing/2014/main" id="{161EBA17-E2A4-4835-BA70-3700CDE17B0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331" name="Picture 330">
                    <a:extLst>
                      <a:ext uri="{FF2B5EF4-FFF2-40B4-BE49-F238E27FC236}">
                        <a16:creationId xmlns:a16="http://schemas.microsoft.com/office/drawing/2014/main" id="{0C59C909-B7D5-44C7-8C3E-D76B77704FE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332" name="Picture 331">
                    <a:extLst>
                      <a:ext uri="{FF2B5EF4-FFF2-40B4-BE49-F238E27FC236}">
                        <a16:creationId xmlns:a16="http://schemas.microsoft.com/office/drawing/2014/main" id="{0503314F-BCED-47F2-861C-51AAA16B3B8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333" name="Picture 332">
                    <a:extLst>
                      <a:ext uri="{FF2B5EF4-FFF2-40B4-BE49-F238E27FC236}">
                        <a16:creationId xmlns:a16="http://schemas.microsoft.com/office/drawing/2014/main" id="{DAC4C5D3-513A-48B1-9DB1-FF0258B041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334" name="Picture 333">
                    <a:extLst>
                      <a:ext uri="{FF2B5EF4-FFF2-40B4-BE49-F238E27FC236}">
                        <a16:creationId xmlns:a16="http://schemas.microsoft.com/office/drawing/2014/main" id="{E4F4B977-D34C-4EFC-84AC-790213F7305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335" name="Picture 334">
                    <a:extLst>
                      <a:ext uri="{FF2B5EF4-FFF2-40B4-BE49-F238E27FC236}">
                        <a16:creationId xmlns:a16="http://schemas.microsoft.com/office/drawing/2014/main" id="{FB76A6F8-DDE5-4CF5-8B12-908DC55C804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336" name="Picture 335">
                    <a:extLst>
                      <a:ext uri="{FF2B5EF4-FFF2-40B4-BE49-F238E27FC236}">
                        <a16:creationId xmlns:a16="http://schemas.microsoft.com/office/drawing/2014/main" id="{4CF059E8-ED02-4920-AE53-B667137D915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337" name="Picture 336">
                    <a:extLst>
                      <a:ext uri="{FF2B5EF4-FFF2-40B4-BE49-F238E27FC236}">
                        <a16:creationId xmlns:a16="http://schemas.microsoft.com/office/drawing/2014/main" id="{209D94AB-2363-4D5F-8DBC-F245920021F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338" name="Picture 337">
                    <a:extLst>
                      <a:ext uri="{FF2B5EF4-FFF2-40B4-BE49-F238E27FC236}">
                        <a16:creationId xmlns:a16="http://schemas.microsoft.com/office/drawing/2014/main" id="{2F19A20A-AA84-438B-A008-47DDCB95904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339" name="Picture 338">
                    <a:extLst>
                      <a:ext uri="{FF2B5EF4-FFF2-40B4-BE49-F238E27FC236}">
                        <a16:creationId xmlns:a16="http://schemas.microsoft.com/office/drawing/2014/main" id="{2086FC16-A40D-4EFD-A82A-712A28D317A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340" name="Picture 339">
                    <a:extLst>
                      <a:ext uri="{FF2B5EF4-FFF2-40B4-BE49-F238E27FC236}">
                        <a16:creationId xmlns:a16="http://schemas.microsoft.com/office/drawing/2014/main" id="{FE4548FC-3BFF-4A14-9A51-B07CB035115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341" name="Picture 340">
                    <a:extLst>
                      <a:ext uri="{FF2B5EF4-FFF2-40B4-BE49-F238E27FC236}">
                        <a16:creationId xmlns:a16="http://schemas.microsoft.com/office/drawing/2014/main" id="{5B874476-3030-4742-8DC2-6B61B22F554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342" name="Picture 341">
                    <a:extLst>
                      <a:ext uri="{FF2B5EF4-FFF2-40B4-BE49-F238E27FC236}">
                        <a16:creationId xmlns:a16="http://schemas.microsoft.com/office/drawing/2014/main" id="{98F6D8C4-81C4-4C5B-910D-6E364F12953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343" name="Picture 342">
                    <a:extLst>
                      <a:ext uri="{FF2B5EF4-FFF2-40B4-BE49-F238E27FC236}">
                        <a16:creationId xmlns:a16="http://schemas.microsoft.com/office/drawing/2014/main" id="{A1AD1D29-E46D-4EC8-BC91-685867EC9AA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344" name="Picture 343">
                    <a:extLst>
                      <a:ext uri="{FF2B5EF4-FFF2-40B4-BE49-F238E27FC236}">
                        <a16:creationId xmlns:a16="http://schemas.microsoft.com/office/drawing/2014/main" id="{CDA5E234-EBC6-48FB-A35E-72C88F5DDA4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345" name="Picture 344">
                    <a:extLst>
                      <a:ext uri="{FF2B5EF4-FFF2-40B4-BE49-F238E27FC236}">
                        <a16:creationId xmlns:a16="http://schemas.microsoft.com/office/drawing/2014/main" id="{CC25B477-8F17-489E-98A7-BE75139C661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346" name="Picture 345">
                    <a:extLst>
                      <a:ext uri="{FF2B5EF4-FFF2-40B4-BE49-F238E27FC236}">
                        <a16:creationId xmlns:a16="http://schemas.microsoft.com/office/drawing/2014/main" id="{F9452A13-7151-49E7-B228-CBDA9140384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347" name="Picture 346">
                    <a:extLst>
                      <a:ext uri="{FF2B5EF4-FFF2-40B4-BE49-F238E27FC236}">
                        <a16:creationId xmlns:a16="http://schemas.microsoft.com/office/drawing/2014/main" id="{46CD40D8-8045-4953-9D1D-465E26F18BF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348" name="Picture 347">
                    <a:extLst>
                      <a:ext uri="{FF2B5EF4-FFF2-40B4-BE49-F238E27FC236}">
                        <a16:creationId xmlns:a16="http://schemas.microsoft.com/office/drawing/2014/main" id="{1DE019C2-5A33-4AFD-8943-C97E61C49A2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349" name="Picture 348">
                    <a:extLst>
                      <a:ext uri="{FF2B5EF4-FFF2-40B4-BE49-F238E27FC236}">
                        <a16:creationId xmlns:a16="http://schemas.microsoft.com/office/drawing/2014/main" id="{F900411C-E88B-40F3-B560-16C454AC962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350" name="Picture 349">
                    <a:extLst>
                      <a:ext uri="{FF2B5EF4-FFF2-40B4-BE49-F238E27FC236}">
                        <a16:creationId xmlns:a16="http://schemas.microsoft.com/office/drawing/2014/main" id="{43E31083-B47D-48EB-9CA2-316DE565841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351" name="Picture 350">
                    <a:extLst>
                      <a:ext uri="{FF2B5EF4-FFF2-40B4-BE49-F238E27FC236}">
                        <a16:creationId xmlns:a16="http://schemas.microsoft.com/office/drawing/2014/main" id="{25220C6B-0D28-420F-B583-6DD42D75961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352" name="Picture 351">
                    <a:extLst>
                      <a:ext uri="{FF2B5EF4-FFF2-40B4-BE49-F238E27FC236}">
                        <a16:creationId xmlns:a16="http://schemas.microsoft.com/office/drawing/2014/main" id="{46078813-64AC-4DD4-8D3D-193DAF27A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353" name="Picture 352">
                    <a:extLst>
                      <a:ext uri="{FF2B5EF4-FFF2-40B4-BE49-F238E27FC236}">
                        <a16:creationId xmlns:a16="http://schemas.microsoft.com/office/drawing/2014/main" id="{837761F5-4F32-421B-A32D-72C0C606A8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354" name="Picture 353">
                    <a:extLst>
                      <a:ext uri="{FF2B5EF4-FFF2-40B4-BE49-F238E27FC236}">
                        <a16:creationId xmlns:a16="http://schemas.microsoft.com/office/drawing/2014/main" id="{BB63E70C-8B0A-4EAA-BB93-7B67C988F9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355" name="Picture 354">
                    <a:extLst>
                      <a:ext uri="{FF2B5EF4-FFF2-40B4-BE49-F238E27FC236}">
                        <a16:creationId xmlns:a16="http://schemas.microsoft.com/office/drawing/2014/main" id="{82CE15B4-9840-44C8-9713-7DE8CA7BDC3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356" name="Picture 355">
                    <a:extLst>
                      <a:ext uri="{FF2B5EF4-FFF2-40B4-BE49-F238E27FC236}">
                        <a16:creationId xmlns:a16="http://schemas.microsoft.com/office/drawing/2014/main" id="{88A015C1-705B-4ACA-BA81-1895400AAC7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357" name="Picture 356">
                    <a:extLst>
                      <a:ext uri="{FF2B5EF4-FFF2-40B4-BE49-F238E27FC236}">
                        <a16:creationId xmlns:a16="http://schemas.microsoft.com/office/drawing/2014/main" id="{81284BD3-6393-496C-9705-E09FF759BCB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358" name="Picture 357">
                    <a:extLst>
                      <a:ext uri="{FF2B5EF4-FFF2-40B4-BE49-F238E27FC236}">
                        <a16:creationId xmlns:a16="http://schemas.microsoft.com/office/drawing/2014/main" id="{D046842B-0305-4699-B9A3-EA9B47ABA9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359" name="Picture 358">
                    <a:extLst>
                      <a:ext uri="{FF2B5EF4-FFF2-40B4-BE49-F238E27FC236}">
                        <a16:creationId xmlns:a16="http://schemas.microsoft.com/office/drawing/2014/main" id="{071DB54B-F128-4C5F-AB3B-881BB16B5A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360" name="Picture 359">
                    <a:extLst>
                      <a:ext uri="{FF2B5EF4-FFF2-40B4-BE49-F238E27FC236}">
                        <a16:creationId xmlns:a16="http://schemas.microsoft.com/office/drawing/2014/main" id="{5DBE303A-6BAC-4BF7-9503-017630E38E1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361" name="Picture 360">
                    <a:extLst>
                      <a:ext uri="{FF2B5EF4-FFF2-40B4-BE49-F238E27FC236}">
                        <a16:creationId xmlns:a16="http://schemas.microsoft.com/office/drawing/2014/main" id="{CFF31E34-E018-4A0D-A28B-C54489F90BE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362" name="Picture 361">
                    <a:extLst>
                      <a:ext uri="{FF2B5EF4-FFF2-40B4-BE49-F238E27FC236}">
                        <a16:creationId xmlns:a16="http://schemas.microsoft.com/office/drawing/2014/main" id="{630003FA-CF4E-465B-A015-9EB8BE70BE5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363" name="Picture 362">
                    <a:extLst>
                      <a:ext uri="{FF2B5EF4-FFF2-40B4-BE49-F238E27FC236}">
                        <a16:creationId xmlns:a16="http://schemas.microsoft.com/office/drawing/2014/main" id="{AB18FC08-71B9-4A22-8427-FC762C78A7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pic>
                <p:nvPicPr>
                  <p:cNvPr id="364" name="Picture 363">
                    <a:extLst>
                      <a:ext uri="{FF2B5EF4-FFF2-40B4-BE49-F238E27FC236}">
                        <a16:creationId xmlns:a16="http://schemas.microsoft.com/office/drawing/2014/main" id="{640A0266-C112-48B5-9111-E975B28B15C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6183" y="2668414"/>
                    <a:ext cx="200239" cy="300593"/>
                  </a:xfrm>
                  <a:prstGeom prst="rect">
                    <a:avLst/>
                  </a:prstGeom>
                </p:spPr>
              </p:pic>
              <p:pic>
                <p:nvPicPr>
                  <p:cNvPr id="365" name="Picture 364">
                    <a:extLst>
                      <a:ext uri="{FF2B5EF4-FFF2-40B4-BE49-F238E27FC236}">
                        <a16:creationId xmlns:a16="http://schemas.microsoft.com/office/drawing/2014/main" id="{764D91B9-9366-4477-9A57-46A78DA6176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7016" y="2668414"/>
                    <a:ext cx="200239" cy="300593"/>
                  </a:xfrm>
                  <a:prstGeom prst="rect">
                    <a:avLst/>
                  </a:prstGeom>
                </p:spPr>
              </p:pic>
            </p:grpSp>
            <p:pic>
              <p:nvPicPr>
                <p:cNvPr id="458" name="Picture 457">
                  <a:extLst>
                    <a:ext uri="{FF2B5EF4-FFF2-40B4-BE49-F238E27FC236}">
                      <a16:creationId xmlns:a16="http://schemas.microsoft.com/office/drawing/2014/main" id="{D8420CA7-DB71-4735-8B1F-4AD8A0FBFC8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82919" y="4690590"/>
                  <a:ext cx="200239" cy="300593"/>
                </a:xfrm>
                <a:prstGeom prst="rect">
                  <a:avLst/>
                </a:prstGeom>
              </p:spPr>
            </p:pic>
            <p:pic>
              <p:nvPicPr>
                <p:cNvPr id="459" name="Picture 458">
                  <a:extLst>
                    <a:ext uri="{FF2B5EF4-FFF2-40B4-BE49-F238E27FC236}">
                      <a16:creationId xmlns:a16="http://schemas.microsoft.com/office/drawing/2014/main" id="{1DFAB496-676B-49DD-9CFE-016083BAEAC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63617" y="4690592"/>
                  <a:ext cx="200239" cy="300593"/>
                </a:xfrm>
                <a:prstGeom prst="rect">
                  <a:avLst/>
                </a:prstGeom>
              </p:spPr>
            </p:pic>
            <p:pic>
              <p:nvPicPr>
                <p:cNvPr id="460" name="Picture 459">
                  <a:extLst>
                    <a:ext uri="{FF2B5EF4-FFF2-40B4-BE49-F238E27FC236}">
                      <a16:creationId xmlns:a16="http://schemas.microsoft.com/office/drawing/2014/main" id="{F074FCA7-BFC5-4D3F-852F-DD2072CD0EF1}"/>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46480" y="4690592"/>
                  <a:ext cx="200239" cy="300593"/>
                </a:xfrm>
                <a:prstGeom prst="rect">
                  <a:avLst/>
                </a:prstGeom>
              </p:spPr>
            </p:pic>
            <p:pic>
              <p:nvPicPr>
                <p:cNvPr id="461" name="Picture 460">
                  <a:extLst>
                    <a:ext uri="{FF2B5EF4-FFF2-40B4-BE49-F238E27FC236}">
                      <a16:creationId xmlns:a16="http://schemas.microsoft.com/office/drawing/2014/main" id="{47A17968-5CC6-4A21-B203-F749249FD45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35648" y="4690591"/>
                  <a:ext cx="200239" cy="300593"/>
                </a:xfrm>
                <a:prstGeom prst="rect">
                  <a:avLst/>
                </a:prstGeom>
              </p:spPr>
            </p:pic>
            <p:grpSp>
              <p:nvGrpSpPr>
                <p:cNvPr id="463" name="Group 462">
                  <a:extLst>
                    <a:ext uri="{FF2B5EF4-FFF2-40B4-BE49-F238E27FC236}">
                      <a16:creationId xmlns:a16="http://schemas.microsoft.com/office/drawing/2014/main" id="{B0D69E1A-63F9-44C5-B4CE-AE5FF9C351A9}"/>
                    </a:ext>
                  </a:extLst>
                </p:cNvPr>
                <p:cNvGrpSpPr/>
                <p:nvPr/>
              </p:nvGrpSpPr>
              <p:grpSpPr>
                <a:xfrm>
                  <a:off x="744638" y="3453220"/>
                  <a:ext cx="2102082" cy="1237372"/>
                  <a:chOff x="4335173" y="1731635"/>
                  <a:chExt cx="2102082" cy="1237372"/>
                </a:xfrm>
              </p:grpSpPr>
              <p:pic>
                <p:nvPicPr>
                  <p:cNvPr id="470" name="Picture 469">
                    <a:extLst>
                      <a:ext uri="{FF2B5EF4-FFF2-40B4-BE49-F238E27FC236}">
                        <a16:creationId xmlns:a16="http://schemas.microsoft.com/office/drawing/2014/main" id="{5229A65F-E326-4A2E-B267-72EB8638031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471" name="Picture 470">
                    <a:extLst>
                      <a:ext uri="{FF2B5EF4-FFF2-40B4-BE49-F238E27FC236}">
                        <a16:creationId xmlns:a16="http://schemas.microsoft.com/office/drawing/2014/main" id="{EF21D434-21CC-4D2E-9BDA-B33C58CCBBD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472" name="Picture 471">
                    <a:extLst>
                      <a:ext uri="{FF2B5EF4-FFF2-40B4-BE49-F238E27FC236}">
                        <a16:creationId xmlns:a16="http://schemas.microsoft.com/office/drawing/2014/main" id="{31F311D4-D57A-4448-B317-42C3545B7C1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473" name="Picture 472">
                    <a:extLst>
                      <a:ext uri="{FF2B5EF4-FFF2-40B4-BE49-F238E27FC236}">
                        <a16:creationId xmlns:a16="http://schemas.microsoft.com/office/drawing/2014/main" id="{63445CB4-CC82-424F-BA1E-9C13873CBF0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474" name="Picture 473">
                    <a:extLst>
                      <a:ext uri="{FF2B5EF4-FFF2-40B4-BE49-F238E27FC236}">
                        <a16:creationId xmlns:a16="http://schemas.microsoft.com/office/drawing/2014/main" id="{5243D29F-6025-42D5-8BFD-A35DD66DA0C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475" name="Picture 474">
                    <a:extLst>
                      <a:ext uri="{FF2B5EF4-FFF2-40B4-BE49-F238E27FC236}">
                        <a16:creationId xmlns:a16="http://schemas.microsoft.com/office/drawing/2014/main" id="{909CFED7-76F7-4A66-AB3F-8E66633FFAC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476" name="Picture 475">
                    <a:extLst>
                      <a:ext uri="{FF2B5EF4-FFF2-40B4-BE49-F238E27FC236}">
                        <a16:creationId xmlns:a16="http://schemas.microsoft.com/office/drawing/2014/main" id="{E261B35C-3308-4851-A1A7-52A493D25FD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477" name="Picture 476">
                    <a:extLst>
                      <a:ext uri="{FF2B5EF4-FFF2-40B4-BE49-F238E27FC236}">
                        <a16:creationId xmlns:a16="http://schemas.microsoft.com/office/drawing/2014/main" id="{7FF9D45F-77D1-46B1-9BF2-150D4196FE4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478" name="Picture 477">
                    <a:extLst>
                      <a:ext uri="{FF2B5EF4-FFF2-40B4-BE49-F238E27FC236}">
                        <a16:creationId xmlns:a16="http://schemas.microsoft.com/office/drawing/2014/main" id="{9254C852-8A2A-4984-9709-7A00BEC87E5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479" name="Picture 478">
                    <a:extLst>
                      <a:ext uri="{FF2B5EF4-FFF2-40B4-BE49-F238E27FC236}">
                        <a16:creationId xmlns:a16="http://schemas.microsoft.com/office/drawing/2014/main" id="{289BEFFE-BF70-4727-98EF-5C9391B7E0C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480" name="Picture 479">
                    <a:extLst>
                      <a:ext uri="{FF2B5EF4-FFF2-40B4-BE49-F238E27FC236}">
                        <a16:creationId xmlns:a16="http://schemas.microsoft.com/office/drawing/2014/main" id="{6C1B09E5-546E-4A2F-964D-04CECD37BC1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481" name="Picture 480">
                    <a:extLst>
                      <a:ext uri="{FF2B5EF4-FFF2-40B4-BE49-F238E27FC236}">
                        <a16:creationId xmlns:a16="http://schemas.microsoft.com/office/drawing/2014/main" id="{D72FB006-A420-47B7-B173-299AA107C2B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482" name="Picture 481">
                    <a:extLst>
                      <a:ext uri="{FF2B5EF4-FFF2-40B4-BE49-F238E27FC236}">
                        <a16:creationId xmlns:a16="http://schemas.microsoft.com/office/drawing/2014/main" id="{F340A7D1-5D9C-4528-901B-68FDA515D51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483" name="Picture 482">
                    <a:extLst>
                      <a:ext uri="{FF2B5EF4-FFF2-40B4-BE49-F238E27FC236}">
                        <a16:creationId xmlns:a16="http://schemas.microsoft.com/office/drawing/2014/main" id="{441CC6D9-0B5C-42F4-AE98-A2EF4C5785A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484" name="Picture 483">
                    <a:extLst>
                      <a:ext uri="{FF2B5EF4-FFF2-40B4-BE49-F238E27FC236}">
                        <a16:creationId xmlns:a16="http://schemas.microsoft.com/office/drawing/2014/main" id="{9CFEC2C0-D6C3-4A77-A36E-0BF454C271E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485" name="Picture 484">
                    <a:extLst>
                      <a:ext uri="{FF2B5EF4-FFF2-40B4-BE49-F238E27FC236}">
                        <a16:creationId xmlns:a16="http://schemas.microsoft.com/office/drawing/2014/main" id="{977EE538-934B-4CE4-B2AF-DB22E73C709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486" name="Picture 485">
                    <a:extLst>
                      <a:ext uri="{FF2B5EF4-FFF2-40B4-BE49-F238E27FC236}">
                        <a16:creationId xmlns:a16="http://schemas.microsoft.com/office/drawing/2014/main" id="{726E4C4C-94DD-4131-B0CE-C803AB4DD39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487" name="Picture 486">
                    <a:extLst>
                      <a:ext uri="{FF2B5EF4-FFF2-40B4-BE49-F238E27FC236}">
                        <a16:creationId xmlns:a16="http://schemas.microsoft.com/office/drawing/2014/main" id="{5626EB49-D110-4F29-ACA2-0ACFF5BDB70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488" name="Picture 487">
                    <a:extLst>
                      <a:ext uri="{FF2B5EF4-FFF2-40B4-BE49-F238E27FC236}">
                        <a16:creationId xmlns:a16="http://schemas.microsoft.com/office/drawing/2014/main" id="{BF03DC5F-B650-436E-AE7F-72B10FE1B8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489" name="Picture 488">
                    <a:extLst>
                      <a:ext uri="{FF2B5EF4-FFF2-40B4-BE49-F238E27FC236}">
                        <a16:creationId xmlns:a16="http://schemas.microsoft.com/office/drawing/2014/main" id="{4AE3E8D0-BF90-4DD2-90ED-05ACFEC1045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490" name="Picture 489">
                    <a:extLst>
                      <a:ext uri="{FF2B5EF4-FFF2-40B4-BE49-F238E27FC236}">
                        <a16:creationId xmlns:a16="http://schemas.microsoft.com/office/drawing/2014/main" id="{9C846869-88B8-46CC-B970-D4F56D98AA1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491" name="Picture 490">
                    <a:extLst>
                      <a:ext uri="{FF2B5EF4-FFF2-40B4-BE49-F238E27FC236}">
                        <a16:creationId xmlns:a16="http://schemas.microsoft.com/office/drawing/2014/main" id="{BDBA17B6-C0ED-47E6-A6C7-571E2417B4A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492" name="Picture 491">
                    <a:extLst>
                      <a:ext uri="{FF2B5EF4-FFF2-40B4-BE49-F238E27FC236}">
                        <a16:creationId xmlns:a16="http://schemas.microsoft.com/office/drawing/2014/main" id="{6AD5DB67-FC1E-46B8-A469-41FC5AB746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493" name="Picture 492">
                    <a:extLst>
                      <a:ext uri="{FF2B5EF4-FFF2-40B4-BE49-F238E27FC236}">
                        <a16:creationId xmlns:a16="http://schemas.microsoft.com/office/drawing/2014/main" id="{C2447166-A2CE-4C82-B931-164C211C5B2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494" name="Picture 493">
                    <a:extLst>
                      <a:ext uri="{FF2B5EF4-FFF2-40B4-BE49-F238E27FC236}">
                        <a16:creationId xmlns:a16="http://schemas.microsoft.com/office/drawing/2014/main" id="{5947FF25-92E5-462B-830E-B2F523959AF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495" name="Picture 494">
                    <a:extLst>
                      <a:ext uri="{FF2B5EF4-FFF2-40B4-BE49-F238E27FC236}">
                        <a16:creationId xmlns:a16="http://schemas.microsoft.com/office/drawing/2014/main" id="{932A2310-8AB7-49BF-AF1E-88DC6C8452B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496" name="Picture 495">
                    <a:extLst>
                      <a:ext uri="{FF2B5EF4-FFF2-40B4-BE49-F238E27FC236}">
                        <a16:creationId xmlns:a16="http://schemas.microsoft.com/office/drawing/2014/main" id="{399E2E63-411D-4828-A7DD-6CC6166CBA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497" name="Picture 496">
                    <a:extLst>
                      <a:ext uri="{FF2B5EF4-FFF2-40B4-BE49-F238E27FC236}">
                        <a16:creationId xmlns:a16="http://schemas.microsoft.com/office/drawing/2014/main" id="{3D337AFE-83C9-4473-A61A-714B3C2F6D4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498" name="Picture 497">
                    <a:extLst>
                      <a:ext uri="{FF2B5EF4-FFF2-40B4-BE49-F238E27FC236}">
                        <a16:creationId xmlns:a16="http://schemas.microsoft.com/office/drawing/2014/main" id="{B30B8FC5-2AAA-42F7-969C-25CD840730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499" name="Picture 498">
                    <a:extLst>
                      <a:ext uri="{FF2B5EF4-FFF2-40B4-BE49-F238E27FC236}">
                        <a16:creationId xmlns:a16="http://schemas.microsoft.com/office/drawing/2014/main" id="{0FC78D3A-224A-486D-AE76-F766A76C486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500" name="Picture 499">
                    <a:extLst>
                      <a:ext uri="{FF2B5EF4-FFF2-40B4-BE49-F238E27FC236}">
                        <a16:creationId xmlns:a16="http://schemas.microsoft.com/office/drawing/2014/main" id="{500C365D-35C4-48F4-9613-0E4AC7BA58E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501" name="Picture 500">
                    <a:extLst>
                      <a:ext uri="{FF2B5EF4-FFF2-40B4-BE49-F238E27FC236}">
                        <a16:creationId xmlns:a16="http://schemas.microsoft.com/office/drawing/2014/main" id="{55860EA5-1996-402A-B235-2AB6CB74750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502" name="Picture 501">
                    <a:extLst>
                      <a:ext uri="{FF2B5EF4-FFF2-40B4-BE49-F238E27FC236}">
                        <a16:creationId xmlns:a16="http://schemas.microsoft.com/office/drawing/2014/main" id="{2436376E-F0D7-4814-815C-5A50948CC9A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503" name="Picture 502">
                    <a:extLst>
                      <a:ext uri="{FF2B5EF4-FFF2-40B4-BE49-F238E27FC236}">
                        <a16:creationId xmlns:a16="http://schemas.microsoft.com/office/drawing/2014/main" id="{066AB764-5876-42AE-8ADF-7ADD5926C0A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504" name="Picture 503">
                    <a:extLst>
                      <a:ext uri="{FF2B5EF4-FFF2-40B4-BE49-F238E27FC236}">
                        <a16:creationId xmlns:a16="http://schemas.microsoft.com/office/drawing/2014/main" id="{C861CD5F-3DB9-4E03-93D3-7C0449DF780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505" name="Picture 504">
                    <a:extLst>
                      <a:ext uri="{FF2B5EF4-FFF2-40B4-BE49-F238E27FC236}">
                        <a16:creationId xmlns:a16="http://schemas.microsoft.com/office/drawing/2014/main" id="{A8FB0256-8C5A-478B-8840-947E76AFC1D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506" name="Picture 505">
                    <a:extLst>
                      <a:ext uri="{FF2B5EF4-FFF2-40B4-BE49-F238E27FC236}">
                        <a16:creationId xmlns:a16="http://schemas.microsoft.com/office/drawing/2014/main" id="{AE7E5DA6-5B1E-4A76-B7CB-89A947598B0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507" name="Picture 506">
                    <a:extLst>
                      <a:ext uri="{FF2B5EF4-FFF2-40B4-BE49-F238E27FC236}">
                        <a16:creationId xmlns:a16="http://schemas.microsoft.com/office/drawing/2014/main" id="{E6AC22B3-3842-4F14-BB71-03FE95E2129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pic>
                <p:nvPicPr>
                  <p:cNvPr id="508" name="Picture 507">
                    <a:extLst>
                      <a:ext uri="{FF2B5EF4-FFF2-40B4-BE49-F238E27FC236}">
                        <a16:creationId xmlns:a16="http://schemas.microsoft.com/office/drawing/2014/main" id="{7720D1ED-A6C8-4F67-91E1-64A1B18C66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6183" y="2668414"/>
                    <a:ext cx="200239" cy="300593"/>
                  </a:xfrm>
                  <a:prstGeom prst="rect">
                    <a:avLst/>
                  </a:prstGeom>
                </p:spPr>
              </p:pic>
              <p:pic>
                <p:nvPicPr>
                  <p:cNvPr id="509" name="Picture 508">
                    <a:extLst>
                      <a:ext uri="{FF2B5EF4-FFF2-40B4-BE49-F238E27FC236}">
                        <a16:creationId xmlns:a16="http://schemas.microsoft.com/office/drawing/2014/main" id="{B4CB306B-2AAF-45FC-8354-49A0E20DF09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7016" y="2668414"/>
                    <a:ext cx="200239" cy="300593"/>
                  </a:xfrm>
                  <a:prstGeom prst="rect">
                    <a:avLst/>
                  </a:prstGeom>
                </p:spPr>
              </p:pic>
            </p:grpSp>
            <p:grpSp>
              <p:nvGrpSpPr>
                <p:cNvPr id="187" name="Group 186">
                  <a:extLst>
                    <a:ext uri="{FF2B5EF4-FFF2-40B4-BE49-F238E27FC236}">
                      <a16:creationId xmlns:a16="http://schemas.microsoft.com/office/drawing/2014/main" id="{B0D69E1A-63F9-44C5-B4CE-AE5FF9C351A9}"/>
                    </a:ext>
                  </a:extLst>
                </p:cNvPr>
                <p:cNvGrpSpPr/>
                <p:nvPr/>
              </p:nvGrpSpPr>
              <p:grpSpPr>
                <a:xfrm>
                  <a:off x="2863066" y="3453220"/>
                  <a:ext cx="2102082" cy="1237372"/>
                  <a:chOff x="4335173" y="1731635"/>
                  <a:chExt cx="2102082" cy="1237372"/>
                </a:xfrm>
              </p:grpSpPr>
              <p:pic>
                <p:nvPicPr>
                  <p:cNvPr id="188" name="Picture 187">
                    <a:extLst>
                      <a:ext uri="{FF2B5EF4-FFF2-40B4-BE49-F238E27FC236}">
                        <a16:creationId xmlns:a16="http://schemas.microsoft.com/office/drawing/2014/main" id="{5229A65F-E326-4A2E-B267-72EB8638031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89" name="Picture 188">
                    <a:extLst>
                      <a:ext uri="{FF2B5EF4-FFF2-40B4-BE49-F238E27FC236}">
                        <a16:creationId xmlns:a16="http://schemas.microsoft.com/office/drawing/2014/main" id="{EF21D434-21CC-4D2E-9BDA-B33C58CCBBD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90" name="Picture 189">
                    <a:extLst>
                      <a:ext uri="{FF2B5EF4-FFF2-40B4-BE49-F238E27FC236}">
                        <a16:creationId xmlns:a16="http://schemas.microsoft.com/office/drawing/2014/main" id="{31F311D4-D57A-4448-B317-42C3545B7C1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93" name="Picture 192">
                    <a:extLst>
                      <a:ext uri="{FF2B5EF4-FFF2-40B4-BE49-F238E27FC236}">
                        <a16:creationId xmlns:a16="http://schemas.microsoft.com/office/drawing/2014/main" id="{63445CB4-CC82-424F-BA1E-9C13873CBF0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94" name="Picture 193">
                    <a:extLst>
                      <a:ext uri="{FF2B5EF4-FFF2-40B4-BE49-F238E27FC236}">
                        <a16:creationId xmlns:a16="http://schemas.microsoft.com/office/drawing/2014/main" id="{5243D29F-6025-42D5-8BFD-A35DD66DA0C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95" name="Picture 194">
                    <a:extLst>
                      <a:ext uri="{FF2B5EF4-FFF2-40B4-BE49-F238E27FC236}">
                        <a16:creationId xmlns:a16="http://schemas.microsoft.com/office/drawing/2014/main" id="{909CFED7-76F7-4A66-AB3F-8E66633FFAC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96" name="Picture 195">
                    <a:extLst>
                      <a:ext uri="{FF2B5EF4-FFF2-40B4-BE49-F238E27FC236}">
                        <a16:creationId xmlns:a16="http://schemas.microsoft.com/office/drawing/2014/main" id="{E261B35C-3308-4851-A1A7-52A493D25FD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97" name="Picture 196">
                    <a:extLst>
                      <a:ext uri="{FF2B5EF4-FFF2-40B4-BE49-F238E27FC236}">
                        <a16:creationId xmlns:a16="http://schemas.microsoft.com/office/drawing/2014/main" id="{7FF9D45F-77D1-46B1-9BF2-150D4196FE4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98" name="Picture 197">
                    <a:extLst>
                      <a:ext uri="{FF2B5EF4-FFF2-40B4-BE49-F238E27FC236}">
                        <a16:creationId xmlns:a16="http://schemas.microsoft.com/office/drawing/2014/main" id="{9254C852-8A2A-4984-9709-7A00BEC87E5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217" name="Picture 216">
                    <a:extLst>
                      <a:ext uri="{FF2B5EF4-FFF2-40B4-BE49-F238E27FC236}">
                        <a16:creationId xmlns:a16="http://schemas.microsoft.com/office/drawing/2014/main" id="{289BEFFE-BF70-4727-98EF-5C9391B7E0C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218" name="Picture 217">
                    <a:extLst>
                      <a:ext uri="{FF2B5EF4-FFF2-40B4-BE49-F238E27FC236}">
                        <a16:creationId xmlns:a16="http://schemas.microsoft.com/office/drawing/2014/main" id="{6C1B09E5-546E-4A2F-964D-04CECD37BC1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219" name="Picture 218">
                    <a:extLst>
                      <a:ext uri="{FF2B5EF4-FFF2-40B4-BE49-F238E27FC236}">
                        <a16:creationId xmlns:a16="http://schemas.microsoft.com/office/drawing/2014/main" id="{D72FB006-A420-47B7-B173-299AA107C2B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220" name="Picture 219">
                    <a:extLst>
                      <a:ext uri="{FF2B5EF4-FFF2-40B4-BE49-F238E27FC236}">
                        <a16:creationId xmlns:a16="http://schemas.microsoft.com/office/drawing/2014/main" id="{F340A7D1-5D9C-4528-901B-68FDA515D51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221" name="Picture 220">
                    <a:extLst>
                      <a:ext uri="{FF2B5EF4-FFF2-40B4-BE49-F238E27FC236}">
                        <a16:creationId xmlns:a16="http://schemas.microsoft.com/office/drawing/2014/main" id="{441CC6D9-0B5C-42F4-AE98-A2EF4C5785A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222" name="Picture 221">
                    <a:extLst>
                      <a:ext uri="{FF2B5EF4-FFF2-40B4-BE49-F238E27FC236}">
                        <a16:creationId xmlns:a16="http://schemas.microsoft.com/office/drawing/2014/main" id="{9CFEC2C0-D6C3-4A77-A36E-0BF454C271E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223" name="Picture 222">
                    <a:extLst>
                      <a:ext uri="{FF2B5EF4-FFF2-40B4-BE49-F238E27FC236}">
                        <a16:creationId xmlns:a16="http://schemas.microsoft.com/office/drawing/2014/main" id="{977EE538-934B-4CE4-B2AF-DB22E73C709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224" name="Picture 223">
                    <a:extLst>
                      <a:ext uri="{FF2B5EF4-FFF2-40B4-BE49-F238E27FC236}">
                        <a16:creationId xmlns:a16="http://schemas.microsoft.com/office/drawing/2014/main" id="{726E4C4C-94DD-4131-B0CE-C803AB4DD39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225" name="Picture 224">
                    <a:extLst>
                      <a:ext uri="{FF2B5EF4-FFF2-40B4-BE49-F238E27FC236}">
                        <a16:creationId xmlns:a16="http://schemas.microsoft.com/office/drawing/2014/main" id="{5626EB49-D110-4F29-ACA2-0ACFF5BDB70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226" name="Picture 225">
                    <a:extLst>
                      <a:ext uri="{FF2B5EF4-FFF2-40B4-BE49-F238E27FC236}">
                        <a16:creationId xmlns:a16="http://schemas.microsoft.com/office/drawing/2014/main" id="{BF03DC5F-B650-436E-AE7F-72B10FE1B8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227" name="Picture 226">
                    <a:extLst>
                      <a:ext uri="{FF2B5EF4-FFF2-40B4-BE49-F238E27FC236}">
                        <a16:creationId xmlns:a16="http://schemas.microsoft.com/office/drawing/2014/main" id="{4AE3E8D0-BF90-4DD2-90ED-05ACFEC1045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228" name="Picture 227">
                    <a:extLst>
                      <a:ext uri="{FF2B5EF4-FFF2-40B4-BE49-F238E27FC236}">
                        <a16:creationId xmlns:a16="http://schemas.microsoft.com/office/drawing/2014/main" id="{9C846869-88B8-46CC-B970-D4F56D98AA1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234" name="Picture 233">
                    <a:extLst>
                      <a:ext uri="{FF2B5EF4-FFF2-40B4-BE49-F238E27FC236}">
                        <a16:creationId xmlns:a16="http://schemas.microsoft.com/office/drawing/2014/main" id="{BDBA17B6-C0ED-47E6-A6C7-571E2417B4A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235" name="Picture 234">
                    <a:extLst>
                      <a:ext uri="{FF2B5EF4-FFF2-40B4-BE49-F238E27FC236}">
                        <a16:creationId xmlns:a16="http://schemas.microsoft.com/office/drawing/2014/main" id="{6AD5DB67-FC1E-46B8-A469-41FC5AB746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236" name="Picture 235">
                    <a:extLst>
                      <a:ext uri="{FF2B5EF4-FFF2-40B4-BE49-F238E27FC236}">
                        <a16:creationId xmlns:a16="http://schemas.microsoft.com/office/drawing/2014/main" id="{C2447166-A2CE-4C82-B931-164C211C5B2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237" name="Picture 236">
                    <a:extLst>
                      <a:ext uri="{FF2B5EF4-FFF2-40B4-BE49-F238E27FC236}">
                        <a16:creationId xmlns:a16="http://schemas.microsoft.com/office/drawing/2014/main" id="{5947FF25-92E5-462B-830E-B2F523959AF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238" name="Picture 237">
                    <a:extLst>
                      <a:ext uri="{FF2B5EF4-FFF2-40B4-BE49-F238E27FC236}">
                        <a16:creationId xmlns:a16="http://schemas.microsoft.com/office/drawing/2014/main" id="{932A2310-8AB7-49BF-AF1E-88DC6C8452B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239" name="Picture 238">
                    <a:extLst>
                      <a:ext uri="{FF2B5EF4-FFF2-40B4-BE49-F238E27FC236}">
                        <a16:creationId xmlns:a16="http://schemas.microsoft.com/office/drawing/2014/main" id="{399E2E63-411D-4828-A7DD-6CC6166CBA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240" name="Picture 239">
                    <a:extLst>
                      <a:ext uri="{FF2B5EF4-FFF2-40B4-BE49-F238E27FC236}">
                        <a16:creationId xmlns:a16="http://schemas.microsoft.com/office/drawing/2014/main" id="{3D337AFE-83C9-4473-A61A-714B3C2F6D4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241" name="Picture 240">
                    <a:extLst>
                      <a:ext uri="{FF2B5EF4-FFF2-40B4-BE49-F238E27FC236}">
                        <a16:creationId xmlns:a16="http://schemas.microsoft.com/office/drawing/2014/main" id="{B30B8FC5-2AAA-42F7-969C-25CD840730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242" name="Picture 241">
                    <a:extLst>
                      <a:ext uri="{FF2B5EF4-FFF2-40B4-BE49-F238E27FC236}">
                        <a16:creationId xmlns:a16="http://schemas.microsoft.com/office/drawing/2014/main" id="{0FC78D3A-224A-486D-AE76-F766A76C486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243" name="Picture 242">
                    <a:extLst>
                      <a:ext uri="{FF2B5EF4-FFF2-40B4-BE49-F238E27FC236}">
                        <a16:creationId xmlns:a16="http://schemas.microsoft.com/office/drawing/2014/main" id="{500C365D-35C4-48F4-9613-0E4AC7BA58E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244" name="Picture 243">
                    <a:extLst>
                      <a:ext uri="{FF2B5EF4-FFF2-40B4-BE49-F238E27FC236}">
                        <a16:creationId xmlns:a16="http://schemas.microsoft.com/office/drawing/2014/main" id="{55860EA5-1996-402A-B235-2AB6CB74750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245" name="Picture 244">
                    <a:extLst>
                      <a:ext uri="{FF2B5EF4-FFF2-40B4-BE49-F238E27FC236}">
                        <a16:creationId xmlns:a16="http://schemas.microsoft.com/office/drawing/2014/main" id="{2436376E-F0D7-4814-815C-5A50948CC9A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246" name="Picture 245">
                    <a:extLst>
                      <a:ext uri="{FF2B5EF4-FFF2-40B4-BE49-F238E27FC236}">
                        <a16:creationId xmlns:a16="http://schemas.microsoft.com/office/drawing/2014/main" id="{066AB764-5876-42AE-8ADF-7ADD5926C0A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247" name="Picture 246">
                    <a:extLst>
                      <a:ext uri="{FF2B5EF4-FFF2-40B4-BE49-F238E27FC236}">
                        <a16:creationId xmlns:a16="http://schemas.microsoft.com/office/drawing/2014/main" id="{C861CD5F-3DB9-4E03-93D3-7C0449DF780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248" name="Picture 247">
                    <a:extLst>
                      <a:ext uri="{FF2B5EF4-FFF2-40B4-BE49-F238E27FC236}">
                        <a16:creationId xmlns:a16="http://schemas.microsoft.com/office/drawing/2014/main" id="{A8FB0256-8C5A-478B-8840-947E76AFC1D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249" name="Picture 248">
                    <a:extLst>
                      <a:ext uri="{FF2B5EF4-FFF2-40B4-BE49-F238E27FC236}">
                        <a16:creationId xmlns:a16="http://schemas.microsoft.com/office/drawing/2014/main" id="{AE7E5DA6-5B1E-4A76-B7CB-89A947598B0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250" name="Picture 249">
                    <a:extLst>
                      <a:ext uri="{FF2B5EF4-FFF2-40B4-BE49-F238E27FC236}">
                        <a16:creationId xmlns:a16="http://schemas.microsoft.com/office/drawing/2014/main" id="{E6AC22B3-3842-4F14-BB71-03FE95E2129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pic>
                <p:nvPicPr>
                  <p:cNvPr id="251" name="Picture 250">
                    <a:extLst>
                      <a:ext uri="{FF2B5EF4-FFF2-40B4-BE49-F238E27FC236}">
                        <a16:creationId xmlns:a16="http://schemas.microsoft.com/office/drawing/2014/main" id="{7720D1ED-A6C8-4F67-91E1-64A1B18C66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6183" y="2668414"/>
                    <a:ext cx="200239" cy="300593"/>
                  </a:xfrm>
                  <a:prstGeom prst="rect">
                    <a:avLst/>
                  </a:prstGeom>
                </p:spPr>
              </p:pic>
              <p:pic>
                <p:nvPicPr>
                  <p:cNvPr id="252" name="Picture 251">
                    <a:extLst>
                      <a:ext uri="{FF2B5EF4-FFF2-40B4-BE49-F238E27FC236}">
                        <a16:creationId xmlns:a16="http://schemas.microsoft.com/office/drawing/2014/main" id="{B4CB306B-2AAF-45FC-8354-49A0E20DF09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7016" y="2668414"/>
                    <a:ext cx="200239" cy="300593"/>
                  </a:xfrm>
                  <a:prstGeom prst="rect">
                    <a:avLst/>
                  </a:prstGeom>
                </p:spPr>
              </p:pic>
            </p:grpSp>
            <p:pic>
              <p:nvPicPr>
                <p:cNvPr id="253" name="Picture 252">
                  <a:extLst>
                    <a:ext uri="{FF2B5EF4-FFF2-40B4-BE49-F238E27FC236}">
                      <a16:creationId xmlns:a16="http://schemas.microsoft.com/office/drawing/2014/main" id="{36725644-7E72-416F-9443-02842F64024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43064" y="4690589"/>
                  <a:ext cx="200239" cy="300593"/>
                </a:xfrm>
                <a:prstGeom prst="rect">
                  <a:avLst/>
                </a:prstGeom>
              </p:spPr>
            </p:pic>
            <p:pic>
              <p:nvPicPr>
                <p:cNvPr id="254" name="Picture 253">
                  <a:extLst>
                    <a:ext uri="{FF2B5EF4-FFF2-40B4-BE49-F238E27FC236}">
                      <a16:creationId xmlns:a16="http://schemas.microsoft.com/office/drawing/2014/main" id="{2C44A0CD-87A1-40F6-8E6F-A3B9861EECD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3897" y="4690589"/>
                  <a:ext cx="200239" cy="300593"/>
                </a:xfrm>
                <a:prstGeom prst="rect">
                  <a:avLst/>
                </a:prstGeom>
              </p:spPr>
            </p:pic>
            <p:pic>
              <p:nvPicPr>
                <p:cNvPr id="255" name="Picture 254">
                  <a:extLst>
                    <a:ext uri="{FF2B5EF4-FFF2-40B4-BE49-F238E27FC236}">
                      <a16:creationId xmlns:a16="http://schemas.microsoft.com/office/drawing/2014/main" id="{43E92B0C-A9AC-4A87-99B3-EB9403C39A7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64730" y="4690589"/>
                  <a:ext cx="200239" cy="300593"/>
                </a:xfrm>
                <a:prstGeom prst="rect">
                  <a:avLst/>
                </a:prstGeom>
              </p:spPr>
            </p:pic>
            <p:pic>
              <p:nvPicPr>
                <p:cNvPr id="256" name="Picture 255">
                  <a:extLst>
                    <a:ext uri="{FF2B5EF4-FFF2-40B4-BE49-F238E27FC236}">
                      <a16:creationId xmlns:a16="http://schemas.microsoft.com/office/drawing/2014/main" id="{D9C23BE3-C4DF-4BC9-A7D3-082A9D52E1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75563" y="4690589"/>
                  <a:ext cx="200239" cy="300593"/>
                </a:xfrm>
                <a:prstGeom prst="rect">
                  <a:avLst/>
                </a:prstGeom>
              </p:spPr>
            </p:pic>
            <p:pic>
              <p:nvPicPr>
                <p:cNvPr id="257" name="Picture 256">
                  <a:extLst>
                    <a:ext uri="{FF2B5EF4-FFF2-40B4-BE49-F238E27FC236}">
                      <a16:creationId xmlns:a16="http://schemas.microsoft.com/office/drawing/2014/main" id="{161EBA17-E2A4-4835-BA70-3700CDE17B0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6396" y="4690589"/>
                  <a:ext cx="200239" cy="300593"/>
                </a:xfrm>
                <a:prstGeom prst="rect">
                  <a:avLst/>
                </a:prstGeom>
              </p:spPr>
            </p:pic>
            <p:pic>
              <p:nvPicPr>
                <p:cNvPr id="258" name="Picture 257">
                  <a:extLst>
                    <a:ext uri="{FF2B5EF4-FFF2-40B4-BE49-F238E27FC236}">
                      <a16:creationId xmlns:a16="http://schemas.microsoft.com/office/drawing/2014/main" id="{4CF059E8-ED02-4920-AE53-B667137D915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98184" y="4690589"/>
                  <a:ext cx="200239" cy="300593"/>
                </a:xfrm>
                <a:prstGeom prst="rect">
                  <a:avLst/>
                </a:prstGeom>
              </p:spPr>
            </p:pic>
            <p:pic>
              <p:nvPicPr>
                <p:cNvPr id="259" name="Picture 258">
                  <a:extLst>
                    <a:ext uri="{FF2B5EF4-FFF2-40B4-BE49-F238E27FC236}">
                      <a16:creationId xmlns:a16="http://schemas.microsoft.com/office/drawing/2014/main" id="{209D94AB-2363-4D5F-8DBC-F245920021F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009017" y="4690589"/>
                  <a:ext cx="200239" cy="300593"/>
                </a:xfrm>
                <a:prstGeom prst="rect">
                  <a:avLst/>
                </a:prstGeom>
              </p:spPr>
            </p:pic>
            <p:pic>
              <p:nvPicPr>
                <p:cNvPr id="260" name="Picture 259">
                  <a:extLst>
                    <a:ext uri="{FF2B5EF4-FFF2-40B4-BE49-F238E27FC236}">
                      <a16:creationId xmlns:a16="http://schemas.microsoft.com/office/drawing/2014/main" id="{2F19A20A-AA84-438B-A008-47DDCB95904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9850" y="4690589"/>
                  <a:ext cx="200239" cy="300593"/>
                </a:xfrm>
                <a:prstGeom prst="rect">
                  <a:avLst/>
                </a:prstGeom>
              </p:spPr>
            </p:pic>
          </p:grpSp>
        </p:grpSp>
        <p:sp>
          <p:nvSpPr>
            <p:cNvPr id="305" name="TextBox 304"/>
            <p:cNvSpPr txBox="1"/>
            <p:nvPr/>
          </p:nvSpPr>
          <p:spPr>
            <a:xfrm>
              <a:off x="426545" y="5689864"/>
              <a:ext cx="4731491" cy="523220"/>
            </a:xfrm>
            <a:prstGeom prst="rect">
              <a:avLst/>
            </a:prstGeom>
            <a:noFill/>
          </p:spPr>
          <p:txBody>
            <a:bodyPr wrap="square" rtlCol="0">
              <a:spAutoFit/>
            </a:bodyPr>
            <a:lstStyle/>
            <a:p>
              <a:r>
                <a:rPr lang="nl-BE" sz="1400" dirty="0"/>
                <a:t>172x </a:t>
              </a:r>
              <a:r>
                <a:rPr lang="nl-BE" sz="1400" dirty="0" err="1"/>
                <a:t>IceLake</a:t>
              </a:r>
              <a:r>
                <a:rPr lang="nl-BE" sz="1400" dirty="0"/>
                <a:t> 72c 256 GB</a:t>
              </a:r>
              <a:br>
                <a:rPr lang="nl-BE" sz="1400" dirty="0"/>
              </a:br>
              <a:endParaRPr lang="nl-BE" sz="1400" dirty="0"/>
            </a:p>
          </p:txBody>
        </p:sp>
      </p:grpSp>
      <p:grpSp>
        <p:nvGrpSpPr>
          <p:cNvPr id="29" name="Group 28"/>
          <p:cNvGrpSpPr/>
          <p:nvPr/>
        </p:nvGrpSpPr>
        <p:grpSpPr>
          <a:xfrm>
            <a:off x="5778368" y="1527964"/>
            <a:ext cx="2518638" cy="2067941"/>
            <a:chOff x="5418327" y="1931376"/>
            <a:chExt cx="2518638" cy="2067941"/>
          </a:xfrm>
        </p:grpSpPr>
        <p:grpSp>
          <p:nvGrpSpPr>
            <p:cNvPr id="11" name="Group 10"/>
            <p:cNvGrpSpPr/>
            <p:nvPr/>
          </p:nvGrpSpPr>
          <p:grpSpPr>
            <a:xfrm>
              <a:off x="5418327" y="1931376"/>
              <a:ext cx="2518638" cy="1425616"/>
              <a:chOff x="5837945" y="2824644"/>
              <a:chExt cx="2518638" cy="1425616"/>
            </a:xfrm>
          </p:grpSpPr>
          <p:sp>
            <p:nvSpPr>
              <p:cNvPr id="168" name="Rounded Rectangle 167"/>
              <p:cNvSpPr/>
              <p:nvPr/>
            </p:nvSpPr>
            <p:spPr>
              <a:xfrm>
                <a:off x="5876544" y="3310705"/>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TextBox 174"/>
              <p:cNvSpPr txBox="1"/>
              <p:nvPr/>
            </p:nvSpPr>
            <p:spPr>
              <a:xfrm>
                <a:off x="5837945" y="2824644"/>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pic>
            <p:nvPicPr>
              <p:cNvPr id="515" name="Picture 514">
                <a:extLst>
                  <a:ext uri="{FF2B5EF4-FFF2-40B4-BE49-F238E27FC236}">
                    <a16:creationId xmlns:a16="http://schemas.microsoft.com/office/drawing/2014/main" id="{614E6B67-44AB-4AB7-AA68-E8A30C09768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120956" y="3519945"/>
                <a:ext cx="345543" cy="518720"/>
              </a:xfrm>
              <a:prstGeom prst="rect">
                <a:avLst/>
              </a:prstGeom>
            </p:spPr>
          </p:pic>
          <p:pic>
            <p:nvPicPr>
              <p:cNvPr id="516" name="Picture 515">
                <a:extLst>
                  <a:ext uri="{FF2B5EF4-FFF2-40B4-BE49-F238E27FC236}">
                    <a16:creationId xmlns:a16="http://schemas.microsoft.com/office/drawing/2014/main" id="{30E8EE78-FA0C-45DA-BDF4-616BC2881EC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501991" y="3519945"/>
                <a:ext cx="345543" cy="518720"/>
              </a:xfrm>
              <a:prstGeom prst="rect">
                <a:avLst/>
              </a:prstGeom>
            </p:spPr>
          </p:pic>
          <p:pic>
            <p:nvPicPr>
              <p:cNvPr id="517" name="Picture 516">
                <a:extLst>
                  <a:ext uri="{FF2B5EF4-FFF2-40B4-BE49-F238E27FC236}">
                    <a16:creationId xmlns:a16="http://schemas.microsoft.com/office/drawing/2014/main" id="{1A8CAFE0-9FB2-40D4-B153-00AC4A45C1B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265865" y="3519945"/>
                <a:ext cx="345543" cy="518720"/>
              </a:xfrm>
              <a:prstGeom prst="rect">
                <a:avLst/>
              </a:prstGeom>
            </p:spPr>
          </p:pic>
          <p:pic>
            <p:nvPicPr>
              <p:cNvPr id="518" name="Picture 517">
                <a:extLst>
                  <a:ext uri="{FF2B5EF4-FFF2-40B4-BE49-F238E27FC236}">
                    <a16:creationId xmlns:a16="http://schemas.microsoft.com/office/drawing/2014/main" id="{7D022A5F-3E32-4DA4-B881-58ADDBF56A1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646900" y="3519945"/>
                <a:ext cx="345543" cy="518720"/>
              </a:xfrm>
              <a:prstGeom prst="rect">
                <a:avLst/>
              </a:prstGeom>
            </p:spPr>
          </p:pic>
          <p:pic>
            <p:nvPicPr>
              <p:cNvPr id="519" name="Picture 518">
                <a:extLst>
                  <a:ext uri="{FF2B5EF4-FFF2-40B4-BE49-F238E27FC236}">
                    <a16:creationId xmlns:a16="http://schemas.microsoft.com/office/drawing/2014/main" id="{9D07041A-8AF8-4147-98B0-557D66E32EE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85807" y="3519737"/>
                <a:ext cx="345543" cy="518720"/>
              </a:xfrm>
              <a:prstGeom prst="rect">
                <a:avLst/>
              </a:prstGeom>
            </p:spPr>
          </p:pic>
        </p:grpSp>
        <p:sp>
          <p:nvSpPr>
            <p:cNvPr id="306" name="TextBox 305"/>
            <p:cNvSpPr txBox="1"/>
            <p:nvPr/>
          </p:nvSpPr>
          <p:spPr>
            <a:xfrm>
              <a:off x="5456926" y="3476097"/>
              <a:ext cx="2418885" cy="523220"/>
            </a:xfrm>
            <a:prstGeom prst="rect">
              <a:avLst/>
            </a:prstGeom>
            <a:noFill/>
          </p:spPr>
          <p:txBody>
            <a:bodyPr wrap="square" rtlCol="0">
              <a:spAutoFit/>
            </a:bodyPr>
            <a:lstStyle/>
            <a:p>
              <a:r>
                <a:rPr lang="nl-BE" sz="1400" dirty="0"/>
                <a:t>5x </a:t>
              </a:r>
              <a:r>
                <a:rPr lang="nl-BE" sz="1400" dirty="0" err="1"/>
                <a:t>IceLake</a:t>
              </a:r>
              <a:r>
                <a:rPr lang="nl-BE" sz="1400" dirty="0"/>
                <a:t> 72c 2048 GB</a:t>
              </a:r>
              <a:br>
                <a:rPr lang="nl-BE" sz="1400" dirty="0"/>
              </a:br>
              <a:endParaRPr lang="nl-BE" sz="1400" dirty="0"/>
            </a:p>
          </p:txBody>
        </p:sp>
      </p:grpSp>
      <p:grpSp>
        <p:nvGrpSpPr>
          <p:cNvPr id="22" name="Group 21"/>
          <p:cNvGrpSpPr/>
          <p:nvPr/>
        </p:nvGrpSpPr>
        <p:grpSpPr>
          <a:xfrm>
            <a:off x="5778368" y="3509744"/>
            <a:ext cx="2082621" cy="2515372"/>
            <a:chOff x="8066143" y="1937625"/>
            <a:chExt cx="2082621" cy="2515372"/>
          </a:xfrm>
        </p:grpSpPr>
        <p:grpSp>
          <p:nvGrpSpPr>
            <p:cNvPr id="19" name="Group 18"/>
            <p:cNvGrpSpPr/>
            <p:nvPr/>
          </p:nvGrpSpPr>
          <p:grpSpPr>
            <a:xfrm>
              <a:off x="8066143" y="1937625"/>
              <a:ext cx="2082621" cy="1676084"/>
              <a:chOff x="9407721" y="1690379"/>
              <a:chExt cx="2082621" cy="1676084"/>
            </a:xfrm>
          </p:grpSpPr>
          <p:sp>
            <p:nvSpPr>
              <p:cNvPr id="440" name="TextBox 439">
                <a:extLst>
                  <a:ext uri="{FF2B5EF4-FFF2-40B4-BE49-F238E27FC236}">
                    <a16:creationId xmlns:a16="http://schemas.microsoft.com/office/drawing/2014/main" id="{59763B83-E149-43E1-A2C2-B036D9181447}"/>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439" name="Rounded Rectangle 167">
                <a:extLst>
                  <a:ext uri="{FF2B5EF4-FFF2-40B4-BE49-F238E27FC236}">
                    <a16:creationId xmlns:a16="http://schemas.microsoft.com/office/drawing/2014/main" id="{C12B8191-CD10-4B87-97C2-6BE7FA024EA5}"/>
                  </a:ext>
                </a:extLst>
              </p:cNvPr>
              <p:cNvSpPr/>
              <p:nvPr/>
            </p:nvSpPr>
            <p:spPr>
              <a:xfrm>
                <a:off x="9479846" y="2184430"/>
                <a:ext cx="2010496" cy="1182033"/>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p:cNvGrpSpPr/>
              <p:nvPr/>
            </p:nvGrpSpPr>
            <p:grpSpPr>
              <a:xfrm>
                <a:off x="10723476" y="2339184"/>
                <a:ext cx="416838" cy="407813"/>
                <a:chOff x="10722190" y="2352094"/>
                <a:chExt cx="416838" cy="407813"/>
              </a:xfrm>
            </p:grpSpPr>
            <p:pic>
              <p:nvPicPr>
                <p:cNvPr id="512" name="Picture 511">
                  <a:extLst>
                    <a:ext uri="{FF2B5EF4-FFF2-40B4-BE49-F238E27FC236}">
                      <a16:creationId xmlns:a16="http://schemas.microsoft.com/office/drawing/2014/main" id="{9068D59C-37DA-4B9F-9C06-D1E47E86813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722190" y="2352094"/>
                  <a:ext cx="271663" cy="407813"/>
                </a:xfrm>
                <a:prstGeom prst="rect">
                  <a:avLst/>
                </a:prstGeom>
              </p:spPr>
            </p:pic>
            <p:pic>
              <p:nvPicPr>
                <p:cNvPr id="230" name="Picture 2" descr="iOS icon">
                  <a:extLst>
                    <a:ext uri="{FF2B5EF4-FFF2-40B4-BE49-F238E27FC236}">
                      <a16:creationId xmlns:a16="http://schemas.microsoft.com/office/drawing/2014/main" id="{CB1596A8-1B05-4C1C-8933-44C16782886E}"/>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3789" y="2380069"/>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2" name="Group 291"/>
              <p:cNvGrpSpPr/>
              <p:nvPr/>
            </p:nvGrpSpPr>
            <p:grpSpPr>
              <a:xfrm>
                <a:off x="10288511" y="2340875"/>
                <a:ext cx="416838" cy="407813"/>
                <a:chOff x="9846429" y="3113442"/>
                <a:chExt cx="416838" cy="407813"/>
              </a:xfrm>
            </p:grpSpPr>
            <p:pic>
              <p:nvPicPr>
                <p:cNvPr id="293" name="Picture 292">
                  <a:extLst>
                    <a:ext uri="{FF2B5EF4-FFF2-40B4-BE49-F238E27FC236}">
                      <a16:creationId xmlns:a16="http://schemas.microsoft.com/office/drawing/2014/main" id="{9068D59C-37DA-4B9F-9C06-D1E47E86813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846429" y="3113442"/>
                  <a:ext cx="271663" cy="407813"/>
                </a:xfrm>
                <a:prstGeom prst="rect">
                  <a:avLst/>
                </a:prstGeom>
              </p:spPr>
            </p:pic>
            <p:pic>
              <p:nvPicPr>
                <p:cNvPr id="294" name="Picture 2" descr="iOS icon">
                  <a:extLst>
                    <a:ext uri="{FF2B5EF4-FFF2-40B4-BE49-F238E27FC236}">
                      <a16:creationId xmlns:a16="http://schemas.microsoft.com/office/drawing/2014/main" id="{CB1596A8-1B05-4C1C-8933-44C16782886E}"/>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138028" y="3141417"/>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5" name="Group 294"/>
              <p:cNvGrpSpPr/>
              <p:nvPr/>
            </p:nvGrpSpPr>
            <p:grpSpPr>
              <a:xfrm>
                <a:off x="10036663" y="2833330"/>
                <a:ext cx="416838" cy="407813"/>
                <a:chOff x="10036664" y="3224907"/>
                <a:chExt cx="416838" cy="407813"/>
              </a:xfrm>
            </p:grpSpPr>
            <p:pic>
              <p:nvPicPr>
                <p:cNvPr id="296" name="Picture 295">
                  <a:extLst>
                    <a:ext uri="{FF2B5EF4-FFF2-40B4-BE49-F238E27FC236}">
                      <a16:creationId xmlns:a16="http://schemas.microsoft.com/office/drawing/2014/main" id="{9068D59C-37DA-4B9F-9C06-D1E47E86813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36664" y="3224907"/>
                  <a:ext cx="271663" cy="407813"/>
                </a:xfrm>
                <a:prstGeom prst="rect">
                  <a:avLst/>
                </a:prstGeom>
              </p:spPr>
            </p:pic>
            <p:pic>
              <p:nvPicPr>
                <p:cNvPr id="297" name="Picture 2" descr="iOS icon">
                  <a:extLst>
                    <a:ext uri="{FF2B5EF4-FFF2-40B4-BE49-F238E27FC236}">
                      <a16:creationId xmlns:a16="http://schemas.microsoft.com/office/drawing/2014/main" id="{CB1596A8-1B05-4C1C-8933-44C16782886E}"/>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328263" y="3252882"/>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8" name="Group 297"/>
              <p:cNvGrpSpPr/>
              <p:nvPr/>
            </p:nvGrpSpPr>
            <p:grpSpPr>
              <a:xfrm>
                <a:off x="10478746" y="2834846"/>
                <a:ext cx="416838" cy="407813"/>
                <a:chOff x="10036664" y="3224907"/>
                <a:chExt cx="416838" cy="407813"/>
              </a:xfrm>
            </p:grpSpPr>
            <p:pic>
              <p:nvPicPr>
                <p:cNvPr id="299" name="Picture 298">
                  <a:extLst>
                    <a:ext uri="{FF2B5EF4-FFF2-40B4-BE49-F238E27FC236}">
                      <a16:creationId xmlns:a16="http://schemas.microsoft.com/office/drawing/2014/main" id="{9068D59C-37DA-4B9F-9C06-D1E47E86813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36664" y="3224907"/>
                  <a:ext cx="271663" cy="407813"/>
                </a:xfrm>
                <a:prstGeom prst="rect">
                  <a:avLst/>
                </a:prstGeom>
              </p:spPr>
            </p:pic>
            <p:pic>
              <p:nvPicPr>
                <p:cNvPr id="300" name="Picture 2" descr="iOS icon">
                  <a:extLst>
                    <a:ext uri="{FF2B5EF4-FFF2-40B4-BE49-F238E27FC236}">
                      <a16:creationId xmlns:a16="http://schemas.microsoft.com/office/drawing/2014/main" id="{CB1596A8-1B05-4C1C-8933-44C16782886E}"/>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328263" y="3252882"/>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01" name="Group 300"/>
              <p:cNvGrpSpPr/>
              <p:nvPr/>
            </p:nvGrpSpPr>
            <p:grpSpPr>
              <a:xfrm>
                <a:off x="9846428" y="2339184"/>
                <a:ext cx="416838" cy="407813"/>
                <a:chOff x="9846429" y="3113442"/>
                <a:chExt cx="416838" cy="407813"/>
              </a:xfrm>
            </p:grpSpPr>
            <p:pic>
              <p:nvPicPr>
                <p:cNvPr id="302" name="Picture 301">
                  <a:extLst>
                    <a:ext uri="{FF2B5EF4-FFF2-40B4-BE49-F238E27FC236}">
                      <a16:creationId xmlns:a16="http://schemas.microsoft.com/office/drawing/2014/main" id="{9068D59C-37DA-4B9F-9C06-D1E47E86813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846429" y="3113442"/>
                  <a:ext cx="271663" cy="407813"/>
                </a:xfrm>
                <a:prstGeom prst="rect">
                  <a:avLst/>
                </a:prstGeom>
              </p:spPr>
            </p:pic>
            <p:pic>
              <p:nvPicPr>
                <p:cNvPr id="303" name="Picture 2" descr="iOS icon">
                  <a:extLst>
                    <a:ext uri="{FF2B5EF4-FFF2-40B4-BE49-F238E27FC236}">
                      <a16:creationId xmlns:a16="http://schemas.microsoft.com/office/drawing/2014/main" id="{CB1596A8-1B05-4C1C-8933-44C16782886E}"/>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138028" y="3141417"/>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307" name="TextBox 306"/>
            <p:cNvSpPr txBox="1"/>
            <p:nvPr/>
          </p:nvSpPr>
          <p:spPr>
            <a:xfrm>
              <a:off x="8066143" y="3714333"/>
              <a:ext cx="2082621" cy="738664"/>
            </a:xfrm>
            <a:prstGeom prst="rect">
              <a:avLst/>
            </a:prstGeom>
            <a:noFill/>
          </p:spPr>
          <p:txBody>
            <a:bodyPr wrap="square" rtlCol="0">
              <a:spAutoFit/>
            </a:bodyPr>
            <a:lstStyle/>
            <a:p>
              <a:r>
                <a:rPr lang="nl-BE" sz="1400" dirty="0"/>
                <a:t>4x </a:t>
              </a:r>
              <a:r>
                <a:rPr lang="nl-BE" sz="1400" dirty="0" err="1"/>
                <a:t>IceLake</a:t>
              </a:r>
              <a:r>
                <a:rPr lang="nl-BE" sz="1400" dirty="0"/>
                <a:t> 64c 512 GB</a:t>
              </a:r>
            </a:p>
            <a:p>
              <a:r>
                <a:rPr lang="nl-BE" sz="1400" dirty="0"/>
                <a:t>1 A100 80GB</a:t>
              </a:r>
              <a:br>
                <a:rPr lang="nl-BE" sz="1400" dirty="0"/>
              </a:br>
              <a:endParaRPr lang="nl-BE" sz="1400" dirty="0"/>
            </a:p>
          </p:txBody>
        </p:sp>
      </p:grpSp>
      <p:grpSp>
        <p:nvGrpSpPr>
          <p:cNvPr id="30" name="Group 29"/>
          <p:cNvGrpSpPr/>
          <p:nvPr/>
        </p:nvGrpSpPr>
        <p:grpSpPr>
          <a:xfrm>
            <a:off x="8399154" y="1527964"/>
            <a:ext cx="2665398" cy="2050512"/>
            <a:chOff x="8039113" y="1931376"/>
            <a:chExt cx="2665398" cy="2050512"/>
          </a:xfrm>
        </p:grpSpPr>
        <p:sp>
          <p:nvSpPr>
            <p:cNvPr id="169" name="Rounded Rectangle 168"/>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TextBox 175"/>
            <p:cNvSpPr txBox="1"/>
            <p:nvPr/>
          </p:nvSpPr>
          <p:spPr>
            <a:xfrm>
              <a:off x="8039113" y="1931376"/>
              <a:ext cx="1428596" cy="369332"/>
            </a:xfrm>
            <a:prstGeom prst="rect">
              <a:avLst/>
            </a:prstGeom>
            <a:noFill/>
          </p:spPr>
          <p:txBody>
            <a:bodyPr wrap="none" rtlCol="0">
              <a:spAutoFit/>
            </a:bodyPr>
            <a:lstStyle/>
            <a:p>
              <a:r>
                <a:rPr lang="nl-BE" b="1" dirty="0"/>
                <a:t>GPU </a:t>
              </a:r>
              <a:r>
                <a:rPr lang="nl-BE" b="1" dirty="0" err="1"/>
                <a:t>nodes</a:t>
              </a:r>
              <a:endParaRPr lang="nl-BE" b="1" dirty="0"/>
            </a:p>
          </p:txBody>
        </p:sp>
        <p:sp>
          <p:nvSpPr>
            <p:cNvPr id="308" name="TextBox 307"/>
            <p:cNvSpPr txBox="1"/>
            <p:nvPr/>
          </p:nvSpPr>
          <p:spPr>
            <a:xfrm>
              <a:off x="8125244" y="3458668"/>
              <a:ext cx="2579267" cy="523220"/>
            </a:xfrm>
            <a:prstGeom prst="rect">
              <a:avLst/>
            </a:prstGeom>
            <a:noFill/>
          </p:spPr>
          <p:txBody>
            <a:bodyPr wrap="square" rtlCol="0">
              <a:spAutoFit/>
            </a:bodyPr>
            <a:lstStyle/>
            <a:p>
              <a:r>
                <a:rPr lang="nl-BE" sz="1400" dirty="0"/>
                <a:t>4x </a:t>
              </a:r>
              <a:r>
                <a:rPr lang="nl-BE" sz="1400" dirty="0" err="1"/>
                <a:t>IceLake</a:t>
              </a:r>
              <a:r>
                <a:rPr lang="nl-BE" sz="1400" dirty="0"/>
                <a:t> 72c 512 GB</a:t>
              </a:r>
            </a:p>
            <a:p>
              <a:r>
                <a:rPr lang="nl-BE" sz="1400" dirty="0"/>
                <a:t>4 A100 SXM4 80GB</a:t>
              </a:r>
            </a:p>
          </p:txBody>
        </p:sp>
        <p:grpSp>
          <p:nvGrpSpPr>
            <p:cNvPr id="27" name="Group 26"/>
            <p:cNvGrpSpPr>
              <a:grpSpLocks noChangeAspect="1"/>
            </p:cNvGrpSpPr>
            <p:nvPr/>
          </p:nvGrpSpPr>
          <p:grpSpPr>
            <a:xfrm>
              <a:off x="8413303" y="2713482"/>
              <a:ext cx="1996629" cy="386708"/>
              <a:chOff x="8203827" y="2625187"/>
              <a:chExt cx="2350457" cy="455238"/>
            </a:xfrm>
          </p:grpSpPr>
          <p:grpSp>
            <p:nvGrpSpPr>
              <p:cNvPr id="25" name="Group 24"/>
              <p:cNvGrpSpPr/>
              <p:nvPr/>
            </p:nvGrpSpPr>
            <p:grpSpPr>
              <a:xfrm>
                <a:off x="8203827" y="2629031"/>
                <a:ext cx="524138" cy="451394"/>
                <a:chOff x="8203827" y="2629031"/>
                <a:chExt cx="524138" cy="451394"/>
              </a:xfrm>
            </p:grpSpPr>
            <p:grpSp>
              <p:nvGrpSpPr>
                <p:cNvPr id="6" name="Group 5">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1026"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99"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0"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1"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24" name="Rectangle 23"/>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2" name="Group 371"/>
              <p:cNvGrpSpPr/>
              <p:nvPr/>
            </p:nvGrpSpPr>
            <p:grpSpPr>
              <a:xfrm>
                <a:off x="8812600" y="2629031"/>
                <a:ext cx="524138" cy="451394"/>
                <a:chOff x="8203827" y="2629031"/>
                <a:chExt cx="524138" cy="451394"/>
              </a:xfrm>
            </p:grpSpPr>
            <p:grpSp>
              <p:nvGrpSpPr>
                <p:cNvPr id="373" name="Group 372">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375"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6"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7"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8"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4" name="Rectangle 373"/>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3" name="Group 392"/>
              <p:cNvGrpSpPr/>
              <p:nvPr/>
            </p:nvGrpSpPr>
            <p:grpSpPr>
              <a:xfrm>
                <a:off x="9421373" y="2625187"/>
                <a:ext cx="524138" cy="451394"/>
                <a:chOff x="8203827" y="2629031"/>
                <a:chExt cx="524138" cy="451394"/>
              </a:xfrm>
            </p:grpSpPr>
            <p:grpSp>
              <p:nvGrpSpPr>
                <p:cNvPr id="394" name="Group 393">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396"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7"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8"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9"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5" name="Rectangle 394"/>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00" name="Group 399"/>
              <p:cNvGrpSpPr/>
              <p:nvPr/>
            </p:nvGrpSpPr>
            <p:grpSpPr>
              <a:xfrm>
                <a:off x="10030146" y="2625187"/>
                <a:ext cx="524138" cy="451394"/>
                <a:chOff x="8203827" y="2629031"/>
                <a:chExt cx="524138" cy="451394"/>
              </a:xfrm>
            </p:grpSpPr>
            <p:grpSp>
              <p:nvGrpSpPr>
                <p:cNvPr id="401" name="Group 400">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403"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02" name="Rectangle 401"/>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sp>
        <p:nvSpPr>
          <p:cNvPr id="40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22</a:t>
            </a:fld>
            <a:endParaRPr lang="nl-BE" sz="900" dirty="0">
              <a:solidFill>
                <a:schemeClr val="bg1"/>
              </a:solidFill>
            </a:endParaRPr>
          </a:p>
        </p:txBody>
      </p:sp>
      <p:sp>
        <p:nvSpPr>
          <p:cNvPr id="26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endParaRPr lang="en-US" altLang="en-US" sz="3200" dirty="0"/>
          </a:p>
        </p:txBody>
      </p:sp>
    </p:spTree>
    <p:extLst>
      <p:ext uri="{BB962C8B-B14F-4D97-AF65-F5344CB8AC3E}">
        <p14:creationId xmlns:p14="http://schemas.microsoft.com/office/powerpoint/2010/main" val="156124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ounded Rectangle 60"/>
          <p:cNvSpPr/>
          <p:nvPr/>
        </p:nvSpPr>
        <p:spPr>
          <a:xfrm>
            <a:off x="780528" y="2037798"/>
            <a:ext cx="4731491" cy="1679234"/>
          </a:xfrm>
          <a:prstGeom prst="roundRect">
            <a:avLst>
              <a:gd name="adj" fmla="val 1117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 name="TextBox 114">
            <a:extLst>
              <a:ext uri="{FF2B5EF4-FFF2-40B4-BE49-F238E27FC236}">
                <a16:creationId xmlns:a16="http://schemas.microsoft.com/office/drawing/2014/main" id="{12BA0A7F-6D16-43C6-B6AB-D8E148BD9DB2}"/>
              </a:ext>
            </a:extLst>
          </p:cNvPr>
          <p:cNvSpPr txBox="1"/>
          <p:nvPr/>
        </p:nvSpPr>
        <p:spPr>
          <a:xfrm>
            <a:off x="1126720" y="1484784"/>
            <a:ext cx="1231427" cy="369332"/>
          </a:xfrm>
          <a:prstGeom prst="rect">
            <a:avLst/>
          </a:prstGeom>
          <a:noFill/>
        </p:spPr>
        <p:txBody>
          <a:bodyPr wrap="none" rtlCol="0">
            <a:spAutoFit/>
          </a:bodyPr>
          <a:lstStyle/>
          <a:p>
            <a:pPr algn="ctr"/>
            <a:r>
              <a:rPr lang="nl-BE" b="1" dirty="0" err="1"/>
              <a:t>Thin</a:t>
            </a:r>
            <a:r>
              <a:rPr lang="nl-BE" b="1" dirty="0"/>
              <a:t> </a:t>
            </a:r>
            <a:r>
              <a:rPr lang="nl-BE" b="1" dirty="0" err="1"/>
              <a:t>nodes</a:t>
            </a:r>
            <a:endParaRPr lang="nl-BE" b="1" dirty="0"/>
          </a:p>
        </p:txBody>
      </p:sp>
      <p:grpSp>
        <p:nvGrpSpPr>
          <p:cNvPr id="7" name="Group 6">
            <a:extLst>
              <a:ext uri="{FF2B5EF4-FFF2-40B4-BE49-F238E27FC236}">
                <a16:creationId xmlns:a16="http://schemas.microsoft.com/office/drawing/2014/main" id="{83CA99C2-8AF6-41D5-B951-9680D14F690F}"/>
              </a:ext>
            </a:extLst>
          </p:cNvPr>
          <p:cNvGrpSpPr/>
          <p:nvPr/>
        </p:nvGrpSpPr>
        <p:grpSpPr>
          <a:xfrm>
            <a:off x="3148941" y="2247220"/>
            <a:ext cx="2098691" cy="922419"/>
            <a:chOff x="4335173" y="1731635"/>
            <a:chExt cx="2098691" cy="922419"/>
          </a:xfrm>
        </p:grpSpPr>
        <p:pic>
          <p:nvPicPr>
            <p:cNvPr id="62" name="Picture 61"/>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63" name="Picture 62"/>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64" name="Picture 63"/>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65" name="Picture 64"/>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66" name="Picture 65"/>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67" name="Picture 66"/>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68" name="Picture 67"/>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69" name="Picture 68"/>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70" name="Picture 69"/>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71" name="Picture 70"/>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72" name="Picture 71"/>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73" name="Picture 72"/>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74" name="Picture 73"/>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75" name="Picture 74"/>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76" name="Picture 75"/>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77" name="Picture 76"/>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78" name="Picture 77"/>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79" name="Picture 78"/>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80" name="Picture 79"/>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81" name="Picture 80"/>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82" name="Picture 81"/>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83" name="Picture 82"/>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84" name="Picture 83"/>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85" name="Picture 84"/>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86" name="Picture 85"/>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87" name="Picture 86"/>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88" name="Picture 87"/>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89" name="Picture 88"/>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90" name="Picture 89"/>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91" name="Picture 90"/>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grpSp>
      <p:grpSp>
        <p:nvGrpSpPr>
          <p:cNvPr id="325" name="Group 324">
            <a:extLst>
              <a:ext uri="{FF2B5EF4-FFF2-40B4-BE49-F238E27FC236}">
                <a16:creationId xmlns:a16="http://schemas.microsoft.com/office/drawing/2014/main" id="{57F9EA76-F73D-484C-8551-D7E34068711D}"/>
              </a:ext>
            </a:extLst>
          </p:cNvPr>
          <p:cNvGrpSpPr/>
          <p:nvPr/>
        </p:nvGrpSpPr>
        <p:grpSpPr>
          <a:xfrm>
            <a:off x="1027062" y="2247220"/>
            <a:ext cx="2098691" cy="1237372"/>
            <a:chOff x="4335173" y="1731635"/>
            <a:chExt cx="2098691" cy="1237372"/>
          </a:xfrm>
        </p:grpSpPr>
        <p:pic>
          <p:nvPicPr>
            <p:cNvPr id="326" name="Picture 325">
              <a:extLst>
                <a:ext uri="{FF2B5EF4-FFF2-40B4-BE49-F238E27FC236}">
                  <a16:creationId xmlns:a16="http://schemas.microsoft.com/office/drawing/2014/main" id="{36725644-7E72-416F-9443-02842F64024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327" name="Picture 326">
              <a:extLst>
                <a:ext uri="{FF2B5EF4-FFF2-40B4-BE49-F238E27FC236}">
                  <a16:creationId xmlns:a16="http://schemas.microsoft.com/office/drawing/2014/main" id="{2C44A0CD-87A1-40F6-8E6F-A3B9861EECD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328" name="Picture 327">
              <a:extLst>
                <a:ext uri="{FF2B5EF4-FFF2-40B4-BE49-F238E27FC236}">
                  <a16:creationId xmlns:a16="http://schemas.microsoft.com/office/drawing/2014/main" id="{43E92B0C-A9AC-4A87-99B3-EB9403C39A7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329" name="Picture 328">
              <a:extLst>
                <a:ext uri="{FF2B5EF4-FFF2-40B4-BE49-F238E27FC236}">
                  <a16:creationId xmlns:a16="http://schemas.microsoft.com/office/drawing/2014/main" id="{D9C23BE3-C4DF-4BC9-A7D3-082A9D52E1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330" name="Picture 329">
              <a:extLst>
                <a:ext uri="{FF2B5EF4-FFF2-40B4-BE49-F238E27FC236}">
                  <a16:creationId xmlns:a16="http://schemas.microsoft.com/office/drawing/2014/main" id="{161EBA17-E2A4-4835-BA70-3700CDE17B0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331" name="Picture 330">
              <a:extLst>
                <a:ext uri="{FF2B5EF4-FFF2-40B4-BE49-F238E27FC236}">
                  <a16:creationId xmlns:a16="http://schemas.microsoft.com/office/drawing/2014/main" id="{0C59C909-B7D5-44C7-8C3E-D76B77704FE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332" name="Picture 331">
              <a:extLst>
                <a:ext uri="{FF2B5EF4-FFF2-40B4-BE49-F238E27FC236}">
                  <a16:creationId xmlns:a16="http://schemas.microsoft.com/office/drawing/2014/main" id="{0503314F-BCED-47F2-861C-51AAA16B3B8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333" name="Picture 332">
              <a:extLst>
                <a:ext uri="{FF2B5EF4-FFF2-40B4-BE49-F238E27FC236}">
                  <a16:creationId xmlns:a16="http://schemas.microsoft.com/office/drawing/2014/main" id="{DAC4C5D3-513A-48B1-9DB1-FF0258B041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334" name="Picture 333">
              <a:extLst>
                <a:ext uri="{FF2B5EF4-FFF2-40B4-BE49-F238E27FC236}">
                  <a16:creationId xmlns:a16="http://schemas.microsoft.com/office/drawing/2014/main" id="{E4F4B977-D34C-4EFC-84AC-790213F7305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335" name="Picture 334">
              <a:extLst>
                <a:ext uri="{FF2B5EF4-FFF2-40B4-BE49-F238E27FC236}">
                  <a16:creationId xmlns:a16="http://schemas.microsoft.com/office/drawing/2014/main" id="{FB76A6F8-DDE5-4CF5-8B12-908DC55C804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336" name="Picture 335">
              <a:extLst>
                <a:ext uri="{FF2B5EF4-FFF2-40B4-BE49-F238E27FC236}">
                  <a16:creationId xmlns:a16="http://schemas.microsoft.com/office/drawing/2014/main" id="{4CF059E8-ED02-4920-AE53-B667137D915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337" name="Picture 336">
              <a:extLst>
                <a:ext uri="{FF2B5EF4-FFF2-40B4-BE49-F238E27FC236}">
                  <a16:creationId xmlns:a16="http://schemas.microsoft.com/office/drawing/2014/main" id="{209D94AB-2363-4D5F-8DBC-F245920021F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338" name="Picture 337">
              <a:extLst>
                <a:ext uri="{FF2B5EF4-FFF2-40B4-BE49-F238E27FC236}">
                  <a16:creationId xmlns:a16="http://schemas.microsoft.com/office/drawing/2014/main" id="{2F19A20A-AA84-438B-A008-47DDCB95904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339" name="Picture 338">
              <a:extLst>
                <a:ext uri="{FF2B5EF4-FFF2-40B4-BE49-F238E27FC236}">
                  <a16:creationId xmlns:a16="http://schemas.microsoft.com/office/drawing/2014/main" id="{2086FC16-A40D-4EFD-A82A-712A28D317A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340" name="Picture 339">
              <a:extLst>
                <a:ext uri="{FF2B5EF4-FFF2-40B4-BE49-F238E27FC236}">
                  <a16:creationId xmlns:a16="http://schemas.microsoft.com/office/drawing/2014/main" id="{FE4548FC-3BFF-4A14-9A51-B07CB035115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341" name="Picture 340">
              <a:extLst>
                <a:ext uri="{FF2B5EF4-FFF2-40B4-BE49-F238E27FC236}">
                  <a16:creationId xmlns:a16="http://schemas.microsoft.com/office/drawing/2014/main" id="{5B874476-3030-4742-8DC2-6B61B22F554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342" name="Picture 341">
              <a:extLst>
                <a:ext uri="{FF2B5EF4-FFF2-40B4-BE49-F238E27FC236}">
                  <a16:creationId xmlns:a16="http://schemas.microsoft.com/office/drawing/2014/main" id="{98F6D8C4-81C4-4C5B-910D-6E364F12953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343" name="Picture 342">
              <a:extLst>
                <a:ext uri="{FF2B5EF4-FFF2-40B4-BE49-F238E27FC236}">
                  <a16:creationId xmlns:a16="http://schemas.microsoft.com/office/drawing/2014/main" id="{A1AD1D29-E46D-4EC8-BC91-685867EC9AA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344" name="Picture 343">
              <a:extLst>
                <a:ext uri="{FF2B5EF4-FFF2-40B4-BE49-F238E27FC236}">
                  <a16:creationId xmlns:a16="http://schemas.microsoft.com/office/drawing/2014/main" id="{CDA5E234-EBC6-48FB-A35E-72C88F5DDA4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345" name="Picture 344">
              <a:extLst>
                <a:ext uri="{FF2B5EF4-FFF2-40B4-BE49-F238E27FC236}">
                  <a16:creationId xmlns:a16="http://schemas.microsoft.com/office/drawing/2014/main" id="{CC25B477-8F17-489E-98A7-BE75139C661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346" name="Picture 345">
              <a:extLst>
                <a:ext uri="{FF2B5EF4-FFF2-40B4-BE49-F238E27FC236}">
                  <a16:creationId xmlns:a16="http://schemas.microsoft.com/office/drawing/2014/main" id="{F9452A13-7151-49E7-B228-CBDA9140384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347" name="Picture 346">
              <a:extLst>
                <a:ext uri="{FF2B5EF4-FFF2-40B4-BE49-F238E27FC236}">
                  <a16:creationId xmlns:a16="http://schemas.microsoft.com/office/drawing/2014/main" id="{46CD40D8-8045-4953-9D1D-465E26F18BF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348" name="Picture 347">
              <a:extLst>
                <a:ext uri="{FF2B5EF4-FFF2-40B4-BE49-F238E27FC236}">
                  <a16:creationId xmlns:a16="http://schemas.microsoft.com/office/drawing/2014/main" id="{1DE019C2-5A33-4AFD-8943-C97E61C49A2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349" name="Picture 348">
              <a:extLst>
                <a:ext uri="{FF2B5EF4-FFF2-40B4-BE49-F238E27FC236}">
                  <a16:creationId xmlns:a16="http://schemas.microsoft.com/office/drawing/2014/main" id="{F900411C-E88B-40F3-B560-16C454AC962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350" name="Picture 349">
              <a:extLst>
                <a:ext uri="{FF2B5EF4-FFF2-40B4-BE49-F238E27FC236}">
                  <a16:creationId xmlns:a16="http://schemas.microsoft.com/office/drawing/2014/main" id="{43E31083-B47D-48EB-9CA2-316DE565841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351" name="Picture 350">
              <a:extLst>
                <a:ext uri="{FF2B5EF4-FFF2-40B4-BE49-F238E27FC236}">
                  <a16:creationId xmlns:a16="http://schemas.microsoft.com/office/drawing/2014/main" id="{25220C6B-0D28-420F-B583-6DD42D75961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352" name="Picture 351">
              <a:extLst>
                <a:ext uri="{FF2B5EF4-FFF2-40B4-BE49-F238E27FC236}">
                  <a16:creationId xmlns:a16="http://schemas.microsoft.com/office/drawing/2014/main" id="{46078813-64AC-4DD4-8D3D-193DAF27A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353" name="Picture 352">
              <a:extLst>
                <a:ext uri="{FF2B5EF4-FFF2-40B4-BE49-F238E27FC236}">
                  <a16:creationId xmlns:a16="http://schemas.microsoft.com/office/drawing/2014/main" id="{837761F5-4F32-421B-A32D-72C0C606A8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354" name="Picture 353">
              <a:extLst>
                <a:ext uri="{FF2B5EF4-FFF2-40B4-BE49-F238E27FC236}">
                  <a16:creationId xmlns:a16="http://schemas.microsoft.com/office/drawing/2014/main" id="{BB63E70C-8B0A-4EAA-BB93-7B67C988F9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355" name="Picture 354">
              <a:extLst>
                <a:ext uri="{FF2B5EF4-FFF2-40B4-BE49-F238E27FC236}">
                  <a16:creationId xmlns:a16="http://schemas.microsoft.com/office/drawing/2014/main" id="{82CE15B4-9840-44C8-9713-7DE8CA7BDC3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356" name="Picture 355">
              <a:extLst>
                <a:ext uri="{FF2B5EF4-FFF2-40B4-BE49-F238E27FC236}">
                  <a16:creationId xmlns:a16="http://schemas.microsoft.com/office/drawing/2014/main" id="{88A015C1-705B-4ACA-BA81-1895400AAC7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357" name="Picture 356">
              <a:extLst>
                <a:ext uri="{FF2B5EF4-FFF2-40B4-BE49-F238E27FC236}">
                  <a16:creationId xmlns:a16="http://schemas.microsoft.com/office/drawing/2014/main" id="{81284BD3-6393-496C-9705-E09FF759BCB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358" name="Picture 357">
              <a:extLst>
                <a:ext uri="{FF2B5EF4-FFF2-40B4-BE49-F238E27FC236}">
                  <a16:creationId xmlns:a16="http://schemas.microsoft.com/office/drawing/2014/main" id="{D046842B-0305-4699-B9A3-EA9B47ABA9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359" name="Picture 358">
              <a:extLst>
                <a:ext uri="{FF2B5EF4-FFF2-40B4-BE49-F238E27FC236}">
                  <a16:creationId xmlns:a16="http://schemas.microsoft.com/office/drawing/2014/main" id="{071DB54B-F128-4C5F-AB3B-881BB16B5A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360" name="Picture 359">
              <a:extLst>
                <a:ext uri="{FF2B5EF4-FFF2-40B4-BE49-F238E27FC236}">
                  <a16:creationId xmlns:a16="http://schemas.microsoft.com/office/drawing/2014/main" id="{5DBE303A-6BAC-4BF7-9503-017630E38E1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361" name="Picture 360">
              <a:extLst>
                <a:ext uri="{FF2B5EF4-FFF2-40B4-BE49-F238E27FC236}">
                  <a16:creationId xmlns:a16="http://schemas.microsoft.com/office/drawing/2014/main" id="{CFF31E34-E018-4A0D-A28B-C54489F90BE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362" name="Picture 361">
              <a:extLst>
                <a:ext uri="{FF2B5EF4-FFF2-40B4-BE49-F238E27FC236}">
                  <a16:creationId xmlns:a16="http://schemas.microsoft.com/office/drawing/2014/main" id="{630003FA-CF4E-465B-A015-9EB8BE70BE5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363" name="Picture 362">
              <a:extLst>
                <a:ext uri="{FF2B5EF4-FFF2-40B4-BE49-F238E27FC236}">
                  <a16:creationId xmlns:a16="http://schemas.microsoft.com/office/drawing/2014/main" id="{AB18FC08-71B9-4A22-8427-FC762C78A7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grpSp>
      <p:sp>
        <p:nvSpPr>
          <p:cNvPr id="305" name="TextBox 304"/>
          <p:cNvSpPr txBox="1"/>
          <p:nvPr/>
        </p:nvSpPr>
        <p:spPr>
          <a:xfrm>
            <a:off x="786586" y="3717032"/>
            <a:ext cx="4731491" cy="523220"/>
          </a:xfrm>
          <a:prstGeom prst="rect">
            <a:avLst/>
          </a:prstGeom>
          <a:noFill/>
        </p:spPr>
        <p:txBody>
          <a:bodyPr wrap="square" rtlCol="0">
            <a:spAutoFit/>
          </a:bodyPr>
          <a:lstStyle/>
          <a:p>
            <a:r>
              <a:rPr lang="nl-BE" sz="1400" dirty="0"/>
              <a:t>68x </a:t>
            </a:r>
            <a:r>
              <a:rPr lang="nl-BE" sz="1400" dirty="0" err="1"/>
              <a:t>Sapphire</a:t>
            </a:r>
            <a:r>
              <a:rPr lang="nl-BE" sz="1400" dirty="0"/>
              <a:t> Rapids 96c 256 GB</a:t>
            </a:r>
            <a:br>
              <a:rPr lang="nl-BE" sz="1400" dirty="0"/>
            </a:br>
            <a:endParaRPr lang="nl-BE" sz="1400" dirty="0"/>
          </a:p>
        </p:txBody>
      </p:sp>
      <p:grpSp>
        <p:nvGrpSpPr>
          <p:cNvPr id="29" name="Group 28"/>
          <p:cNvGrpSpPr/>
          <p:nvPr/>
        </p:nvGrpSpPr>
        <p:grpSpPr>
          <a:xfrm>
            <a:off x="5778368" y="1527964"/>
            <a:ext cx="2457484" cy="2067941"/>
            <a:chOff x="5418327" y="1931376"/>
            <a:chExt cx="2457484" cy="2067941"/>
          </a:xfrm>
        </p:grpSpPr>
        <p:grpSp>
          <p:nvGrpSpPr>
            <p:cNvPr id="11" name="Group 10"/>
            <p:cNvGrpSpPr/>
            <p:nvPr/>
          </p:nvGrpSpPr>
          <p:grpSpPr>
            <a:xfrm>
              <a:off x="5418327" y="1931376"/>
              <a:ext cx="2457484" cy="1425616"/>
              <a:chOff x="5837945" y="2824644"/>
              <a:chExt cx="2457484" cy="1425616"/>
            </a:xfrm>
          </p:grpSpPr>
          <p:sp>
            <p:nvSpPr>
              <p:cNvPr id="168" name="Rounded Rectangle 167"/>
              <p:cNvSpPr/>
              <p:nvPr/>
            </p:nvSpPr>
            <p:spPr>
              <a:xfrm>
                <a:off x="5876544" y="3310705"/>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TextBox 174"/>
              <p:cNvSpPr txBox="1"/>
              <p:nvPr/>
            </p:nvSpPr>
            <p:spPr>
              <a:xfrm>
                <a:off x="5837945" y="2824644"/>
                <a:ext cx="2073132" cy="369332"/>
              </a:xfrm>
              <a:prstGeom prst="rect">
                <a:avLst/>
              </a:prstGeom>
              <a:noFill/>
            </p:spPr>
            <p:txBody>
              <a:bodyPr wrap="none" rtlCol="0">
                <a:spAutoFit/>
              </a:bodyPr>
              <a:lstStyle/>
              <a:p>
                <a:r>
                  <a:rPr lang="nl-BE" b="1" dirty="0"/>
                  <a:t>Huge memory node</a:t>
                </a:r>
              </a:p>
            </p:txBody>
          </p:sp>
          <p:pic>
            <p:nvPicPr>
              <p:cNvPr id="519" name="Picture 518">
                <a:extLst>
                  <a:ext uri="{FF2B5EF4-FFF2-40B4-BE49-F238E27FC236}">
                    <a16:creationId xmlns:a16="http://schemas.microsoft.com/office/drawing/2014/main" id="{9D07041A-8AF8-4147-98B0-557D66E32EE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03689" y="3396464"/>
                <a:ext cx="505566" cy="758942"/>
              </a:xfrm>
              <a:prstGeom prst="rect">
                <a:avLst/>
              </a:prstGeom>
            </p:spPr>
          </p:pic>
        </p:grpSp>
        <p:sp>
          <p:nvSpPr>
            <p:cNvPr id="306" name="TextBox 305"/>
            <p:cNvSpPr txBox="1"/>
            <p:nvPr/>
          </p:nvSpPr>
          <p:spPr>
            <a:xfrm>
              <a:off x="5456926" y="3476097"/>
              <a:ext cx="2418885" cy="523220"/>
            </a:xfrm>
            <a:prstGeom prst="rect">
              <a:avLst/>
            </a:prstGeom>
            <a:noFill/>
          </p:spPr>
          <p:txBody>
            <a:bodyPr wrap="square" rtlCol="0">
              <a:spAutoFit/>
            </a:bodyPr>
            <a:lstStyle/>
            <a:p>
              <a:r>
                <a:rPr lang="nl-BE" sz="1400" dirty="0"/>
                <a:t>1x </a:t>
              </a:r>
              <a:r>
                <a:rPr lang="nl-BE" sz="1400" dirty="0" err="1"/>
                <a:t>IceLake</a:t>
              </a:r>
              <a:r>
                <a:rPr lang="nl-BE" sz="1400" dirty="0"/>
                <a:t> 72c 8 TB</a:t>
              </a:r>
              <a:br>
                <a:rPr lang="nl-BE" sz="1400" dirty="0"/>
              </a:br>
              <a:endParaRPr lang="nl-BE" sz="1400" dirty="0"/>
            </a:p>
          </p:txBody>
        </p:sp>
      </p:grpSp>
      <p:grpSp>
        <p:nvGrpSpPr>
          <p:cNvPr id="30" name="Group 29"/>
          <p:cNvGrpSpPr/>
          <p:nvPr/>
        </p:nvGrpSpPr>
        <p:grpSpPr>
          <a:xfrm>
            <a:off x="8399154" y="1527964"/>
            <a:ext cx="2665398" cy="2050512"/>
            <a:chOff x="8039113" y="1931376"/>
            <a:chExt cx="2665398" cy="2050512"/>
          </a:xfrm>
        </p:grpSpPr>
        <p:sp>
          <p:nvSpPr>
            <p:cNvPr id="169" name="Rounded Rectangle 168"/>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TextBox 175"/>
            <p:cNvSpPr txBox="1"/>
            <p:nvPr/>
          </p:nvSpPr>
          <p:spPr>
            <a:xfrm>
              <a:off x="8039113" y="1931376"/>
              <a:ext cx="1428596" cy="369332"/>
            </a:xfrm>
            <a:prstGeom prst="rect">
              <a:avLst/>
            </a:prstGeom>
            <a:noFill/>
          </p:spPr>
          <p:txBody>
            <a:bodyPr wrap="none" rtlCol="0">
              <a:spAutoFit/>
            </a:bodyPr>
            <a:lstStyle/>
            <a:p>
              <a:r>
                <a:rPr lang="nl-BE" b="1" dirty="0"/>
                <a:t>GPU </a:t>
              </a:r>
              <a:r>
                <a:rPr lang="nl-BE" b="1" dirty="0" err="1"/>
                <a:t>nodes</a:t>
              </a:r>
              <a:endParaRPr lang="nl-BE" b="1" dirty="0"/>
            </a:p>
          </p:txBody>
        </p:sp>
        <p:sp>
          <p:nvSpPr>
            <p:cNvPr id="308" name="TextBox 307"/>
            <p:cNvSpPr txBox="1"/>
            <p:nvPr/>
          </p:nvSpPr>
          <p:spPr>
            <a:xfrm>
              <a:off x="8125244" y="3458668"/>
              <a:ext cx="2579267" cy="523220"/>
            </a:xfrm>
            <a:prstGeom prst="rect">
              <a:avLst/>
            </a:prstGeom>
            <a:noFill/>
          </p:spPr>
          <p:txBody>
            <a:bodyPr wrap="square" rtlCol="0">
              <a:spAutoFit/>
            </a:bodyPr>
            <a:lstStyle/>
            <a:p>
              <a:r>
                <a:rPr lang="nl-BE" sz="1400" dirty="0"/>
                <a:t>4x AMD </a:t>
              </a:r>
              <a:r>
                <a:rPr lang="nl-BE" sz="1400" dirty="0" err="1"/>
                <a:t>Genoa</a:t>
              </a:r>
              <a:r>
                <a:rPr lang="nl-BE" sz="1400" dirty="0"/>
                <a:t> 64c 768 GB</a:t>
              </a:r>
            </a:p>
            <a:p>
              <a:r>
                <a:rPr lang="nl-BE" sz="1400" dirty="0"/>
                <a:t>4x H100 SXM5 80GB</a:t>
              </a:r>
            </a:p>
          </p:txBody>
        </p:sp>
        <p:grpSp>
          <p:nvGrpSpPr>
            <p:cNvPr id="27" name="Group 26"/>
            <p:cNvGrpSpPr>
              <a:grpSpLocks noChangeAspect="1"/>
            </p:cNvGrpSpPr>
            <p:nvPr/>
          </p:nvGrpSpPr>
          <p:grpSpPr>
            <a:xfrm>
              <a:off x="8413303" y="2713482"/>
              <a:ext cx="1996629" cy="386708"/>
              <a:chOff x="8203827" y="2625187"/>
              <a:chExt cx="2350457" cy="455238"/>
            </a:xfrm>
          </p:grpSpPr>
          <p:grpSp>
            <p:nvGrpSpPr>
              <p:cNvPr id="25" name="Group 24"/>
              <p:cNvGrpSpPr/>
              <p:nvPr/>
            </p:nvGrpSpPr>
            <p:grpSpPr>
              <a:xfrm>
                <a:off x="8203827" y="2629031"/>
                <a:ext cx="524138" cy="451394"/>
                <a:chOff x="8203827" y="2629031"/>
                <a:chExt cx="524138" cy="451394"/>
              </a:xfrm>
            </p:grpSpPr>
            <p:grpSp>
              <p:nvGrpSpPr>
                <p:cNvPr id="6" name="Group 5">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1026"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99"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0"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1"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24" name="Rectangle 23"/>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2" name="Group 371"/>
              <p:cNvGrpSpPr/>
              <p:nvPr/>
            </p:nvGrpSpPr>
            <p:grpSpPr>
              <a:xfrm>
                <a:off x="8812600" y="2629031"/>
                <a:ext cx="524138" cy="451394"/>
                <a:chOff x="8203827" y="2629031"/>
                <a:chExt cx="524138" cy="451394"/>
              </a:xfrm>
            </p:grpSpPr>
            <p:grpSp>
              <p:nvGrpSpPr>
                <p:cNvPr id="373" name="Group 372">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375"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6"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7"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8"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4" name="Rectangle 373"/>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3" name="Group 392"/>
              <p:cNvGrpSpPr/>
              <p:nvPr/>
            </p:nvGrpSpPr>
            <p:grpSpPr>
              <a:xfrm>
                <a:off x="9421373" y="2625187"/>
                <a:ext cx="524138" cy="451394"/>
                <a:chOff x="8203827" y="2629031"/>
                <a:chExt cx="524138" cy="451394"/>
              </a:xfrm>
            </p:grpSpPr>
            <p:grpSp>
              <p:nvGrpSpPr>
                <p:cNvPr id="394" name="Group 393">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396"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7"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8"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9"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5" name="Rectangle 394"/>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00" name="Group 399"/>
              <p:cNvGrpSpPr/>
              <p:nvPr/>
            </p:nvGrpSpPr>
            <p:grpSpPr>
              <a:xfrm>
                <a:off x="10030146" y="2625187"/>
                <a:ext cx="524138" cy="451394"/>
                <a:chOff x="8203827" y="2629031"/>
                <a:chExt cx="524138" cy="451394"/>
              </a:xfrm>
            </p:grpSpPr>
            <p:grpSp>
              <p:nvGrpSpPr>
                <p:cNvPr id="401" name="Group 400">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403"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02" name="Rectangle 401"/>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sp>
        <p:nvSpPr>
          <p:cNvPr id="40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23</a:t>
            </a:fld>
            <a:endParaRPr lang="nl-BE" sz="900" dirty="0">
              <a:solidFill>
                <a:schemeClr val="bg1"/>
              </a:solidFill>
            </a:endParaRPr>
          </a:p>
        </p:txBody>
      </p:sp>
      <p:sp>
        <p:nvSpPr>
          <p:cNvPr id="26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extension</a:t>
            </a:r>
          </a:p>
        </p:txBody>
      </p:sp>
    </p:spTree>
    <p:extLst>
      <p:ext uri="{BB962C8B-B14F-4D97-AF65-F5344CB8AC3E}">
        <p14:creationId xmlns:p14="http://schemas.microsoft.com/office/powerpoint/2010/main" val="39917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487488" y="4140369"/>
            <a:ext cx="1710725"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Storage</a:t>
            </a:r>
          </a:p>
        </p:txBody>
      </p:sp>
      <p:sp>
        <p:nvSpPr>
          <p:cNvPr id="6" name="Slide Number Placeholder 5"/>
          <p:cNvSpPr>
            <a:spLocks noGrp="1"/>
          </p:cNvSpPr>
          <p:nvPr>
            <p:ph type="sldNum" sz="quarter" idx="12"/>
          </p:nvPr>
        </p:nvSpPr>
        <p:spPr/>
        <p:txBody>
          <a:bodyPr/>
          <a:lstStyle/>
          <a:p>
            <a:fld id="{A2912448-FEEC-49E8-9588-2DF1F90D57C2}" type="slidenum">
              <a:rPr lang="en-US" smtClean="0"/>
              <a:t>24</a:t>
            </a:fld>
            <a:endParaRPr lang="en-US"/>
          </a:p>
        </p:txBody>
      </p:sp>
    </p:spTree>
    <p:extLst>
      <p:ext uri="{BB962C8B-B14F-4D97-AF65-F5344CB8AC3E}">
        <p14:creationId xmlns:p14="http://schemas.microsoft.com/office/powerpoint/2010/main" val="31748541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35D8031-C8E5-48F8-A3B6-81643B27A3AF}" type="slidenum">
              <a:rPr lang="nl-BE" smtClean="0"/>
              <a:pPr/>
              <a:t>25</a:t>
            </a:fld>
            <a:endParaRPr lang="nl-BE" dirty="0"/>
          </a:p>
        </p:txBody>
      </p:sp>
      <p:sp>
        <p:nvSpPr>
          <p:cNvPr id="4" name="Content Placeholder 3"/>
          <p:cNvSpPr>
            <a:spLocks noGrp="1"/>
          </p:cNvSpPr>
          <p:nvPr>
            <p:ph idx="1"/>
          </p:nvPr>
        </p:nvSpPr>
        <p:spPr>
          <a:ln w="19050">
            <a:noFill/>
          </a:ln>
        </p:spPr>
        <p:txBody>
          <a:bodyPr/>
          <a:lstStyle/>
          <a:p>
            <a:pPr marL="324000" indent="-324000">
              <a:buBlip>
                <a:blip r:embed="rId2"/>
              </a:buBlip>
            </a:pPr>
            <a:r>
              <a:rPr lang="en-US" sz="2200" dirty="0"/>
              <a:t>Only you own your files (POSIX)</a:t>
            </a:r>
            <a:br>
              <a:rPr lang="en-US" sz="2200" dirty="0"/>
            </a:br>
            <a:r>
              <a:rPr lang="en-US" sz="2200" dirty="0"/>
              <a:t>Users can share folders via </a:t>
            </a:r>
            <a:r>
              <a:rPr lang="en-US" sz="2200" dirty="0">
                <a:hlinkClick r:id="rId3"/>
              </a:rPr>
              <a:t>VSC groups</a:t>
            </a:r>
            <a:endParaRPr lang="en-US" sz="2200" dirty="0"/>
          </a:p>
          <a:p>
            <a:pPr marL="324000" indent="-324000">
              <a:buBlip>
                <a:blip r:embed="rId2"/>
              </a:buBlip>
            </a:pPr>
            <a:r>
              <a:rPr lang="en-US" sz="2200" dirty="0"/>
              <a:t>A VSC account has 3 default storages (free of charge)</a:t>
            </a:r>
          </a:p>
          <a:p>
            <a:pPr lvl="1">
              <a:buClr>
                <a:srgbClr val="DB6C30"/>
              </a:buClr>
            </a:pPr>
            <a:r>
              <a:rPr lang="en-US" sz="1900" dirty="0">
                <a:latin typeface="Courier New" panose="02070309020205020404" pitchFamily="49" charset="0"/>
                <a:cs typeface="Courier New" panose="02070309020205020404" pitchFamily="49" charset="0"/>
              </a:rPr>
              <a:t>$VSC_HOME</a:t>
            </a:r>
          </a:p>
          <a:p>
            <a:pPr lvl="1">
              <a:buClr>
                <a:srgbClr val="DB6C30"/>
              </a:buClr>
            </a:pPr>
            <a:r>
              <a:rPr lang="en-US" sz="1900" dirty="0">
                <a:latin typeface="Courier New" panose="02070309020205020404" pitchFamily="49" charset="0"/>
                <a:cs typeface="Courier New" panose="02070309020205020404" pitchFamily="49" charset="0"/>
              </a:rPr>
              <a:t>$VSC_DATA</a:t>
            </a:r>
          </a:p>
          <a:p>
            <a:pPr lvl="1">
              <a:buClr>
                <a:srgbClr val="DB6C30"/>
              </a:buClr>
            </a:pPr>
            <a:r>
              <a:rPr lang="en-US" sz="1900" dirty="0">
                <a:latin typeface="Courier New" panose="02070309020205020404" pitchFamily="49" charset="0"/>
                <a:cs typeface="Courier New" panose="02070309020205020404" pitchFamily="49" charset="0"/>
              </a:rPr>
              <a:t>$VSC_SCRATCH</a:t>
            </a:r>
          </a:p>
          <a:p>
            <a:pPr marL="324000" indent="-324000">
              <a:buBlip>
                <a:blip r:embed="rId2"/>
              </a:buBlip>
            </a:pPr>
            <a:r>
              <a:rPr lang="en-US" sz="2200" dirty="0"/>
              <a:t>You can additionally request </a:t>
            </a:r>
            <a:r>
              <a:rPr lang="en-US" sz="2200" dirty="0">
                <a:latin typeface="Courier New" panose="02070309020205020404" pitchFamily="49" charset="0"/>
                <a:cs typeface="Courier New" panose="02070309020205020404" pitchFamily="49" charset="0"/>
              </a:rPr>
              <a:t>staging</a:t>
            </a:r>
            <a:r>
              <a:rPr lang="en-US" sz="2200" dirty="0"/>
              <a:t> storage</a:t>
            </a:r>
          </a:p>
          <a:p>
            <a:pPr marL="324000" indent="-324000">
              <a:buBlip>
                <a:blip r:embed="rId2"/>
              </a:buBlip>
            </a:pPr>
            <a:r>
              <a:rPr lang="en-US" sz="2200" dirty="0"/>
              <a:t>Different storage volumes have different:</a:t>
            </a:r>
          </a:p>
          <a:p>
            <a:pPr lvl="1">
              <a:buClr>
                <a:srgbClr val="DB6C30"/>
              </a:buClr>
            </a:pPr>
            <a:r>
              <a:rPr lang="en-US" sz="1900" dirty="0"/>
              <a:t>mount point</a:t>
            </a:r>
          </a:p>
          <a:p>
            <a:pPr lvl="1">
              <a:buClr>
                <a:srgbClr val="DB6C30"/>
              </a:buClr>
            </a:pPr>
            <a:r>
              <a:rPr lang="en-US" sz="1900" dirty="0"/>
              <a:t>size and performance</a:t>
            </a:r>
          </a:p>
          <a:p>
            <a:pPr lvl="1">
              <a:buClr>
                <a:srgbClr val="DB6C30"/>
              </a:buClr>
            </a:pPr>
            <a:r>
              <a:rPr lang="en-US" sz="1900" dirty="0"/>
              <a:t>use case</a:t>
            </a:r>
          </a:p>
          <a:p>
            <a:pPr lvl="1">
              <a:buClr>
                <a:srgbClr val="DB6C30"/>
              </a:buClr>
            </a:pPr>
            <a:r>
              <a:rPr lang="en-US" sz="1900" dirty="0"/>
              <a:t>backup and maintenance policy</a:t>
            </a:r>
          </a:p>
          <a:p>
            <a:pPr marL="324000" indent="-324000">
              <a:buBlip>
                <a:blip r:embed="rId2"/>
              </a:buBlip>
            </a:pPr>
            <a:r>
              <a:rPr lang="en-US" sz="2200" dirty="0"/>
              <a:t>For more info, see the </a:t>
            </a:r>
            <a:r>
              <a:rPr lang="en-US" sz="2200" dirty="0">
                <a:hlinkClick r:id="rId4"/>
              </a:rPr>
              <a:t>ICTS Service Catalog</a:t>
            </a:r>
            <a:r>
              <a:rPr lang="en-US" sz="2200" dirty="0"/>
              <a:t> (EN/NL)</a:t>
            </a:r>
            <a:br>
              <a:rPr lang="en-US" sz="2200" dirty="0"/>
            </a:br>
            <a:endParaRPr lang="en-US" sz="2200" dirty="0"/>
          </a:p>
        </p:txBody>
      </p:sp>
      <p:sp>
        <p:nvSpPr>
          <p:cNvPr id="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Overview of the Tier-2 storage locations </a:t>
            </a:r>
          </a:p>
        </p:txBody>
      </p:sp>
    </p:spTree>
    <p:extLst>
      <p:ext uri="{BB962C8B-B14F-4D97-AF65-F5344CB8AC3E}">
        <p14:creationId xmlns:p14="http://schemas.microsoft.com/office/powerpoint/2010/main" val="38362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3392" y="1331052"/>
            <a:ext cx="6552728" cy="3276364"/>
          </a:xfrm>
          <a:ln w="19050">
            <a:solidFill>
              <a:schemeClr val="accent5"/>
            </a:solidFill>
          </a:ln>
        </p:spPr>
        <p:txBody>
          <a:bodyPr anchor="ctr"/>
          <a:lstStyle/>
          <a:p>
            <a:pPr marL="324000" indent="-324000">
              <a:buClr>
                <a:srgbClr val="DB6C30"/>
              </a:buClr>
              <a:buFont typeface="Wingdings" panose="05000000000000000000" pitchFamily="2" charset="2"/>
              <a:buChar char="q"/>
            </a:pPr>
            <a:r>
              <a:rPr lang="en-US" sz="2200" b="1" dirty="0"/>
              <a:t>Avoid using </a:t>
            </a:r>
            <a:r>
              <a:rPr lang="en-US" sz="2200" b="1" dirty="0">
                <a:latin typeface="Courier New" panose="02070309020205020404" pitchFamily="49" charset="0"/>
                <a:cs typeface="Courier New" panose="02070309020205020404" pitchFamily="49" charset="0"/>
              </a:rPr>
              <a:t>/</a:t>
            </a:r>
            <a:r>
              <a:rPr lang="en-US" sz="2200" b="1" dirty="0" err="1">
                <a:latin typeface="Courier New" panose="02070309020205020404" pitchFamily="49" charset="0"/>
                <a:cs typeface="Courier New" panose="02070309020205020404" pitchFamily="49" charset="0"/>
              </a:rPr>
              <a:t>tmp</a:t>
            </a:r>
            <a:r>
              <a:rPr lang="en-US" sz="2200" b="1" dirty="0">
                <a:latin typeface="Courier New" panose="02070309020205020404" pitchFamily="49" charset="0"/>
                <a:cs typeface="Courier New" panose="02070309020205020404" pitchFamily="49" charset="0"/>
              </a:rPr>
              <a:t> ($TMPDIR)</a:t>
            </a:r>
            <a:r>
              <a:rPr lang="en-US" sz="2200" b="1" dirty="0">
                <a:solidFill>
                  <a:schemeClr val="tx2"/>
                </a:solidFill>
              </a:rPr>
              <a:t>on the login nodes</a:t>
            </a:r>
            <a:br>
              <a:rPr lang="en-US" sz="2200" dirty="0"/>
            </a:br>
            <a:r>
              <a:rPr lang="en-US" sz="2200" dirty="0"/>
              <a:t>It is only 10 GB and is needed by the operating system</a:t>
            </a:r>
            <a:br>
              <a:rPr lang="en-US" sz="2200" dirty="0"/>
            </a:br>
            <a:r>
              <a:rPr lang="en-US" sz="2200" dirty="0"/>
              <a:t>Your application can crash if using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tmp</a:t>
            </a:r>
            <a:endParaRPr lang="en-US" sz="22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r>
              <a:rPr lang="en-US" sz="2200" dirty="0"/>
              <a:t>You are automatically logged into your home </a:t>
            </a:r>
            <a:br>
              <a:rPr lang="en-US" sz="2200" dirty="0"/>
            </a:br>
            <a:r>
              <a:rPr lang="en-US" sz="2200" dirty="0"/>
              <a:t>folder upon login. Best to immediately switch</a:t>
            </a:r>
            <a:br>
              <a:rPr lang="en-US" sz="2200" dirty="0"/>
            </a:br>
            <a:r>
              <a:rPr lang="en-US" sz="2200" dirty="0"/>
              <a:t>to some other storage, e.g.</a:t>
            </a:r>
            <a:br>
              <a:rPr lang="en-US" sz="2200" dirty="0"/>
            </a:br>
            <a:r>
              <a:rPr lang="en-US" sz="2200" dirty="0">
                <a:latin typeface="Courier New" panose="02070309020205020404" pitchFamily="49" charset="0"/>
                <a:cs typeface="Courier New" panose="02070309020205020404" pitchFamily="49" charset="0"/>
              </a:rPr>
              <a:t>$ cd $VSC_DATA</a:t>
            </a:r>
          </a:p>
          <a:p>
            <a:pPr marL="324000" indent="-324000">
              <a:buClr>
                <a:srgbClr val="DB6C30"/>
              </a:buClr>
              <a:buFont typeface="Wingdings" panose="05000000000000000000" pitchFamily="2" charset="2"/>
              <a:buChar char="q"/>
            </a:pPr>
            <a:r>
              <a:rPr lang="en-US" sz="2200" dirty="0"/>
              <a:t>Always check your storage balance using </a:t>
            </a:r>
            <a:br>
              <a:rPr lang="en-US" sz="2200" dirty="0"/>
            </a:br>
            <a:r>
              <a:rPr lang="en-US" sz="2200" dirty="0" err="1">
                <a:latin typeface="Courier New" panose="02070309020205020404" pitchFamily="49" charset="0"/>
                <a:cs typeface="Courier New" panose="02070309020205020404" pitchFamily="49" charset="0"/>
              </a:rPr>
              <a:t>myquota</a:t>
            </a:r>
            <a:r>
              <a:rPr lang="en-US" sz="2200" dirty="0"/>
              <a:t> command</a:t>
            </a:r>
            <a:endParaRPr lang="nl-BE" sz="2200" dirty="0"/>
          </a:p>
        </p:txBody>
      </p:sp>
      <p:grpSp>
        <p:nvGrpSpPr>
          <p:cNvPr id="17" name="Group 16"/>
          <p:cNvGrpSpPr/>
          <p:nvPr/>
        </p:nvGrpSpPr>
        <p:grpSpPr>
          <a:xfrm>
            <a:off x="7608168" y="980728"/>
            <a:ext cx="4104456" cy="2952328"/>
            <a:chOff x="7727544" y="2420888"/>
            <a:chExt cx="4104456" cy="2952328"/>
          </a:xfrm>
        </p:grpSpPr>
        <p:sp>
          <p:nvSpPr>
            <p:cNvPr id="4" name="TextBox 3"/>
            <p:cNvSpPr txBox="1"/>
            <p:nvPr/>
          </p:nvSpPr>
          <p:spPr>
            <a:xfrm>
              <a:off x="7727544" y="2787893"/>
              <a:ext cx="4104456" cy="2585323"/>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myquota</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file system $VSC_HOME</a:t>
              </a:r>
            </a:p>
            <a:p>
              <a:r>
                <a:rPr lang="en-US" dirty="0">
                  <a:latin typeface="Courier New" panose="02070309020205020404" pitchFamily="49" charset="0"/>
                  <a:cs typeface="Courier New" panose="02070309020205020404" pitchFamily="49" charset="0"/>
                </a:rPr>
                <a:t>    Blocks: 1479M of 3072M</a:t>
              </a:r>
            </a:p>
            <a:p>
              <a:r>
                <a:rPr lang="en-US" dirty="0">
                  <a:latin typeface="Courier New" panose="02070309020205020404" pitchFamily="49" charset="0"/>
                  <a:cs typeface="Courier New" panose="02070309020205020404" pitchFamily="49" charset="0"/>
                </a:rPr>
                <a:t>    Files: 12934 of 100k</a:t>
              </a:r>
            </a:p>
            <a:p>
              <a:r>
                <a:rPr lang="en-US" dirty="0">
                  <a:latin typeface="Courier New" panose="02070309020205020404" pitchFamily="49" charset="0"/>
                  <a:cs typeface="Courier New" panose="02070309020205020404" pitchFamily="49" charset="0"/>
                </a:rPr>
                <a:t>file system $VSC_DATA</a:t>
              </a:r>
            </a:p>
            <a:p>
              <a:r>
                <a:rPr lang="en-US" dirty="0">
                  <a:latin typeface="Courier New" panose="02070309020205020404" pitchFamily="49" charset="0"/>
                  <a:cs typeface="Courier New" panose="02070309020205020404" pitchFamily="49" charset="0"/>
                </a:rPr>
                <a:t>    Blocks: 12G of 75G</a:t>
              </a:r>
            </a:p>
            <a:p>
              <a:r>
                <a:rPr lang="en-US" dirty="0">
                  <a:latin typeface="Courier New" panose="02070309020205020404" pitchFamily="49" charset="0"/>
                  <a:cs typeface="Courier New" panose="02070309020205020404" pitchFamily="49" charset="0"/>
                </a:rPr>
                <a:t>    Files: 1043k of 10000k</a:t>
              </a:r>
            </a:p>
            <a:p>
              <a:r>
                <a:rPr lang="en-US" dirty="0">
                  <a:latin typeface="Courier New" panose="02070309020205020404" pitchFamily="49" charset="0"/>
                  <a:cs typeface="Courier New" panose="02070309020205020404" pitchFamily="49" charset="0"/>
                </a:rPr>
                <a:t>file system $VSC_SCRATCH</a:t>
              </a:r>
            </a:p>
            <a:p>
              <a:r>
                <a:rPr lang="en-US" dirty="0">
                  <a:latin typeface="Courier New" panose="02070309020205020404" pitchFamily="49" charset="0"/>
                  <a:cs typeface="Courier New" panose="02070309020205020404" pitchFamily="49" charset="0"/>
                </a:rPr>
                <a:t>    Blocks: 15M of 1.5T</a:t>
              </a:r>
              <a:endParaRPr lang="nl-BE" dirty="0">
                <a:latin typeface="Courier New" panose="02070309020205020404" pitchFamily="49" charset="0"/>
                <a:cs typeface="Courier New" panose="02070309020205020404" pitchFamily="49" charset="0"/>
              </a:endParaRPr>
            </a:p>
          </p:txBody>
        </p:sp>
        <p:sp>
          <p:nvSpPr>
            <p:cNvPr id="6" name="Rectangle 5"/>
            <p:cNvSpPr/>
            <p:nvPr/>
          </p:nvSpPr>
          <p:spPr>
            <a:xfrm>
              <a:off x="10560496" y="2420888"/>
              <a:ext cx="1271504" cy="3670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Example</a:t>
              </a:r>
              <a:endParaRPr lang="nl-BE"/>
            </a:p>
          </p:txBody>
        </p:sp>
      </p:gr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26</a:t>
            </a:fld>
            <a:endParaRPr lang="nl-BE" sz="900" dirty="0">
              <a:solidFill>
                <a:schemeClr val="bg1"/>
              </a:solidFill>
            </a:endParaRPr>
          </a:p>
        </p:txBody>
      </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 name="Rectangle 1"/>
          <p:cNvSpPr/>
          <p:nvPr/>
        </p:nvSpPr>
        <p:spPr>
          <a:xfrm>
            <a:off x="7536160" y="4365104"/>
            <a:ext cx="4104456" cy="1446550"/>
          </a:xfrm>
          <a:prstGeom prst="rect">
            <a:avLst/>
          </a:prstGeom>
        </p:spPr>
        <p:txBody>
          <a:bodyPr wrap="square">
            <a:spAutoFit/>
          </a:bodyPr>
          <a:lstStyle/>
          <a:p>
            <a:pPr marL="324000" indent="-324000">
              <a:buBlip>
                <a:blip r:embed="rId2"/>
              </a:buBlip>
            </a:pPr>
            <a:r>
              <a:rPr lang="en-US" sz="2200" dirty="0"/>
              <a:t> </a:t>
            </a:r>
            <a:r>
              <a:rPr lang="en-US" sz="2200" dirty="0">
                <a:hlinkClick r:id="rId3"/>
              </a:rPr>
              <a:t>Request form for extra storage</a:t>
            </a:r>
            <a:endParaRPr lang="en-US" sz="2200" dirty="0"/>
          </a:p>
          <a:p>
            <a:pPr marL="324000" indent="-324000">
              <a:buBlip>
                <a:blip r:embed="rId2"/>
              </a:buBlip>
            </a:pPr>
            <a:r>
              <a:rPr lang="en-US" sz="2200" dirty="0"/>
              <a:t> </a:t>
            </a:r>
            <a:r>
              <a:rPr lang="en-US" sz="2200" dirty="0">
                <a:hlinkClick r:id="rId4"/>
              </a:rPr>
              <a:t>More info in the service catalog</a:t>
            </a:r>
            <a:endParaRPr lang="en-US" sz="2200" dirty="0"/>
          </a:p>
        </p:txBody>
      </p:sp>
    </p:spTree>
    <p:extLst>
      <p:ext uri="{BB962C8B-B14F-4D97-AF65-F5344CB8AC3E}">
        <p14:creationId xmlns:p14="http://schemas.microsoft.com/office/powerpoint/2010/main" val="650282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4155034982"/>
              </p:ext>
            </p:extLst>
          </p:nvPr>
        </p:nvGraphicFramePr>
        <p:xfrm>
          <a:off x="5150096" y="188909"/>
          <a:ext cx="5986464" cy="592157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Home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$VSC_HOME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3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Not possible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Only</a:t>
                      </a:r>
                      <a:r>
                        <a:rPr lang="en-US" sz="1800" baseline="0" dirty="0"/>
                        <a:t> storing SSH keys, config files, …</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r>
                        <a:rPr lang="en-US" sz="1800" dirty="0"/>
                        <a:t>- Stay</a:t>
                      </a:r>
                      <a:r>
                        <a:rPr lang="en-US" sz="1800" baseline="0" dirty="0"/>
                        <a:t> away from using it</a:t>
                      </a:r>
                      <a:endParaRPr lang="nl-BE" sz="1800" dirty="0"/>
                    </a:p>
                    <a:p>
                      <a:r>
                        <a:rPr lang="en-US" sz="1800" dirty="0"/>
                        <a:t>- Can easily overflow:</a:t>
                      </a:r>
                      <a:br>
                        <a:rPr lang="en-US" sz="1800" dirty="0"/>
                      </a:br>
                      <a:r>
                        <a:rPr lang="en-US" sz="1800" baseline="0" dirty="0"/>
                        <a:t>   + Your jobs may crash</a:t>
                      </a:r>
                      <a:br>
                        <a:rPr lang="en-US" sz="1800" baseline="0" dirty="0"/>
                      </a:br>
                      <a:r>
                        <a:rPr lang="en-US" sz="1800" baseline="0" dirty="0"/>
                        <a:t>   + Login issues</a:t>
                      </a:r>
                      <a:endParaRPr lang="nl-BE" sz="1800" dirty="0"/>
                    </a:p>
                  </a:txBody>
                  <a:tcPr/>
                </a:tc>
                <a:extLst>
                  <a:ext uri="{0D108BD9-81ED-4DB2-BD59-A6C34878D82A}">
                    <a16:rowId xmlns:a16="http://schemas.microsoft.com/office/drawing/2014/main" val="2783662681"/>
                  </a:ext>
                </a:extLst>
              </a:tr>
            </a:tbl>
          </a:graphicData>
        </a:graphic>
      </p:graphicFrame>
      <p:graphicFrame>
        <p:nvGraphicFramePr>
          <p:cNvPr id="15" name="Diagram 14"/>
          <p:cNvGraphicFramePr/>
          <p:nvPr>
            <p:extLst>
              <p:ext uri="{D42A27DB-BD31-4B8C-83A1-F6EECF244321}">
                <p14:modId xmlns:p14="http://schemas.microsoft.com/office/powerpoint/2010/main" val="2755152460"/>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27</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42054218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4178640087"/>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1953420933"/>
              </p:ext>
            </p:extLst>
          </p:nvPr>
        </p:nvGraphicFramePr>
        <p:xfrm>
          <a:off x="5150096" y="188909"/>
          <a:ext cx="5986464" cy="595205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Data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$VSC_DATA</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Hourly, daily, weekly</a:t>
                      </a:r>
                      <a:r>
                        <a:rPr lang="en-US" sz="1800" baseline="0" dirty="0"/>
                        <a:t> (until last month) </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a:t>
                      </a:r>
                      <a:r>
                        <a:rPr lang="en-US" sz="2000" baseline="0" dirty="0">
                          <a:latin typeface="Courier New" panose="02070309020205020404" pitchFamily="49" charset="0"/>
                          <a:cs typeface="Courier New" panose="02070309020205020404" pitchFamily="49" charset="0"/>
                        </a:rPr>
                        <a: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75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On purchase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Your data, code, software,</a:t>
                      </a:r>
                      <a:r>
                        <a:rPr lang="en-US" sz="1800" baseline="0" dirty="0"/>
                        <a:t> results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Permanen</a:t>
                      </a:r>
                      <a:r>
                        <a:rPr lang="en-US" sz="1800" baseline="0" dirty="0"/>
                        <a:t>t storage for initial/final results</a:t>
                      </a:r>
                    </a:p>
                    <a:p>
                      <a:pPr marL="285750" indent="-285750" rtl="0">
                        <a:buFontTx/>
                        <a:buChar char="-"/>
                      </a:pPr>
                      <a:r>
                        <a:rPr lang="en-US" sz="1800" baseline="0" dirty="0"/>
                        <a:t>Not optimal for intensive or parallel I/O </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28</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8891675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1265631628"/>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161862110"/>
              </p:ext>
            </p:extLst>
          </p:nvPr>
        </p:nvGraphicFramePr>
        <p:xfrm>
          <a:off x="5150096" y="188909"/>
          <a:ext cx="5986464" cy="5870072"/>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Backup</a:t>
                      </a:r>
                      <a:endParaRPr lang="nl-BE" sz="1800" b="1" dirty="0"/>
                    </a:p>
                  </a:txBody>
                  <a:tcPr/>
                </a:tc>
                <a:tc>
                  <a:txBody>
                    <a:bodyPr/>
                    <a:lstStyle/>
                    <a:p>
                      <a:r>
                        <a:rPr lang="en-US" sz="1800" baseline="0" dirty="0"/>
                        <a:t>Files get deleted 30 days after last access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500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Free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Intensive,</a:t>
                      </a:r>
                      <a:r>
                        <a:rPr lang="en-US" sz="1800" baseline="0" dirty="0"/>
                        <a:t> parallel I/O, temporary files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baseline="0" dirty="0"/>
                        <a:t>Recommended storage for all jobs</a:t>
                      </a:r>
                      <a:endParaRPr lang="en-US" sz="1800" dirty="0"/>
                    </a:p>
                    <a:p>
                      <a:pPr marL="285750" indent="-285750" rtl="0">
                        <a:buFontTx/>
                        <a:buChar char="-"/>
                      </a:pPr>
                      <a:r>
                        <a:rPr lang="en-US" sz="1800" dirty="0"/>
                        <a:t>Copy scratch files to VSC_DATA</a:t>
                      </a:r>
                      <a:r>
                        <a:rPr lang="en-US" sz="1800" baseline="0" dirty="0"/>
                        <a:t> or local storage after jobs are done</a:t>
                      </a:r>
                    </a:p>
                    <a:p>
                      <a:pPr marL="285750" indent="-285750" rtl="0">
                        <a:buFontTx/>
                        <a:buChar char="-"/>
                      </a:pPr>
                      <a:r>
                        <a:rPr lang="en-US" sz="1800" baseline="0" dirty="0"/>
                        <a:t>Deleted files cannot be recovered</a:t>
                      </a:r>
                    </a:p>
                    <a:p>
                      <a:pPr marL="285750" indent="-285750" rtl="0">
                        <a:buFontTx/>
                        <a:buChar char="-"/>
                      </a:pPr>
                      <a:r>
                        <a:rPr lang="en-US" sz="1800" baseline="0" dirty="0"/>
                        <a:t>Avoid folders with &gt;10,000 files</a:t>
                      </a:r>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29</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6" name="Group 5">
            <a:extLst>
              <a:ext uri="{FF2B5EF4-FFF2-40B4-BE49-F238E27FC236}">
                <a16:creationId xmlns:a16="http://schemas.microsoft.com/office/drawing/2014/main" id="{F2E42395-7681-CFAE-0BFD-485E153D0D3B}"/>
              </a:ext>
            </a:extLst>
          </p:cNvPr>
          <p:cNvGrpSpPr/>
          <p:nvPr/>
        </p:nvGrpSpPr>
        <p:grpSpPr>
          <a:xfrm>
            <a:off x="176674" y="5062676"/>
            <a:ext cx="4481864" cy="1157271"/>
            <a:chOff x="176674" y="5062676"/>
            <a:chExt cx="4481864" cy="1157271"/>
          </a:xfrm>
        </p:grpSpPr>
        <p:sp>
          <p:nvSpPr>
            <p:cNvPr id="2" name="TextBox 1">
              <a:extLst>
                <a:ext uri="{FF2B5EF4-FFF2-40B4-BE49-F238E27FC236}">
                  <a16:creationId xmlns:a16="http://schemas.microsoft.com/office/drawing/2014/main" id="{2A7E9164-7C5B-DA81-0FA5-87B34FC305D8}"/>
                </a:ext>
              </a:extLst>
            </p:cNvPr>
            <p:cNvSpPr txBox="1"/>
            <p:nvPr/>
          </p:nvSpPr>
          <p:spPr>
            <a:xfrm>
              <a:off x="176674" y="5573616"/>
              <a:ext cx="4413204" cy="646331"/>
            </a:xfrm>
            <a:prstGeom prst="rect">
              <a:avLst/>
            </a:prstGeom>
            <a:noFill/>
            <a:ln w="19050">
              <a:solidFill>
                <a:srgbClr val="FF0000"/>
              </a:solidFill>
            </a:ln>
          </p:spPr>
          <p:txBody>
            <a:bodyPr wrap="square" rtlCol="0">
              <a:spAutoFit/>
            </a:bodyPr>
            <a:lstStyle/>
            <a:p>
              <a:r>
                <a:rPr lang="en-US" dirty="0"/>
                <a:t>The </a:t>
              </a:r>
              <a:r>
                <a:rPr lang="en-US" dirty="0" err="1"/>
                <a:t>Lustre</a:t>
              </a:r>
              <a:r>
                <a:rPr lang="en-US" dirty="0"/>
                <a:t> filesystem is nearly full. Momentarily, we don’t extend user quota’s.</a:t>
              </a:r>
              <a:endParaRPr lang="nl-BE" dirty="0"/>
            </a:p>
          </p:txBody>
        </p:sp>
        <p:pic>
          <p:nvPicPr>
            <p:cNvPr id="4" name="Picture 3">
              <a:extLst>
                <a:ext uri="{FF2B5EF4-FFF2-40B4-BE49-F238E27FC236}">
                  <a16:creationId xmlns:a16="http://schemas.microsoft.com/office/drawing/2014/main" id="{F50CD4A3-C45B-E1C3-6A7F-7B873D74BF07}"/>
                </a:ext>
              </a:extLst>
            </p:cNvPr>
            <p:cNvPicPr>
              <a:picLocks noChangeAspect="1"/>
            </p:cNvPicPr>
            <p:nvPr/>
          </p:nvPicPr>
          <p:blipFill>
            <a:blip r:embed="rId7"/>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93386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131585190"/>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2799400300"/>
              </p:ext>
            </p:extLst>
          </p:nvPr>
        </p:nvGraphicFramePr>
        <p:xfrm>
          <a:off x="5150096" y="188909"/>
          <a:ext cx="5986464" cy="5832376"/>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Node 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$VSC_SCRATCH_NODE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Ext4</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compute node, only at runtime</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591 GB</a:t>
                      </a:r>
                      <a:endParaRPr lang="nl-BE" sz="1800" dirty="0"/>
                    </a:p>
                  </a:txBody>
                  <a:tcPr/>
                </a:tc>
                <a:extLst>
                  <a:ext uri="{0D108BD9-81ED-4DB2-BD59-A6C34878D82A}">
                    <a16:rowId xmlns:a16="http://schemas.microsoft.com/office/drawing/2014/main" val="755217331"/>
                  </a:ext>
                </a:extLst>
              </a:tr>
              <a:tr h="550879">
                <a:tc>
                  <a:txBody>
                    <a:bodyPr/>
                    <a:lstStyle/>
                    <a:p>
                      <a:r>
                        <a:rPr lang="en-US" sz="1800" b="1"/>
                        <a:t>Extension</a:t>
                      </a:r>
                      <a:endParaRPr lang="nl-BE" sz="1800" b="1" dirty="0"/>
                    </a:p>
                  </a:txBody>
                  <a:tcPr/>
                </a:tc>
                <a:tc>
                  <a:txBody>
                    <a:bodyPr/>
                    <a:lstStyle/>
                    <a:p>
                      <a:r>
                        <a:rPr lang="en-US" sz="1800" dirty="0">
                          <a:hlinkClick r:id="rId7"/>
                        </a:rPr>
                        <a:t>Read</a:t>
                      </a:r>
                      <a:r>
                        <a:rPr lang="en-US" sz="1800" baseline="0" dirty="0">
                          <a:hlinkClick r:id="rId7"/>
                        </a:rPr>
                        <a:t> about </a:t>
                      </a:r>
                      <a:r>
                        <a:rPr lang="en-US" sz="1800" baseline="0" dirty="0" err="1">
                          <a:hlinkClick r:id="rId7"/>
                        </a:rPr>
                        <a:t>beeOND</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Temporary storage at runtime</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Fastest I/O, attached to the node</a:t>
                      </a:r>
                    </a:p>
                    <a:p>
                      <a:pPr marL="285750" indent="-285750" rtl="0">
                        <a:buFontTx/>
                        <a:buChar char="-"/>
                      </a:pPr>
                      <a:r>
                        <a:rPr lang="en-US" sz="1800" dirty="0"/>
                        <a:t>Is</a:t>
                      </a:r>
                      <a:r>
                        <a:rPr lang="en-US" sz="1800" baseline="0" dirty="0"/>
                        <a:t> cleaned after job terminates</a:t>
                      </a:r>
                    </a:p>
                    <a:p>
                      <a:pPr marL="285750" indent="-285750" rtl="0">
                        <a:buFontTx/>
                        <a:buChar char="-"/>
                      </a:pPr>
                      <a:r>
                        <a:rPr lang="en-US" sz="1800" baseline="0" dirty="0"/>
                        <a:t>Copy the data to your home, scratch, or staging before job ends</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30</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9034237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3359128732"/>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3908217254"/>
              </p:ext>
            </p:extLst>
          </p:nvPr>
        </p:nvGraphicFramePr>
        <p:xfrm>
          <a:off x="5150096" y="188909"/>
          <a:ext cx="5986464" cy="5832376"/>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Staging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Path</a:t>
                      </a:r>
                      <a:endParaRPr lang="nl-BE" sz="1800" b="1" dirty="0"/>
                    </a:p>
                  </a:txBody>
                  <a:tcPr/>
                </a:tc>
                <a:tc>
                  <a:txBody>
                    <a:bodyPr/>
                    <a:lstStyle/>
                    <a:p>
                      <a:r>
                        <a:rPr lang="en-US" sz="1800" dirty="0">
                          <a:latin typeface="Courier New" panose="02070309020205020404" pitchFamily="49" charset="0"/>
                          <a:cs typeface="Courier New" panose="02070309020205020404" pitchFamily="49" charset="0"/>
                        </a:rPr>
                        <a:t>/staging/</a:t>
                      </a:r>
                      <a:r>
                        <a:rPr lang="en-US" sz="1800" dirty="0" err="1">
                          <a:latin typeface="Courier New" panose="02070309020205020404" pitchFamily="49" charset="0"/>
                          <a:cs typeface="Courier New" panose="02070309020205020404" pitchFamily="49" charset="0"/>
                        </a:rPr>
                        <a:t>leuven</a:t>
                      </a:r>
                      <a:r>
                        <a:rPr lang="en-US" sz="1800" dirty="0">
                          <a:latin typeface="Courier New" panose="02070309020205020404" pitchFamily="49" charset="0"/>
                          <a:cs typeface="Courier New" panose="02070309020205020404" pitchFamily="49" charset="0"/>
                        </a:rPr>
                        <a:t>/stg_000XX</a:t>
                      </a:r>
                      <a:endParaRPr lang="nl-BE" sz="18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demand, only Tier-2@KUL</a:t>
                      </a:r>
                      <a:r>
                        <a:rPr lang="en-US" sz="1800" baseline="0" dirty="0"/>
                        <a:t> </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None</a:t>
                      </a:r>
                      <a:endParaRPr lang="nl-BE" sz="1800" dirty="0"/>
                    </a:p>
                  </a:txBody>
                  <a:tcPr/>
                </a:tc>
                <a:extLst>
                  <a:ext uri="{0D108BD9-81ED-4DB2-BD59-A6C34878D82A}">
                    <a16:rowId xmlns:a16="http://schemas.microsoft.com/office/drawing/2014/main" val="755217331"/>
                  </a:ext>
                </a:extLst>
              </a:tr>
              <a:tr h="550879">
                <a:tc>
                  <a:txBody>
                    <a:bodyPr/>
                    <a:lstStyle/>
                    <a:p>
                      <a:r>
                        <a:rPr lang="en-US" sz="1800" b="1"/>
                        <a:t>Extension</a:t>
                      </a:r>
                      <a:endParaRPr lang="nl-BE" sz="1800" b="1" dirty="0"/>
                    </a:p>
                  </a:txBody>
                  <a:tcPr/>
                </a:tc>
                <a:tc>
                  <a:txBody>
                    <a:bodyPr/>
                    <a:lstStyle/>
                    <a:p>
                      <a:r>
                        <a:rPr lang="en-US" sz="1800" dirty="0"/>
                        <a:t>On</a:t>
                      </a:r>
                      <a:r>
                        <a:rPr lang="en-US" sz="1800" baseline="0" dirty="0"/>
                        <a:t> purchase, from 1 TB</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Permanent; share with a group</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Accessible from login/compute nodes</a:t>
                      </a:r>
                    </a:p>
                    <a:p>
                      <a:pPr marL="285750" indent="-285750" rtl="0">
                        <a:buFontTx/>
                        <a:buChar char="-"/>
                      </a:pPr>
                      <a:r>
                        <a:rPr lang="en-US" sz="1800" dirty="0"/>
                        <a:t>Fast</a:t>
                      </a:r>
                      <a:r>
                        <a:rPr lang="en-US" sz="1800" baseline="0" dirty="0"/>
                        <a:t>, parallel I/O</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31</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 name="Group 1">
            <a:extLst>
              <a:ext uri="{FF2B5EF4-FFF2-40B4-BE49-F238E27FC236}">
                <a16:creationId xmlns:a16="http://schemas.microsoft.com/office/drawing/2014/main" id="{944EED41-E36C-9605-751D-908468417228}"/>
              </a:ext>
            </a:extLst>
          </p:cNvPr>
          <p:cNvGrpSpPr/>
          <p:nvPr/>
        </p:nvGrpSpPr>
        <p:grpSpPr>
          <a:xfrm>
            <a:off x="176674" y="4587018"/>
            <a:ext cx="4481864" cy="1434270"/>
            <a:chOff x="176674" y="5062676"/>
            <a:chExt cx="4481864" cy="1434270"/>
          </a:xfrm>
        </p:grpSpPr>
        <p:sp>
          <p:nvSpPr>
            <p:cNvPr id="3" name="TextBox 2">
              <a:extLst>
                <a:ext uri="{FF2B5EF4-FFF2-40B4-BE49-F238E27FC236}">
                  <a16:creationId xmlns:a16="http://schemas.microsoft.com/office/drawing/2014/main" id="{876B921E-E087-27E4-9849-2EB93AC46527}"/>
                </a:ext>
              </a:extLst>
            </p:cNvPr>
            <p:cNvSpPr txBox="1"/>
            <p:nvPr/>
          </p:nvSpPr>
          <p:spPr>
            <a:xfrm>
              <a:off x="176674" y="5573616"/>
              <a:ext cx="4413204" cy="923330"/>
            </a:xfrm>
            <a:prstGeom prst="rect">
              <a:avLst/>
            </a:prstGeom>
            <a:noFill/>
            <a:ln w="19050">
              <a:solidFill>
                <a:srgbClr val="FF0000"/>
              </a:solidFill>
            </a:ln>
          </p:spPr>
          <p:txBody>
            <a:bodyPr wrap="square" rtlCol="0">
              <a:spAutoFit/>
            </a:bodyPr>
            <a:lstStyle/>
            <a:p>
              <a:r>
                <a:rPr lang="en-US" dirty="0"/>
                <a:t>The </a:t>
              </a:r>
              <a:r>
                <a:rPr lang="en-US" dirty="0" err="1"/>
                <a:t>Lustre</a:t>
              </a:r>
              <a:r>
                <a:rPr lang="en-US" dirty="0"/>
                <a:t> filesystem is nearly full. Momentarily, we don’t create or extend users’ staging quota requests.</a:t>
              </a:r>
              <a:endParaRPr lang="nl-BE" dirty="0"/>
            </a:p>
          </p:txBody>
        </p:sp>
        <p:pic>
          <p:nvPicPr>
            <p:cNvPr id="4" name="Picture 3">
              <a:extLst>
                <a:ext uri="{FF2B5EF4-FFF2-40B4-BE49-F238E27FC236}">
                  <a16:creationId xmlns:a16="http://schemas.microsoft.com/office/drawing/2014/main" id="{7157E297-6B2F-66BA-BFDE-7989707A69D9}"/>
                </a:ext>
              </a:extLst>
            </p:cNvPr>
            <p:cNvPicPr>
              <a:picLocks noChangeAspect="1"/>
            </p:cNvPicPr>
            <p:nvPr/>
          </p:nvPicPr>
          <p:blipFill>
            <a:blip r:embed="rId7"/>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3661326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nvGrpSpPr>
          <p:cNvPr id="21" name="Group 20">
            <a:extLst>
              <a:ext uri="{FF2B5EF4-FFF2-40B4-BE49-F238E27FC236}">
                <a16:creationId xmlns:a16="http://schemas.microsoft.com/office/drawing/2014/main" id="{A00080C5-0DF6-8DC4-4F78-67E37EF6A32A}"/>
              </a:ext>
            </a:extLst>
          </p:cNvPr>
          <p:cNvGrpSpPr/>
          <p:nvPr/>
        </p:nvGrpSpPr>
        <p:grpSpPr>
          <a:xfrm>
            <a:off x="769220" y="2094957"/>
            <a:ext cx="2208731" cy="2259486"/>
            <a:chOff x="769220" y="2094957"/>
            <a:chExt cx="2208731" cy="2259486"/>
          </a:xfrm>
        </p:grpSpPr>
        <p:sp>
          <p:nvSpPr>
            <p:cNvPr id="3" name="Freeform: Shape 2">
              <a:extLst>
                <a:ext uri="{FF2B5EF4-FFF2-40B4-BE49-F238E27FC236}">
                  <a16:creationId xmlns:a16="http://schemas.microsoft.com/office/drawing/2014/main" id="{034F2C36-31F5-8D31-C8EB-375F925952E5}"/>
                </a:ext>
              </a:extLst>
            </p:cNvPr>
            <p:cNvSpPr/>
            <p:nvPr/>
          </p:nvSpPr>
          <p:spPr>
            <a:xfrm>
              <a:off x="797876" y="2164733"/>
              <a:ext cx="2180057" cy="2180057"/>
            </a:xfrm>
            <a:custGeom>
              <a:avLst/>
              <a:gdLst>
                <a:gd name="connsiteX0" fmla="*/ 1090028 w 2180057"/>
                <a:gd name="connsiteY0" fmla="*/ 0 h 2180057"/>
                <a:gd name="connsiteX1" fmla="*/ 2034021 w 2180057"/>
                <a:gd name="connsiteY1" fmla="*/ 545014 h 2180057"/>
                <a:gd name="connsiteX2" fmla="*/ 1090029 w 2180057"/>
                <a:gd name="connsiteY2" fmla="*/ 1090029 h 2180057"/>
                <a:gd name="connsiteX3" fmla="*/ 1090028 w 2180057"/>
                <a:gd name="connsiteY3" fmla="*/ 0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090028" y="0"/>
                  </a:moveTo>
                  <a:cubicBezTo>
                    <a:pt x="1479458" y="0"/>
                    <a:pt x="1839306" y="207758"/>
                    <a:pt x="2034021" y="545014"/>
                  </a:cubicBezTo>
                  <a:lnTo>
                    <a:pt x="1090029" y="1090029"/>
                  </a:lnTo>
                  <a:cubicBezTo>
                    <a:pt x="1090029" y="726686"/>
                    <a:pt x="1090028" y="363343"/>
                    <a:pt x="1090028" y="0"/>
                  </a:cubicBez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132437" tIns="252628" rIns="449871" bIns="1498374"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p:txBody>
        </p:sp>
        <p:sp>
          <p:nvSpPr>
            <p:cNvPr id="4" name="Freeform: Shape 3">
              <a:extLst>
                <a:ext uri="{FF2B5EF4-FFF2-40B4-BE49-F238E27FC236}">
                  <a16:creationId xmlns:a16="http://schemas.microsoft.com/office/drawing/2014/main" id="{9329582C-55B6-70CB-8E2B-D14A2962B31C}"/>
                </a:ext>
              </a:extLst>
            </p:cNvPr>
            <p:cNvSpPr/>
            <p:nvPr/>
          </p:nvSpPr>
          <p:spPr>
            <a:xfrm>
              <a:off x="797894" y="2164728"/>
              <a:ext cx="2180057" cy="2180057"/>
            </a:xfrm>
            <a:custGeom>
              <a:avLst/>
              <a:gdLst>
                <a:gd name="connsiteX0" fmla="*/ 2034021 w 2180057"/>
                <a:gd name="connsiteY0" fmla="*/ 545014 h 2180057"/>
                <a:gd name="connsiteX1" fmla="*/ 2034021 w 2180057"/>
                <a:gd name="connsiteY1" fmla="*/ 1635043 h 2180057"/>
                <a:gd name="connsiteX2" fmla="*/ 1090029 w 2180057"/>
                <a:gd name="connsiteY2" fmla="*/ 1090029 h 2180057"/>
                <a:gd name="connsiteX3" fmla="*/ 2034021 w 2180057"/>
                <a:gd name="connsiteY3" fmla="*/ 545014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2034021" y="545014"/>
                  </a:moveTo>
                  <a:cubicBezTo>
                    <a:pt x="2228736" y="882270"/>
                    <a:pt x="2228736" y="1297787"/>
                    <a:pt x="2034021" y="1635043"/>
                  </a:cubicBezTo>
                  <a:lnTo>
                    <a:pt x="1090029" y="1090029"/>
                  </a:lnTo>
                  <a:lnTo>
                    <a:pt x="2034021" y="545014"/>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511351" tIns="888477" rIns="47599" bIns="888478"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p:txBody>
        </p:sp>
        <p:sp>
          <p:nvSpPr>
            <p:cNvPr id="6" name="Freeform: Shape 5">
              <a:extLst>
                <a:ext uri="{FF2B5EF4-FFF2-40B4-BE49-F238E27FC236}">
                  <a16:creationId xmlns:a16="http://schemas.microsoft.com/office/drawing/2014/main" id="{41CCD509-0CF8-3EF7-1FEB-D8E22EB8295B}"/>
                </a:ext>
              </a:extLst>
            </p:cNvPr>
            <p:cNvSpPr/>
            <p:nvPr/>
          </p:nvSpPr>
          <p:spPr>
            <a:xfrm>
              <a:off x="797066" y="2163703"/>
              <a:ext cx="2180057" cy="2180057"/>
            </a:xfrm>
            <a:custGeom>
              <a:avLst/>
              <a:gdLst>
                <a:gd name="connsiteX0" fmla="*/ 2034021 w 2180057"/>
                <a:gd name="connsiteY0" fmla="*/ 1635043 h 2180057"/>
                <a:gd name="connsiteX1" fmla="*/ 1090028 w 2180057"/>
                <a:gd name="connsiteY1" fmla="*/ 2180058 h 2180057"/>
                <a:gd name="connsiteX2" fmla="*/ 1090029 w 2180057"/>
                <a:gd name="connsiteY2" fmla="*/ 1090029 h 2180057"/>
                <a:gd name="connsiteX3" fmla="*/ 2034021 w 2180057"/>
                <a:gd name="connsiteY3" fmla="*/ 1635043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2034021" y="1635043"/>
                  </a:moveTo>
                  <a:cubicBezTo>
                    <a:pt x="1839306" y="1972299"/>
                    <a:pt x="1479458" y="2180058"/>
                    <a:pt x="1090028" y="2180058"/>
                  </a:cubicBezTo>
                  <a:cubicBezTo>
                    <a:pt x="1090028" y="1816715"/>
                    <a:pt x="1090029" y="1453372"/>
                    <a:pt x="1090029" y="1090029"/>
                  </a:cubicBezTo>
                  <a:lnTo>
                    <a:pt x="2034021" y="1635043"/>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132436" tIns="1498375" rIns="449872" bIns="252627"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p:txBody>
        </p:sp>
        <p:sp>
          <p:nvSpPr>
            <p:cNvPr id="16" name="Freeform: Shape 15">
              <a:extLst>
                <a:ext uri="{FF2B5EF4-FFF2-40B4-BE49-F238E27FC236}">
                  <a16:creationId xmlns:a16="http://schemas.microsoft.com/office/drawing/2014/main" id="{DA26DAFC-1342-DA17-7EAF-EC556DD7DE47}"/>
                </a:ext>
              </a:extLst>
            </p:cNvPr>
            <p:cNvSpPr/>
            <p:nvPr/>
          </p:nvSpPr>
          <p:spPr>
            <a:xfrm>
              <a:off x="787735" y="2174386"/>
              <a:ext cx="2180057" cy="2180057"/>
            </a:xfrm>
            <a:custGeom>
              <a:avLst/>
              <a:gdLst>
                <a:gd name="connsiteX0" fmla="*/ 1090029 w 2180057"/>
                <a:gd name="connsiteY0" fmla="*/ 2180057 h 2180057"/>
                <a:gd name="connsiteX1" fmla="*/ 146036 w 2180057"/>
                <a:gd name="connsiteY1" fmla="*/ 1635043 h 2180057"/>
                <a:gd name="connsiteX2" fmla="*/ 1090029 w 2180057"/>
                <a:gd name="connsiteY2" fmla="*/ 1090029 h 2180057"/>
                <a:gd name="connsiteX3" fmla="*/ 1090029 w 2180057"/>
                <a:gd name="connsiteY3" fmla="*/ 2180057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090029" y="2180057"/>
                  </a:moveTo>
                  <a:cubicBezTo>
                    <a:pt x="700599" y="2180057"/>
                    <a:pt x="340751" y="1972299"/>
                    <a:pt x="146036" y="1635043"/>
                  </a:cubicBezTo>
                  <a:lnTo>
                    <a:pt x="1090029" y="1090029"/>
                  </a:lnTo>
                  <a:lnTo>
                    <a:pt x="1090029" y="2180057"/>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449871" tIns="1498374" rIns="1132437" bIns="252628"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p:txBody>
        </p:sp>
        <p:sp>
          <p:nvSpPr>
            <p:cNvPr id="19" name="Freeform: Shape 18">
              <a:extLst>
                <a:ext uri="{FF2B5EF4-FFF2-40B4-BE49-F238E27FC236}">
                  <a16:creationId xmlns:a16="http://schemas.microsoft.com/office/drawing/2014/main" id="{33C6357D-886A-A026-FD5A-7F84D8F6CA5C}"/>
                </a:ext>
              </a:extLst>
            </p:cNvPr>
            <p:cNvSpPr/>
            <p:nvPr/>
          </p:nvSpPr>
          <p:spPr>
            <a:xfrm>
              <a:off x="773620" y="2153020"/>
              <a:ext cx="2180057" cy="2180057"/>
            </a:xfrm>
            <a:custGeom>
              <a:avLst/>
              <a:gdLst>
                <a:gd name="connsiteX0" fmla="*/ 146036 w 2180057"/>
                <a:gd name="connsiteY0" fmla="*/ 1635043 h 2180057"/>
                <a:gd name="connsiteX1" fmla="*/ 146036 w 2180057"/>
                <a:gd name="connsiteY1" fmla="*/ 545014 h 2180057"/>
                <a:gd name="connsiteX2" fmla="*/ 1090029 w 2180057"/>
                <a:gd name="connsiteY2" fmla="*/ 1090029 h 2180057"/>
                <a:gd name="connsiteX3" fmla="*/ 146036 w 2180057"/>
                <a:gd name="connsiteY3" fmla="*/ 1635043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46036" y="1635043"/>
                  </a:moveTo>
                  <a:cubicBezTo>
                    <a:pt x="-48679" y="1297787"/>
                    <a:pt x="-48679" y="882270"/>
                    <a:pt x="146036" y="545014"/>
                  </a:cubicBezTo>
                  <a:lnTo>
                    <a:pt x="1090029" y="1090029"/>
                  </a:lnTo>
                  <a:lnTo>
                    <a:pt x="146036" y="1635043"/>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2789" tIns="888478" rIns="1506161" bIns="888477" numCol="1" spcCol="1270" anchor="ctr" anchorCtr="0">
              <a:noAutofit/>
            </a:bodyPr>
            <a:lstStyle/>
            <a:p>
              <a:pPr marL="0" lvl="0" indent="0" algn="ctr" defTabSz="666750">
                <a:lnSpc>
                  <a:spcPct val="90000"/>
                </a:lnSpc>
                <a:spcBef>
                  <a:spcPct val="0"/>
                </a:spcBef>
                <a:spcAft>
                  <a:spcPct val="35000"/>
                </a:spcAft>
                <a:buNone/>
              </a:pPr>
              <a:r>
                <a:rPr lang="en-US" sz="1500" kern="1200" dirty="0"/>
                <a:t>staging</a:t>
              </a:r>
            </a:p>
          </p:txBody>
        </p:sp>
        <p:sp>
          <p:nvSpPr>
            <p:cNvPr id="20" name="Freeform: Shape 19">
              <a:extLst>
                <a:ext uri="{FF2B5EF4-FFF2-40B4-BE49-F238E27FC236}">
                  <a16:creationId xmlns:a16="http://schemas.microsoft.com/office/drawing/2014/main" id="{322D0F0F-310C-A008-5435-72F369935EAB}"/>
                </a:ext>
              </a:extLst>
            </p:cNvPr>
            <p:cNvSpPr/>
            <p:nvPr/>
          </p:nvSpPr>
          <p:spPr>
            <a:xfrm>
              <a:off x="769220" y="2094957"/>
              <a:ext cx="2180057" cy="2180057"/>
            </a:xfrm>
            <a:custGeom>
              <a:avLst/>
              <a:gdLst>
                <a:gd name="connsiteX0" fmla="*/ 146036 w 2180057"/>
                <a:gd name="connsiteY0" fmla="*/ 545014 h 2180057"/>
                <a:gd name="connsiteX1" fmla="*/ 1090029 w 2180057"/>
                <a:gd name="connsiteY1" fmla="*/ -1 h 2180057"/>
                <a:gd name="connsiteX2" fmla="*/ 1090029 w 2180057"/>
                <a:gd name="connsiteY2" fmla="*/ 1090029 h 2180057"/>
                <a:gd name="connsiteX3" fmla="*/ 146036 w 2180057"/>
                <a:gd name="connsiteY3" fmla="*/ 545014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46036" y="545014"/>
                  </a:moveTo>
                  <a:cubicBezTo>
                    <a:pt x="340751" y="207758"/>
                    <a:pt x="700599" y="-1"/>
                    <a:pt x="1090029" y="-1"/>
                  </a:cubicBezTo>
                  <a:lnTo>
                    <a:pt x="1090029" y="1090029"/>
                  </a:lnTo>
                  <a:lnTo>
                    <a:pt x="146036" y="545014"/>
                  </a:lnTo>
                  <a:close/>
                </a:path>
              </a:pathLst>
            </a:custGeom>
            <a:solidFill>
              <a:srgbClr val="DB6C3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449870" tIns="252628" rIns="1132438" bIns="1498374"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p:txBody>
        </p:sp>
      </p:grpSp>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32</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4" name="Content Placeholder 2">
            <a:extLst>
              <a:ext uri="{FF2B5EF4-FFF2-40B4-BE49-F238E27FC236}">
                <a16:creationId xmlns:a16="http://schemas.microsoft.com/office/drawing/2014/main" id="{7931979C-A5E3-1789-96C5-6ADB2DCBC7CD}"/>
              </a:ext>
            </a:extLst>
          </p:cNvPr>
          <p:cNvSpPr>
            <a:spLocks noGrp="1"/>
          </p:cNvSpPr>
          <p:nvPr>
            <p:ph idx="1"/>
          </p:nvPr>
        </p:nvSpPr>
        <p:spPr>
          <a:xfrm>
            <a:off x="5071810" y="952737"/>
            <a:ext cx="6168088" cy="4132447"/>
          </a:xfrm>
          <a:ln w="19050">
            <a:solidFill>
              <a:schemeClr val="accent5"/>
            </a:solidFill>
          </a:ln>
        </p:spPr>
        <p:txBody>
          <a:bodyPr anchor="ctr"/>
          <a:lstStyle/>
          <a:p>
            <a:pPr marL="324000" indent="-324000">
              <a:buClr>
                <a:srgbClr val="DB6C30"/>
              </a:buClr>
              <a:buFont typeface="Wingdings" panose="05000000000000000000" pitchFamily="2" charset="2"/>
              <a:buChar char="q"/>
            </a:pPr>
            <a:r>
              <a:rPr lang="en-US" sz="2200" dirty="0">
                <a:solidFill>
                  <a:schemeClr val="tx2"/>
                </a:solidFill>
              </a:rPr>
              <a:t>VSC offers </a:t>
            </a:r>
            <a:r>
              <a:rPr lang="en-US" sz="2200" dirty="0">
                <a:solidFill>
                  <a:schemeClr val="tx2"/>
                </a:solidFill>
                <a:hlinkClick r:id="rId2"/>
              </a:rPr>
              <a:t>Tier-1 Data </a:t>
            </a:r>
            <a:r>
              <a:rPr lang="en-US" sz="2200" dirty="0">
                <a:solidFill>
                  <a:schemeClr val="tx2"/>
                </a:solidFill>
              </a:rPr>
              <a:t>as a large storage service</a:t>
            </a:r>
          </a:p>
          <a:p>
            <a:pPr marL="324000" indent="-324000">
              <a:buClr>
                <a:srgbClr val="DB6C30"/>
              </a:buClr>
              <a:buFont typeface="Wingdings" panose="05000000000000000000" pitchFamily="2" charset="2"/>
              <a:buChar char="q"/>
            </a:pPr>
            <a:r>
              <a:rPr lang="en-US" sz="2200" dirty="0">
                <a:solidFill>
                  <a:schemeClr val="tx2"/>
                </a:solidFill>
              </a:rPr>
              <a:t>Only for active data (no archiving)</a:t>
            </a:r>
          </a:p>
          <a:p>
            <a:pPr marL="324000" indent="-324000">
              <a:buClr>
                <a:srgbClr val="DB6C30"/>
              </a:buClr>
              <a:buFont typeface="Wingdings" panose="05000000000000000000" pitchFamily="2" charset="2"/>
              <a:buChar char="q"/>
            </a:pPr>
            <a:r>
              <a:rPr lang="en-US" sz="2200" dirty="0">
                <a:solidFill>
                  <a:schemeClr val="tx2"/>
                </a:solidFill>
              </a:rPr>
              <a:t>Supports metadata (search &amp; discover)</a:t>
            </a:r>
          </a:p>
          <a:p>
            <a:pPr marL="324000" indent="-324000">
              <a:buClr>
                <a:srgbClr val="DB6C30"/>
              </a:buClr>
              <a:buFont typeface="Wingdings" panose="05000000000000000000" pitchFamily="2" charset="2"/>
              <a:buChar char="q"/>
            </a:pPr>
            <a:r>
              <a:rPr lang="en-US" sz="2200" dirty="0">
                <a:solidFill>
                  <a:schemeClr val="tx2"/>
                </a:solidFill>
              </a:rPr>
              <a:t>Share within VSC (permission management)</a:t>
            </a:r>
          </a:p>
          <a:p>
            <a:pPr marL="324000" indent="-324000">
              <a:buClr>
                <a:srgbClr val="DB6C30"/>
              </a:buClr>
              <a:buFont typeface="Wingdings" panose="05000000000000000000" pitchFamily="2" charset="2"/>
              <a:buChar char="q"/>
            </a:pPr>
            <a:r>
              <a:rPr lang="en-US" sz="2200" dirty="0">
                <a:solidFill>
                  <a:schemeClr val="tx2"/>
                </a:solidFill>
              </a:rPr>
              <a:t>Share outside VSC (via </a:t>
            </a:r>
            <a:r>
              <a:rPr lang="en-US" sz="2200" dirty="0">
                <a:solidFill>
                  <a:schemeClr val="tx2"/>
                </a:solidFill>
                <a:hlinkClick r:id="rId3"/>
              </a:rPr>
              <a:t>Globus</a:t>
            </a:r>
            <a:r>
              <a:rPr lang="en-US" sz="2200" dirty="0">
                <a:solidFill>
                  <a:schemeClr val="tx2"/>
                </a:solidFill>
              </a:rPr>
              <a:t>)</a:t>
            </a:r>
          </a:p>
          <a:p>
            <a:pPr marL="324000" indent="-324000">
              <a:buClr>
                <a:srgbClr val="DB6C30"/>
              </a:buClr>
              <a:buFont typeface="Wingdings" panose="05000000000000000000" pitchFamily="2" charset="2"/>
              <a:buChar char="q"/>
            </a:pPr>
            <a:r>
              <a:rPr lang="en-US" sz="2200" dirty="0">
                <a:solidFill>
                  <a:schemeClr val="tx2"/>
                </a:solidFill>
              </a:rPr>
              <a:t>Stage-in/stage-out data workflow</a:t>
            </a:r>
          </a:p>
          <a:p>
            <a:pPr marL="324000" indent="-324000">
              <a:buClr>
                <a:srgbClr val="DB6C30"/>
              </a:buClr>
              <a:buFont typeface="Wingdings" panose="05000000000000000000" pitchFamily="2" charset="2"/>
              <a:buChar char="q"/>
            </a:pPr>
            <a:r>
              <a:rPr lang="en-US" sz="2200" dirty="0">
                <a:solidFill>
                  <a:schemeClr val="tx2"/>
                </a:solidFill>
              </a:rPr>
              <a:t>Free of charge for academic use</a:t>
            </a:r>
          </a:p>
          <a:p>
            <a:pPr marL="324000" indent="-324000">
              <a:buClr>
                <a:srgbClr val="DB6C30"/>
              </a:buClr>
              <a:buFont typeface="Wingdings" panose="05000000000000000000" pitchFamily="2" charset="2"/>
              <a:buChar char="q"/>
            </a:pPr>
            <a:r>
              <a:rPr lang="en-US" sz="2200" dirty="0">
                <a:solidFill>
                  <a:schemeClr val="tx2"/>
                </a:solidFill>
              </a:rPr>
              <a:t>Starting volume </a:t>
            </a:r>
            <a:r>
              <a:rPr lang="en-US" sz="2200">
                <a:solidFill>
                  <a:schemeClr val="tx2"/>
                </a:solidFill>
              </a:rPr>
              <a:t>is 5 TB</a:t>
            </a:r>
            <a:endParaRPr lang="en-US" sz="2200" dirty="0">
              <a:solidFill>
                <a:schemeClr val="tx2"/>
              </a:solidFill>
            </a:endParaRPr>
          </a:p>
          <a:p>
            <a:pPr marL="324000" indent="-324000">
              <a:buClr>
                <a:srgbClr val="DB6C30"/>
              </a:buClr>
              <a:buFont typeface="Wingdings" panose="05000000000000000000" pitchFamily="2" charset="2"/>
              <a:buChar char="q"/>
            </a:pPr>
            <a:r>
              <a:rPr lang="en-US" sz="2200" dirty="0">
                <a:solidFill>
                  <a:schemeClr val="tx2"/>
                </a:solidFill>
              </a:rPr>
              <a:t>Submit a proposal to get access</a:t>
            </a:r>
            <a:br>
              <a:rPr lang="en-US" sz="2200" dirty="0">
                <a:solidFill>
                  <a:schemeClr val="tx2"/>
                </a:solidFill>
              </a:rPr>
            </a:br>
            <a:r>
              <a:rPr lang="en-US" sz="2200" dirty="0">
                <a:solidFill>
                  <a:schemeClr val="tx2"/>
                </a:solidFill>
              </a:rPr>
              <a:t>You can apply at any time</a:t>
            </a:r>
            <a:endParaRPr lang="nl-BE" sz="2200" dirty="0"/>
          </a:p>
        </p:txBody>
      </p:sp>
    </p:spTree>
    <p:extLst>
      <p:ext uri="{BB962C8B-B14F-4D97-AF65-F5344CB8AC3E}">
        <p14:creationId xmlns:p14="http://schemas.microsoft.com/office/powerpoint/2010/main" val="355628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4">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4">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E070ACCA-DC9B-5903-990E-32548801472D}"/>
              </a:ext>
            </a:extLst>
          </p:cNvPr>
          <p:cNvSpPr txBox="1"/>
          <p:nvPr/>
        </p:nvSpPr>
        <p:spPr>
          <a:xfrm>
            <a:off x="9206806" y="2977207"/>
            <a:ext cx="2145778" cy="307777"/>
          </a:xfrm>
          <a:prstGeom prst="rect">
            <a:avLst/>
          </a:prstGeom>
          <a:noFill/>
        </p:spPr>
        <p:txBody>
          <a:bodyPr wrap="square" rtlCol="0">
            <a:spAutoFit/>
          </a:bodyPr>
          <a:lstStyle/>
          <a:p>
            <a:r>
              <a:rPr lang="en-US" sz="1400" b="1" dirty="0"/>
              <a:t>Archived package</a:t>
            </a:r>
            <a:endParaRPr lang="nl-BE" sz="1400" b="1" dirty="0"/>
          </a:p>
        </p:txBody>
      </p:sp>
      <p:grpSp>
        <p:nvGrpSpPr>
          <p:cNvPr id="3" name="Group 2">
            <a:extLst>
              <a:ext uri="{FF2B5EF4-FFF2-40B4-BE49-F238E27FC236}">
                <a16:creationId xmlns:a16="http://schemas.microsoft.com/office/drawing/2014/main" id="{59CE56E5-5E2C-24BD-EAB5-6870992F6AF0}"/>
              </a:ext>
            </a:extLst>
          </p:cNvPr>
          <p:cNvGrpSpPr/>
          <p:nvPr/>
        </p:nvGrpSpPr>
        <p:grpSpPr>
          <a:xfrm>
            <a:off x="1199456" y="896891"/>
            <a:ext cx="8570014" cy="3036165"/>
            <a:chOff x="1519921" y="1890656"/>
            <a:chExt cx="8570014" cy="3036165"/>
          </a:xfrm>
        </p:grpSpPr>
        <p:sp>
          <p:nvSpPr>
            <p:cNvPr id="13" name="Arrow: Right 12">
              <a:extLst>
                <a:ext uri="{FF2B5EF4-FFF2-40B4-BE49-F238E27FC236}">
                  <a16:creationId xmlns:a16="http://schemas.microsoft.com/office/drawing/2014/main" id="{A3E287ED-4FD3-D2DF-217E-A9A373039695}"/>
                </a:ext>
              </a:extLst>
            </p:cNvPr>
            <p:cNvSpPr/>
            <p:nvPr/>
          </p:nvSpPr>
          <p:spPr>
            <a:xfrm>
              <a:off x="4472011" y="3977660"/>
              <a:ext cx="2950081" cy="403409"/>
            </a:xfrm>
            <a:prstGeom prst="rightArrow">
              <a:avLst/>
            </a:prstGeom>
            <a:solidFill>
              <a:srgbClr val="1A8C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grpSp>
          <p:nvGrpSpPr>
            <p:cNvPr id="35" name="Group 34">
              <a:extLst>
                <a:ext uri="{FF2B5EF4-FFF2-40B4-BE49-F238E27FC236}">
                  <a16:creationId xmlns:a16="http://schemas.microsoft.com/office/drawing/2014/main" id="{42114AD0-0E3D-5110-3925-0742C1C0938D}"/>
                </a:ext>
              </a:extLst>
            </p:cNvPr>
            <p:cNvGrpSpPr/>
            <p:nvPr/>
          </p:nvGrpSpPr>
          <p:grpSpPr>
            <a:xfrm>
              <a:off x="2024283" y="3601258"/>
              <a:ext cx="2071024" cy="1325563"/>
              <a:chOff x="3954932" y="2484684"/>
              <a:chExt cx="1666599" cy="1011325"/>
            </a:xfrm>
          </p:grpSpPr>
          <p:grpSp>
            <p:nvGrpSpPr>
              <p:cNvPr id="10" name="Group 9">
                <a:extLst>
                  <a:ext uri="{FF2B5EF4-FFF2-40B4-BE49-F238E27FC236}">
                    <a16:creationId xmlns:a16="http://schemas.microsoft.com/office/drawing/2014/main" id="{07D4771B-5AB1-B056-715A-892631550090}"/>
                  </a:ext>
                </a:extLst>
              </p:cNvPr>
              <p:cNvGrpSpPr/>
              <p:nvPr/>
            </p:nvGrpSpPr>
            <p:grpSpPr>
              <a:xfrm>
                <a:off x="3954932" y="2484684"/>
                <a:ext cx="1666599" cy="914400"/>
                <a:chOff x="892161" y="2354980"/>
                <a:chExt cx="1666599" cy="914400"/>
              </a:xfrm>
            </p:grpSpPr>
            <p:pic>
              <p:nvPicPr>
                <p:cNvPr id="11" name="Graphic 10" descr="Folder with solid fill">
                  <a:extLst>
                    <a:ext uri="{FF2B5EF4-FFF2-40B4-BE49-F238E27FC236}">
                      <a16:creationId xmlns:a16="http://schemas.microsoft.com/office/drawing/2014/main" id="{B3552531-BFAD-7D95-980B-06F01095E0D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2161" y="2354980"/>
                  <a:ext cx="914400" cy="914400"/>
                </a:xfrm>
                <a:prstGeom prst="rect">
                  <a:avLst/>
                </a:prstGeom>
              </p:spPr>
            </p:pic>
            <p:sp>
              <p:nvSpPr>
                <p:cNvPr id="12" name="TextBox 11">
                  <a:extLst>
                    <a:ext uri="{FF2B5EF4-FFF2-40B4-BE49-F238E27FC236}">
                      <a16:creationId xmlns:a16="http://schemas.microsoft.com/office/drawing/2014/main" id="{13D28D7E-0BD5-C7F2-EE92-B0E205C1268F}"/>
                    </a:ext>
                  </a:extLst>
                </p:cNvPr>
                <p:cNvSpPr txBox="1"/>
                <p:nvPr/>
              </p:nvSpPr>
              <p:spPr>
                <a:xfrm>
                  <a:off x="1728083" y="2680678"/>
                  <a:ext cx="830677" cy="307777"/>
                </a:xfrm>
                <a:prstGeom prst="rect">
                  <a:avLst/>
                </a:prstGeom>
                <a:noFill/>
              </p:spPr>
              <p:txBody>
                <a:bodyPr wrap="none" rtlCol="0">
                  <a:spAutoFit/>
                </a:bodyPr>
                <a:lstStyle/>
                <a:p>
                  <a:r>
                    <a:rPr lang="en-US" sz="1400" b="1"/>
                    <a:t>Dataset</a:t>
                  </a:r>
                  <a:endParaRPr lang="nl-BE" sz="1400" b="1"/>
                </a:p>
              </p:txBody>
            </p:sp>
          </p:grpSp>
          <p:pic>
            <p:nvPicPr>
              <p:cNvPr id="14" name="Graphic 13" descr="Tag with solid fill">
                <a:extLst>
                  <a:ext uri="{FF2B5EF4-FFF2-40B4-BE49-F238E27FC236}">
                    <a16:creationId xmlns:a16="http://schemas.microsoft.com/office/drawing/2014/main" id="{D1C5EC38-8DA7-5B5A-96B9-50746921E9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610868" y="2956009"/>
                <a:ext cx="540000" cy="540000"/>
              </a:xfrm>
              <a:prstGeom prst="rect">
                <a:avLst/>
              </a:prstGeom>
            </p:spPr>
          </p:pic>
          <p:pic>
            <p:nvPicPr>
              <p:cNvPr id="15" name="Graphic 14" descr="Document with solid fill">
                <a:extLst>
                  <a:ext uri="{FF2B5EF4-FFF2-40B4-BE49-F238E27FC236}">
                    <a16:creationId xmlns:a16="http://schemas.microsoft.com/office/drawing/2014/main" id="{CAC8779E-4D88-AEFB-7BE7-A583261E4D6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190257" y="2797186"/>
                <a:ext cx="360000" cy="360000"/>
              </a:xfrm>
              <a:prstGeom prst="rect">
                <a:avLst/>
              </a:prstGeom>
            </p:spPr>
          </p:pic>
        </p:grpSp>
        <p:pic>
          <p:nvPicPr>
            <p:cNvPr id="16" name="Graphic 15">
              <a:extLst>
                <a:ext uri="{FF2B5EF4-FFF2-40B4-BE49-F238E27FC236}">
                  <a16:creationId xmlns:a16="http://schemas.microsoft.com/office/drawing/2014/main" id="{F13ED2EB-77AD-442A-1AA6-5B769471687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519921" y="2143199"/>
              <a:ext cx="2976040" cy="1198522"/>
            </a:xfrm>
            <a:prstGeom prst="rect">
              <a:avLst/>
            </a:prstGeom>
          </p:spPr>
        </p:pic>
        <p:pic>
          <p:nvPicPr>
            <p:cNvPr id="37" name="Picture 36" descr="A blue and yellow snowflake logo&#10;&#10;AI-generated content may be incorrect.">
              <a:extLst>
                <a:ext uri="{FF2B5EF4-FFF2-40B4-BE49-F238E27FC236}">
                  <a16:creationId xmlns:a16="http://schemas.microsoft.com/office/drawing/2014/main" id="{EBF6589A-252F-E883-BAD7-820D8FBC1CF2}"/>
                </a:ext>
              </a:extLst>
            </p:cNvPr>
            <p:cNvPicPr>
              <a:picLocks noChangeAspect="1"/>
            </p:cNvPicPr>
            <p:nvPr/>
          </p:nvPicPr>
          <p:blipFill>
            <a:blip r:embed="rId10">
              <a:alphaModFix/>
            </a:blip>
            <a:stretch>
              <a:fillRect/>
            </a:stretch>
          </p:blipFill>
          <p:spPr>
            <a:xfrm>
              <a:off x="8175500" y="3560521"/>
              <a:ext cx="1240755" cy="1232016"/>
            </a:xfrm>
            <a:prstGeom prst="rect">
              <a:avLst/>
            </a:prstGeom>
          </p:spPr>
        </p:pic>
        <p:pic>
          <p:nvPicPr>
            <p:cNvPr id="40" name="Graphic 39" descr="User with solid fill">
              <a:extLst>
                <a:ext uri="{FF2B5EF4-FFF2-40B4-BE49-F238E27FC236}">
                  <a16:creationId xmlns:a16="http://schemas.microsoft.com/office/drawing/2014/main" id="{A2156488-E030-57DD-7581-A667992A64B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085678" y="1890656"/>
              <a:ext cx="1710602" cy="1710602"/>
            </a:xfrm>
            <a:prstGeom prst="rect">
              <a:avLst/>
            </a:prstGeom>
          </p:spPr>
        </p:pic>
        <p:pic>
          <p:nvPicPr>
            <p:cNvPr id="2" name="Graphic 1">
              <a:extLst>
                <a:ext uri="{FF2B5EF4-FFF2-40B4-BE49-F238E27FC236}">
                  <a16:creationId xmlns:a16="http://schemas.microsoft.com/office/drawing/2014/main" id="{64844DDF-C1F3-9283-8FC5-3F0D323A409A}"/>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01822" y="2057371"/>
              <a:ext cx="2588113" cy="1370177"/>
            </a:xfrm>
            <a:prstGeom prst="rect">
              <a:avLst/>
            </a:prstGeom>
          </p:spPr>
        </p:pic>
      </p:grpSp>
      <p:sp>
        <p:nvSpPr>
          <p:cNvPr id="5" name="Titel 4">
            <a:extLst>
              <a:ext uri="{FF2B5EF4-FFF2-40B4-BE49-F238E27FC236}">
                <a16:creationId xmlns:a16="http://schemas.microsoft.com/office/drawing/2014/main" id="{843FEF58-9CBE-EC15-167C-8877FE50F767}"/>
              </a:ext>
            </a:extLst>
          </p:cNvPr>
          <p:cNvSpPr>
            <a:spLocks noGrp="1"/>
          </p:cNvSpPr>
          <p:nvPr>
            <p:ph type="title"/>
          </p:nvPr>
        </p:nvSpPr>
        <p:spPr/>
        <p:txBody>
          <a:bodyPr/>
          <a:lstStyle/>
          <a:p>
            <a:r>
              <a:rPr lang="en-US" dirty="0"/>
              <a:t>Extra (KU Leuven) storage locations</a:t>
            </a:r>
            <a:endParaRPr lang="nl-BE" dirty="0"/>
          </a:p>
        </p:txBody>
      </p:sp>
      <p:sp>
        <p:nvSpPr>
          <p:cNvPr id="4" name="TextBox 3">
            <a:extLst>
              <a:ext uri="{FF2B5EF4-FFF2-40B4-BE49-F238E27FC236}">
                <a16:creationId xmlns:a16="http://schemas.microsoft.com/office/drawing/2014/main" id="{CB419986-5F6E-EE12-E1DB-874552FA7DB9}"/>
              </a:ext>
            </a:extLst>
          </p:cNvPr>
          <p:cNvSpPr txBox="1"/>
          <p:nvPr/>
        </p:nvSpPr>
        <p:spPr>
          <a:xfrm>
            <a:off x="767408" y="3916081"/>
            <a:ext cx="3776611" cy="1785104"/>
          </a:xfrm>
          <a:prstGeom prst="rect">
            <a:avLst/>
          </a:prstGeom>
          <a:noFill/>
        </p:spPr>
        <p:txBody>
          <a:bodyPr wrap="square" rtlCol="0">
            <a:spAutoFit/>
          </a:bodyPr>
          <a:lstStyle/>
          <a:p>
            <a:pPr marL="285750" indent="-285750">
              <a:buFontTx/>
              <a:buChar char="-"/>
            </a:pPr>
            <a:r>
              <a:rPr lang="en-US" sz="2200" dirty="0"/>
              <a:t>In production</a:t>
            </a:r>
          </a:p>
          <a:p>
            <a:pPr marL="285750" indent="-285750">
              <a:buFontTx/>
              <a:buChar char="-"/>
            </a:pPr>
            <a:r>
              <a:rPr lang="en-US" sz="2200" dirty="0"/>
              <a:t>For </a:t>
            </a:r>
            <a:r>
              <a:rPr lang="en-US" sz="2200" b="1" dirty="0"/>
              <a:t>active</a:t>
            </a:r>
            <a:r>
              <a:rPr lang="en-US" sz="2200" dirty="0"/>
              <a:t> data</a:t>
            </a:r>
          </a:p>
          <a:p>
            <a:pPr marL="285750" indent="-285750">
              <a:buFontTx/>
              <a:buChar char="-"/>
            </a:pPr>
            <a:r>
              <a:rPr lang="en-US" sz="2200" dirty="0"/>
              <a:t>Data should stage in/out</a:t>
            </a:r>
          </a:p>
          <a:p>
            <a:pPr marL="285750" indent="-285750">
              <a:buFontTx/>
              <a:buChar char="-"/>
            </a:pPr>
            <a:r>
              <a:rPr lang="en-US" sz="2200" dirty="0"/>
              <a:t>Has backup</a:t>
            </a:r>
          </a:p>
          <a:p>
            <a:pPr marL="285750" indent="-285750">
              <a:buFontTx/>
              <a:buChar char="-"/>
            </a:pPr>
            <a:r>
              <a:rPr lang="en-US" sz="2200" dirty="0"/>
              <a:t>See the </a:t>
            </a:r>
            <a:r>
              <a:rPr lang="en-US" sz="2200" dirty="0">
                <a:hlinkClick r:id="rId15"/>
              </a:rPr>
              <a:t>ICTS service catalog</a:t>
            </a:r>
            <a:r>
              <a:rPr lang="en-US" sz="2200" dirty="0"/>
              <a:t> </a:t>
            </a:r>
            <a:endParaRPr lang="nl-BE" sz="2200" dirty="0"/>
          </a:p>
        </p:txBody>
      </p:sp>
      <p:sp>
        <p:nvSpPr>
          <p:cNvPr id="6" name="TextBox 5">
            <a:extLst>
              <a:ext uri="{FF2B5EF4-FFF2-40B4-BE49-F238E27FC236}">
                <a16:creationId xmlns:a16="http://schemas.microsoft.com/office/drawing/2014/main" id="{3F6C36F2-380B-CC13-6ED8-F12F21DABD88}"/>
              </a:ext>
            </a:extLst>
          </p:cNvPr>
          <p:cNvSpPr txBox="1"/>
          <p:nvPr/>
        </p:nvSpPr>
        <p:spPr>
          <a:xfrm>
            <a:off x="6888088" y="3876144"/>
            <a:ext cx="3776611" cy="1785104"/>
          </a:xfrm>
          <a:prstGeom prst="rect">
            <a:avLst/>
          </a:prstGeom>
          <a:noFill/>
        </p:spPr>
        <p:txBody>
          <a:bodyPr wrap="square" rtlCol="0">
            <a:spAutoFit/>
          </a:bodyPr>
          <a:lstStyle/>
          <a:p>
            <a:pPr marL="285750" indent="-285750">
              <a:buFontTx/>
              <a:buChar char="-"/>
            </a:pPr>
            <a:r>
              <a:rPr lang="en-US" sz="2200" dirty="0"/>
              <a:t>In development</a:t>
            </a:r>
          </a:p>
          <a:p>
            <a:pPr marL="285750" indent="-285750">
              <a:buFontTx/>
              <a:buChar char="-"/>
            </a:pPr>
            <a:r>
              <a:rPr lang="en-US" sz="2200" dirty="0"/>
              <a:t>For </a:t>
            </a:r>
            <a:r>
              <a:rPr lang="en-US" sz="2200" b="1" dirty="0"/>
              <a:t>inactive</a:t>
            </a:r>
            <a:r>
              <a:rPr lang="en-US" sz="2200" dirty="0"/>
              <a:t> data</a:t>
            </a:r>
          </a:p>
          <a:p>
            <a:pPr marL="285750" indent="-285750">
              <a:buFontTx/>
              <a:buChar char="-"/>
            </a:pPr>
            <a:r>
              <a:rPr lang="en-US" sz="2200" dirty="0"/>
              <a:t>Storage until 10 years</a:t>
            </a:r>
          </a:p>
          <a:p>
            <a:pPr marL="285750" indent="-285750">
              <a:buFontTx/>
              <a:buChar char="-"/>
            </a:pPr>
            <a:r>
              <a:rPr lang="en-US" sz="2200" dirty="0"/>
              <a:t>Has backup</a:t>
            </a:r>
          </a:p>
          <a:p>
            <a:pPr marL="285750" indent="-285750">
              <a:buFontTx/>
              <a:buChar char="-"/>
            </a:pPr>
            <a:r>
              <a:rPr lang="en-US" sz="2200" dirty="0"/>
              <a:t>See the </a:t>
            </a:r>
            <a:r>
              <a:rPr lang="en-US" sz="2200" dirty="0">
                <a:hlinkClick r:id="rId16"/>
              </a:rPr>
              <a:t>ICTS service catalog</a:t>
            </a:r>
            <a:endParaRPr lang="nl-BE" sz="2200" dirty="0"/>
          </a:p>
        </p:txBody>
      </p:sp>
      <p:sp>
        <p:nvSpPr>
          <p:cNvPr id="7" name="TextBox 6">
            <a:extLst>
              <a:ext uri="{FF2B5EF4-FFF2-40B4-BE49-F238E27FC236}">
                <a16:creationId xmlns:a16="http://schemas.microsoft.com/office/drawing/2014/main" id="{96B94783-4253-B494-6997-AE3ED6B54281}"/>
              </a:ext>
            </a:extLst>
          </p:cNvPr>
          <p:cNvSpPr txBox="1"/>
          <p:nvPr/>
        </p:nvSpPr>
        <p:spPr>
          <a:xfrm>
            <a:off x="1055440" y="5805264"/>
            <a:ext cx="7344816" cy="369332"/>
          </a:xfrm>
          <a:prstGeom prst="rect">
            <a:avLst/>
          </a:prstGeom>
          <a:noFill/>
        </p:spPr>
        <p:txBody>
          <a:bodyPr wrap="square" rtlCol="0">
            <a:spAutoFit/>
          </a:bodyPr>
          <a:lstStyle/>
          <a:p>
            <a:r>
              <a:rPr lang="en-US" dirty="0"/>
              <a:t>Also see the </a:t>
            </a:r>
            <a:r>
              <a:rPr lang="en-US" dirty="0">
                <a:hlinkClick r:id="rId17"/>
              </a:rPr>
              <a:t>KU Leuven storage guide </a:t>
            </a:r>
            <a:r>
              <a:rPr lang="en-US" dirty="0"/>
              <a:t>for even more storage possibilities</a:t>
            </a:r>
            <a:endParaRPr lang="nl-BE" dirty="0"/>
          </a:p>
        </p:txBody>
      </p:sp>
    </p:spTree>
    <p:extLst>
      <p:ext uri="{BB962C8B-B14F-4D97-AF65-F5344CB8AC3E}">
        <p14:creationId xmlns:p14="http://schemas.microsoft.com/office/powerpoint/2010/main" val="13218587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D568-7C20-4922-3EE2-85E6ADC6437A}"/>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B4DA3EF-F34F-0F82-1A29-B098E971E2E0}"/>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34</a:t>
            </a:fld>
            <a:endParaRPr lang="en-US"/>
          </a:p>
        </p:txBody>
      </p:sp>
      <p:sp>
        <p:nvSpPr>
          <p:cNvPr id="3" name="TextBox 2">
            <a:extLst>
              <a:ext uri="{FF2B5EF4-FFF2-40B4-BE49-F238E27FC236}">
                <a16:creationId xmlns:a16="http://schemas.microsoft.com/office/drawing/2014/main" id="{4AB6CA39-B479-1561-7434-38609E6DD53C}"/>
              </a:ext>
            </a:extLst>
          </p:cNvPr>
          <p:cNvSpPr txBox="1"/>
          <p:nvPr/>
        </p:nvSpPr>
        <p:spPr>
          <a:xfrm>
            <a:off x="7464152" y="3654963"/>
            <a:ext cx="4410000" cy="1975009"/>
          </a:xfrm>
          <a:prstGeom prst="roundRect">
            <a:avLst/>
          </a:prstGeom>
          <a:solidFill>
            <a:schemeClr val="accent1">
              <a:lumMod val="20000"/>
              <a:lumOff val="80000"/>
            </a:schemeClr>
          </a:solidFill>
          <a:ln w="19050">
            <a:noFill/>
          </a:ln>
        </p:spPr>
        <p:txBody>
          <a:bodyPr wrap="square" rtlCol="0" anchor="b">
            <a:spAutoFit/>
          </a:bodyPr>
          <a:lstStyle/>
          <a:p>
            <a:endParaRPr lang="en-US" sz="2200" dirty="0"/>
          </a:p>
          <a:p>
            <a:endParaRPr lang="en-US" sz="2200" dirty="0"/>
          </a:p>
          <a:p>
            <a:endParaRPr lang="en-US" sz="2200" dirty="0"/>
          </a:p>
          <a:p>
            <a:pPr algn="r"/>
            <a:r>
              <a:rPr lang="en-US" sz="2200" dirty="0"/>
              <a:t>Collaborate securely</a:t>
            </a:r>
            <a:br>
              <a:rPr lang="en-US" sz="2200" dirty="0"/>
            </a:br>
            <a:r>
              <a:rPr lang="en-US" sz="2200" dirty="0"/>
              <a:t>&amp; efficiently</a:t>
            </a:r>
            <a:endParaRPr lang="nl-BE" sz="2200" dirty="0"/>
          </a:p>
        </p:txBody>
      </p:sp>
      <p:sp>
        <p:nvSpPr>
          <p:cNvPr id="4" name="TextBox 3">
            <a:extLst>
              <a:ext uri="{FF2B5EF4-FFF2-40B4-BE49-F238E27FC236}">
                <a16:creationId xmlns:a16="http://schemas.microsoft.com/office/drawing/2014/main" id="{FC5FFB24-5595-4A34-4D54-6F563667DB2F}"/>
              </a:ext>
            </a:extLst>
          </p:cNvPr>
          <p:cNvSpPr txBox="1"/>
          <p:nvPr/>
        </p:nvSpPr>
        <p:spPr>
          <a:xfrm>
            <a:off x="7473238" y="1227706"/>
            <a:ext cx="4410000" cy="1975009"/>
          </a:xfrm>
          <a:prstGeom prst="roundRect">
            <a:avLst/>
          </a:prstGeom>
          <a:solidFill>
            <a:schemeClr val="accent1">
              <a:lumMod val="20000"/>
              <a:lumOff val="80000"/>
            </a:schemeClr>
          </a:solidFill>
          <a:ln w="19050">
            <a:noFill/>
          </a:ln>
        </p:spPr>
        <p:txBody>
          <a:bodyPr wrap="square" rtlCol="0" anchor="ctr">
            <a:spAutoFit/>
          </a:bodyPr>
          <a:lstStyle/>
          <a:p>
            <a:pPr algn="r"/>
            <a:r>
              <a:rPr lang="en-US" sz="2200" dirty="0"/>
              <a:t>Apply rich metadata,</a:t>
            </a:r>
          </a:p>
          <a:p>
            <a:pPr algn="r"/>
            <a:r>
              <a:rPr lang="en-US" sz="2200" dirty="0"/>
              <a:t>enforce conventions, </a:t>
            </a:r>
          </a:p>
          <a:p>
            <a:pPr algn="r"/>
            <a:r>
              <a:rPr lang="en-US" sz="2200" dirty="0"/>
              <a:t>standardize</a:t>
            </a:r>
          </a:p>
          <a:p>
            <a:pPr algn="r"/>
            <a:endParaRPr lang="en-US" sz="2200" dirty="0"/>
          </a:p>
          <a:p>
            <a:pPr algn="r"/>
            <a:endParaRPr lang="nl-BE" sz="2200" dirty="0"/>
          </a:p>
        </p:txBody>
      </p:sp>
      <p:sp>
        <p:nvSpPr>
          <p:cNvPr id="5" name="TextBox 4">
            <a:extLst>
              <a:ext uri="{FF2B5EF4-FFF2-40B4-BE49-F238E27FC236}">
                <a16:creationId xmlns:a16="http://schemas.microsoft.com/office/drawing/2014/main" id="{B389F1B2-05A9-F103-8EF7-0932D00D718E}"/>
              </a:ext>
            </a:extLst>
          </p:cNvPr>
          <p:cNvSpPr txBox="1"/>
          <p:nvPr/>
        </p:nvSpPr>
        <p:spPr>
          <a:xfrm>
            <a:off x="518848" y="1208482"/>
            <a:ext cx="4410340" cy="1975009"/>
          </a:xfrm>
          <a:prstGeom prst="roundRect">
            <a:avLst/>
          </a:prstGeom>
          <a:solidFill>
            <a:schemeClr val="accent1">
              <a:lumMod val="20000"/>
              <a:lumOff val="80000"/>
            </a:schemeClr>
          </a:solidFill>
          <a:ln w="19050">
            <a:noFill/>
          </a:ln>
        </p:spPr>
        <p:txBody>
          <a:bodyPr wrap="square" rtlCol="0" anchor="t">
            <a:spAutoFit/>
          </a:bodyPr>
          <a:lstStyle/>
          <a:p>
            <a:r>
              <a:rPr lang="en-US" sz="2200" dirty="0"/>
              <a:t>Central, secure, </a:t>
            </a:r>
          </a:p>
          <a:p>
            <a:r>
              <a:rPr lang="en-US" sz="2200" dirty="0"/>
              <a:t>highly available</a:t>
            </a:r>
          </a:p>
          <a:p>
            <a:endParaRPr lang="en-US" sz="2200" dirty="0"/>
          </a:p>
          <a:p>
            <a:endParaRPr lang="en-US" sz="2200" dirty="0"/>
          </a:p>
          <a:p>
            <a:endParaRPr lang="nl-BE" sz="2200" dirty="0"/>
          </a:p>
        </p:txBody>
      </p:sp>
      <p:sp>
        <p:nvSpPr>
          <p:cNvPr id="6" name="TextBox 5">
            <a:extLst>
              <a:ext uri="{FF2B5EF4-FFF2-40B4-BE49-F238E27FC236}">
                <a16:creationId xmlns:a16="http://schemas.microsoft.com/office/drawing/2014/main" id="{7DBF2967-666B-D12C-9DAD-77AC72884A88}"/>
              </a:ext>
            </a:extLst>
          </p:cNvPr>
          <p:cNvSpPr txBox="1"/>
          <p:nvPr/>
        </p:nvSpPr>
        <p:spPr>
          <a:xfrm>
            <a:off x="513612" y="3614231"/>
            <a:ext cx="4410340" cy="1975009"/>
          </a:xfrm>
          <a:prstGeom prst="roundRect">
            <a:avLst/>
          </a:prstGeom>
          <a:solidFill>
            <a:schemeClr val="accent1">
              <a:lumMod val="20000"/>
              <a:lumOff val="80000"/>
            </a:schemeClr>
          </a:solidFill>
          <a:ln w="19050">
            <a:noFill/>
          </a:ln>
        </p:spPr>
        <p:txBody>
          <a:bodyPr wrap="square" rtlCol="0" anchor="ctr">
            <a:spAutoFit/>
          </a:bodyPr>
          <a:lstStyle/>
          <a:p>
            <a:endParaRPr lang="en-US" sz="2200" dirty="0"/>
          </a:p>
          <a:p>
            <a:endParaRPr lang="en-US" sz="2200" dirty="0"/>
          </a:p>
          <a:p>
            <a:endParaRPr lang="en-US" sz="2200" dirty="0"/>
          </a:p>
          <a:p>
            <a:r>
              <a:rPr lang="en-US" sz="2200" dirty="0"/>
              <a:t>Implement rule-based </a:t>
            </a:r>
          </a:p>
          <a:p>
            <a:r>
              <a:rPr lang="en-US" sz="2200" dirty="0"/>
              <a:t>policies &amp; workflows</a:t>
            </a:r>
            <a:endParaRPr lang="nl-BE" sz="2200" dirty="0"/>
          </a:p>
        </p:txBody>
      </p:sp>
      <p:pic>
        <p:nvPicPr>
          <p:cNvPr id="8" name="Graphic 7" descr="Touchscreen with solid fill">
            <a:extLst>
              <a:ext uri="{FF2B5EF4-FFF2-40B4-BE49-F238E27FC236}">
                <a16:creationId xmlns:a16="http://schemas.microsoft.com/office/drawing/2014/main" id="{A20C7BD7-7527-7EA2-A10E-167D184392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854513" y="1283382"/>
            <a:ext cx="873335" cy="873335"/>
          </a:xfrm>
          <a:prstGeom prst="rect">
            <a:avLst/>
          </a:prstGeom>
        </p:spPr>
      </p:pic>
      <p:pic>
        <p:nvPicPr>
          <p:cNvPr id="9" name="Graphic 8" descr="Gears with solid fill">
            <a:extLst>
              <a:ext uri="{FF2B5EF4-FFF2-40B4-BE49-F238E27FC236}">
                <a16:creationId xmlns:a16="http://schemas.microsoft.com/office/drawing/2014/main" id="{DC9EBEFD-ABFD-7F08-89EE-D31B693728F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7272727">
            <a:off x="3937645" y="4674941"/>
            <a:ext cx="873335" cy="873335"/>
          </a:xfrm>
          <a:prstGeom prst="rect">
            <a:avLst/>
          </a:prstGeom>
        </p:spPr>
      </p:pic>
      <p:pic>
        <p:nvPicPr>
          <p:cNvPr id="11" name="Graphic 10" descr="Share with solid fill">
            <a:extLst>
              <a:ext uri="{FF2B5EF4-FFF2-40B4-BE49-F238E27FC236}">
                <a16:creationId xmlns:a16="http://schemas.microsoft.com/office/drawing/2014/main" id="{94A6606A-C4D1-17D5-3475-DE30ACCD104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410476" y="4621645"/>
            <a:ext cx="989780" cy="989780"/>
          </a:xfrm>
          <a:prstGeom prst="rect">
            <a:avLst/>
          </a:prstGeom>
        </p:spPr>
      </p:pic>
      <p:pic>
        <p:nvPicPr>
          <p:cNvPr id="12" name="Graphic 11" descr="Clipboard with solid fill">
            <a:extLst>
              <a:ext uri="{FF2B5EF4-FFF2-40B4-BE49-F238E27FC236}">
                <a16:creationId xmlns:a16="http://schemas.microsoft.com/office/drawing/2014/main" id="{F57276E3-9FBB-2EBF-5F7B-7FF8AB712DA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598929" y="1292319"/>
            <a:ext cx="873335" cy="873335"/>
          </a:xfrm>
          <a:prstGeom prst="rect">
            <a:avLst/>
          </a:prstGeom>
        </p:spPr>
      </p:pic>
      <p:sp>
        <p:nvSpPr>
          <p:cNvPr id="14" name="Rectangle: Rounded Corners 13">
            <a:extLst>
              <a:ext uri="{FF2B5EF4-FFF2-40B4-BE49-F238E27FC236}">
                <a16:creationId xmlns:a16="http://schemas.microsoft.com/office/drawing/2014/main" id="{2AF14BB5-7AF4-B7F5-A90A-8FA47FA2093D}"/>
              </a:ext>
            </a:extLst>
          </p:cNvPr>
          <p:cNvSpPr/>
          <p:nvPr/>
        </p:nvSpPr>
        <p:spPr>
          <a:xfrm>
            <a:off x="221501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STORE</a:t>
            </a:r>
          </a:p>
        </p:txBody>
      </p:sp>
      <p:sp>
        <p:nvSpPr>
          <p:cNvPr id="15" name="Rectangle: Rounded Corners 14">
            <a:extLst>
              <a:ext uri="{FF2B5EF4-FFF2-40B4-BE49-F238E27FC236}">
                <a16:creationId xmlns:a16="http://schemas.microsoft.com/office/drawing/2014/main" id="{4407E167-4895-BAE1-0793-8EF6FBC588E6}"/>
              </a:ext>
            </a:extLst>
          </p:cNvPr>
          <p:cNvSpPr/>
          <p:nvPr/>
        </p:nvSpPr>
        <p:spPr>
          <a:xfrm>
            <a:off x="821404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DESCRIBE</a:t>
            </a:r>
          </a:p>
        </p:txBody>
      </p:sp>
      <p:sp>
        <p:nvSpPr>
          <p:cNvPr id="16" name="Rectangle: Rounded Corners 15">
            <a:extLst>
              <a:ext uri="{FF2B5EF4-FFF2-40B4-BE49-F238E27FC236}">
                <a16:creationId xmlns:a16="http://schemas.microsoft.com/office/drawing/2014/main" id="{939F5B15-A135-36E7-CCA1-F083A4FC9907}"/>
              </a:ext>
            </a:extLst>
          </p:cNvPr>
          <p:cNvSpPr/>
          <p:nvPr/>
        </p:nvSpPr>
        <p:spPr>
          <a:xfrm>
            <a:off x="2219398" y="3706090"/>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AUTOMATE</a:t>
            </a:r>
          </a:p>
        </p:txBody>
      </p:sp>
      <p:sp>
        <p:nvSpPr>
          <p:cNvPr id="17" name="Rectangle: Rounded Corners 16">
            <a:extLst>
              <a:ext uri="{FF2B5EF4-FFF2-40B4-BE49-F238E27FC236}">
                <a16:creationId xmlns:a16="http://schemas.microsoft.com/office/drawing/2014/main" id="{F4B67B0F-A5A9-280C-C785-D4C44575076A}"/>
              </a:ext>
            </a:extLst>
          </p:cNvPr>
          <p:cNvSpPr/>
          <p:nvPr/>
        </p:nvSpPr>
        <p:spPr>
          <a:xfrm>
            <a:off x="8218372" y="3744907"/>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SHARE</a:t>
            </a:r>
          </a:p>
        </p:txBody>
      </p:sp>
      <p:grpSp>
        <p:nvGrpSpPr>
          <p:cNvPr id="13" name="Group 12">
            <a:extLst>
              <a:ext uri="{FF2B5EF4-FFF2-40B4-BE49-F238E27FC236}">
                <a16:creationId xmlns:a16="http://schemas.microsoft.com/office/drawing/2014/main" id="{4E23A4CA-814F-E06D-1C32-06D9FBFE6FF9}"/>
              </a:ext>
            </a:extLst>
          </p:cNvPr>
          <p:cNvGrpSpPr/>
          <p:nvPr/>
        </p:nvGrpSpPr>
        <p:grpSpPr>
          <a:xfrm>
            <a:off x="4461784" y="1855491"/>
            <a:ext cx="3268432" cy="3157685"/>
            <a:chOff x="5080404" y="3004790"/>
            <a:chExt cx="1924705" cy="1859489"/>
          </a:xfrm>
        </p:grpSpPr>
        <p:sp>
          <p:nvSpPr>
            <p:cNvPr id="20" name="Oval 19">
              <a:extLst>
                <a:ext uri="{FF2B5EF4-FFF2-40B4-BE49-F238E27FC236}">
                  <a16:creationId xmlns:a16="http://schemas.microsoft.com/office/drawing/2014/main" id="{2B20670E-A1C1-6259-8CC6-51E63696ACA8}"/>
                </a:ext>
              </a:extLst>
            </p:cNvPr>
            <p:cNvSpPr>
              <a:spLocks noChangeAspect="1"/>
            </p:cNvSpPr>
            <p:nvPr/>
          </p:nvSpPr>
          <p:spPr>
            <a:xfrm>
              <a:off x="5080404" y="3004790"/>
              <a:ext cx="1924705" cy="1859489"/>
            </a:xfrm>
            <a:prstGeom prst="ellipse">
              <a:avLst/>
            </a:prstGeom>
            <a:solidFill>
              <a:schemeClr val="bg1"/>
            </a:solidFill>
            <a:ln w="76200">
              <a:solidFill>
                <a:srgbClr val="1D8DB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sz="2400" b="1">
                <a:solidFill>
                  <a:srgbClr val="FFCB00"/>
                </a:solidFill>
              </a:endParaRPr>
            </a:p>
          </p:txBody>
        </p:sp>
        <p:pic>
          <p:nvPicPr>
            <p:cNvPr id="21" name="Graphic 20">
              <a:extLst>
                <a:ext uri="{FF2B5EF4-FFF2-40B4-BE49-F238E27FC236}">
                  <a16:creationId xmlns:a16="http://schemas.microsoft.com/office/drawing/2014/main" id="{3F432D6E-FEDC-031B-21E3-F4F7F46709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237510" y="3630177"/>
              <a:ext cx="1646075" cy="662913"/>
            </a:xfrm>
            <a:prstGeom prst="rect">
              <a:avLst/>
            </a:prstGeom>
          </p:spPr>
        </p:pic>
      </p:grpSp>
      <p:sp>
        <p:nvSpPr>
          <p:cNvPr id="2" name="Titel 4">
            <a:extLst>
              <a:ext uri="{FF2B5EF4-FFF2-40B4-BE49-F238E27FC236}">
                <a16:creationId xmlns:a16="http://schemas.microsoft.com/office/drawing/2014/main" id="{CEF0EB32-0128-648E-5997-C9A50C14F8E4}"/>
              </a:ext>
            </a:extLst>
          </p:cNvPr>
          <p:cNvSpPr>
            <a:spLocks noGrp="1"/>
          </p:cNvSpPr>
          <p:nvPr>
            <p:ph type="title"/>
          </p:nvPr>
        </p:nvSpPr>
        <p:spPr>
          <a:xfrm>
            <a:off x="838200" y="15205"/>
            <a:ext cx="10515600" cy="1181547"/>
          </a:xfrm>
        </p:spPr>
        <p:txBody>
          <a:bodyPr/>
          <a:lstStyle/>
          <a:p>
            <a:r>
              <a:rPr lang="en-US" dirty="0" err="1"/>
              <a:t>ManGO</a:t>
            </a:r>
            <a:endParaRPr lang="nl-BE" dirty="0"/>
          </a:p>
        </p:txBody>
      </p:sp>
    </p:spTree>
    <p:extLst>
      <p:ext uri="{BB962C8B-B14F-4D97-AF65-F5344CB8AC3E}">
        <p14:creationId xmlns:p14="http://schemas.microsoft.com/office/powerpoint/2010/main" val="9933550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633B7-46CF-6F12-A5DA-D36DDDC6DB59}"/>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CB0225D0-C0FF-E489-71E5-A3805B33B82A}"/>
              </a:ext>
            </a:extLst>
          </p:cNvPr>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a:extLst>
              <a:ext uri="{FF2B5EF4-FFF2-40B4-BE49-F238E27FC236}">
                <a16:creationId xmlns:a16="http://schemas.microsoft.com/office/drawing/2014/main" id="{69C928B4-5D64-B98A-CA04-00ECA616B4D1}"/>
              </a:ext>
            </a:extLst>
          </p:cNvPr>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B19066C-F40B-11ED-702E-C14AE1DF9DFF}"/>
              </a:ext>
            </a:extLst>
          </p:cNvPr>
          <p:cNvSpPr txBox="1"/>
          <p:nvPr/>
        </p:nvSpPr>
        <p:spPr>
          <a:xfrm>
            <a:off x="839416" y="4077072"/>
            <a:ext cx="2980303"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Compute credits</a:t>
            </a:r>
          </a:p>
        </p:txBody>
      </p:sp>
      <p:sp>
        <p:nvSpPr>
          <p:cNvPr id="6" name="Slide Number Placeholder 5">
            <a:extLst>
              <a:ext uri="{FF2B5EF4-FFF2-40B4-BE49-F238E27FC236}">
                <a16:creationId xmlns:a16="http://schemas.microsoft.com/office/drawing/2014/main" id="{3743F5E7-FCE0-B966-B2A2-527A5ECE8AEA}"/>
              </a:ext>
            </a:extLst>
          </p:cNvPr>
          <p:cNvSpPr>
            <a:spLocks noGrp="1"/>
          </p:cNvSpPr>
          <p:nvPr>
            <p:ph type="sldNum" sz="quarter" idx="12"/>
          </p:nvPr>
        </p:nvSpPr>
        <p:spPr/>
        <p:txBody>
          <a:bodyPr/>
          <a:lstStyle/>
          <a:p>
            <a:fld id="{A2912448-FEEC-49E8-9588-2DF1F90D57C2}" type="slidenum">
              <a:rPr lang="en-US" smtClean="0"/>
              <a:t>35</a:t>
            </a:fld>
            <a:endParaRPr lang="en-US"/>
          </a:p>
        </p:txBody>
      </p:sp>
    </p:spTree>
    <p:extLst>
      <p:ext uri="{BB962C8B-B14F-4D97-AF65-F5344CB8AC3E}">
        <p14:creationId xmlns:p14="http://schemas.microsoft.com/office/powerpoint/2010/main" val="40131060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36</a:t>
            </a:fld>
            <a:endParaRPr lang="nl-BE" dirty="0"/>
          </a:p>
        </p:txBody>
      </p:sp>
      <p:sp>
        <p:nvSpPr>
          <p:cNvPr id="34819" name="Rectangle 3"/>
          <p:cNvSpPr>
            <a:spLocks noGrp="1" noChangeArrowheads="1"/>
          </p:cNvSpPr>
          <p:nvPr>
            <p:ph idx="1"/>
          </p:nvPr>
        </p:nvSpPr>
        <p:spPr>
          <a:xfrm>
            <a:off x="588268" y="1052736"/>
            <a:ext cx="6731868" cy="5086167"/>
          </a:xfrm>
          <a:ln w="38100">
            <a:solidFill>
              <a:schemeClr val="accent1"/>
            </a:solidFill>
          </a:ln>
        </p:spPr>
        <p:txBody>
          <a:bodyPr anchor="ctr"/>
          <a:lstStyle/>
          <a:p>
            <a:pPr marL="342900" lvl="1" indent="0">
              <a:buNone/>
            </a:pPr>
            <a:r>
              <a:rPr lang="en-US" altLang="en-US" sz="2200" dirty="0"/>
              <a:t>What?</a:t>
            </a:r>
          </a:p>
          <a:p>
            <a:pPr lvl="1"/>
            <a:r>
              <a:rPr lang="en-US" altLang="en-US" sz="2200" dirty="0"/>
              <a:t>Credits are a measure for compute resources</a:t>
            </a:r>
          </a:p>
          <a:p>
            <a:pPr lvl="1"/>
            <a:r>
              <a:rPr lang="en-US" altLang="en-US" sz="2200" dirty="0"/>
              <a:t>Mandatory for accessing these resources</a:t>
            </a:r>
          </a:p>
          <a:p>
            <a:pPr lvl="1"/>
            <a:r>
              <a:rPr lang="en-US" altLang="en-US" sz="2200" dirty="0"/>
              <a:t>Traceability and accountability</a:t>
            </a:r>
          </a:p>
          <a:p>
            <a:pPr lvl="1"/>
            <a:endParaRPr lang="en-US" altLang="en-US" sz="2200" dirty="0"/>
          </a:p>
          <a:p>
            <a:pPr marL="342900" lvl="1" indent="0">
              <a:buNone/>
            </a:pPr>
            <a:r>
              <a:rPr lang="en-US" altLang="en-US" sz="2200" dirty="0"/>
              <a:t>Why?</a:t>
            </a:r>
          </a:p>
          <a:p>
            <a:pPr lvl="1"/>
            <a:r>
              <a:rPr lang="en-US" altLang="en-US" sz="2200" dirty="0"/>
              <a:t>Incentive to optimize your code and workflow</a:t>
            </a:r>
          </a:p>
          <a:p>
            <a:pPr lvl="1"/>
            <a:endParaRPr lang="en-US" altLang="en-US" sz="2200" dirty="0"/>
          </a:p>
          <a:p>
            <a:pPr marL="342900" lvl="1" indent="0">
              <a:buNone/>
            </a:pPr>
            <a:r>
              <a:rPr lang="en-US" altLang="en-US" sz="2200" dirty="0"/>
              <a:t>How?</a:t>
            </a:r>
          </a:p>
          <a:p>
            <a:pPr lvl="1"/>
            <a:r>
              <a:rPr lang="en-US" altLang="en-US" sz="2200" dirty="0"/>
              <a:t>1 million credits = 3.5 EUR</a:t>
            </a:r>
          </a:p>
          <a:p>
            <a:pPr lvl="1"/>
            <a:r>
              <a:rPr lang="en-US" altLang="en-US" sz="2200" dirty="0"/>
              <a:t>Pay-as-you-go model</a:t>
            </a:r>
          </a:p>
          <a:p>
            <a:pPr lvl="1"/>
            <a:r>
              <a:rPr lang="en-US" altLang="en-US" sz="2200" dirty="0"/>
              <a:t>Credit rates on the right = for fully allocated nodes</a:t>
            </a:r>
            <a:br>
              <a:rPr lang="en-US" altLang="en-US" sz="2200" dirty="0"/>
            </a:br>
            <a:r>
              <a:rPr lang="en-US" altLang="en-US" sz="2200" dirty="0"/>
              <a:t>(if you request less cores, you also get billed less)</a:t>
            </a:r>
          </a:p>
          <a:p>
            <a:pPr lvl="1"/>
            <a:r>
              <a:rPr lang="nl-BE" sz="2200" dirty="0"/>
              <a:t>See </a:t>
            </a:r>
            <a:r>
              <a:rPr lang="nl-BE" sz="2200" dirty="0" err="1"/>
              <a:t>the</a:t>
            </a:r>
            <a:r>
              <a:rPr lang="nl-BE" sz="2200" dirty="0"/>
              <a:t> </a:t>
            </a:r>
            <a:r>
              <a:rPr lang="nl-BE" sz="2200" dirty="0">
                <a:hlinkClick r:id="rId4"/>
              </a:rPr>
              <a:t>ICTS service </a:t>
            </a:r>
            <a:r>
              <a:rPr lang="nl-BE" sz="2200" dirty="0" err="1">
                <a:hlinkClick r:id="rId4"/>
              </a:rPr>
              <a:t>catalog</a:t>
            </a:r>
            <a:r>
              <a:rPr lang="nl-BE" sz="2200" dirty="0"/>
              <a:t> </a:t>
            </a:r>
            <a:r>
              <a:rPr lang="nl-BE" sz="2200" dirty="0" err="1"/>
              <a:t>for</a:t>
            </a:r>
            <a:r>
              <a:rPr lang="nl-BE" sz="2200" dirty="0"/>
              <a:t> more info</a:t>
            </a: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a:t>
            </a:r>
          </a:p>
        </p:txBody>
      </p:sp>
      <p:graphicFrame>
        <p:nvGraphicFramePr>
          <p:cNvPr id="5" name="Table 4"/>
          <p:cNvGraphicFramePr>
            <a:graphicFrameLocks noGrp="1"/>
          </p:cNvGraphicFramePr>
          <p:nvPr>
            <p:extLst>
              <p:ext uri="{D42A27DB-BD31-4B8C-83A1-F6EECF244321}">
                <p14:modId xmlns:p14="http://schemas.microsoft.com/office/powerpoint/2010/main" val="909930994"/>
              </p:ext>
            </p:extLst>
          </p:nvPr>
        </p:nvGraphicFramePr>
        <p:xfrm>
          <a:off x="7392144" y="518573"/>
          <a:ext cx="4439856" cy="3977640"/>
        </p:xfrm>
        <a:graphic>
          <a:graphicData uri="http://schemas.openxmlformats.org/drawingml/2006/table">
            <a:tbl>
              <a:tblPr firstRow="1" bandRow="1">
                <a:tableStyleId>{5C22544A-7EE6-4342-B048-85BDC9FD1C3A}</a:tableStyleId>
              </a:tblPr>
              <a:tblGrid>
                <a:gridCol w="3168352">
                  <a:extLst>
                    <a:ext uri="{9D8B030D-6E8A-4147-A177-3AD203B41FA5}">
                      <a16:colId xmlns:a16="http://schemas.microsoft.com/office/drawing/2014/main" val="346114"/>
                    </a:ext>
                  </a:extLst>
                </a:gridCol>
                <a:gridCol w="1271504">
                  <a:extLst>
                    <a:ext uri="{9D8B030D-6E8A-4147-A177-3AD203B41FA5}">
                      <a16:colId xmlns:a16="http://schemas.microsoft.com/office/drawing/2014/main" val="1760943923"/>
                    </a:ext>
                  </a:extLst>
                </a:gridCol>
              </a:tblGrid>
              <a:tr h="370840">
                <a:tc>
                  <a:txBody>
                    <a:bodyPr/>
                    <a:lstStyle/>
                    <a:p>
                      <a:r>
                        <a:rPr lang="en-US" sz="1800" dirty="0"/>
                        <a:t>Node types</a:t>
                      </a:r>
                      <a:endParaRPr lang="nl-BE" sz="1800" dirty="0"/>
                    </a:p>
                  </a:txBody>
                  <a:tcPr/>
                </a:tc>
                <a:tc>
                  <a:txBody>
                    <a:bodyPr/>
                    <a:lstStyle/>
                    <a:p>
                      <a:r>
                        <a:rPr lang="en-US" sz="1800" dirty="0"/>
                        <a:t>Credits per node-hour</a:t>
                      </a:r>
                      <a:endParaRPr lang="nl-BE" sz="1800" dirty="0"/>
                    </a:p>
                  </a:txBody>
                  <a:tcPr/>
                </a:tc>
                <a:extLst>
                  <a:ext uri="{0D108BD9-81ED-4DB2-BD59-A6C34878D82A}">
                    <a16:rowId xmlns:a16="http://schemas.microsoft.com/office/drawing/2014/main" val="2784824687"/>
                  </a:ext>
                </a:extLst>
              </a:tr>
              <a:tr h="370840">
                <a:tc>
                  <a:txBody>
                    <a:bodyPr/>
                    <a:lstStyle/>
                    <a:p>
                      <a:r>
                        <a:rPr lang="en-US" sz="1800" dirty="0"/>
                        <a:t>Genius </a:t>
                      </a:r>
                      <a:r>
                        <a:rPr lang="en-US" sz="1800" dirty="0" err="1"/>
                        <a:t>Skylake</a:t>
                      </a:r>
                      <a:r>
                        <a:rPr lang="en-US" sz="1800" dirty="0"/>
                        <a:t> 4 GPUs</a:t>
                      </a:r>
                      <a:endParaRPr lang="nl-BE" sz="1800" dirty="0"/>
                    </a:p>
                  </a:txBody>
                  <a:tcPr/>
                </a:tc>
                <a:tc>
                  <a:txBody>
                    <a:bodyPr/>
                    <a:lstStyle/>
                    <a:p>
                      <a:r>
                        <a:rPr lang="en-US" sz="1800" dirty="0"/>
                        <a:t>20 000</a:t>
                      </a:r>
                      <a:endParaRPr lang="nl-BE" sz="1800" dirty="0"/>
                    </a:p>
                  </a:txBody>
                  <a:tcPr/>
                </a:tc>
                <a:extLst>
                  <a:ext uri="{0D108BD9-81ED-4DB2-BD59-A6C34878D82A}">
                    <a16:rowId xmlns:a16="http://schemas.microsoft.com/office/drawing/2014/main" val="3269158428"/>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Genius </a:t>
                      </a:r>
                      <a:r>
                        <a:rPr lang="en-US" sz="1800" dirty="0" err="1"/>
                        <a:t>Cascadelake</a:t>
                      </a:r>
                      <a:r>
                        <a:rPr lang="en-US" sz="1800" dirty="0"/>
                        <a:t> 8 GPUs</a:t>
                      </a:r>
                      <a:endParaRPr lang="nl-BE" sz="1800" dirty="0"/>
                    </a:p>
                  </a:txBody>
                  <a:tcPr/>
                </a:tc>
                <a:tc>
                  <a:txBody>
                    <a:bodyPr/>
                    <a:lstStyle/>
                    <a:p>
                      <a:r>
                        <a:rPr lang="nl-BE" sz="1800" dirty="0"/>
                        <a:t>39 900</a:t>
                      </a:r>
                    </a:p>
                  </a:txBody>
                  <a:tcPr/>
                </a:tc>
                <a:extLst>
                  <a:ext uri="{0D108BD9-81ED-4DB2-BD59-A6C34878D82A}">
                    <a16:rowId xmlns:a16="http://schemas.microsoft.com/office/drawing/2014/main" val="1921121686"/>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a:t>
                      </a:r>
                      <a:r>
                        <a:rPr lang="nl-BE" sz="1800" dirty="0" err="1"/>
                        <a:t>thin</a:t>
                      </a:r>
                      <a:r>
                        <a:rPr lang="nl-BE" sz="1800" dirty="0"/>
                        <a:t> node</a:t>
                      </a:r>
                    </a:p>
                  </a:txBody>
                  <a:tcPr/>
                </a:tc>
                <a:tc>
                  <a:txBody>
                    <a:bodyPr/>
                    <a:lstStyle/>
                    <a:p>
                      <a:r>
                        <a:rPr lang="nl-BE" sz="1800" dirty="0"/>
                        <a:t>11 000</a:t>
                      </a:r>
                    </a:p>
                  </a:txBody>
                  <a:tcPr/>
                </a:tc>
                <a:extLst>
                  <a:ext uri="{0D108BD9-81ED-4DB2-BD59-A6C34878D82A}">
                    <a16:rowId xmlns:a16="http://schemas.microsoft.com/office/drawing/2014/main" val="2276638609"/>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Large Memory</a:t>
                      </a:r>
                    </a:p>
                  </a:txBody>
                  <a:tcPr/>
                </a:tc>
                <a:tc>
                  <a:txBody>
                    <a:bodyPr/>
                    <a:lstStyle/>
                    <a:p>
                      <a:r>
                        <a:rPr lang="nl-BE" sz="1800" dirty="0"/>
                        <a:t>19 000</a:t>
                      </a:r>
                    </a:p>
                  </a:txBody>
                  <a:tcPr/>
                </a:tc>
                <a:extLst>
                  <a:ext uri="{0D108BD9-81ED-4DB2-BD59-A6C34878D82A}">
                    <a16:rowId xmlns:a16="http://schemas.microsoft.com/office/drawing/2014/main" val="2110504488"/>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GPU node</a:t>
                      </a:r>
                    </a:p>
                  </a:txBody>
                  <a:tcPr/>
                </a:tc>
                <a:tc>
                  <a:txBody>
                    <a:bodyPr/>
                    <a:lstStyle/>
                    <a:p>
                      <a:r>
                        <a:rPr lang="nl-BE" sz="1800" dirty="0"/>
                        <a:t>45 000</a:t>
                      </a:r>
                    </a:p>
                  </a:txBody>
                  <a:tcPr/>
                </a:tc>
                <a:extLst>
                  <a:ext uri="{0D108BD9-81ED-4DB2-BD59-A6C34878D82A}">
                    <a16:rowId xmlns:a16="http://schemas.microsoft.com/office/drawing/2014/main" val="3918925419"/>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a:t>
                      </a:r>
                      <a:r>
                        <a:rPr lang="nl-BE" sz="1800" dirty="0" err="1"/>
                        <a:t>interactive</a:t>
                      </a:r>
                      <a:r>
                        <a:rPr lang="nl-BE" sz="1800" dirty="0"/>
                        <a:t> node</a:t>
                      </a:r>
                    </a:p>
                  </a:txBody>
                  <a:tcPr/>
                </a:tc>
                <a:tc>
                  <a:txBody>
                    <a:bodyPr/>
                    <a:lstStyle/>
                    <a:p>
                      <a:r>
                        <a:rPr lang="en-US" sz="1800" dirty="0"/>
                        <a:t>F</a:t>
                      </a:r>
                      <a:r>
                        <a:rPr lang="nl-BE" sz="1800" dirty="0"/>
                        <a:t>ree</a:t>
                      </a:r>
                    </a:p>
                  </a:txBody>
                  <a:tcPr/>
                </a:tc>
                <a:extLst>
                  <a:ext uri="{0D108BD9-81ED-4DB2-BD59-A6C34878D82A}">
                    <a16:rowId xmlns:a16="http://schemas.microsoft.com/office/drawing/2014/main" val="3401605432"/>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a:t>
                      </a:r>
                      <a:r>
                        <a:rPr lang="en-US" sz="1800" dirty="0" err="1"/>
                        <a:t>IceLake</a:t>
                      </a:r>
                      <a:r>
                        <a:rPr lang="en-US" sz="1800" dirty="0"/>
                        <a:t> </a:t>
                      </a:r>
                      <a:r>
                        <a:rPr lang="en-US" sz="1800" dirty="0" err="1"/>
                        <a:t>hugemem</a:t>
                      </a:r>
                      <a:r>
                        <a:rPr lang="en-US" sz="1800" dirty="0"/>
                        <a:t> node</a:t>
                      </a:r>
                      <a:endParaRPr lang="nl-BE" sz="1800" dirty="0"/>
                    </a:p>
                  </a:txBody>
                  <a:tcPr/>
                </a:tc>
                <a:tc>
                  <a:txBody>
                    <a:bodyPr/>
                    <a:lstStyle/>
                    <a:p>
                      <a:r>
                        <a:rPr lang="en-US" sz="1800" dirty="0"/>
                        <a:t>80 000</a:t>
                      </a:r>
                      <a:endParaRPr lang="nl-BE" sz="1800" dirty="0"/>
                    </a:p>
                  </a:txBody>
                  <a:tcPr/>
                </a:tc>
                <a:extLst>
                  <a:ext uri="{0D108BD9-81ED-4DB2-BD59-A6C34878D82A}">
                    <a16:rowId xmlns:a16="http://schemas.microsoft.com/office/drawing/2014/main" val="871641742"/>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Sapphire Rapids</a:t>
                      </a:r>
                      <a:endParaRPr lang="nl-BE" sz="1800" dirty="0"/>
                    </a:p>
                  </a:txBody>
                  <a:tcPr/>
                </a:tc>
                <a:tc>
                  <a:txBody>
                    <a:bodyPr/>
                    <a:lstStyle/>
                    <a:p>
                      <a:r>
                        <a:rPr lang="en-US" sz="1800" dirty="0"/>
                        <a:t>20 000</a:t>
                      </a:r>
                    </a:p>
                  </a:txBody>
                  <a:tcPr/>
                </a:tc>
                <a:extLst>
                  <a:ext uri="{0D108BD9-81ED-4DB2-BD59-A6C34878D82A}">
                    <a16:rowId xmlns:a16="http://schemas.microsoft.com/office/drawing/2014/main" val="1990493320"/>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AMD Zen-4 4 GPUs</a:t>
                      </a:r>
                      <a:endParaRPr lang="nl-BE" sz="1800" dirty="0"/>
                    </a:p>
                  </a:txBody>
                  <a:tcPr/>
                </a:tc>
                <a:tc>
                  <a:txBody>
                    <a:bodyPr/>
                    <a:lstStyle/>
                    <a:p>
                      <a:r>
                        <a:rPr lang="en-US" sz="1800" dirty="0"/>
                        <a:t>150 000</a:t>
                      </a:r>
                    </a:p>
                  </a:txBody>
                  <a:tcPr/>
                </a:tc>
                <a:extLst>
                  <a:ext uri="{0D108BD9-81ED-4DB2-BD59-A6C34878D82A}">
                    <a16:rowId xmlns:a16="http://schemas.microsoft.com/office/drawing/2014/main" val="2653489448"/>
                  </a:ext>
                </a:extLst>
              </a:tr>
            </a:tbl>
          </a:graphicData>
        </a:graphic>
      </p:graphicFrame>
    </p:spTree>
    <p:custDataLst>
      <p:tags r:id="rId1"/>
    </p:custDataLst>
    <p:extLst>
      <p:ext uri="{BB962C8B-B14F-4D97-AF65-F5344CB8AC3E}">
        <p14:creationId xmlns:p14="http://schemas.microsoft.com/office/powerpoint/2010/main" val="2943282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81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37</a:t>
            </a:fld>
            <a:endParaRPr lang="nl-BE" dirty="0"/>
          </a:p>
        </p:txBody>
      </p:sp>
      <p:sp>
        <p:nvSpPr>
          <p:cNvPr id="34819" name="Rectangle 3"/>
          <p:cNvSpPr>
            <a:spLocks noGrp="1" noChangeArrowheads="1"/>
          </p:cNvSpPr>
          <p:nvPr>
            <p:ph idx="1"/>
          </p:nvPr>
        </p:nvSpPr>
        <p:spPr>
          <a:xfrm>
            <a:off x="720000" y="1349998"/>
            <a:ext cx="11112000" cy="5034347"/>
          </a:xfrm>
        </p:spPr>
        <p:txBody>
          <a:bodyPr vert="horz" lIns="0" tIns="0" rIns="0" bIns="0" rtlCol="0" anchor="t">
            <a:noAutofit/>
          </a:bodyPr>
          <a:lstStyle/>
          <a:p>
            <a:pPr eaLnBrk="1" hangingPunct="1">
              <a:lnSpc>
                <a:spcPct val="90000"/>
              </a:lnSpc>
            </a:pPr>
            <a:r>
              <a:rPr lang="en-US" altLang="en-US" sz="2000" dirty="0"/>
              <a:t>Request your introduction credits</a:t>
            </a:r>
          </a:p>
          <a:p>
            <a:pPr lvl="1"/>
            <a:r>
              <a:rPr lang="en-US" altLang="en-US" sz="1900" dirty="0"/>
              <a:t>Every new user can request them once</a:t>
            </a:r>
          </a:p>
          <a:p>
            <a:pPr lvl="1"/>
            <a:r>
              <a:rPr lang="en-US" altLang="en-US" sz="1900" dirty="0">
                <a:ea typeface="Open Sans Extrabold"/>
                <a:cs typeface="Open Sans Extrabold"/>
              </a:rPr>
              <a:t>Free of charge</a:t>
            </a:r>
            <a:endParaRPr lang="en-US" altLang="en-US" sz="1900" dirty="0"/>
          </a:p>
          <a:p>
            <a:pPr lvl="1"/>
            <a:r>
              <a:rPr lang="en-US" altLang="en-US" sz="1900" dirty="0"/>
              <a:t>6 months</a:t>
            </a:r>
          </a:p>
          <a:p>
            <a:pPr lvl="1"/>
            <a:endParaRPr lang="en-US" altLang="en-US" sz="1900" dirty="0"/>
          </a:p>
          <a:p>
            <a:r>
              <a:rPr lang="en-US" altLang="en-US" sz="2200" dirty="0"/>
              <a:t>Request permission to join a group</a:t>
            </a:r>
          </a:p>
          <a:p>
            <a:endParaRPr lang="en-US" altLang="en-US" sz="2200" dirty="0"/>
          </a:p>
          <a:p>
            <a:r>
              <a:rPr lang="en-US" altLang="en-US" sz="2200" dirty="0"/>
              <a:t>Request project credits</a:t>
            </a:r>
          </a:p>
          <a:p>
            <a:pPr lvl="1"/>
            <a:r>
              <a:rPr lang="en-US" altLang="en-US" sz="1900" dirty="0"/>
              <a:t>Create group on the VSC account page</a:t>
            </a:r>
          </a:p>
          <a:p>
            <a:pPr lvl="1"/>
            <a:r>
              <a:rPr lang="en-US" altLang="en-US" sz="1900" dirty="0"/>
              <a:t>Start the name preferably with </a:t>
            </a:r>
            <a:r>
              <a:rPr lang="en-US" altLang="en-US" sz="1900" b="1" dirty="0"/>
              <a:t>p_</a:t>
            </a:r>
          </a:p>
          <a:p>
            <a:pPr lvl="1"/>
            <a:r>
              <a:rPr lang="en-US" altLang="en-US" sz="1900" dirty="0"/>
              <a:t>Your group will start with </a:t>
            </a:r>
            <a:r>
              <a:rPr lang="en-US" altLang="en-US" sz="1900" b="1" dirty="0" err="1"/>
              <a:t>lp</a:t>
            </a:r>
            <a:r>
              <a:rPr lang="en-US" altLang="en-US" sz="1900" b="1" dirty="0"/>
              <a:t>_</a:t>
            </a:r>
          </a:p>
          <a:p>
            <a:pPr lvl="1"/>
            <a:r>
              <a:rPr lang="en-US" altLang="en-US" sz="1900" dirty="0"/>
              <a:t>Creator of the group can add and remove users</a:t>
            </a:r>
          </a:p>
          <a:p>
            <a:pPr lvl="1"/>
            <a:endParaRPr lang="en-US" altLang="en-US" sz="1900" dirty="0"/>
          </a:p>
          <a:p>
            <a:r>
              <a:rPr lang="en-US" altLang="en-US" sz="2200" dirty="0"/>
              <a:t>Tier-2 credits can be used on all (Leuven) Tier-2 clusters</a:t>
            </a:r>
            <a:endParaRPr lang="en-US" altLang="en-US" sz="2000" dirty="0"/>
          </a:p>
          <a:p>
            <a:endParaRPr lang="en-US" altLang="en-US" sz="2200" dirty="0"/>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how to request credits</a:t>
            </a:r>
          </a:p>
        </p:txBody>
      </p:sp>
      <p:pic>
        <p:nvPicPr>
          <p:cNvPr id="3" name="Picture 2"/>
          <p:cNvPicPr>
            <a:picLocks noChangeAspect="1"/>
          </p:cNvPicPr>
          <p:nvPr/>
        </p:nvPicPr>
        <p:blipFill>
          <a:blip r:embed="rId4"/>
          <a:stretch>
            <a:fillRect/>
          </a:stretch>
        </p:blipFill>
        <p:spPr>
          <a:xfrm>
            <a:off x="5807968" y="1840526"/>
            <a:ext cx="5911458" cy="1734722"/>
          </a:xfrm>
          <a:prstGeom prst="rect">
            <a:avLst/>
          </a:prstGeom>
        </p:spPr>
      </p:pic>
      <p:pic>
        <p:nvPicPr>
          <p:cNvPr id="7" name="Picture 6"/>
          <p:cNvPicPr>
            <a:picLocks noChangeAspect="1"/>
          </p:cNvPicPr>
          <p:nvPr/>
        </p:nvPicPr>
        <p:blipFill>
          <a:blip r:embed="rId5"/>
          <a:stretch>
            <a:fillRect/>
          </a:stretch>
        </p:blipFill>
        <p:spPr>
          <a:xfrm>
            <a:off x="5464304" y="3689083"/>
            <a:ext cx="6298877" cy="1429497"/>
          </a:xfrm>
          <a:prstGeom prst="rect">
            <a:avLst/>
          </a:prstGeom>
        </p:spPr>
      </p:pic>
      <p:sp>
        <p:nvSpPr>
          <p:cNvPr id="4" name="Oval 3"/>
          <p:cNvSpPr/>
          <p:nvPr/>
        </p:nvSpPr>
        <p:spPr>
          <a:xfrm>
            <a:off x="9458570" y="4462869"/>
            <a:ext cx="1080120" cy="72008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8" name="Picture 7"/>
          <p:cNvPicPr>
            <a:picLocks noChangeAspect="1"/>
          </p:cNvPicPr>
          <p:nvPr/>
        </p:nvPicPr>
        <p:blipFill>
          <a:blip r:embed="rId6"/>
          <a:stretch>
            <a:fillRect/>
          </a:stretch>
        </p:blipFill>
        <p:spPr>
          <a:xfrm>
            <a:off x="8500165" y="5145401"/>
            <a:ext cx="3308886" cy="1421507"/>
          </a:xfrm>
          <a:prstGeom prst="rect">
            <a:avLst/>
          </a:prstGeom>
        </p:spPr>
      </p:pic>
      <p:sp>
        <p:nvSpPr>
          <p:cNvPr id="11" name="TextBox 10"/>
          <p:cNvSpPr txBox="1"/>
          <p:nvPr/>
        </p:nvSpPr>
        <p:spPr>
          <a:xfrm>
            <a:off x="7176120" y="1196752"/>
            <a:ext cx="4608512" cy="369332"/>
          </a:xfrm>
          <a:prstGeom prst="rect">
            <a:avLst/>
          </a:prstGeom>
          <a:noFill/>
        </p:spPr>
        <p:txBody>
          <a:bodyPr wrap="square" rtlCol="0">
            <a:spAutoFit/>
          </a:bodyPr>
          <a:lstStyle/>
          <a:p>
            <a:r>
              <a:rPr lang="nl-BE" dirty="0"/>
              <a:t>Check </a:t>
            </a:r>
            <a:r>
              <a:rPr lang="nl-BE" dirty="0" err="1"/>
              <a:t>the</a:t>
            </a:r>
            <a:r>
              <a:rPr lang="nl-BE" dirty="0"/>
              <a:t> </a:t>
            </a:r>
            <a:r>
              <a:rPr lang="nl-BE" dirty="0">
                <a:hlinkClick r:id="rId7"/>
              </a:rPr>
              <a:t>ICTS service </a:t>
            </a:r>
            <a:r>
              <a:rPr lang="nl-BE" dirty="0" err="1">
                <a:hlinkClick r:id="rId7"/>
              </a:rPr>
              <a:t>catalog</a:t>
            </a:r>
            <a:endParaRPr lang="nl-BE" dirty="0"/>
          </a:p>
        </p:txBody>
      </p:sp>
      <p:sp>
        <p:nvSpPr>
          <p:cNvPr id="9" name="Right Arrow 8"/>
          <p:cNvSpPr/>
          <p:nvPr/>
        </p:nvSpPr>
        <p:spPr>
          <a:xfrm rot="21347765">
            <a:off x="4954191" y="1293163"/>
            <a:ext cx="2160240" cy="3600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ight Arrow 11"/>
          <p:cNvSpPr/>
          <p:nvPr/>
        </p:nvSpPr>
        <p:spPr>
          <a:xfrm rot="19024342">
            <a:off x="3458607" y="2621496"/>
            <a:ext cx="4227443" cy="445315"/>
          </a:xfrm>
          <a:prstGeom prst="rightArrow">
            <a:avLst>
              <a:gd name="adj1" fmla="val 50357"/>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custDataLst>
      <p:tags r:id="rId1"/>
    </p:custDataLst>
    <p:extLst>
      <p:ext uri="{BB962C8B-B14F-4D97-AF65-F5344CB8AC3E}">
        <p14:creationId xmlns:p14="http://schemas.microsoft.com/office/powerpoint/2010/main" val="186359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81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819">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4819">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4819">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4819">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4819">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4819">
                                            <p:txEl>
                                              <p:pRg st="13" end="1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9"/>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xit" presetSubtype="0" fill="hold" grpId="1" nodeType="withEffect">
                                  <p:stCondLst>
                                    <p:cond delay="0"/>
                                  </p:stCondLst>
                                  <p:childTnLst>
                                    <p:set>
                                      <p:cBhvr>
                                        <p:cTn id="38" dur="1" fill="hold">
                                          <p:stCondLst>
                                            <p:cond delay="0"/>
                                          </p:stCondLst>
                                        </p:cTn>
                                        <p:tgtEl>
                                          <p:spTgt spid="12"/>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p:bldP spid="9" grpId="0" animBg="1"/>
      <p:bldP spid="9" grpId="1" animBg="1"/>
      <p:bldP spid="12" grpId="0" animBg="1"/>
      <p:bldP spid="12"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38</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pPr eaLnBrk="1" hangingPunct="1">
              <a:lnSpc>
                <a:spcPct val="90000"/>
              </a:lnSpc>
            </a:pPr>
            <a:r>
              <a:rPr lang="en-US" altLang="en-US" sz="2200" dirty="0">
                <a:ea typeface="Open Sans Extrabold"/>
                <a:cs typeface="Open Sans Extrabold"/>
              </a:rPr>
              <a:t>Submit your jobs with a suitable credit account</a:t>
            </a:r>
          </a:p>
          <a:p>
            <a:pPr eaLnBrk="1" hangingPunct="1">
              <a:lnSpc>
                <a:spcPct val="90000"/>
              </a:lnSpc>
            </a:pPr>
            <a:endParaRPr lang="en-US" altLang="en-US" sz="2200" dirty="0">
              <a:ea typeface="Open Sans Extrabold"/>
              <a:cs typeface="Open Sans Extrabold"/>
            </a:endParaRPr>
          </a:p>
          <a:p>
            <a:pPr marL="342900" lvl="1" indent="0">
              <a:buNone/>
            </a:pPr>
            <a:r>
              <a:rPr lang="en-US" altLang="en-US" sz="2200" dirty="0">
                <a:ea typeface="Open Sans Extrabold"/>
                <a:cs typeface="Open Sans Extrabold"/>
              </a:rPr>
              <a:t>#SBATCH –A </a:t>
            </a:r>
            <a:r>
              <a:rPr lang="en-US" altLang="en-US" sz="2200" dirty="0" err="1">
                <a:ea typeface="Open Sans Extrabold"/>
                <a:cs typeface="Open Sans Extrabold"/>
              </a:rPr>
              <a:t>lp_myproject</a:t>
            </a:r>
            <a:endParaRPr lang="en-US" altLang="en-US" sz="2200" dirty="0">
              <a:ea typeface="Open Sans Extrabold"/>
              <a:cs typeface="Open Sans Extrabold"/>
            </a:endParaRPr>
          </a:p>
          <a:p>
            <a:pPr marL="342900" lvl="1" indent="0">
              <a:buNone/>
            </a:pPr>
            <a:endParaRPr lang="en-US" altLang="en-US" sz="2200" dirty="0">
              <a:ea typeface="Open Sans Extrabold"/>
              <a:cs typeface="Open Sans Extrabold"/>
            </a:endParaRPr>
          </a:p>
          <a:p>
            <a:pPr marL="342900" lvl="1" indent="0">
              <a:buNone/>
            </a:pPr>
            <a:r>
              <a:rPr lang="en-US" altLang="en-US" sz="2200" dirty="0" err="1">
                <a:ea typeface="Open Sans Extrabold"/>
                <a:cs typeface="Open Sans Extrabold"/>
              </a:rPr>
              <a:t>sbatch</a:t>
            </a:r>
            <a:r>
              <a:rPr lang="en-US" altLang="en-US" sz="2200" dirty="0">
                <a:ea typeface="Open Sans Extrabold"/>
                <a:cs typeface="Open Sans Extrabold"/>
              </a:rPr>
              <a:t> -A </a:t>
            </a:r>
            <a:r>
              <a:rPr lang="en-US" altLang="en-US" sz="2200" dirty="0" err="1">
                <a:ea typeface="Open Sans Extrabold"/>
                <a:cs typeface="Open Sans Extrabold"/>
              </a:rPr>
              <a:t>lp_myproject</a:t>
            </a:r>
            <a:r>
              <a:rPr lang="en-US" altLang="en-US" sz="2200" dirty="0">
                <a:ea typeface="Open Sans Extrabold"/>
                <a:cs typeface="Open Sans Extrabold"/>
              </a:rPr>
              <a:t> … </a:t>
            </a:r>
            <a:r>
              <a:rPr lang="en-US" altLang="en-US" sz="2200" dirty="0" err="1">
                <a:ea typeface="Open Sans Extrabold"/>
                <a:cs typeface="Open Sans Extrabold"/>
              </a:rPr>
              <a:t>myjob.slurm</a:t>
            </a:r>
            <a:endParaRPr lang="en-US" altLang="en-US" sz="2200" dirty="0">
              <a:ea typeface="Open Sans Extrabold"/>
              <a:cs typeface="Open Sans Extrabold"/>
            </a:endParaRPr>
          </a:p>
          <a:p>
            <a:pPr lvl="1"/>
            <a:endParaRPr lang="en-US" altLang="en-US" sz="2200" dirty="0">
              <a:ea typeface="Open Sans Extrabold"/>
              <a:cs typeface="Open Sans Extrabold"/>
            </a:endParaRPr>
          </a:p>
          <a:p>
            <a:r>
              <a:rPr lang="en-US" altLang="en-US" sz="2200" dirty="0">
                <a:ea typeface="Open Sans Extrabold"/>
                <a:cs typeface="Open Sans Extrabold"/>
              </a:rPr>
              <a:t>Before submitting the job, </a:t>
            </a:r>
            <a:r>
              <a:rPr lang="en-US" altLang="en-US" sz="2200" dirty="0" err="1">
                <a:ea typeface="Open Sans Extrabold"/>
                <a:cs typeface="Open Sans Extrabold"/>
              </a:rPr>
              <a:t>Slurm</a:t>
            </a:r>
            <a:r>
              <a:rPr lang="en-US" altLang="en-US" sz="2200" dirty="0">
                <a:ea typeface="Open Sans Extrabold"/>
                <a:cs typeface="Open Sans Extrabold"/>
              </a:rPr>
              <a:t> checks if the account has enough available credits for the job</a:t>
            </a:r>
            <a:br>
              <a:rPr lang="en-US" altLang="en-US" sz="2200" dirty="0">
                <a:ea typeface="Open Sans Extrabold"/>
                <a:cs typeface="Open Sans Extrabold"/>
              </a:rPr>
            </a:br>
            <a:r>
              <a:rPr lang="en-US" altLang="en-US" sz="2200" dirty="0">
                <a:ea typeface="Open Sans Extrabold"/>
                <a:cs typeface="Open Sans Extrabold"/>
              </a:rPr>
              <a:t>(in addition to any other already-running jobs)</a:t>
            </a:r>
          </a:p>
          <a:p>
            <a:pPr marL="0" indent="0">
              <a:buNone/>
            </a:pPr>
            <a:endParaRPr lang="en-US" altLang="en-US" sz="2200" dirty="0">
              <a:ea typeface="Open Sans Extrabold"/>
              <a:cs typeface="Open Sans Extrabold"/>
            </a:endParaRPr>
          </a:p>
          <a:p>
            <a:r>
              <a:rPr lang="en-US" altLang="en-US" sz="2200" dirty="0">
                <a:ea typeface="Open Sans Extrabold"/>
                <a:cs typeface="Open Sans Extrabold"/>
              </a:rPr>
              <a:t>Once a job start running, it starts consuming credits from the account</a:t>
            </a:r>
          </a:p>
          <a:p>
            <a:endParaRPr lang="en-US" altLang="en-US" sz="2200" dirty="0">
              <a:ea typeface="Open Sans Extrabold"/>
              <a:cs typeface="Open Sans Extrabold"/>
            </a:endParaRPr>
          </a:p>
          <a:p>
            <a:endParaRPr lang="en-US" altLang="en-US" sz="2200" dirty="0">
              <a:ea typeface="Open Sans Extrabold"/>
              <a:cs typeface="Open Sans Extrabold"/>
            </a:endParaRPr>
          </a:p>
          <a:p>
            <a:endParaRPr lang="en-US" altLang="en-US" sz="1900" dirty="0">
              <a:ea typeface="Open Sans Extrabold"/>
              <a:cs typeface="Open Sans Extrabold"/>
            </a:endParaRPr>
          </a:p>
          <a:p>
            <a:pPr lvl="1"/>
            <a:endParaRPr lang="en-US" altLang="en-US" sz="2200" dirty="0"/>
          </a:p>
        </p:txBody>
      </p:sp>
      <p:sp>
        <p:nvSpPr>
          <p:cNvPr id="34818" name="Rectangle 2"/>
          <p:cNvSpPr>
            <a:spLocks noGrp="1" noChangeArrowheads="1"/>
          </p:cNvSpPr>
          <p:nvPr>
            <p:ph type="title"/>
          </p:nvPr>
        </p:nvSpPr>
        <p:spPr/>
        <p:txBody>
          <a:bodyPr/>
          <a:lstStyle/>
          <a:p>
            <a:r>
              <a:rPr lang="en-US" altLang="en-US" dirty="0"/>
              <a:t>Tier-2 credit system – how</a:t>
            </a:r>
          </a:p>
        </p:txBody>
      </p:sp>
    </p:spTree>
    <p:extLst>
      <p:ext uri="{BB962C8B-B14F-4D97-AF65-F5344CB8AC3E}">
        <p14:creationId xmlns:p14="http://schemas.microsoft.com/office/powerpoint/2010/main" val="26808694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ack background with white text&#10;&#10;Description automatically generated">
            <a:extLst>
              <a:ext uri="{FF2B5EF4-FFF2-40B4-BE49-F238E27FC236}">
                <a16:creationId xmlns:a16="http://schemas.microsoft.com/office/drawing/2014/main" id="{2219B93B-5A25-67C8-16CC-5487C0C4F81F}"/>
              </a:ext>
            </a:extLst>
          </p:cNvPr>
          <p:cNvPicPr>
            <a:picLocks noChangeAspect="1"/>
          </p:cNvPicPr>
          <p:nvPr/>
        </p:nvPicPr>
        <p:blipFill>
          <a:blip r:embed="rId3"/>
          <a:stretch>
            <a:fillRect/>
          </a:stretch>
        </p:blipFill>
        <p:spPr>
          <a:xfrm>
            <a:off x="866019" y="2852936"/>
            <a:ext cx="10821167" cy="1245402"/>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39</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940764649"/>
              </p:ext>
            </p:extLst>
          </p:nvPr>
        </p:nvGraphicFramePr>
        <p:xfrm>
          <a:off x="864813"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 [-A account]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active</a:t>
                      </a:r>
                      <a:r>
                        <a:rPr lang="en-US" sz="2000" baseline="0" dirty="0"/>
                        <a:t> projects and available credits</a:t>
                      </a:r>
                      <a:endParaRPr lang="nl-BE" sz="2000" dirty="0"/>
                    </a:p>
                  </a:txBody>
                  <a:tcPr/>
                </a:tc>
                <a:extLst>
                  <a:ext uri="{0D108BD9-81ED-4DB2-BD59-A6C34878D82A}">
                    <a16:rowId xmlns:a16="http://schemas.microsoft.com/office/drawing/2014/main" val="3358618783"/>
                  </a:ext>
                </a:extLst>
              </a:tr>
            </a:tbl>
          </a:graphicData>
        </a:graphic>
      </p:graphicFrame>
    </p:spTree>
    <p:extLst>
      <p:ext uri="{BB962C8B-B14F-4D97-AF65-F5344CB8AC3E}">
        <p14:creationId xmlns:p14="http://schemas.microsoft.com/office/powerpoint/2010/main" val="27771205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Description automatically generated">
            <a:extLst>
              <a:ext uri="{FF2B5EF4-FFF2-40B4-BE49-F238E27FC236}">
                <a16:creationId xmlns:a16="http://schemas.microsoft.com/office/drawing/2014/main" id="{F3AE07E3-1D71-8D4F-D840-CA0F47F86334}"/>
              </a:ext>
            </a:extLst>
          </p:cNvPr>
          <p:cNvPicPr>
            <a:picLocks noChangeAspect="1"/>
          </p:cNvPicPr>
          <p:nvPr/>
        </p:nvPicPr>
        <p:blipFill>
          <a:blip r:embed="rId3"/>
          <a:srcRect r="600"/>
          <a:stretch>
            <a:fillRect/>
          </a:stretch>
        </p:blipFill>
        <p:spPr>
          <a:xfrm>
            <a:off x="896942" y="2875727"/>
            <a:ext cx="10822374" cy="2065441"/>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dirty="0" smtClean="0"/>
              <a:pPr/>
              <a:t>40</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2991176652"/>
              </p:ext>
            </p:extLst>
          </p:nvPr>
        </p:nvGraphicFramePr>
        <p:xfrm>
          <a:off x="864813"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the credit deposits and refunds (if any)</a:t>
                      </a:r>
                      <a:endParaRPr lang="nl-BE" sz="2000" dirty="0"/>
                    </a:p>
                  </a:txBody>
                  <a:tcPr/>
                </a:tc>
                <a:extLst>
                  <a:ext uri="{0D108BD9-81ED-4DB2-BD59-A6C34878D82A}">
                    <a16:rowId xmlns:a16="http://schemas.microsoft.com/office/drawing/2014/main" val="2150199804"/>
                  </a:ext>
                </a:extLst>
              </a:tr>
            </a:tbl>
          </a:graphicData>
        </a:graphic>
      </p:graphicFrame>
    </p:spTree>
    <p:extLst>
      <p:ext uri="{BB962C8B-B14F-4D97-AF65-F5344CB8AC3E}">
        <p14:creationId xmlns:p14="http://schemas.microsoft.com/office/powerpoint/2010/main" val="31907253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41</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i="1"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marL="0" indent="0">
              <a:buNone/>
            </a:pP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701249451"/>
              </p:ext>
            </p:extLst>
          </p:nvPr>
        </p:nvGraphicFramePr>
        <p:xfrm>
          <a:off x="864813" y="1916832"/>
          <a:ext cx="10822373" cy="1097280"/>
        </p:xfrm>
        <a:graphic>
          <a:graphicData uri="http://schemas.openxmlformats.org/drawingml/2006/table">
            <a:tbl>
              <a:tblPr firstRow="1" bandRow="1">
                <a:tableStyleId>{5C22544A-7EE6-4342-B048-85BDC9FD1C3A}</a:tableStyleId>
              </a:tblPr>
              <a:tblGrid>
                <a:gridCol w="5016500">
                  <a:extLst>
                    <a:ext uri="{9D8B030D-6E8A-4147-A177-3AD203B41FA5}">
                      <a16:colId xmlns:a16="http://schemas.microsoft.com/office/drawing/2014/main" val="3929993397"/>
                    </a:ext>
                  </a:extLst>
                </a:gridCol>
                <a:gridCol w="580587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a:t>
                      </a:r>
                      <a:br>
                        <a:rPr lang="en-US" sz="2000" dirty="0">
                          <a:latin typeface="Courier New"/>
                          <a:cs typeface="Courier New"/>
                        </a:rPr>
                      </a:b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Estimates the (max) amount of credits a job will use</a:t>
                      </a:r>
                      <a:endParaRPr lang="nl-BE" sz="2000" dirty="0"/>
                    </a:p>
                  </a:txBody>
                  <a:tcPr anchor="ctr"/>
                </a:tc>
                <a:extLst>
                  <a:ext uri="{0D108BD9-81ED-4DB2-BD59-A6C34878D82A}">
                    <a16:rowId xmlns:a16="http://schemas.microsoft.com/office/drawing/2014/main" val="1571753053"/>
                  </a:ext>
                </a:extLst>
              </a:tr>
            </a:tbl>
          </a:graphicData>
        </a:graphic>
      </p:graphicFrame>
      <p:pic>
        <p:nvPicPr>
          <p:cNvPr id="3" name="Picture 2" descr="A black background with white text&#10;&#10;Description automatically generated">
            <a:extLst>
              <a:ext uri="{FF2B5EF4-FFF2-40B4-BE49-F238E27FC236}">
                <a16:creationId xmlns:a16="http://schemas.microsoft.com/office/drawing/2014/main" id="{8B8CF5A0-72B8-1410-2EDB-9678937BC880}"/>
              </a:ext>
            </a:extLst>
          </p:cNvPr>
          <p:cNvPicPr>
            <a:picLocks noChangeAspect="1"/>
          </p:cNvPicPr>
          <p:nvPr/>
        </p:nvPicPr>
        <p:blipFill>
          <a:blip r:embed="rId3"/>
          <a:stretch>
            <a:fillRect/>
          </a:stretch>
        </p:blipFill>
        <p:spPr>
          <a:xfrm>
            <a:off x="845390" y="3215787"/>
            <a:ext cx="10841795" cy="1005301"/>
          </a:xfrm>
          <a:prstGeom prst="rect">
            <a:avLst/>
          </a:prstGeom>
        </p:spPr>
      </p:pic>
    </p:spTree>
    <p:extLst>
      <p:ext uri="{BB962C8B-B14F-4D97-AF65-F5344CB8AC3E}">
        <p14:creationId xmlns:p14="http://schemas.microsoft.com/office/powerpoint/2010/main" val="1880240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BA0B723-1908-60DD-74F8-32053F5AE9C4}"/>
              </a:ext>
            </a:extLst>
          </p:cNvPr>
          <p:cNvPicPr>
            <a:picLocks noChangeAspect="1"/>
          </p:cNvPicPr>
          <p:nvPr/>
        </p:nvPicPr>
        <p:blipFill>
          <a:blip r:embed="rId3"/>
          <a:srcRect b="4090"/>
          <a:stretch>
            <a:fillRect/>
          </a:stretch>
        </p:blipFill>
        <p:spPr>
          <a:xfrm>
            <a:off x="839416" y="3417800"/>
            <a:ext cx="5688632" cy="3187655"/>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42</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371690159"/>
              </p:ext>
            </p:extLst>
          </p:nvPr>
        </p:nvGraphicFramePr>
        <p:xfrm>
          <a:off x="864813" y="1916832"/>
          <a:ext cx="10822373" cy="1402080"/>
        </p:xfrm>
        <a:graphic>
          <a:graphicData uri="http://schemas.openxmlformats.org/drawingml/2006/table">
            <a:tbl>
              <a:tblPr firstRow="1" bandRow="1">
                <a:tableStyleId>{5C22544A-7EE6-4342-B048-85BDC9FD1C3A}</a:tableStyleId>
              </a:tblPr>
              <a:tblGrid>
                <a:gridCol w="5447211">
                  <a:extLst>
                    <a:ext uri="{9D8B030D-6E8A-4147-A177-3AD203B41FA5}">
                      <a16:colId xmlns:a16="http://schemas.microsoft.com/office/drawing/2014/main" val="3929993397"/>
                    </a:ext>
                  </a:extLst>
                </a:gridCol>
                <a:gridCol w="5375162">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a:t>
                      </a:r>
                      <a:br>
                        <a:rPr lang="en-US" sz="2000" dirty="0">
                          <a:latin typeface="Courier New"/>
                          <a:cs typeface="Courier New"/>
                        </a:rPr>
                      </a:br>
                      <a:r>
                        <a:rPr lang="en-US" sz="2000" dirty="0">
                          <a:latin typeface="Courier New"/>
                          <a:cs typeface="Courier New"/>
                        </a:rPr>
                        <a: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1571753053"/>
                  </a:ext>
                </a:extLst>
              </a:tr>
            </a:tbl>
          </a:graphicData>
        </a:graphic>
      </p:graphicFrame>
    </p:spTree>
    <p:extLst>
      <p:ext uri="{BB962C8B-B14F-4D97-AF65-F5344CB8AC3E}">
        <p14:creationId xmlns:p14="http://schemas.microsoft.com/office/powerpoint/2010/main" val="25498477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43</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577381664"/>
              </p:ext>
            </p:extLst>
          </p:nvPr>
        </p:nvGraphicFramePr>
        <p:xfrm>
          <a:off x="864813" y="1916832"/>
          <a:ext cx="10822374" cy="3200400"/>
        </p:xfrm>
        <a:graphic>
          <a:graphicData uri="http://schemas.openxmlformats.org/drawingml/2006/table">
            <a:tbl>
              <a:tblPr firstRow="1" bandRow="1">
                <a:tableStyleId>{5C22544A-7EE6-4342-B048-85BDC9FD1C3A}</a:tableStyleId>
              </a:tblPr>
              <a:tblGrid>
                <a:gridCol w="7031387">
                  <a:extLst>
                    <a:ext uri="{9D8B030D-6E8A-4147-A177-3AD203B41FA5}">
                      <a16:colId xmlns:a16="http://schemas.microsoft.com/office/drawing/2014/main" val="3929993397"/>
                    </a:ext>
                  </a:extLst>
                </a:gridCol>
                <a:gridCol w="3790987">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Lists active</a:t>
                      </a:r>
                      <a:r>
                        <a:rPr lang="en-US" sz="2000" baseline="0" dirty="0"/>
                        <a:t> projects and available credits</a:t>
                      </a:r>
                      <a:endParaRPr lang="nl-BE" sz="2000" dirty="0"/>
                    </a:p>
                  </a:txBody>
                  <a:tcPr anchor="ctr"/>
                </a:tc>
                <a:extLst>
                  <a:ext uri="{0D108BD9-81ED-4DB2-BD59-A6C34878D82A}">
                    <a16:rowId xmlns:a16="http://schemas.microsoft.com/office/drawing/2014/main" val="3358618783"/>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a:cs typeface="Courier New"/>
                      </a:endParaRPr>
                    </a:p>
                  </a:txBody>
                  <a:tcPr anchor="ctr"/>
                </a:tc>
                <a:tc>
                  <a:txBody>
                    <a:bodyPr/>
                    <a:lstStyle/>
                    <a:p>
                      <a:r>
                        <a:rPr lang="en-US" sz="2000" dirty="0"/>
                        <a:t>Lists the credit deposits and refunds (if any)</a:t>
                      </a:r>
                      <a:endParaRPr lang="nl-BE" sz="2000" dirty="0"/>
                    </a:p>
                  </a:txBody>
                  <a:tcPr anchor="ctr"/>
                </a:tc>
                <a:extLst>
                  <a:ext uri="{0D108BD9-81ED-4DB2-BD59-A6C34878D82A}">
                    <a16:rowId xmlns:a16="http://schemas.microsoft.com/office/drawing/2014/main" val="2150199804"/>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err="1">
                        <a:latin typeface="Courier New" panose="02070309020205020404" pitchFamily="49" charset="0"/>
                        <a:cs typeface="Courier New" panose="02070309020205020404" pitchFamily="49" charset="0"/>
                      </a:endParaRPr>
                    </a:p>
                  </a:txBody>
                  <a:tcPr anchor="ctr"/>
                </a:tc>
                <a:tc>
                  <a:txBody>
                    <a:bodyPr/>
                    <a:lstStyle/>
                    <a:p>
                      <a:r>
                        <a:rPr lang="en-US" sz="2000" dirty="0"/>
                        <a:t>Estimates the (max) number of credits a job will use</a:t>
                      </a:r>
                      <a:endParaRPr lang="nl-BE" sz="2000" dirty="0"/>
                    </a:p>
                  </a:txBody>
                  <a:tcPr anchor="ctr"/>
                </a:tc>
                <a:extLst>
                  <a:ext uri="{0D108BD9-81ED-4DB2-BD59-A6C34878D82A}">
                    <a16:rowId xmlns:a16="http://schemas.microsoft.com/office/drawing/2014/main" val="3254107556"/>
                  </a:ext>
                </a:extLst>
              </a:tr>
              <a:tr h="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3547772461"/>
                  </a:ext>
                </a:extLst>
              </a:tr>
            </a:tbl>
          </a:graphicData>
        </a:graphic>
      </p:graphicFrame>
    </p:spTree>
    <p:extLst>
      <p:ext uri="{BB962C8B-B14F-4D97-AF65-F5344CB8AC3E}">
        <p14:creationId xmlns:p14="http://schemas.microsoft.com/office/powerpoint/2010/main" val="29154834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839416" y="4077072"/>
            <a:ext cx="473636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Connecting to a login node</a:t>
            </a:r>
          </a:p>
        </p:txBody>
      </p:sp>
      <p:sp>
        <p:nvSpPr>
          <p:cNvPr id="6" name="Slide Number Placeholder 5"/>
          <p:cNvSpPr>
            <a:spLocks noGrp="1"/>
          </p:cNvSpPr>
          <p:nvPr>
            <p:ph type="sldNum" sz="quarter" idx="12"/>
          </p:nvPr>
        </p:nvSpPr>
        <p:spPr/>
        <p:txBody>
          <a:bodyPr/>
          <a:lstStyle/>
          <a:p>
            <a:fld id="{A2912448-FEEC-49E8-9588-2DF1F90D57C2}" type="slidenum">
              <a:rPr lang="en-US" smtClean="0"/>
              <a:t>44</a:t>
            </a:fld>
            <a:endParaRPr lang="en-US"/>
          </a:p>
        </p:txBody>
      </p:sp>
    </p:spTree>
    <p:extLst>
      <p:ext uri="{BB962C8B-B14F-4D97-AF65-F5344CB8AC3E}">
        <p14:creationId xmlns:p14="http://schemas.microsoft.com/office/powerpoint/2010/main" val="42113209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p:cNvGrpSpPr/>
          <p:nvPr/>
        </p:nvGrpSpPr>
        <p:grpSpPr>
          <a:xfrm>
            <a:off x="6988530" y="3994627"/>
            <a:ext cx="1058597" cy="2254184"/>
            <a:chOff x="5781249" y="4359400"/>
            <a:chExt cx="1058597" cy="2254184"/>
          </a:xfrm>
        </p:grpSpPr>
        <p:sp>
          <p:nvSpPr>
            <p:cNvPr id="172" name="Flowchart: Magnetic Disk 25"/>
            <p:cNvSpPr/>
            <p:nvPr/>
          </p:nvSpPr>
          <p:spPr>
            <a:xfrm>
              <a:off x="5781249" y="5089917"/>
              <a:ext cx="1051687" cy="1154335"/>
            </a:xfrm>
            <a:prstGeom prst="flowChartMagneticDisk">
              <a:avLst/>
            </a:prstGeom>
            <a:solidFill>
              <a:srgbClr val="F4DBAA"/>
            </a:solidFill>
            <a:ln>
              <a:solidFill>
                <a:srgbClr val="E8B65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5" name="Up-Down Arrow 29"/>
            <p:cNvSpPr/>
            <p:nvPr/>
          </p:nvSpPr>
          <p:spPr>
            <a:xfrm>
              <a:off x="6226909" y="4359400"/>
              <a:ext cx="198022" cy="648072"/>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9" name="TextBox 33"/>
            <p:cNvSpPr txBox="1"/>
            <p:nvPr/>
          </p:nvSpPr>
          <p:spPr>
            <a:xfrm>
              <a:off x="5824823" y="6244252"/>
              <a:ext cx="1015023" cy="369332"/>
            </a:xfrm>
            <a:prstGeom prst="rect">
              <a:avLst/>
            </a:prstGeom>
            <a:noFill/>
          </p:spPr>
          <p:txBody>
            <a:bodyPr wrap="square" rtlCol="0">
              <a:spAutoFit/>
            </a:bodyPr>
            <a:lstStyle/>
            <a:p>
              <a:pPr algn="ctr"/>
              <a:r>
                <a:rPr lang="en-US" dirty="0">
                  <a:solidFill>
                    <a:srgbClr val="00407A"/>
                  </a:solidFill>
                </a:rPr>
                <a:t>Storage</a:t>
              </a:r>
            </a:p>
          </p:txBody>
        </p:sp>
      </p:grpSp>
      <p:grpSp>
        <p:nvGrpSpPr>
          <p:cNvPr id="16" name="Group 15"/>
          <p:cNvGrpSpPr/>
          <p:nvPr/>
        </p:nvGrpSpPr>
        <p:grpSpPr>
          <a:xfrm>
            <a:off x="5008510" y="642174"/>
            <a:ext cx="5263954" cy="3015259"/>
            <a:chOff x="5008510" y="642174"/>
            <a:chExt cx="5263954" cy="3015259"/>
          </a:xfrm>
        </p:grpSpPr>
        <p:sp>
          <p:nvSpPr>
            <p:cNvPr id="128" name="Up-Down Arrow 115"/>
            <p:cNvSpPr/>
            <p:nvPr/>
          </p:nvSpPr>
          <p:spPr>
            <a:xfrm>
              <a:off x="6837699" y="3050963"/>
              <a:ext cx="198022" cy="606470"/>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32" name="Rounded Rectangle 48"/>
            <p:cNvSpPr/>
            <p:nvPr/>
          </p:nvSpPr>
          <p:spPr>
            <a:xfrm>
              <a:off x="5008510" y="2810291"/>
              <a:ext cx="5263954"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grpSp>
          <p:nvGrpSpPr>
            <p:cNvPr id="2" name="Group 1"/>
            <p:cNvGrpSpPr/>
            <p:nvPr/>
          </p:nvGrpSpPr>
          <p:grpSpPr>
            <a:xfrm>
              <a:off x="5231903" y="642174"/>
              <a:ext cx="4608512" cy="2015956"/>
              <a:chOff x="5231903" y="642174"/>
              <a:chExt cx="4608512" cy="2015956"/>
            </a:xfrm>
          </p:grpSpPr>
          <p:grpSp>
            <p:nvGrpSpPr>
              <p:cNvPr id="146" name="Group 145"/>
              <p:cNvGrpSpPr/>
              <p:nvPr/>
            </p:nvGrpSpPr>
            <p:grpSpPr>
              <a:xfrm>
                <a:off x="8119727" y="1052736"/>
                <a:ext cx="1720688" cy="1605394"/>
                <a:chOff x="467544" y="1052736"/>
                <a:chExt cx="1720688" cy="1605394"/>
              </a:xfrm>
            </p:grpSpPr>
            <p:sp>
              <p:nvSpPr>
                <p:cNvPr id="147"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8"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9"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0"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1"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4"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7"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9"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120" name="Group 119"/>
              <p:cNvGrpSpPr/>
              <p:nvPr/>
            </p:nvGrpSpPr>
            <p:grpSpPr>
              <a:xfrm>
                <a:off x="7111615" y="1052736"/>
                <a:ext cx="1720688" cy="1605394"/>
                <a:chOff x="467544" y="1052736"/>
                <a:chExt cx="1720688" cy="1605394"/>
              </a:xfrm>
            </p:grpSpPr>
            <p:sp>
              <p:nvSpPr>
                <p:cNvPr id="121"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2"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6"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9"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0"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1"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4"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5"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8" name="Group 7"/>
              <p:cNvGrpSpPr/>
              <p:nvPr/>
            </p:nvGrpSpPr>
            <p:grpSpPr>
              <a:xfrm>
                <a:off x="6168007" y="1052736"/>
                <a:ext cx="1720688" cy="1605394"/>
                <a:chOff x="1403648" y="1052736"/>
                <a:chExt cx="1720688" cy="1605394"/>
              </a:xfrm>
            </p:grpSpPr>
            <p:sp>
              <p:nvSpPr>
                <p:cNvPr id="112" name="Rounded Rectangle 18"/>
                <p:cNvSpPr/>
                <p:nvPr/>
              </p:nvSpPr>
              <p:spPr>
                <a:xfrm>
                  <a:off x="1403648"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3" name="Rounded Rectangle 18"/>
                <p:cNvSpPr/>
                <p:nvPr/>
              </p:nvSpPr>
              <p:spPr>
                <a:xfrm>
                  <a:off x="1556048"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4" name="Rounded Rectangle 18"/>
                <p:cNvSpPr/>
                <p:nvPr/>
              </p:nvSpPr>
              <p:spPr>
                <a:xfrm>
                  <a:off x="1708448"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5" name="Rounded Rectangle 18"/>
                <p:cNvSpPr/>
                <p:nvPr/>
              </p:nvSpPr>
              <p:spPr>
                <a:xfrm>
                  <a:off x="1860848"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6" name="Rounded Rectangle 18"/>
                <p:cNvSpPr/>
                <p:nvPr/>
              </p:nvSpPr>
              <p:spPr>
                <a:xfrm>
                  <a:off x="2013248"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7" name="Rounded Rectangle 18"/>
                <p:cNvSpPr/>
                <p:nvPr/>
              </p:nvSpPr>
              <p:spPr>
                <a:xfrm>
                  <a:off x="2165648"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8" name="Rounded Rectangle 18"/>
                <p:cNvSpPr/>
                <p:nvPr/>
              </p:nvSpPr>
              <p:spPr>
                <a:xfrm>
                  <a:off x="2318048"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9" name="Rounded Rectangle 18"/>
                <p:cNvSpPr/>
                <p:nvPr/>
              </p:nvSpPr>
              <p:spPr>
                <a:xfrm>
                  <a:off x="2470448"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9" name="Group 8"/>
              <p:cNvGrpSpPr/>
              <p:nvPr/>
            </p:nvGrpSpPr>
            <p:grpSpPr>
              <a:xfrm>
                <a:off x="5231903" y="1052736"/>
                <a:ext cx="1720688" cy="1605394"/>
                <a:chOff x="467544" y="1052736"/>
                <a:chExt cx="1720688" cy="1605394"/>
              </a:xfrm>
            </p:grpSpPr>
            <p:sp>
              <p:nvSpPr>
                <p:cNvPr id="101"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4"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5"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6"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7"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8"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9"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0"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sp>
            <p:nvSpPr>
              <p:cNvPr id="233" name="TextBox 23"/>
              <p:cNvSpPr txBox="1"/>
              <p:nvPr/>
            </p:nvSpPr>
            <p:spPr>
              <a:xfrm>
                <a:off x="6169472" y="642174"/>
                <a:ext cx="1942753" cy="369332"/>
              </a:xfrm>
              <a:prstGeom prst="rect">
                <a:avLst/>
              </a:prstGeom>
              <a:noFill/>
            </p:spPr>
            <p:txBody>
              <a:bodyPr wrap="square" rtlCol="0">
                <a:spAutoFit/>
              </a:bodyPr>
              <a:lstStyle/>
              <a:p>
                <a:pPr algn="ctr"/>
                <a:r>
                  <a:rPr lang="en-US" dirty="0">
                    <a:solidFill>
                      <a:srgbClr val="00407A"/>
                    </a:solidFill>
                  </a:rPr>
                  <a:t>Compute nodes</a:t>
                </a:r>
              </a:p>
            </p:txBody>
          </p:sp>
        </p:grpSp>
      </p:grpSp>
      <p:grpSp>
        <p:nvGrpSpPr>
          <p:cNvPr id="10" name="Group 9"/>
          <p:cNvGrpSpPr/>
          <p:nvPr/>
        </p:nvGrpSpPr>
        <p:grpSpPr>
          <a:xfrm>
            <a:off x="8565455" y="3973361"/>
            <a:ext cx="2859137" cy="2119935"/>
            <a:chOff x="8565455" y="3973361"/>
            <a:chExt cx="2859137" cy="2119935"/>
          </a:xfrm>
        </p:grpSpPr>
        <p:sp>
          <p:nvSpPr>
            <p:cNvPr id="70" name="Rectangle 3"/>
            <p:cNvSpPr txBox="1">
              <a:spLocks noChangeArrowheads="1"/>
            </p:cNvSpPr>
            <p:nvPr/>
          </p:nvSpPr>
          <p:spPr>
            <a:xfrm>
              <a:off x="8861260"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t>Job scheduler,</a:t>
              </a:r>
              <a:br>
                <a:rPr lang="en-US" altLang="en-US" sz="1400" dirty="0"/>
              </a:br>
              <a:r>
                <a:rPr lang="en-US" altLang="en-US" sz="1400" dirty="0"/>
                <a:t>(credit) account management, …</a:t>
              </a:r>
            </a:p>
          </p:txBody>
        </p:sp>
        <p:grpSp>
          <p:nvGrpSpPr>
            <p:cNvPr id="3" name="Group 2"/>
            <p:cNvGrpSpPr/>
            <p:nvPr/>
          </p:nvGrpSpPr>
          <p:grpSpPr>
            <a:xfrm>
              <a:off x="8565455" y="3973361"/>
              <a:ext cx="1942753" cy="1471618"/>
              <a:chOff x="1496838" y="4338134"/>
              <a:chExt cx="1942753" cy="1471618"/>
            </a:xfrm>
          </p:grpSpPr>
          <p:sp>
            <p:nvSpPr>
              <p:cNvPr id="195" name="Rounded Rectangle 18"/>
              <p:cNvSpPr/>
              <p:nvPr/>
            </p:nvSpPr>
            <p:spPr>
              <a:xfrm>
                <a:off x="1752530" y="4869160"/>
                <a:ext cx="653888" cy="538594"/>
              </a:xfrm>
              <a:prstGeom prst="round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6" name="Up-Down Arrow 20"/>
              <p:cNvSpPr/>
              <p:nvPr/>
            </p:nvSpPr>
            <p:spPr>
              <a:xfrm>
                <a:off x="1965479"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8" name="TextBox 23"/>
              <p:cNvSpPr txBox="1"/>
              <p:nvPr/>
            </p:nvSpPr>
            <p:spPr>
              <a:xfrm>
                <a:off x="1496838" y="5440420"/>
                <a:ext cx="1942753" cy="369332"/>
              </a:xfrm>
              <a:prstGeom prst="rect">
                <a:avLst/>
              </a:prstGeom>
              <a:noFill/>
            </p:spPr>
            <p:txBody>
              <a:bodyPr wrap="square" rtlCol="0">
                <a:spAutoFit/>
              </a:bodyPr>
              <a:lstStyle/>
              <a:p>
                <a:pPr algn="ctr"/>
                <a:r>
                  <a:rPr lang="en-US" dirty="0">
                    <a:solidFill>
                      <a:srgbClr val="00407A"/>
                    </a:solidFill>
                  </a:rPr>
                  <a:t>Service nodes</a:t>
                </a:r>
              </a:p>
            </p:txBody>
          </p:sp>
          <p:sp>
            <p:nvSpPr>
              <p:cNvPr id="99" name="Up-Down Arrow 20"/>
              <p:cNvSpPr/>
              <p:nvPr/>
            </p:nvSpPr>
            <p:spPr>
              <a:xfrm>
                <a:off x="2787847"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0" name="Rounded Rectangle 18"/>
              <p:cNvSpPr/>
              <p:nvPr/>
            </p:nvSpPr>
            <p:spPr>
              <a:xfrm>
                <a:off x="2555776" y="4869160"/>
                <a:ext cx="653888" cy="538594"/>
              </a:xfrm>
              <a:prstGeom prst="round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sp>
        <p:nvSpPr>
          <p:cNvPr id="11" name="Left-Right Arrow Callout 10"/>
          <p:cNvSpPr/>
          <p:nvPr/>
        </p:nvSpPr>
        <p:spPr>
          <a:xfrm>
            <a:off x="1515196" y="4221088"/>
            <a:ext cx="3352414" cy="1115795"/>
          </a:xfrm>
          <a:prstGeom prst="leftRightArrowCallout">
            <a:avLst>
              <a:gd name="adj1" fmla="val 20610"/>
              <a:gd name="adj2" fmla="val 25000"/>
              <a:gd name="adj3" fmla="val 39266"/>
              <a:gd name="adj4" fmla="val 62966"/>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connection</a:t>
            </a:r>
            <a:br>
              <a:rPr lang="en-US" dirty="0"/>
            </a:br>
            <a:r>
              <a:rPr lang="en-US" dirty="0"/>
              <a:t>(terminal, OOD)</a:t>
            </a:r>
            <a:br>
              <a:rPr lang="en-US" dirty="0"/>
            </a:br>
            <a:r>
              <a:rPr lang="en-US" dirty="0"/>
              <a:t>with MFA through your IDP</a:t>
            </a:r>
            <a:endParaRPr lang="nl-BE" dirty="0"/>
          </a:p>
        </p:txBody>
      </p:sp>
      <p:grpSp>
        <p:nvGrpSpPr>
          <p:cNvPr id="18" name="Group 17"/>
          <p:cNvGrpSpPr/>
          <p:nvPr/>
        </p:nvGrpSpPr>
        <p:grpSpPr>
          <a:xfrm>
            <a:off x="4295800" y="764704"/>
            <a:ext cx="2488718" cy="5843118"/>
            <a:chOff x="4297010" y="764704"/>
            <a:chExt cx="2488718" cy="5843118"/>
          </a:xfrm>
        </p:grpSpPr>
        <p:sp>
          <p:nvSpPr>
            <p:cNvPr id="19" name="Arc 18"/>
            <p:cNvSpPr/>
            <p:nvPr/>
          </p:nvSpPr>
          <p:spPr>
            <a:xfrm flipH="1">
              <a:off x="4355892" y="764704"/>
              <a:ext cx="2429836" cy="5843118"/>
            </a:xfrm>
            <a:prstGeom prst="arc">
              <a:avLst>
                <a:gd name="adj1" fmla="val 16199999"/>
                <a:gd name="adj2" fmla="val 0"/>
              </a:avLst>
            </a:prstGeom>
            <a:ln w="7620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 name="Straight Connector 20"/>
            <p:cNvCxnSpPr/>
            <p:nvPr/>
          </p:nvCxnSpPr>
          <p:spPr>
            <a:xfrm>
              <a:off x="4355892" y="3619490"/>
              <a:ext cx="0" cy="2545814"/>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rot="17603623">
              <a:off x="3977620" y="1344572"/>
              <a:ext cx="1008112" cy="369332"/>
            </a:xfrm>
            <a:prstGeom prst="rect">
              <a:avLst/>
            </a:prstGeom>
            <a:noFill/>
          </p:spPr>
          <p:txBody>
            <a:bodyPr wrap="square" rtlCol="0">
              <a:spAutoFit/>
            </a:bodyPr>
            <a:lstStyle/>
            <a:p>
              <a:r>
                <a:rPr lang="en-US"/>
                <a:t>Firewall</a:t>
              </a:r>
              <a:endParaRPr lang="nl-BE"/>
            </a:p>
          </p:txBody>
        </p:sp>
      </p:grpSp>
      <p:grpSp>
        <p:nvGrpSpPr>
          <p:cNvPr id="25" name="Group 24"/>
          <p:cNvGrpSpPr/>
          <p:nvPr/>
        </p:nvGrpSpPr>
        <p:grpSpPr>
          <a:xfrm>
            <a:off x="4729312" y="3060249"/>
            <a:ext cx="7170157" cy="2369911"/>
            <a:chOff x="4729312" y="3060249"/>
            <a:chExt cx="7170157" cy="2369911"/>
          </a:xfrm>
        </p:grpSpPr>
        <p:grpSp>
          <p:nvGrpSpPr>
            <p:cNvPr id="15" name="Group 14"/>
            <p:cNvGrpSpPr/>
            <p:nvPr/>
          </p:nvGrpSpPr>
          <p:grpSpPr>
            <a:xfrm>
              <a:off x="4729312" y="3818403"/>
              <a:ext cx="5471144" cy="1611757"/>
              <a:chOff x="4729312" y="3818403"/>
              <a:chExt cx="5471144" cy="1611757"/>
            </a:xfrm>
          </p:grpSpPr>
          <p:cxnSp>
            <p:nvCxnSpPr>
              <p:cNvPr id="126" name="Straight Connector 6"/>
              <p:cNvCxnSpPr/>
              <p:nvPr/>
            </p:nvCxnSpPr>
            <p:spPr>
              <a:xfrm>
                <a:off x="5147127" y="381840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grpSp>
            <p:nvGrpSpPr>
              <p:cNvPr id="205" name="Group 204"/>
              <p:cNvGrpSpPr/>
              <p:nvPr/>
            </p:nvGrpSpPr>
            <p:grpSpPr>
              <a:xfrm>
                <a:off x="4729312" y="3977632"/>
                <a:ext cx="1942753" cy="1452528"/>
                <a:chOff x="1547664" y="4338134"/>
                <a:chExt cx="1942753" cy="1452528"/>
              </a:xfrm>
            </p:grpSpPr>
            <p:sp>
              <p:nvSpPr>
                <p:cNvPr id="206" name="Rounded Rectangle 18"/>
                <p:cNvSpPr/>
                <p:nvPr/>
              </p:nvSpPr>
              <p:spPr>
                <a:xfrm>
                  <a:off x="1752530" y="4869160"/>
                  <a:ext cx="653888" cy="538594"/>
                </a:xfrm>
                <a:prstGeom prst="roundRect">
                  <a:avLst/>
                </a:prstGeom>
                <a:solidFill>
                  <a:srgbClr val="92D050"/>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07" name="Up-Down Arrow 20"/>
                <p:cNvSpPr/>
                <p:nvPr/>
              </p:nvSpPr>
              <p:spPr>
                <a:xfrm>
                  <a:off x="1965479"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30" name="TextBox 23"/>
                <p:cNvSpPr txBox="1"/>
                <p:nvPr/>
              </p:nvSpPr>
              <p:spPr>
                <a:xfrm>
                  <a:off x="1547664" y="5421330"/>
                  <a:ext cx="1942753" cy="369332"/>
                </a:xfrm>
                <a:prstGeom prst="rect">
                  <a:avLst/>
                </a:prstGeom>
                <a:noFill/>
              </p:spPr>
              <p:txBody>
                <a:bodyPr wrap="square" rtlCol="0">
                  <a:spAutoFit/>
                </a:bodyPr>
                <a:lstStyle/>
                <a:p>
                  <a:pPr algn="ctr"/>
                  <a:r>
                    <a:rPr lang="en-US" dirty="0">
                      <a:solidFill>
                        <a:srgbClr val="00407A"/>
                      </a:solidFill>
                    </a:rPr>
                    <a:t>Login nodes</a:t>
                  </a:r>
                </a:p>
              </p:txBody>
            </p:sp>
            <p:sp>
              <p:nvSpPr>
                <p:cNvPr id="231" name="Up-Down Arrow 20"/>
                <p:cNvSpPr/>
                <p:nvPr/>
              </p:nvSpPr>
              <p:spPr>
                <a:xfrm>
                  <a:off x="2787847"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32" name="Rounded Rectangle 18"/>
                <p:cNvSpPr/>
                <p:nvPr/>
              </p:nvSpPr>
              <p:spPr>
                <a:xfrm>
                  <a:off x="2555776" y="4869160"/>
                  <a:ext cx="653888" cy="538594"/>
                </a:xfrm>
                <a:prstGeom prst="roundRect">
                  <a:avLst/>
                </a:prstGeom>
                <a:solidFill>
                  <a:srgbClr val="92D050"/>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sp>
          <p:nvSpPr>
            <p:cNvPr id="14" name="TextBox 13"/>
            <p:cNvSpPr txBox="1"/>
            <p:nvPr/>
          </p:nvSpPr>
          <p:spPr>
            <a:xfrm>
              <a:off x="10344472" y="3060249"/>
              <a:ext cx="1460197" cy="584775"/>
            </a:xfrm>
            <a:prstGeom prst="rect">
              <a:avLst/>
            </a:prstGeom>
            <a:noFill/>
          </p:spPr>
          <p:txBody>
            <a:bodyPr wrap="square" rtlCol="0">
              <a:spAutoFit/>
            </a:bodyPr>
            <a:lstStyle/>
            <a:p>
              <a:r>
                <a:rPr lang="en-US" sz="1600" dirty="0">
                  <a:solidFill>
                    <a:srgbClr val="00407A"/>
                  </a:solidFill>
                </a:rPr>
                <a:t>Connections to other VSC sites</a:t>
              </a:r>
              <a:endParaRPr lang="nl-BE" sz="1600" dirty="0">
                <a:solidFill>
                  <a:srgbClr val="00407A"/>
                </a:solidFill>
              </a:endParaRPr>
            </a:p>
          </p:txBody>
        </p:sp>
        <p:sp>
          <p:nvSpPr>
            <p:cNvPr id="23" name="Oval 22"/>
            <p:cNvSpPr/>
            <p:nvPr/>
          </p:nvSpPr>
          <p:spPr>
            <a:xfrm>
              <a:off x="10394448" y="369601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0" name="Oval 79"/>
            <p:cNvSpPr/>
            <p:nvPr/>
          </p:nvSpPr>
          <p:spPr>
            <a:xfrm>
              <a:off x="10702796" y="370202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1" name="Oval 80"/>
            <p:cNvSpPr/>
            <p:nvPr/>
          </p:nvSpPr>
          <p:spPr>
            <a:xfrm>
              <a:off x="11032164" y="369601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ight Arrow 23"/>
            <p:cNvSpPr/>
            <p:nvPr/>
          </p:nvSpPr>
          <p:spPr>
            <a:xfrm>
              <a:off x="11382552" y="364323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7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45</a:t>
            </a:fld>
            <a:endParaRPr lang="nl-BE" sz="900" dirty="0">
              <a:solidFill>
                <a:schemeClr val="bg1"/>
              </a:solidFill>
            </a:endParaRPr>
          </a:p>
        </p:txBody>
      </p:sp>
      <p:sp>
        <p:nvSpPr>
          <p:cNvPr id="8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Accessing a cluster</a:t>
            </a:r>
          </a:p>
        </p:txBody>
      </p:sp>
      <p:grpSp>
        <p:nvGrpSpPr>
          <p:cNvPr id="7" name="Group 6"/>
          <p:cNvGrpSpPr/>
          <p:nvPr/>
        </p:nvGrpSpPr>
        <p:grpSpPr>
          <a:xfrm>
            <a:off x="296653" y="3933056"/>
            <a:ext cx="1262843" cy="1587467"/>
            <a:chOff x="3078585" y="3903148"/>
            <a:chExt cx="1262843" cy="1587467"/>
          </a:xfrm>
        </p:grpSpPr>
        <p:sp>
          <p:nvSpPr>
            <p:cNvPr id="236" name="TextBox 23"/>
            <p:cNvSpPr txBox="1"/>
            <p:nvPr/>
          </p:nvSpPr>
          <p:spPr>
            <a:xfrm>
              <a:off x="3078585" y="3903148"/>
              <a:ext cx="1194715" cy="369332"/>
            </a:xfrm>
            <a:prstGeom prst="rect">
              <a:avLst/>
            </a:prstGeom>
            <a:noFill/>
          </p:spPr>
          <p:txBody>
            <a:bodyPr wrap="square" rtlCol="0">
              <a:spAutoFit/>
            </a:bodyPr>
            <a:lstStyle/>
            <a:p>
              <a:pPr algn="ctr"/>
              <a:r>
                <a:rPr lang="en-US" dirty="0"/>
                <a:t>User</a:t>
              </a: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78585" y="4227772"/>
              <a:ext cx="1262843" cy="1262843"/>
            </a:xfrm>
            <a:prstGeom prst="rect">
              <a:avLst/>
            </a:prstGeom>
          </p:spPr>
        </p:pic>
      </p:grpSp>
    </p:spTree>
    <p:custDataLst>
      <p:tags r:id="rId1"/>
    </p:custDataLst>
    <p:extLst>
      <p:ext uri="{BB962C8B-B14F-4D97-AF65-F5344CB8AC3E}">
        <p14:creationId xmlns:p14="http://schemas.microsoft.com/office/powerpoint/2010/main" val="3713991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AA319C3D-DC81-B4B6-6866-AC66BFEE1264}"/>
              </a:ext>
            </a:extLst>
          </p:cNvPr>
          <p:cNvGrpSpPr/>
          <p:nvPr/>
        </p:nvGrpSpPr>
        <p:grpSpPr>
          <a:xfrm>
            <a:off x="6321963" y="1477251"/>
            <a:ext cx="5278923" cy="4400021"/>
            <a:chOff x="720001" y="964811"/>
            <a:chExt cx="5189980" cy="4400021"/>
          </a:xfrm>
        </p:grpSpPr>
        <p:sp>
          <p:nvSpPr>
            <p:cNvPr id="4" name="Content Placeholder 2"/>
            <p:cNvSpPr txBox="1">
              <a:spLocks/>
            </p:cNvSpPr>
            <p:nvPr/>
          </p:nvSpPr>
          <p:spPr>
            <a:xfrm>
              <a:off x="720001" y="1377264"/>
              <a:ext cx="5189980" cy="3987568"/>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Windows: </a:t>
              </a:r>
              <a:r>
                <a:rPr lang="en-US" dirty="0">
                  <a:hlinkClick r:id="rId3"/>
                </a:rPr>
                <a:t>PuTTY</a:t>
              </a:r>
              <a:r>
                <a:rPr lang="en-US" dirty="0"/>
                <a:t>, </a:t>
              </a:r>
              <a:r>
                <a:rPr lang="en-US" dirty="0" err="1">
                  <a:hlinkClick r:id="rId4"/>
                </a:rPr>
                <a:t>MobaXterm</a:t>
              </a:r>
              <a:r>
                <a:rPr lang="en-US" dirty="0"/>
                <a:t>, …</a:t>
              </a:r>
              <a:br>
                <a:rPr lang="en-US" dirty="0"/>
              </a:br>
              <a:r>
                <a:rPr lang="en-US" dirty="0"/>
                <a:t>MacOS/Linux: any terminal</a:t>
              </a:r>
            </a:p>
            <a:p>
              <a:pPr marL="324000" indent="-324000">
                <a:buClr>
                  <a:srgbClr val="DB6C30"/>
                </a:buClr>
                <a:buFont typeface="Wingdings" panose="05000000000000000000" pitchFamily="2" charset="2"/>
                <a:buChar char="q"/>
              </a:pPr>
              <a:r>
                <a:rPr lang="en-US" dirty="0"/>
                <a:t>Optional: for VSC clusters </a:t>
              </a:r>
              <a:r>
                <a:rPr lang="en-US" i="1" dirty="0"/>
                <a:t>not </a:t>
              </a:r>
              <a:r>
                <a:rPr lang="en-US" dirty="0"/>
                <a:t>hosted at KU Leuven you need an </a:t>
              </a:r>
              <a:r>
                <a:rPr lang="en-US" dirty="0">
                  <a:hlinkClick r:id="rId5"/>
                </a:rPr>
                <a:t>(open)SSH key pair</a:t>
              </a:r>
              <a:r>
                <a:rPr lang="en-US" dirty="0"/>
                <a:t> (upload the public key to the VSC account page and wait ≥ 30mins)</a:t>
              </a:r>
            </a:p>
            <a:p>
              <a:pPr marL="324000" indent="-324000">
                <a:buClr>
                  <a:srgbClr val="DB6C30"/>
                </a:buClr>
                <a:buFont typeface="Wingdings" panose="05000000000000000000" pitchFamily="2" charset="2"/>
                <a:buChar char="q"/>
              </a:pPr>
              <a:r>
                <a:rPr lang="en-US" dirty="0"/>
                <a:t>Hosts: login.hpc.kuleuven.be:22</a:t>
              </a:r>
              <a:br>
                <a:rPr lang="en-US" dirty="0"/>
              </a:br>
              <a:r>
                <a:rPr lang="en-US" dirty="0"/>
                <a:t>Recommended to use an </a:t>
              </a:r>
              <a:r>
                <a:rPr lang="en-US" dirty="0">
                  <a:hlinkClick r:id="rId6"/>
                </a:rPr>
                <a:t>SSH agent</a:t>
              </a:r>
              <a:endParaRPr lang="en-US" dirty="0"/>
            </a:p>
            <a:p>
              <a:pPr marL="324000" indent="-324000">
                <a:buClr>
                  <a:srgbClr val="DB6C30"/>
                </a:buClr>
                <a:buFont typeface="Wingdings" panose="05000000000000000000" pitchFamily="2" charset="2"/>
                <a:buChar char="q"/>
              </a:pPr>
              <a:r>
                <a:rPr lang="en-US" dirty="0"/>
                <a:t>Can open GUIs if X11 forwarding is enabled</a:t>
              </a:r>
            </a:p>
          </p:txBody>
        </p:sp>
        <p:sp>
          <p:nvSpPr>
            <p:cNvPr id="6" name="Rectangle 5"/>
            <p:cNvSpPr/>
            <p:nvPr/>
          </p:nvSpPr>
          <p:spPr>
            <a:xfrm>
              <a:off x="3692112" y="964811"/>
              <a:ext cx="2215450"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client</a:t>
              </a:r>
              <a:endParaRPr lang="nl-BE" dirty="0"/>
            </a:p>
          </p:txBody>
        </p:sp>
      </p:gr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46</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login?</a:t>
            </a:r>
          </a:p>
        </p:txBody>
      </p:sp>
      <p:grpSp>
        <p:nvGrpSpPr>
          <p:cNvPr id="8" name="Group 7">
            <a:extLst>
              <a:ext uri="{FF2B5EF4-FFF2-40B4-BE49-F238E27FC236}">
                <a16:creationId xmlns:a16="http://schemas.microsoft.com/office/drawing/2014/main" id="{0D2995CF-4205-9B2E-5C21-148811C95B6E}"/>
              </a:ext>
            </a:extLst>
          </p:cNvPr>
          <p:cNvGrpSpPr/>
          <p:nvPr/>
        </p:nvGrpSpPr>
        <p:grpSpPr>
          <a:xfrm>
            <a:off x="872401" y="1477251"/>
            <a:ext cx="4727928" cy="2599821"/>
            <a:chOff x="720001" y="964811"/>
            <a:chExt cx="5015961" cy="2766987"/>
          </a:xfrm>
        </p:grpSpPr>
        <p:sp>
          <p:nvSpPr>
            <p:cNvPr id="10" name="Content Placeholder 2">
              <a:extLst>
                <a:ext uri="{FF2B5EF4-FFF2-40B4-BE49-F238E27FC236}">
                  <a16:creationId xmlns:a16="http://schemas.microsoft.com/office/drawing/2014/main" id="{70B81D1F-CF2E-A4F9-8EA3-655B76D8720B}"/>
                </a:ext>
              </a:extLst>
            </p:cNvPr>
            <p:cNvSpPr txBox="1">
              <a:spLocks/>
            </p:cNvSpPr>
            <p:nvPr/>
          </p:nvSpPr>
          <p:spPr>
            <a:xfrm>
              <a:off x="720001" y="1377264"/>
              <a:ext cx="5015960" cy="2354534"/>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Web-based login via your browser</a:t>
              </a:r>
            </a:p>
            <a:p>
              <a:pPr marL="324000" indent="-324000">
                <a:buClr>
                  <a:srgbClr val="DB6C30"/>
                </a:buClr>
                <a:buFont typeface="Wingdings" panose="05000000000000000000" pitchFamily="2" charset="2"/>
                <a:buChar char="q"/>
              </a:pPr>
              <a:r>
                <a:rPr lang="en-US" dirty="0">
                  <a:hlinkClick r:id="rId7"/>
                </a:rPr>
                <a:t>https://ondemand.hpc.kuleuven.be</a:t>
              </a:r>
              <a:endParaRPr lang="en-US" dirty="0"/>
            </a:p>
            <a:p>
              <a:pPr marL="324000" indent="-324000">
                <a:buClr>
                  <a:srgbClr val="DB6C30"/>
                </a:buClr>
                <a:buFont typeface="Wingdings" panose="05000000000000000000" pitchFamily="2" charset="2"/>
                <a:buChar char="q"/>
              </a:pPr>
              <a:r>
                <a:rPr lang="en-US" dirty="0"/>
                <a:t>Multi-Factor Authentication (MFA):</a:t>
              </a:r>
              <a:br>
                <a:rPr lang="en-US" dirty="0"/>
              </a:br>
              <a:r>
                <a:rPr lang="en-US" dirty="0"/>
                <a:t>Login through your institute’s IDP</a:t>
              </a:r>
            </a:p>
            <a:p>
              <a:pPr marL="324000" indent="-324000">
                <a:buClr>
                  <a:srgbClr val="DB6C30"/>
                </a:buClr>
                <a:buFont typeface="Wingdings" panose="05000000000000000000" pitchFamily="2" charset="2"/>
                <a:buChar char="q"/>
              </a:pPr>
              <a:r>
                <a:rPr lang="en-US" dirty="0"/>
                <a:t>No SSH key needed</a:t>
              </a:r>
            </a:p>
          </p:txBody>
        </p:sp>
        <p:sp>
          <p:nvSpPr>
            <p:cNvPr id="12" name="Rectangle 11">
              <a:extLst>
                <a:ext uri="{FF2B5EF4-FFF2-40B4-BE49-F238E27FC236}">
                  <a16:creationId xmlns:a16="http://schemas.microsoft.com/office/drawing/2014/main" id="{25C4F6E6-1270-AD0C-C70D-ECA907A492FF}"/>
                </a:ext>
              </a:extLst>
            </p:cNvPr>
            <p:cNvSpPr/>
            <p:nvPr/>
          </p:nvSpPr>
          <p:spPr>
            <a:xfrm>
              <a:off x="3520512" y="964811"/>
              <a:ext cx="2215450"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Open OnDemand</a:t>
              </a:r>
              <a:endParaRPr lang="nl-BE" dirty="0"/>
            </a:p>
          </p:txBody>
        </p:sp>
      </p:grpSp>
    </p:spTree>
    <p:custDataLst>
      <p:tags r:id="rId1"/>
    </p:custDataLst>
    <p:extLst>
      <p:ext uri="{BB962C8B-B14F-4D97-AF65-F5344CB8AC3E}">
        <p14:creationId xmlns:p14="http://schemas.microsoft.com/office/powerpoint/2010/main" val="1324385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6C9836A-501B-4430-9DDF-90DC89DF6693}"/>
              </a:ext>
            </a:extLst>
          </p:cNvPr>
          <p:cNvGrpSpPr/>
          <p:nvPr/>
        </p:nvGrpSpPr>
        <p:grpSpPr>
          <a:xfrm>
            <a:off x="720000" y="4855239"/>
            <a:ext cx="9696479" cy="1306583"/>
            <a:chOff x="720000" y="4855239"/>
            <a:chExt cx="9696479" cy="1306583"/>
          </a:xfrm>
        </p:grpSpPr>
        <p:sp>
          <p:nvSpPr>
            <p:cNvPr id="2" name="TextBox 1"/>
            <p:cNvSpPr txBox="1"/>
            <p:nvPr/>
          </p:nvSpPr>
          <p:spPr>
            <a:xfrm>
              <a:off x="720000" y="4869160"/>
              <a:ext cx="9696479" cy="1292662"/>
            </a:xfrm>
            <a:prstGeom prst="rect">
              <a:avLst/>
            </a:prstGeom>
            <a:noFill/>
            <a:ln w="19050">
              <a:solidFill>
                <a:srgbClr val="FF0000"/>
              </a:solidFill>
            </a:ln>
          </p:spPr>
          <p:txBody>
            <a:bodyPr wrap="square" rtlCol="0">
              <a:spAutoFit/>
            </a:bodyPr>
            <a:lstStyle/>
            <a:p>
              <a:r>
                <a:rPr lang="en-US" sz="2400" b="1" dirty="0">
                  <a:solidFill>
                    <a:srgbClr val="FF0000"/>
                  </a:solidFill>
                </a:rPr>
                <a:t>Do NOT execute CPU- or memory-intensive tasks here</a:t>
              </a:r>
            </a:p>
            <a:p>
              <a:r>
                <a:rPr lang="en-US" dirty="0"/>
                <a:t>Login nodes are shared resources </a:t>
              </a:r>
            </a:p>
            <a:p>
              <a:r>
                <a:rPr lang="en-US" dirty="0"/>
                <a:t>Submit jobs instead (you can e.g. compile software on compute nodes via an interactive job)</a:t>
              </a:r>
              <a:br>
                <a:rPr lang="en-US" dirty="0"/>
              </a:br>
              <a:r>
                <a:rPr lang="en-US" dirty="0"/>
                <a:t>Use </a:t>
              </a:r>
              <a:r>
                <a:rPr lang="en-US" dirty="0" err="1">
                  <a:latin typeface="Courier New" panose="02070309020205020404" pitchFamily="49" charset="0"/>
                  <a:cs typeface="Courier New" panose="02070309020205020404" pitchFamily="49" charset="0"/>
                </a:rPr>
                <a:t>slurmtop</a:t>
              </a:r>
              <a:r>
                <a:rPr lang="en-US" dirty="0">
                  <a:latin typeface="Courier New" panose="02070309020205020404" pitchFamily="49" charset="0"/>
                  <a:cs typeface="Courier New" panose="02070309020205020404" pitchFamily="49" charset="0"/>
                </a:rPr>
                <a:t> </a:t>
              </a:r>
              <a:r>
                <a:rPr lang="en-US" dirty="0"/>
                <a:t>to see how busy the cluster is</a:t>
              </a:r>
            </a:p>
          </p:txBody>
        </p:sp>
        <p:sp>
          <p:nvSpPr>
            <p:cNvPr id="5" name="Rectangle 4"/>
            <p:cNvSpPr/>
            <p:nvPr/>
          </p:nvSpPr>
          <p:spPr>
            <a:xfrm>
              <a:off x="8472264" y="4855239"/>
              <a:ext cx="1944215" cy="412453"/>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Warning</a:t>
              </a:r>
              <a:endParaRPr lang="nl-BE" b="1" dirty="0"/>
            </a:p>
          </p:txBody>
        </p:sp>
      </p:grpSp>
      <p:grpSp>
        <p:nvGrpSpPr>
          <p:cNvPr id="7" name="Group 6">
            <a:extLst>
              <a:ext uri="{FF2B5EF4-FFF2-40B4-BE49-F238E27FC236}">
                <a16:creationId xmlns:a16="http://schemas.microsoft.com/office/drawing/2014/main" id="{49FA9E7D-DE9D-29F9-5B75-73038D4F44AF}"/>
              </a:ext>
            </a:extLst>
          </p:cNvPr>
          <p:cNvGrpSpPr/>
          <p:nvPr/>
        </p:nvGrpSpPr>
        <p:grpSpPr>
          <a:xfrm>
            <a:off x="720000" y="1377264"/>
            <a:ext cx="9696479" cy="3347880"/>
            <a:chOff x="720000" y="1377264"/>
            <a:chExt cx="9696479" cy="3347880"/>
          </a:xfrm>
        </p:grpSpPr>
        <p:sp>
          <p:nvSpPr>
            <p:cNvPr id="4" name="Content Placeholder 2"/>
            <p:cNvSpPr txBox="1">
              <a:spLocks/>
            </p:cNvSpPr>
            <p:nvPr/>
          </p:nvSpPr>
          <p:spPr>
            <a:xfrm>
              <a:off x="720000" y="1377264"/>
              <a:ext cx="9696479" cy="3347880"/>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To develop code</a:t>
              </a:r>
            </a:p>
            <a:p>
              <a:pPr marL="324000" indent="-324000">
                <a:buClr>
                  <a:srgbClr val="DB6C30"/>
                </a:buClr>
                <a:buFont typeface="Wingdings" panose="05000000000000000000" pitchFamily="2" charset="2"/>
                <a:buChar char="q"/>
              </a:pPr>
              <a:r>
                <a:rPr lang="en-US" dirty="0"/>
                <a:t>To check your storage and credit balance</a:t>
              </a:r>
            </a:p>
            <a:p>
              <a:pPr marL="324000" indent="-324000">
                <a:buClr>
                  <a:srgbClr val="DB6C30"/>
                </a:buClr>
                <a:buFont typeface="Wingdings" panose="05000000000000000000" pitchFamily="2" charset="2"/>
                <a:buChar char="q"/>
              </a:pPr>
              <a:r>
                <a:rPr lang="en-US" dirty="0"/>
                <a:t>To manage jobs (submit, check status, debug, resubmit, …)</a:t>
              </a:r>
            </a:p>
            <a:p>
              <a:pPr marL="324000" indent="-324000">
                <a:buClr>
                  <a:srgbClr val="DB6C30"/>
                </a:buClr>
                <a:buFont typeface="Wingdings" panose="05000000000000000000" pitchFamily="2" charset="2"/>
                <a:buChar char="q"/>
              </a:pPr>
              <a:r>
                <a:rPr lang="en-US" dirty="0"/>
                <a:t>To move data around</a:t>
              </a:r>
            </a:p>
            <a:p>
              <a:pPr lvl="1">
                <a:buClr>
                  <a:srgbClr val="DB6C30"/>
                </a:buClr>
                <a:buFont typeface="Wingdings" panose="05000000000000000000" pitchFamily="2" charset="2"/>
                <a:buChar char="§"/>
              </a:pPr>
              <a:r>
                <a:rPr lang="en-US" dirty="0"/>
                <a:t>within VSC: use data, scratch, staging</a:t>
              </a:r>
              <a:endParaRPr lang="nl-BE" dirty="0"/>
            </a:p>
            <a:p>
              <a:pPr lvl="1">
                <a:buClr>
                  <a:srgbClr val="DB6C30"/>
                </a:buClr>
                <a:buFont typeface="Wingdings" panose="05000000000000000000" pitchFamily="2" charset="2"/>
                <a:buChar char="§"/>
              </a:pPr>
              <a:r>
                <a:rPr lang="nl-BE" dirty="0" err="1"/>
                <a:t>outside</a:t>
              </a:r>
              <a:r>
                <a:rPr lang="nl-BE" dirty="0"/>
                <a:t> VSC: copy/sync </a:t>
              </a:r>
              <a:r>
                <a:rPr lang="nl-BE" dirty="0" err="1"/>
                <a:t>from</a:t>
              </a:r>
              <a:r>
                <a:rPr lang="nl-BE" dirty="0"/>
                <a:t>/</a:t>
              </a:r>
              <a:r>
                <a:rPr lang="nl-BE" dirty="0" err="1"/>
                <a:t>to</a:t>
              </a:r>
              <a:r>
                <a:rPr lang="nl-BE" dirty="0"/>
                <a:t> </a:t>
              </a:r>
              <a:r>
                <a:rPr lang="nl-BE" dirty="0" err="1"/>
                <a:t>your</a:t>
              </a:r>
              <a:r>
                <a:rPr lang="nl-BE" dirty="0"/>
                <a:t> </a:t>
              </a:r>
              <a:r>
                <a:rPr lang="nl-BE" dirty="0" err="1"/>
                <a:t>local</a:t>
              </a:r>
              <a:r>
                <a:rPr lang="nl-BE" dirty="0"/>
                <a:t> storage (e.g. Globus)</a:t>
              </a:r>
            </a:p>
            <a:p>
              <a:pPr marL="324000" indent="-324000">
                <a:buClr>
                  <a:srgbClr val="DB6C30"/>
                </a:buClr>
                <a:buFont typeface="Wingdings" panose="05000000000000000000" pitchFamily="2" charset="2"/>
                <a:buChar char="q"/>
              </a:pPr>
              <a:r>
                <a:rPr lang="nl-BE" dirty="0" err="1"/>
                <a:t>To</a:t>
              </a:r>
              <a:r>
                <a:rPr lang="nl-BE" dirty="0"/>
                <a:t> pre- or </a:t>
              </a:r>
              <a:r>
                <a:rPr lang="nl-BE" dirty="0" err="1"/>
                <a:t>postprocess</a:t>
              </a:r>
              <a:r>
                <a:rPr lang="nl-BE" dirty="0"/>
                <a:t> </a:t>
              </a:r>
              <a:r>
                <a:rPr lang="nl-BE" dirty="0" err="1"/>
                <a:t>your</a:t>
              </a:r>
              <a:r>
                <a:rPr lang="nl-BE" dirty="0"/>
                <a:t> data</a:t>
              </a:r>
            </a:p>
            <a:p>
              <a:pPr marL="324000" indent="-324000">
                <a:buClr>
                  <a:srgbClr val="DB6C30"/>
                </a:buClr>
                <a:buFont typeface="Wingdings" panose="05000000000000000000" pitchFamily="2" charset="2"/>
                <a:buChar char="q"/>
              </a:pPr>
              <a:r>
                <a:rPr lang="en-US" dirty="0"/>
                <a:t>To visualize your data</a:t>
              </a:r>
            </a:p>
            <a:p>
              <a:pPr marL="324000" indent="-324000">
                <a:buClr>
                  <a:srgbClr val="DB6C30"/>
                </a:buClr>
                <a:buFont typeface="Wingdings" panose="05000000000000000000" pitchFamily="2" charset="2"/>
                <a:buChar char="q"/>
              </a:pPr>
              <a:r>
                <a:rPr lang="en-US" dirty="0"/>
                <a:t>To share files and folders</a:t>
              </a:r>
            </a:p>
          </p:txBody>
        </p:sp>
        <p:sp>
          <p:nvSpPr>
            <p:cNvPr id="6" name="Rectangle 5"/>
            <p:cNvSpPr/>
            <p:nvPr/>
          </p:nvSpPr>
          <p:spPr>
            <a:xfrm>
              <a:off x="8472263" y="1377264"/>
              <a:ext cx="1944215"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Tips</a:t>
              </a:r>
              <a:endParaRPr lang="nl-BE" dirty="0"/>
            </a:p>
          </p:txBody>
        </p:sp>
      </p:gr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47</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Using the login nodes</a:t>
            </a:r>
          </a:p>
        </p:txBody>
      </p:sp>
    </p:spTree>
    <p:custDataLst>
      <p:tags r:id="rId1"/>
    </p:custDataLst>
    <p:extLst>
      <p:ext uri="{BB962C8B-B14F-4D97-AF65-F5344CB8AC3E}">
        <p14:creationId xmlns:p14="http://schemas.microsoft.com/office/powerpoint/2010/main" val="2292023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5967834" y="1771989"/>
            <a:ext cx="5867510" cy="3819028"/>
            <a:chOff x="6816080" y="3074222"/>
            <a:chExt cx="5867510" cy="3819028"/>
          </a:xfrm>
        </p:grpSpPr>
        <p:grpSp>
          <p:nvGrpSpPr>
            <p:cNvPr id="65" name="Group 64"/>
            <p:cNvGrpSpPr/>
            <p:nvPr/>
          </p:nvGrpSpPr>
          <p:grpSpPr>
            <a:xfrm>
              <a:off x="6816080" y="3074222"/>
              <a:ext cx="5867510" cy="3819028"/>
              <a:chOff x="5886815" y="1889051"/>
              <a:chExt cx="5867510" cy="3819028"/>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86815" y="1889051"/>
                <a:ext cx="5867510" cy="3819028"/>
              </a:xfrm>
              <a:prstGeom prst="rect">
                <a:avLst/>
              </a:prstGeom>
              <a:ln>
                <a:noFill/>
              </a:ln>
              <a:effectLst>
                <a:outerShdw blurRad="292100" dist="139700" dir="2700000" algn="tl" rotWithShape="0">
                  <a:srgbClr val="333333">
                    <a:alpha val="65000"/>
                  </a:srgbClr>
                </a:outerShdw>
              </a:effectLst>
            </p:spPr>
          </p:pic>
          <p:sp>
            <p:nvSpPr>
              <p:cNvPr id="19" name="Rectangle 18"/>
              <p:cNvSpPr/>
              <p:nvPr/>
            </p:nvSpPr>
            <p:spPr>
              <a:xfrm>
                <a:off x="6314762" y="3216429"/>
                <a:ext cx="831314" cy="152318"/>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Rectangle 60"/>
              <p:cNvSpPr/>
              <p:nvPr/>
            </p:nvSpPr>
            <p:spPr>
              <a:xfrm>
                <a:off x="8308800" y="3218400"/>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ectangle 61"/>
              <p:cNvSpPr/>
              <p:nvPr/>
            </p:nvSpPr>
            <p:spPr>
              <a:xfrm>
                <a:off x="8154764" y="3074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Rectangle 62"/>
              <p:cNvSpPr/>
              <p:nvPr/>
            </p:nvSpPr>
            <p:spPr>
              <a:xfrm>
                <a:off x="6930000" y="3074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p:cNvSpPr/>
              <p:nvPr/>
            </p:nvSpPr>
            <p:spPr>
              <a:xfrm>
                <a:off x="7642660" y="3056499"/>
                <a:ext cx="2520280" cy="152318"/>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0" name="Rectangle 39"/>
            <p:cNvSpPr/>
            <p:nvPr/>
          </p:nvSpPr>
          <p:spPr>
            <a:xfrm>
              <a:off x="7920000" y="3151183"/>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Rectangle 44"/>
            <p:cNvSpPr/>
            <p:nvPr/>
          </p:nvSpPr>
          <p:spPr>
            <a:xfrm>
              <a:off x="9187200" y="3151183"/>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 name="Group 2"/>
          <p:cNvGrpSpPr/>
          <p:nvPr/>
        </p:nvGrpSpPr>
        <p:grpSpPr>
          <a:xfrm>
            <a:off x="5967571" y="1769016"/>
            <a:ext cx="5867773" cy="4596606"/>
            <a:chOff x="5884625" y="1889051"/>
            <a:chExt cx="5867773" cy="4596606"/>
          </a:xfrm>
        </p:grpSpPr>
        <p:grpSp>
          <p:nvGrpSpPr>
            <p:cNvPr id="67" name="Group 66"/>
            <p:cNvGrpSpPr/>
            <p:nvPr/>
          </p:nvGrpSpPr>
          <p:grpSpPr>
            <a:xfrm>
              <a:off x="5884625" y="1889051"/>
              <a:ext cx="5867773" cy="4596606"/>
              <a:chOff x="5884625" y="1889051"/>
              <a:chExt cx="5867773" cy="4596606"/>
            </a:xfrm>
          </p:grpSpPr>
          <p:grpSp>
            <p:nvGrpSpPr>
              <p:cNvPr id="60" name="Group 59"/>
              <p:cNvGrpSpPr/>
              <p:nvPr/>
            </p:nvGrpSpPr>
            <p:grpSpPr>
              <a:xfrm>
                <a:off x="5884625" y="1889051"/>
                <a:ext cx="5867773" cy="4596606"/>
                <a:chOff x="5884625" y="1889051"/>
                <a:chExt cx="5867773" cy="4596606"/>
              </a:xfrm>
            </p:grpSpPr>
            <p:grpSp>
              <p:nvGrpSpPr>
                <p:cNvPr id="28" name="Group 27"/>
                <p:cNvGrpSpPr/>
                <p:nvPr/>
              </p:nvGrpSpPr>
              <p:grpSpPr>
                <a:xfrm>
                  <a:off x="5884625" y="1889051"/>
                  <a:ext cx="5867773" cy="4596606"/>
                  <a:chOff x="5884625" y="1889051"/>
                  <a:chExt cx="5867773" cy="4596606"/>
                </a:xfrm>
              </p:grpSpPr>
              <p:grpSp>
                <p:nvGrpSpPr>
                  <p:cNvPr id="17" name="Group 16"/>
                  <p:cNvGrpSpPr/>
                  <p:nvPr/>
                </p:nvGrpSpPr>
                <p:grpSpPr>
                  <a:xfrm>
                    <a:off x="5884625" y="1889051"/>
                    <a:ext cx="5867773" cy="3816424"/>
                    <a:chOff x="5844851" y="2420888"/>
                    <a:chExt cx="5891932" cy="3834924"/>
                  </a:xfrm>
                </p:grpSpPr>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4851" y="2420888"/>
                      <a:ext cx="5891932" cy="3834924"/>
                    </a:xfrm>
                    <a:prstGeom prst="rect">
                      <a:avLst/>
                    </a:prstGeom>
                    <a:ln>
                      <a:noFill/>
                    </a:ln>
                    <a:effectLst>
                      <a:outerShdw blurRad="292100" dist="139700" dir="2700000" algn="tl" rotWithShape="0">
                        <a:srgbClr val="333333">
                          <a:alpha val="65000"/>
                        </a:srgbClr>
                      </a:outerShdw>
                    </a:effectLst>
                  </p:spPr>
                </p:pic>
                <p:sp>
                  <p:nvSpPr>
                    <p:cNvPr id="16" name="Rectangle 15"/>
                    <p:cNvSpPr/>
                    <p:nvPr/>
                  </p:nvSpPr>
                  <p:spPr>
                    <a:xfrm>
                      <a:off x="6731863" y="4019775"/>
                      <a:ext cx="3607592" cy="162785"/>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22" name="Picture 21"/>
                  <p:cNvPicPr>
                    <a:picLocks noChangeAspect="1"/>
                  </p:cNvPicPr>
                  <p:nvPr/>
                </p:nvPicPr>
                <p:blipFill>
                  <a:blip r:embed="rId5"/>
                  <a:stretch>
                    <a:fillRect/>
                  </a:stretch>
                </p:blipFill>
                <p:spPr>
                  <a:xfrm>
                    <a:off x="6347151" y="3798413"/>
                    <a:ext cx="3675200" cy="2687244"/>
                  </a:xfrm>
                  <a:prstGeom prst="rect">
                    <a:avLst/>
                  </a:prstGeom>
                </p:spPr>
              </p:pic>
              <p:sp>
                <p:nvSpPr>
                  <p:cNvPr id="27" name="Curved Left Arrow 26"/>
                  <p:cNvSpPr/>
                  <p:nvPr/>
                </p:nvSpPr>
                <p:spPr>
                  <a:xfrm rot="1545085">
                    <a:off x="10245967" y="3819514"/>
                    <a:ext cx="642014" cy="1019209"/>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sp>
              <p:nvSpPr>
                <p:cNvPr id="56" name="Rectangle 55"/>
                <p:cNvSpPr/>
                <p:nvPr/>
              </p:nvSpPr>
              <p:spPr>
                <a:xfrm>
                  <a:off x="8308800" y="3219938"/>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Rectangle 56"/>
                <p:cNvSpPr/>
                <p:nvPr/>
              </p:nvSpPr>
              <p:spPr>
                <a:xfrm>
                  <a:off x="8154764" y="3073856"/>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Rectangle 57"/>
                <p:cNvSpPr/>
                <p:nvPr/>
              </p:nvSpPr>
              <p:spPr>
                <a:xfrm>
                  <a:off x="6930000" y="3073856"/>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Rectangle 58"/>
                <p:cNvSpPr/>
                <p:nvPr/>
              </p:nvSpPr>
              <p:spPr>
                <a:xfrm>
                  <a:off x="6145163" y="3362531"/>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66" name="Rectangle 65"/>
              <p:cNvSpPr/>
              <p:nvPr/>
            </p:nvSpPr>
            <p:spPr>
              <a:xfrm>
                <a:off x="7754400" y="5673600"/>
                <a:ext cx="270000" cy="104400"/>
              </a:xfrm>
              <a:prstGeom prst="rect">
                <a:avLst/>
              </a:prstGeom>
              <a:solidFill>
                <a:srgbClr val="64584E"/>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7" name="Rectangle 36"/>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37"/>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9" name="Content Placeholder 8"/>
          <p:cNvSpPr>
            <a:spLocks noGrp="1"/>
          </p:cNvSpPr>
          <p:nvPr>
            <p:ph idx="1"/>
          </p:nvPr>
        </p:nvSpPr>
        <p:spPr>
          <a:xfrm>
            <a:off x="720000" y="1772816"/>
            <a:ext cx="4986741" cy="2174696"/>
          </a:xfrm>
        </p:spPr>
        <p:txBody>
          <a:bodyPr/>
          <a:lstStyle/>
          <a:p>
            <a:pPr marL="324000" indent="-324000">
              <a:buBlip>
                <a:blip r:embed="rId6"/>
              </a:buBlip>
            </a:pPr>
            <a:r>
              <a:rPr lang="en-US" sz="2200" dirty="0"/>
              <a:t>Use ssh to connect:</a:t>
            </a:r>
            <a:br>
              <a:rPr lang="en-US" dirty="0"/>
            </a:br>
            <a:r>
              <a:rPr lang="en-US" sz="2000" dirty="0">
                <a:latin typeface="Courier New" panose="02070309020205020404" pitchFamily="49" charset="0"/>
                <a:cs typeface="Courier New" panose="02070309020205020404" pitchFamily="49" charset="0"/>
              </a:rPr>
              <a:t>$ ssh -A vscXXXXX@&lt;host_name&gt;</a:t>
            </a:r>
            <a:endParaRPr lang="en-US" dirty="0"/>
          </a:p>
          <a:p>
            <a:pPr marL="324000" indent="-324000">
              <a:buBlip>
                <a:blip r:embed="rId6"/>
              </a:buBlip>
            </a:pPr>
            <a:r>
              <a:rPr lang="en-US" sz="2200" dirty="0"/>
              <a:t>If key not found:</a:t>
            </a: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ssh</a:t>
            </a:r>
            <a:r>
              <a:rPr lang="en-US" sz="1800" dirty="0">
                <a:latin typeface="Courier New" panose="02070309020205020404" pitchFamily="49" charset="0"/>
                <a:cs typeface="Courier New" panose="02070309020205020404" pitchFamily="49" charset="0"/>
              </a:rPr>
              <a:t> </a:t>
            </a:r>
            <a:r>
              <a:rPr lang="en-US" sz="1800" b="1" dirty="0">
                <a:latin typeface="Courier New" panose="02070309020205020404" pitchFamily="49" charset="0"/>
                <a:cs typeface="Courier New" panose="02070309020205020404" pitchFamily="49" charset="0"/>
              </a:rPr>
              <a:t>-</a:t>
            </a:r>
            <a:r>
              <a:rPr lang="en-US" sz="1800" b="1" dirty="0" err="1">
                <a:latin typeface="Courier New" panose="02070309020205020404" pitchFamily="49" charset="0"/>
                <a:cs typeface="Courier New" panose="02070309020205020404" pitchFamily="49" charset="0"/>
              </a:rPr>
              <a:t>i</a:t>
            </a:r>
            <a:r>
              <a:rPr lang="en-US" sz="1800" b="1" dirty="0">
                <a:latin typeface="Courier New" panose="02070309020205020404" pitchFamily="49" charset="0"/>
                <a:cs typeface="Courier New" panose="02070309020205020404" pitchFamily="49" charset="0"/>
              </a:rPr>
              <a:t> &lt;/path/to/</a:t>
            </a:r>
            <a:r>
              <a:rPr lang="en-US" sz="1800" b="1" dirty="0" err="1">
                <a:latin typeface="Courier New" panose="02070309020205020404" pitchFamily="49" charset="0"/>
                <a:cs typeface="Courier New" panose="02070309020205020404" pitchFamily="49" charset="0"/>
              </a:rPr>
              <a:t>keyfile</a:t>
            </a:r>
            <a:r>
              <a:rPr lang="en-US" sz="1800" b="1" dirty="0">
                <a:latin typeface="Courier New" panose="02070309020205020404" pitchFamily="49" charset="0"/>
                <a:cs typeface="Courier New" panose="02070309020205020404" pitchFamily="49" charset="0"/>
              </a:rPr>
              <a:t>&gt; </a:t>
            </a:r>
            <a:r>
              <a:rPr lang="en-US" sz="1800" dirty="0">
                <a:latin typeface="Courier New" panose="02070309020205020404" pitchFamily="49" charset="0"/>
                <a:cs typeface="Courier New" panose="02070309020205020404" pitchFamily="49" charset="0"/>
              </a:rPr>
              <a:t>...</a:t>
            </a:r>
            <a:endParaRPr lang="nl-BE" sz="1800" dirty="0">
              <a:latin typeface="Courier New" panose="02070309020205020404" pitchFamily="49" charset="0"/>
              <a:cs typeface="Courier New" panose="02070309020205020404" pitchFamily="49" charset="0"/>
            </a:endParaRPr>
          </a:p>
          <a:p>
            <a:pPr marL="0" indent="0">
              <a:buNone/>
            </a:pPr>
            <a:br>
              <a:rPr lang="en-US" dirty="0"/>
            </a:br>
            <a:br>
              <a:rPr lang="en-US" dirty="0">
                <a:latin typeface="Courier New" panose="02070309020205020404" pitchFamily="49" charset="0"/>
                <a:cs typeface="Courier New" panose="02070309020205020404" pitchFamily="49" charset="0"/>
              </a:rPr>
            </a:br>
            <a:endParaRPr lang="nl-BE" dirty="0">
              <a:latin typeface="Courier New" panose="02070309020205020404" pitchFamily="49" charset="0"/>
              <a:cs typeface="Courier New" panose="02070309020205020404" pitchFamily="49" charset="0"/>
            </a:endParaRPr>
          </a:p>
        </p:txBody>
      </p:sp>
      <p:sp>
        <p:nvSpPr>
          <p:cNvPr id="15" name="TextBox 14"/>
          <p:cNvSpPr txBox="1"/>
          <p:nvPr/>
        </p:nvSpPr>
        <p:spPr>
          <a:xfrm>
            <a:off x="670532" y="4006337"/>
            <a:ext cx="4029518" cy="1785104"/>
          </a:xfrm>
          <a:prstGeom prst="rect">
            <a:avLst/>
          </a:prstGeom>
          <a:noFill/>
          <a:ln w="19050">
            <a:solidFill>
              <a:srgbClr val="FF0000"/>
            </a:solidFill>
          </a:ln>
        </p:spPr>
        <p:txBody>
          <a:bodyPr wrap="square" rtlCol="0">
            <a:spAutoFit/>
          </a:bodyPr>
          <a:lstStyle/>
          <a:p>
            <a:r>
              <a:rPr lang="en-US" sz="2200" dirty="0"/>
              <a:t>If asked for </a:t>
            </a:r>
            <a:r>
              <a:rPr lang="en-US" sz="2200" b="1" dirty="0">
                <a:solidFill>
                  <a:srgbClr val="FF0000"/>
                </a:solidFill>
              </a:rPr>
              <a:t>password</a:t>
            </a:r>
            <a:r>
              <a:rPr lang="en-US" sz="2200" dirty="0"/>
              <a:t>, please stop connecting and contact support, otherwise after a few attempts you will be blocked for 24h.</a:t>
            </a:r>
          </a:p>
        </p:txBody>
      </p:sp>
      <p:sp>
        <p:nvSpPr>
          <p:cNvPr id="20" name="TextBox 19"/>
          <p:cNvSpPr txBox="1"/>
          <p:nvPr/>
        </p:nvSpPr>
        <p:spPr>
          <a:xfrm>
            <a:off x="6240016" y="508583"/>
            <a:ext cx="5536176" cy="1077218"/>
          </a:xfrm>
          <a:prstGeom prst="rect">
            <a:avLst/>
          </a:prstGeom>
          <a:noFill/>
          <a:ln w="19050">
            <a:solidFill>
              <a:schemeClr val="accent5"/>
            </a:solidFill>
          </a:ln>
        </p:spPr>
        <p:txBody>
          <a:bodyPr wrap="square" rtlCol="0">
            <a:spAutoFit/>
          </a:bodyPr>
          <a:lstStyle/>
          <a:p>
            <a:r>
              <a:rPr lang="en-US" sz="3200" b="1" dirty="0"/>
              <a:t>Hostname: </a:t>
            </a:r>
            <a:r>
              <a:rPr lang="en-US" sz="3200" b="1" dirty="0">
                <a:latin typeface="Courier New" panose="02070309020205020404" pitchFamily="49" charset="0"/>
                <a:cs typeface="Courier New" panose="02070309020205020404" pitchFamily="49" charset="0"/>
              </a:rPr>
              <a:t>login.hpc.kuleuven.be</a:t>
            </a:r>
            <a:endParaRPr lang="nl-BE" sz="3200" b="1" dirty="0"/>
          </a:p>
        </p:txBody>
      </p:sp>
      <p:sp>
        <p:nvSpPr>
          <p:cNvPr id="26" name="Slide Number Placeholder 4"/>
          <p:cNvSpPr>
            <a:spLocks noGrp="1"/>
          </p:cNvSpPr>
          <p:nvPr>
            <p:ph type="sldNum" sz="quarter" idx="12"/>
          </p:nvPr>
        </p:nvSpPr>
        <p:spPr>
          <a:xfrm>
            <a:off x="5844851" y="6384346"/>
            <a:ext cx="502300" cy="365125"/>
          </a:xfrm>
        </p:spPr>
        <p:txBody>
          <a:bodyPr/>
          <a:lstStyle/>
          <a:p>
            <a:fld id="{F35D8031-C8E5-48F8-A3B6-81643B27A3AF}" type="slidenum">
              <a:rPr lang="nl-BE" smtClean="0"/>
              <a:pPr/>
              <a:t>48</a:t>
            </a:fld>
            <a:endParaRPr lang="nl-BE" dirty="0"/>
          </a:p>
        </p:txBody>
      </p:sp>
      <p:grpSp>
        <p:nvGrpSpPr>
          <p:cNvPr id="2" name="Group 1"/>
          <p:cNvGrpSpPr/>
          <p:nvPr/>
        </p:nvGrpSpPr>
        <p:grpSpPr>
          <a:xfrm>
            <a:off x="5963455" y="1771989"/>
            <a:ext cx="5871889" cy="3960950"/>
            <a:chOff x="5884625" y="1894163"/>
            <a:chExt cx="5871889" cy="3960950"/>
          </a:xfrm>
        </p:grpSpPr>
        <p:grpSp>
          <p:nvGrpSpPr>
            <p:cNvPr id="47" name="Group 46"/>
            <p:cNvGrpSpPr/>
            <p:nvPr/>
          </p:nvGrpSpPr>
          <p:grpSpPr>
            <a:xfrm>
              <a:off x="5884625" y="1894163"/>
              <a:ext cx="5871889" cy="3960950"/>
              <a:chOff x="5884625" y="1894163"/>
              <a:chExt cx="5871889" cy="3960950"/>
            </a:xfrm>
          </p:grpSpPr>
          <p:pic>
            <p:nvPicPr>
              <p:cNvPr id="11" name="Picture 10"/>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884625" y="1894163"/>
                <a:ext cx="5871889" cy="3960950"/>
              </a:xfrm>
              <a:prstGeom prst="rect">
                <a:avLst/>
              </a:prstGeom>
              <a:ln>
                <a:noFill/>
              </a:ln>
              <a:effectLst>
                <a:outerShdw blurRad="292100" dist="139700" dir="2700000" algn="tl" rotWithShape="0">
                  <a:srgbClr val="333333">
                    <a:alpha val="65000"/>
                  </a:srgbClr>
                </a:outerShdw>
              </a:effectLst>
            </p:spPr>
          </p:pic>
          <p:sp>
            <p:nvSpPr>
              <p:cNvPr id="41" name="Rectangle 40"/>
              <p:cNvSpPr/>
              <p:nvPr/>
            </p:nvSpPr>
            <p:spPr>
              <a:xfrm>
                <a:off x="8308800" y="2788482"/>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Rectangle 41"/>
              <p:cNvSpPr/>
              <p:nvPr/>
            </p:nvSpPr>
            <p:spPr>
              <a:xfrm>
                <a:off x="8154764" y="2642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Rectangle 42"/>
              <p:cNvSpPr/>
              <p:nvPr/>
            </p:nvSpPr>
            <p:spPr>
              <a:xfrm>
                <a:off x="6930000" y="2642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Rectangle 43"/>
              <p:cNvSpPr/>
              <p:nvPr/>
            </p:nvSpPr>
            <p:spPr>
              <a:xfrm>
                <a:off x="6145163" y="2931075"/>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Rectangle 45"/>
              <p:cNvSpPr/>
              <p:nvPr/>
            </p:nvSpPr>
            <p:spPr>
              <a:xfrm>
                <a:off x="7362676" y="5673657"/>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4" name="Rectangle 33"/>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50" name="Rectangle 49"/>
          <p:cNvSpPr/>
          <p:nvPr/>
        </p:nvSpPr>
        <p:spPr>
          <a:xfrm>
            <a:off x="720000" y="974355"/>
            <a:ext cx="1941557" cy="369332"/>
          </a:xfrm>
          <a:prstGeom prst="rect">
            <a:avLst/>
          </a:prstGeom>
        </p:spPr>
        <p:txBody>
          <a:bodyPr wrap="none">
            <a:spAutoFit/>
          </a:bodyPr>
          <a:lstStyle/>
          <a:p>
            <a:r>
              <a:rPr lang="en-US" b="1" dirty="0"/>
              <a:t>(Linux and Mac)</a:t>
            </a:r>
            <a:endParaRPr lang="en-US" sz="3200" b="1" dirty="0"/>
          </a:p>
        </p:txBody>
      </p:sp>
    </p:spTree>
    <p:extLst>
      <p:ext uri="{BB962C8B-B14F-4D97-AF65-F5344CB8AC3E}">
        <p14:creationId xmlns:p14="http://schemas.microsoft.com/office/powerpoint/2010/main" val="225033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p:cNvSpPr>
            <a:spLocks noGrp="1"/>
          </p:cNvSpPr>
          <p:nvPr>
            <p:ph idx="1"/>
          </p:nvPr>
        </p:nvSpPr>
        <p:spPr>
          <a:xfrm>
            <a:off x="720000" y="1743843"/>
            <a:ext cx="5272409" cy="4272816"/>
          </a:xfrm>
        </p:spPr>
        <p:txBody>
          <a:bodyPr/>
          <a:lstStyle/>
          <a:p>
            <a:pPr marL="0" indent="0">
              <a:buNone/>
            </a:pPr>
            <a:r>
              <a:rPr lang="en-US" sz="2200" b="1" dirty="0"/>
              <a:t>With an SSH agent</a:t>
            </a:r>
          </a:p>
          <a:p>
            <a:pPr>
              <a:buBlip>
                <a:blip r:embed="rId3"/>
              </a:buBlip>
            </a:pPr>
            <a:endParaRPr lang="en-US" sz="2200" dirty="0"/>
          </a:p>
          <a:p>
            <a:pPr marL="324000" indent="-324000">
              <a:buBlip>
                <a:blip r:embed="rId3"/>
              </a:buBlip>
            </a:pPr>
            <a:r>
              <a:rPr lang="en-US" sz="2200" dirty="0"/>
              <a:t>Check your SSH agent </a:t>
            </a:r>
            <a:br>
              <a:rPr lang="en-US" sz="2200" dirty="0"/>
            </a:br>
            <a:r>
              <a:rPr lang="en-US" sz="2200" dirty="0"/>
              <a:t>Is your SSH key found?</a:t>
            </a:r>
            <a:br>
              <a:rPr lang="en-US" sz="2200"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ssh</a:t>
            </a:r>
            <a:r>
              <a:rPr lang="en-US" sz="1800" dirty="0">
                <a:latin typeface="Courier New" panose="02070309020205020404" pitchFamily="49" charset="0"/>
                <a:cs typeface="Courier New" panose="02070309020205020404" pitchFamily="49" charset="0"/>
              </a:rPr>
              <a:t>-add –l</a:t>
            </a:r>
          </a:p>
          <a:p>
            <a:pPr marL="324000" indent="-324000">
              <a:buBlip>
                <a:blip r:embed="rId3"/>
              </a:buBlip>
            </a:pPr>
            <a:r>
              <a:rPr lang="en-US" sz="2200" dirty="0"/>
              <a:t>If your SSH agent is not running:</a:t>
            </a:r>
            <a:br>
              <a:rPr lang="en-US" sz="2200" dirty="0"/>
            </a:br>
            <a:r>
              <a:rPr lang="en-US" sz="1800" dirty="0">
                <a:latin typeface="Courier New" panose="02070309020205020404" pitchFamily="49" charset="0"/>
                <a:cs typeface="Courier New" panose="02070309020205020404" pitchFamily="49" charset="0"/>
              </a:rPr>
              <a:t>$ eval $(ssh-agent)</a:t>
            </a:r>
            <a:endParaRPr lang="en-US" sz="1800" dirty="0"/>
          </a:p>
          <a:p>
            <a:pPr marL="324000" indent="-324000">
              <a:buBlip>
                <a:blip r:embed="rId3"/>
              </a:buBlip>
            </a:pPr>
            <a:r>
              <a:rPr lang="en-US" sz="2200" dirty="0"/>
              <a:t>If your key is not found, </a:t>
            </a:r>
            <a:br>
              <a:rPr lang="en-US" sz="2200" dirty="0"/>
            </a:br>
            <a:r>
              <a:rPr lang="en-US" sz="2200" dirty="0"/>
              <a:t>add it to the agent:</a:t>
            </a:r>
            <a:br>
              <a:rPr lang="en-US" sz="2200" dirty="0"/>
            </a:br>
            <a:r>
              <a:rPr lang="en-US" sz="1800" dirty="0">
                <a:latin typeface="Courier New" panose="02070309020205020404" pitchFamily="49" charset="0"/>
                <a:cs typeface="Courier New" panose="02070309020205020404" pitchFamily="49" charset="0"/>
              </a:rPr>
              <a:t>$ ssh-add &lt;/path/to/</a:t>
            </a:r>
            <a:r>
              <a:rPr lang="en-US" sz="1800" dirty="0" err="1">
                <a:latin typeface="Courier New" panose="02070309020205020404" pitchFamily="49" charset="0"/>
                <a:cs typeface="Courier New" panose="02070309020205020404" pitchFamily="49" charset="0"/>
              </a:rPr>
              <a:t>keyfile</a:t>
            </a:r>
            <a:r>
              <a:rPr lang="en-US" sz="1800" dirty="0">
                <a:latin typeface="Courier New" panose="02070309020205020404" pitchFamily="49" charset="0"/>
                <a:cs typeface="Courier New" panose="02070309020205020404" pitchFamily="49" charset="0"/>
              </a:rPr>
              <a:t>&gt;</a:t>
            </a:r>
          </a:p>
          <a:p>
            <a:pPr marL="324000" indent="-324000">
              <a:buBlip>
                <a:blip r:embed="rId3"/>
              </a:buBlip>
            </a:pPr>
            <a:r>
              <a:rPr lang="en-US" sz="2200" dirty="0"/>
              <a:t>Use ssh to connect:</a:t>
            </a:r>
            <a:br>
              <a:rPr lang="en-US" sz="2200" dirty="0"/>
            </a:br>
            <a:r>
              <a:rPr lang="en-US" sz="1800" dirty="0">
                <a:latin typeface="Courier New" panose="02070309020205020404" pitchFamily="49" charset="0"/>
                <a:cs typeface="Courier New" panose="02070309020205020404" pitchFamily="49" charset="0"/>
              </a:rPr>
              <a:t>$ ssh -A vscXXXXX@&lt;hostname&gt;</a:t>
            </a:r>
            <a:endParaRPr lang="nl-BE" sz="1800" dirty="0">
              <a:latin typeface="Courier New" panose="02070309020205020404" pitchFamily="49" charset="0"/>
              <a:cs typeface="Courier New" panose="02070309020205020404" pitchFamily="49" charset="0"/>
            </a:endParaRPr>
          </a:p>
        </p:txBody>
      </p:sp>
      <p:sp>
        <p:nvSpPr>
          <p:cNvPr id="20" name="TextBox 19"/>
          <p:cNvSpPr txBox="1"/>
          <p:nvPr/>
        </p:nvSpPr>
        <p:spPr>
          <a:xfrm>
            <a:off x="6240016" y="508583"/>
            <a:ext cx="5536176" cy="1077218"/>
          </a:xfrm>
          <a:prstGeom prst="rect">
            <a:avLst/>
          </a:prstGeom>
          <a:noFill/>
          <a:ln w="19050">
            <a:solidFill>
              <a:schemeClr val="accent5"/>
            </a:solidFill>
          </a:ln>
        </p:spPr>
        <p:txBody>
          <a:bodyPr wrap="square" rtlCol="0">
            <a:spAutoFit/>
          </a:bodyPr>
          <a:lstStyle/>
          <a:p>
            <a:r>
              <a:rPr lang="en-US" sz="3200" b="1" dirty="0"/>
              <a:t>Hostname: </a:t>
            </a:r>
            <a:r>
              <a:rPr lang="en-US" sz="3200" b="1" dirty="0">
                <a:latin typeface="Courier New" panose="02070309020205020404" pitchFamily="49" charset="0"/>
                <a:cs typeface="Courier New" panose="02070309020205020404" pitchFamily="49" charset="0"/>
              </a:rPr>
              <a:t>login.hpc.kuleuven.be</a:t>
            </a:r>
            <a:endParaRPr lang="nl-BE" sz="3200" b="1" dirty="0"/>
          </a:p>
        </p:txBody>
      </p:sp>
      <p:sp>
        <p:nvSpPr>
          <p:cNvPr id="5" name="Slide Number Placeholder 4"/>
          <p:cNvSpPr>
            <a:spLocks noGrp="1"/>
          </p:cNvSpPr>
          <p:nvPr>
            <p:ph type="sldNum" sz="quarter" idx="12"/>
          </p:nvPr>
        </p:nvSpPr>
        <p:spPr/>
        <p:txBody>
          <a:bodyPr/>
          <a:lstStyle/>
          <a:p>
            <a:fld id="{F35D8031-C8E5-48F8-A3B6-81643B27A3AF}" type="slidenum">
              <a:rPr lang="nl-BE" smtClean="0"/>
              <a:pPr/>
              <a:t>49</a:t>
            </a:fld>
            <a:endParaRPr lang="nl-BE" dirty="0"/>
          </a:p>
        </p:txBody>
      </p:sp>
      <p:grpSp>
        <p:nvGrpSpPr>
          <p:cNvPr id="26" name="Group 25"/>
          <p:cNvGrpSpPr/>
          <p:nvPr/>
        </p:nvGrpSpPr>
        <p:grpSpPr>
          <a:xfrm>
            <a:off x="5965200" y="1771200"/>
            <a:ext cx="5867773" cy="4596606"/>
            <a:chOff x="5884625" y="1889051"/>
            <a:chExt cx="5867773" cy="4596606"/>
          </a:xfrm>
        </p:grpSpPr>
        <p:grpSp>
          <p:nvGrpSpPr>
            <p:cNvPr id="27" name="Group 26"/>
            <p:cNvGrpSpPr/>
            <p:nvPr/>
          </p:nvGrpSpPr>
          <p:grpSpPr>
            <a:xfrm>
              <a:off x="5884625" y="1889051"/>
              <a:ext cx="5867773" cy="4596606"/>
              <a:chOff x="5884625" y="1889051"/>
              <a:chExt cx="5867773" cy="4596606"/>
            </a:xfrm>
          </p:grpSpPr>
          <p:grpSp>
            <p:nvGrpSpPr>
              <p:cNvPr id="30" name="Group 29"/>
              <p:cNvGrpSpPr/>
              <p:nvPr/>
            </p:nvGrpSpPr>
            <p:grpSpPr>
              <a:xfrm>
                <a:off x="5884625" y="1889051"/>
                <a:ext cx="5867773" cy="4596606"/>
                <a:chOff x="5884625" y="1889051"/>
                <a:chExt cx="5867773" cy="4596606"/>
              </a:xfrm>
            </p:grpSpPr>
            <p:grpSp>
              <p:nvGrpSpPr>
                <p:cNvPr id="32" name="Group 31"/>
                <p:cNvGrpSpPr/>
                <p:nvPr/>
              </p:nvGrpSpPr>
              <p:grpSpPr>
                <a:xfrm>
                  <a:off x="5884625" y="1889051"/>
                  <a:ext cx="5867773" cy="4596606"/>
                  <a:chOff x="5884625" y="1889051"/>
                  <a:chExt cx="5867773" cy="4596606"/>
                </a:xfrm>
              </p:grpSpPr>
              <p:grpSp>
                <p:nvGrpSpPr>
                  <p:cNvPr id="37" name="Group 36"/>
                  <p:cNvGrpSpPr/>
                  <p:nvPr/>
                </p:nvGrpSpPr>
                <p:grpSpPr>
                  <a:xfrm>
                    <a:off x="5884625" y="1889051"/>
                    <a:ext cx="5867773" cy="3816424"/>
                    <a:chOff x="5844851" y="2420888"/>
                    <a:chExt cx="5891932" cy="3834924"/>
                  </a:xfrm>
                </p:grpSpPr>
                <p:pic>
                  <p:nvPicPr>
                    <p:cNvPr id="40" name="Picture 3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4851" y="2420888"/>
                      <a:ext cx="5891932" cy="3834924"/>
                    </a:xfrm>
                    <a:prstGeom prst="rect">
                      <a:avLst/>
                    </a:prstGeom>
                    <a:ln>
                      <a:noFill/>
                    </a:ln>
                    <a:effectLst>
                      <a:outerShdw blurRad="292100" dist="139700" dir="2700000" algn="tl" rotWithShape="0">
                        <a:srgbClr val="333333">
                          <a:alpha val="65000"/>
                        </a:srgbClr>
                      </a:outerShdw>
                    </a:effectLst>
                  </p:spPr>
                </p:pic>
                <p:sp>
                  <p:nvSpPr>
                    <p:cNvPr id="41" name="Rectangle 40"/>
                    <p:cNvSpPr/>
                    <p:nvPr/>
                  </p:nvSpPr>
                  <p:spPr>
                    <a:xfrm>
                      <a:off x="6731863" y="4019775"/>
                      <a:ext cx="3607592" cy="162785"/>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38" name="Picture 37"/>
                  <p:cNvPicPr>
                    <a:picLocks noChangeAspect="1"/>
                  </p:cNvPicPr>
                  <p:nvPr/>
                </p:nvPicPr>
                <p:blipFill>
                  <a:blip r:embed="rId5"/>
                  <a:stretch>
                    <a:fillRect/>
                  </a:stretch>
                </p:blipFill>
                <p:spPr>
                  <a:xfrm>
                    <a:off x="6347151" y="3798413"/>
                    <a:ext cx="3675200" cy="2687244"/>
                  </a:xfrm>
                  <a:prstGeom prst="rect">
                    <a:avLst/>
                  </a:prstGeom>
                </p:spPr>
              </p:pic>
              <p:sp>
                <p:nvSpPr>
                  <p:cNvPr id="39" name="Curved Left Arrow 38"/>
                  <p:cNvSpPr/>
                  <p:nvPr/>
                </p:nvSpPr>
                <p:spPr>
                  <a:xfrm rot="1545085">
                    <a:off x="10245967" y="3819514"/>
                    <a:ext cx="642014" cy="1019209"/>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sp>
              <p:nvSpPr>
                <p:cNvPr id="33" name="Rectangle 32"/>
                <p:cNvSpPr/>
                <p:nvPr/>
              </p:nvSpPr>
              <p:spPr>
                <a:xfrm>
                  <a:off x="8308800" y="3219938"/>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p:cNvSpPr/>
                <p:nvPr/>
              </p:nvSpPr>
              <p:spPr>
                <a:xfrm>
                  <a:off x="8154764" y="3073856"/>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p:cNvSpPr/>
                <p:nvPr/>
              </p:nvSpPr>
              <p:spPr>
                <a:xfrm>
                  <a:off x="6930000" y="3073856"/>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Rectangle 35"/>
                <p:cNvSpPr/>
                <p:nvPr/>
              </p:nvSpPr>
              <p:spPr>
                <a:xfrm>
                  <a:off x="6145163" y="3362531"/>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1" name="Rectangle 30"/>
              <p:cNvSpPr/>
              <p:nvPr/>
            </p:nvSpPr>
            <p:spPr>
              <a:xfrm>
                <a:off x="7754400" y="5673600"/>
                <a:ext cx="270000" cy="104400"/>
              </a:xfrm>
              <a:prstGeom prst="rect">
                <a:avLst/>
              </a:prstGeom>
              <a:solidFill>
                <a:srgbClr val="64584E"/>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8" name="Rectangle 27"/>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2" name="Group 41"/>
          <p:cNvGrpSpPr/>
          <p:nvPr/>
        </p:nvGrpSpPr>
        <p:grpSpPr>
          <a:xfrm>
            <a:off x="5965200" y="1771200"/>
            <a:ext cx="5871889" cy="3960950"/>
            <a:chOff x="5884625" y="1894163"/>
            <a:chExt cx="5871889" cy="3960950"/>
          </a:xfrm>
        </p:grpSpPr>
        <p:grpSp>
          <p:nvGrpSpPr>
            <p:cNvPr id="43" name="Group 42"/>
            <p:cNvGrpSpPr/>
            <p:nvPr/>
          </p:nvGrpSpPr>
          <p:grpSpPr>
            <a:xfrm>
              <a:off x="5884625" y="1894163"/>
              <a:ext cx="5871889" cy="3960950"/>
              <a:chOff x="5884625" y="1894163"/>
              <a:chExt cx="5871889" cy="3960950"/>
            </a:xfrm>
          </p:grpSpPr>
          <p:pic>
            <p:nvPicPr>
              <p:cNvPr id="46" name="Picture 45"/>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884625" y="1894163"/>
                <a:ext cx="5871889" cy="3960950"/>
              </a:xfrm>
              <a:prstGeom prst="rect">
                <a:avLst/>
              </a:prstGeom>
              <a:ln>
                <a:noFill/>
              </a:ln>
              <a:effectLst>
                <a:outerShdw blurRad="292100" dist="139700" dir="2700000" algn="tl" rotWithShape="0">
                  <a:srgbClr val="333333">
                    <a:alpha val="65000"/>
                  </a:srgbClr>
                </a:outerShdw>
              </a:effectLst>
            </p:spPr>
          </p:pic>
          <p:sp>
            <p:nvSpPr>
              <p:cNvPr id="47" name="Rectangle 46"/>
              <p:cNvSpPr/>
              <p:nvPr/>
            </p:nvSpPr>
            <p:spPr>
              <a:xfrm>
                <a:off x="8308800" y="2788482"/>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47"/>
              <p:cNvSpPr/>
              <p:nvPr/>
            </p:nvSpPr>
            <p:spPr>
              <a:xfrm>
                <a:off x="8154764" y="2642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Rectangle 48"/>
              <p:cNvSpPr/>
              <p:nvPr/>
            </p:nvSpPr>
            <p:spPr>
              <a:xfrm>
                <a:off x="6930000" y="2642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Rectangle 49"/>
              <p:cNvSpPr/>
              <p:nvPr/>
            </p:nvSpPr>
            <p:spPr>
              <a:xfrm>
                <a:off x="6145163" y="2931075"/>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362676" y="5673657"/>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4" name="Rectangle 43"/>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Rectangle 44"/>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56" name="Rectangle 55"/>
          <p:cNvSpPr/>
          <p:nvPr/>
        </p:nvSpPr>
        <p:spPr>
          <a:xfrm>
            <a:off x="720000" y="974355"/>
            <a:ext cx="1941557" cy="369332"/>
          </a:xfrm>
          <a:prstGeom prst="rect">
            <a:avLst/>
          </a:prstGeom>
        </p:spPr>
        <p:txBody>
          <a:bodyPr wrap="none">
            <a:spAutoFit/>
          </a:bodyPr>
          <a:lstStyle/>
          <a:p>
            <a:r>
              <a:rPr lang="en-US" b="1" dirty="0"/>
              <a:t>(Linux and Mac)</a:t>
            </a:r>
            <a:endParaRPr lang="en-US" sz="3200" b="1" dirty="0"/>
          </a:p>
        </p:txBody>
      </p:sp>
    </p:spTree>
    <p:extLst>
      <p:ext uri="{BB962C8B-B14F-4D97-AF65-F5344CB8AC3E}">
        <p14:creationId xmlns:p14="http://schemas.microsoft.com/office/powerpoint/2010/main" val="3049715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308755" y="4221088"/>
            <a:ext cx="241098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Data transfer</a:t>
            </a:r>
          </a:p>
        </p:txBody>
      </p:sp>
      <p:sp>
        <p:nvSpPr>
          <p:cNvPr id="6" name="Slide Number Placeholder 5"/>
          <p:cNvSpPr>
            <a:spLocks noGrp="1"/>
          </p:cNvSpPr>
          <p:nvPr>
            <p:ph type="sldNum" sz="quarter" idx="12"/>
          </p:nvPr>
        </p:nvSpPr>
        <p:spPr/>
        <p:txBody>
          <a:bodyPr/>
          <a:lstStyle/>
          <a:p>
            <a:fld id="{A2912448-FEEC-49E8-9588-2DF1F90D57C2}" type="slidenum">
              <a:rPr lang="en-US" smtClean="0"/>
              <a:t>50</a:t>
            </a:fld>
            <a:endParaRPr lang="en-US"/>
          </a:p>
        </p:txBody>
      </p:sp>
    </p:spTree>
    <p:extLst>
      <p:ext uri="{BB962C8B-B14F-4D97-AF65-F5344CB8AC3E}">
        <p14:creationId xmlns:p14="http://schemas.microsoft.com/office/powerpoint/2010/main" val="3155925097"/>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p:cNvSpPr/>
          <p:nvPr/>
        </p:nvSpPr>
        <p:spPr>
          <a:xfrm>
            <a:off x="195210" y="1441228"/>
            <a:ext cx="5839746" cy="4404766"/>
          </a:xfrm>
          <a:prstGeom prst="rect">
            <a:avLst/>
          </a:prstGeom>
          <a:solidFill>
            <a:schemeClr val="accent1">
              <a:alpha val="25000"/>
            </a:schemeClr>
          </a:solidFill>
          <a:ln>
            <a:solidFill>
              <a:schemeClr val="accent1">
                <a:shade val="50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2" name="Table 1"/>
          <p:cNvGraphicFramePr>
            <a:graphicFrameLocks noGrp="1"/>
          </p:cNvGraphicFramePr>
          <p:nvPr/>
        </p:nvGraphicFramePr>
        <p:xfrm>
          <a:off x="6492046" y="2358811"/>
          <a:ext cx="3902974" cy="1854200"/>
        </p:xfrm>
        <a:graphic>
          <a:graphicData uri="http://schemas.openxmlformats.org/drawingml/2006/table">
            <a:tbl>
              <a:tblPr firstRow="1" bandRow="1">
                <a:tableStyleId>{5C22544A-7EE6-4342-B048-85BDC9FD1C3A}</a:tableStyleId>
              </a:tblPr>
              <a:tblGrid>
                <a:gridCol w="1521894">
                  <a:extLst>
                    <a:ext uri="{9D8B030D-6E8A-4147-A177-3AD203B41FA5}">
                      <a16:colId xmlns:a16="http://schemas.microsoft.com/office/drawing/2014/main" val="2817841479"/>
                    </a:ext>
                  </a:extLst>
                </a:gridCol>
                <a:gridCol w="2381080">
                  <a:extLst>
                    <a:ext uri="{9D8B030D-6E8A-4147-A177-3AD203B41FA5}">
                      <a16:colId xmlns:a16="http://schemas.microsoft.com/office/drawing/2014/main" val="1923223384"/>
                    </a:ext>
                  </a:extLst>
                </a:gridCol>
              </a:tblGrid>
              <a:tr h="370840">
                <a:tc>
                  <a:txBody>
                    <a:bodyPr/>
                    <a:lstStyle/>
                    <a:p>
                      <a:r>
                        <a:rPr lang="en-US" dirty="0"/>
                        <a:t>Application</a:t>
                      </a:r>
                      <a:endParaRPr lang="nl-BE" dirty="0"/>
                    </a:p>
                  </a:txBody>
                  <a:tcPr/>
                </a:tc>
                <a:tc>
                  <a:txBody>
                    <a:bodyPr/>
                    <a:lstStyle/>
                    <a:p>
                      <a:r>
                        <a:rPr lang="en-US" dirty="0"/>
                        <a:t>OS</a:t>
                      </a:r>
                      <a:endParaRPr lang="nl-BE" dirty="0"/>
                    </a:p>
                  </a:txBody>
                  <a:tcPr/>
                </a:tc>
                <a:extLst>
                  <a:ext uri="{0D108BD9-81ED-4DB2-BD59-A6C34878D82A}">
                    <a16:rowId xmlns:a16="http://schemas.microsoft.com/office/drawing/2014/main" val="570025582"/>
                  </a:ext>
                </a:extLst>
              </a:tr>
              <a:tr h="370840">
                <a:tc>
                  <a:txBody>
                    <a:bodyPr/>
                    <a:lstStyle/>
                    <a:p>
                      <a:r>
                        <a:rPr lang="en-US" dirty="0">
                          <a:hlinkClick r:id="rId3"/>
                        </a:rPr>
                        <a:t>FileZilla</a:t>
                      </a:r>
                      <a:endParaRPr lang="nl-BE" dirty="0"/>
                    </a:p>
                  </a:txBody>
                  <a:tcPr/>
                </a:tc>
                <a:tc>
                  <a:txBody>
                    <a:bodyPr/>
                    <a:lstStyle/>
                    <a:p>
                      <a:r>
                        <a:rPr lang="en-US" dirty="0"/>
                        <a:t>Windows,</a:t>
                      </a:r>
                      <a:r>
                        <a:rPr lang="en-US" baseline="0" dirty="0"/>
                        <a:t> Linux, Mac</a:t>
                      </a:r>
                      <a:endParaRPr lang="nl-BE" dirty="0"/>
                    </a:p>
                  </a:txBody>
                  <a:tcPr/>
                </a:tc>
                <a:extLst>
                  <a:ext uri="{0D108BD9-81ED-4DB2-BD59-A6C34878D82A}">
                    <a16:rowId xmlns:a16="http://schemas.microsoft.com/office/drawing/2014/main" val="941569183"/>
                  </a:ext>
                </a:extLst>
              </a:tr>
              <a:tr h="370840">
                <a:tc>
                  <a:txBody>
                    <a:bodyPr/>
                    <a:lstStyle/>
                    <a:p>
                      <a:r>
                        <a:rPr lang="en-US" dirty="0" err="1">
                          <a:hlinkClick r:id="rId4"/>
                        </a:rPr>
                        <a:t>WinSCP</a:t>
                      </a:r>
                      <a:endParaRPr lang="nl-BE" dirty="0"/>
                    </a:p>
                  </a:txBody>
                  <a:tcPr/>
                </a:tc>
                <a:tc>
                  <a:txBody>
                    <a:bodyPr/>
                    <a:lstStyle/>
                    <a:p>
                      <a:r>
                        <a:rPr lang="en-US" dirty="0"/>
                        <a:t>Windows</a:t>
                      </a:r>
                      <a:endParaRPr lang="nl-BE" dirty="0"/>
                    </a:p>
                  </a:txBody>
                  <a:tcPr/>
                </a:tc>
                <a:extLst>
                  <a:ext uri="{0D108BD9-81ED-4DB2-BD59-A6C34878D82A}">
                    <a16:rowId xmlns:a16="http://schemas.microsoft.com/office/drawing/2014/main" val="2517790187"/>
                  </a:ext>
                </a:extLst>
              </a:tr>
              <a:tr h="370840">
                <a:tc>
                  <a:txBody>
                    <a:bodyPr/>
                    <a:lstStyle/>
                    <a:p>
                      <a:r>
                        <a:rPr lang="en-US" dirty="0" err="1"/>
                        <a:t>rsync</a:t>
                      </a:r>
                      <a:r>
                        <a:rPr lang="en-US" dirty="0"/>
                        <a:t>,</a:t>
                      </a:r>
                      <a:r>
                        <a:rPr lang="en-US" baseline="0" dirty="0"/>
                        <a:t> </a:t>
                      </a:r>
                      <a:r>
                        <a:rPr lang="en-US" baseline="0" dirty="0" err="1"/>
                        <a:t>scp</a:t>
                      </a:r>
                      <a:endParaRPr lang="nl-BE" dirty="0"/>
                    </a:p>
                  </a:txBody>
                  <a:tcPr/>
                </a:tc>
                <a:tc>
                  <a:txBody>
                    <a:bodyPr/>
                    <a:lstStyle/>
                    <a:p>
                      <a:r>
                        <a:rPr lang="en-US" dirty="0"/>
                        <a:t>Linux, Mac</a:t>
                      </a:r>
                      <a:endParaRPr lang="nl-BE" dirty="0"/>
                    </a:p>
                  </a:txBody>
                  <a:tcPr/>
                </a:tc>
                <a:extLst>
                  <a:ext uri="{0D108BD9-81ED-4DB2-BD59-A6C34878D82A}">
                    <a16:rowId xmlns:a16="http://schemas.microsoft.com/office/drawing/2014/main" val="1414451379"/>
                  </a:ext>
                </a:extLst>
              </a:tr>
              <a:tr h="370840">
                <a:tc>
                  <a:txBody>
                    <a:bodyPr/>
                    <a:lstStyle/>
                    <a:p>
                      <a:r>
                        <a:rPr lang="en-US" dirty="0">
                          <a:hlinkClick r:id="rId5"/>
                        </a:rPr>
                        <a:t>Globus</a:t>
                      </a:r>
                      <a:endParaRPr lang="nl-BE" dirty="0"/>
                    </a:p>
                  </a:txBody>
                  <a:tcPr/>
                </a:tc>
                <a:tc>
                  <a:txBody>
                    <a:bodyPr/>
                    <a:lstStyle/>
                    <a:p>
                      <a:r>
                        <a:rPr lang="en-US" dirty="0"/>
                        <a:t>Window, Linux, Mac</a:t>
                      </a:r>
                      <a:endParaRPr lang="nl-BE" dirty="0"/>
                    </a:p>
                  </a:txBody>
                  <a:tcPr/>
                </a:tc>
                <a:extLst>
                  <a:ext uri="{0D108BD9-81ED-4DB2-BD59-A6C34878D82A}">
                    <a16:rowId xmlns:a16="http://schemas.microsoft.com/office/drawing/2014/main" val="2195651994"/>
                  </a:ext>
                </a:extLst>
              </a:tr>
            </a:tbl>
          </a:graphicData>
        </a:graphic>
      </p:graphicFrame>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469313" y="2794520"/>
            <a:ext cx="1225868" cy="2451736"/>
          </a:xfrm>
          <a:prstGeom prst="rect">
            <a:avLst/>
          </a:prstGeom>
        </p:spPr>
      </p:pic>
      <p:grpSp>
        <p:nvGrpSpPr>
          <p:cNvPr id="24" name="Group 23"/>
          <p:cNvGrpSpPr/>
          <p:nvPr/>
        </p:nvGrpSpPr>
        <p:grpSpPr>
          <a:xfrm>
            <a:off x="4280872" y="3013576"/>
            <a:ext cx="1193757" cy="1976908"/>
            <a:chOff x="4280872" y="3013576"/>
            <a:chExt cx="1193757" cy="1976908"/>
          </a:xfrm>
        </p:grpSpPr>
        <p:pic>
          <p:nvPicPr>
            <p:cNvPr id="11" name="Picture 10"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471291" y="3013576"/>
              <a:ext cx="648000" cy="863999"/>
            </a:xfrm>
            <a:prstGeom prst="rect">
              <a:avLst/>
            </a:prstGeom>
          </p:spPr>
        </p:pic>
        <p:pic>
          <p:nvPicPr>
            <p:cNvPr id="12" name="Picture 11"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280872" y="4020388"/>
              <a:ext cx="1193757" cy="970096"/>
            </a:xfrm>
            <a:prstGeom prst="rect">
              <a:avLst/>
            </a:prstGeom>
          </p:spPr>
        </p:pic>
      </p:grpSp>
      <p:grpSp>
        <p:nvGrpSpPr>
          <p:cNvPr id="23" name="Group 22"/>
          <p:cNvGrpSpPr/>
          <p:nvPr/>
        </p:nvGrpSpPr>
        <p:grpSpPr>
          <a:xfrm>
            <a:off x="549320" y="1896213"/>
            <a:ext cx="1575386" cy="3094272"/>
            <a:chOff x="549320" y="1896213"/>
            <a:chExt cx="1575386" cy="3094272"/>
          </a:xfrm>
        </p:grpSpPr>
        <p:pic>
          <p:nvPicPr>
            <p:cNvPr id="8" name="Picture 7"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30554" y="3013577"/>
              <a:ext cx="648000" cy="863999"/>
            </a:xfrm>
            <a:prstGeom prst="rect">
              <a:avLst/>
            </a:prstGeom>
          </p:spPr>
        </p:pic>
        <p:pic>
          <p:nvPicPr>
            <p:cNvPr id="9" name="Picture 8"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40135" y="4020389"/>
              <a:ext cx="1193757" cy="970096"/>
            </a:xfrm>
            <a:prstGeom prst="rect">
              <a:avLst/>
            </a:prstGeom>
          </p:spPr>
        </p:pic>
        <p:sp>
          <p:nvSpPr>
            <p:cNvPr id="15" name="Rectangle 14"/>
            <p:cNvSpPr/>
            <p:nvPr/>
          </p:nvSpPr>
          <p:spPr>
            <a:xfrm>
              <a:off x="549320" y="1896213"/>
              <a:ext cx="1575386"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Local files</a:t>
              </a:r>
              <a:endParaRPr lang="nl-BE" dirty="0">
                <a:solidFill>
                  <a:schemeClr val="tx1"/>
                </a:solidFill>
              </a:endParaRPr>
            </a:p>
          </p:txBody>
        </p:sp>
      </p:grpSp>
      <p:sp>
        <p:nvSpPr>
          <p:cNvPr id="17" name="Rectangle 16"/>
          <p:cNvSpPr/>
          <p:nvPr/>
        </p:nvSpPr>
        <p:spPr>
          <a:xfrm>
            <a:off x="3971975" y="1901981"/>
            <a:ext cx="1557127"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VSC account</a:t>
            </a:r>
            <a:endParaRPr lang="nl-BE" dirty="0">
              <a:solidFill>
                <a:schemeClr val="tx1"/>
              </a:solidFill>
            </a:endParaRPr>
          </a:p>
        </p:txBody>
      </p:sp>
      <p:sp>
        <p:nvSpPr>
          <p:cNvPr id="19" name="Right Arrow 18"/>
          <p:cNvSpPr/>
          <p:nvPr/>
        </p:nvSpPr>
        <p:spPr>
          <a:xfrm>
            <a:off x="3692228" y="3537353"/>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ight Arrow 19"/>
          <p:cNvSpPr/>
          <p:nvPr/>
        </p:nvSpPr>
        <p:spPr>
          <a:xfrm>
            <a:off x="1728534" y="3533135"/>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22" name="Picture 21"/>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537631" y="3388414"/>
            <a:ext cx="1042928" cy="1042928"/>
          </a:xfrm>
          <a:prstGeom prst="rect">
            <a:avLst/>
          </a:prstGeom>
        </p:spPr>
      </p:pic>
      <p:grpSp>
        <p:nvGrpSpPr>
          <p:cNvPr id="30" name="Group 29"/>
          <p:cNvGrpSpPr/>
          <p:nvPr/>
        </p:nvGrpSpPr>
        <p:grpSpPr>
          <a:xfrm>
            <a:off x="1728534" y="3877575"/>
            <a:ext cx="2377433" cy="301233"/>
            <a:chOff x="1728534" y="3877575"/>
            <a:chExt cx="2377433" cy="301233"/>
          </a:xfrm>
        </p:grpSpPr>
        <p:sp>
          <p:nvSpPr>
            <p:cNvPr id="28" name="Right Arrow 27"/>
            <p:cNvSpPr/>
            <p:nvPr/>
          </p:nvSpPr>
          <p:spPr>
            <a:xfrm rot="10800000">
              <a:off x="3648877" y="3877575"/>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Right Arrow 28"/>
            <p:cNvSpPr/>
            <p:nvPr/>
          </p:nvSpPr>
          <p:spPr>
            <a:xfrm rot="10800000">
              <a:off x="1728534" y="3877576"/>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51</a:t>
            </a:fld>
            <a:endParaRPr lang="nl-BE" sz="900" dirty="0">
              <a:solidFill>
                <a:schemeClr val="bg1"/>
              </a:solidFill>
            </a:endParaRPr>
          </a:p>
        </p:txBody>
      </p:sp>
      <p:sp>
        <p:nvSpPr>
          <p:cNvPr id="2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tools</a:t>
            </a:r>
            <a:endParaRPr lang="pl-PL" altLang="en-US" sz="3200" dirty="0"/>
          </a:p>
        </p:txBody>
      </p:sp>
    </p:spTree>
    <p:custDataLst>
      <p:tags r:id="rId1"/>
    </p:custDataLst>
    <p:extLst>
      <p:ext uri="{BB962C8B-B14F-4D97-AF65-F5344CB8AC3E}">
        <p14:creationId xmlns:p14="http://schemas.microsoft.com/office/powerpoint/2010/main" val="245201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extLst>
    <p:ext uri="{3A86A75C-4F4B-4683-9AE1-C65F6400EC91}">
      <p14:laserTraceLst xmlns:p14="http://schemas.microsoft.com/office/powerpoint/2010/main">
        <p14:tracePtLst>
          <p14:tracePt t="3156" x="7754938" y="3935413"/>
          <p14:tracePt t="3417" x="7646988" y="3925888"/>
          <p14:tracePt t="3430" x="7504113" y="3890963"/>
          <p14:tracePt t="3436" x="7305675" y="3836988"/>
          <p14:tracePt t="3453" x="7091363" y="3783013"/>
          <p14:tracePt t="3469" x="6589713" y="3657600"/>
          <p14:tracePt t="3486" x="6032500" y="3532188"/>
          <p14:tracePt t="3503" x="5719763" y="3460750"/>
          <p14:tracePt t="3520" x="5100638" y="3335338"/>
          <p14:tracePt t="3536" x="4527550" y="3200400"/>
          <p14:tracePt t="3553" x="4141788" y="3092450"/>
          <p14:tracePt t="3570" x="3989388" y="3048000"/>
          <p14:tracePt t="3586" x="3819525" y="3003550"/>
          <p14:tracePt t="3603" x="3711575" y="2967038"/>
          <p14:tracePt t="3620" x="3684588" y="2949575"/>
          <p14:tracePt t="3648" x="3657600" y="2940050"/>
          <p14:tracePt t="3654" x="3648075" y="2940050"/>
          <p14:tracePt t="3669" x="3640138" y="2932113"/>
          <p14:tracePt t="3942" x="3514725" y="2932113"/>
          <p14:tracePt t="3951" x="3308350" y="2959100"/>
          <p14:tracePt t="3963" x="3128963" y="2967038"/>
          <p14:tracePt t="3980" x="2959100" y="2967038"/>
          <p14:tracePt t="3997" x="2679700" y="2967038"/>
          <p14:tracePt t="4013" x="2465388" y="2967038"/>
          <p14:tracePt t="4030" x="2384425" y="2967038"/>
          <p14:tracePt t="4047" x="2276475" y="2967038"/>
          <p14:tracePt t="4063" x="2214563" y="2976563"/>
          <p14:tracePt t="4080" x="2205038" y="2984500"/>
          <p14:tracePt t="4096" x="2187575" y="2994025"/>
          <p14:tracePt t="4113" x="2187575" y="3011488"/>
          <p14:tracePt t="4130" x="2187575" y="3065463"/>
          <p14:tracePt t="4146" x="2187575" y="3119438"/>
          <p14:tracePt t="4163" x="2187575" y="3190875"/>
          <p14:tracePt t="4180" x="2187575" y="3236913"/>
          <p14:tracePt t="4196" x="2187575" y="3263900"/>
          <p14:tracePt t="4213" x="2178050" y="3298825"/>
          <p14:tracePt t="4230" x="2160588" y="3325813"/>
          <p14:tracePt t="4246" x="2151063" y="3343275"/>
          <p14:tracePt t="4263" x="2133600" y="3362325"/>
          <p14:tracePt t="4280" x="2116138" y="3379788"/>
          <p14:tracePt t="4296" x="2097088" y="3379788"/>
          <p14:tracePt t="4313" x="2070100" y="3406775"/>
          <p14:tracePt t="4330" x="2044700" y="3424238"/>
          <p14:tracePt t="4363" x="2035175" y="3433763"/>
          <p14:tracePt t="4380" x="2025650" y="3433763"/>
          <p14:tracePt t="4399" x="2017713" y="3433763"/>
          <p14:tracePt t="4479" x="2017713" y="3424238"/>
          <p14:tracePt t="4500" x="2017713" y="3416300"/>
          <p14:tracePt t="4509" x="2017713" y="3406775"/>
          <p14:tracePt t="4519" x="2017713" y="3389313"/>
          <p14:tracePt t="4530" x="2008188" y="3370263"/>
          <p14:tracePt t="4547" x="1998663" y="3325813"/>
          <p14:tracePt t="4563" x="1990725" y="3308350"/>
          <p14:tracePt t="4580" x="1971675" y="3263900"/>
          <p14:tracePt t="4597" x="1944688" y="3227388"/>
          <p14:tracePt t="4613" x="1936750" y="3209925"/>
          <p14:tracePt t="4630" x="1917700" y="3173413"/>
          <p14:tracePt t="4647" x="1917700" y="3163888"/>
          <p14:tracePt t="4663" x="1909763" y="3155950"/>
          <p14:tracePt t="4679" x="1900238" y="3136900"/>
          <p14:tracePt t="4718" x="1900238" y="3128963"/>
          <p14:tracePt t="8359" x="1927225" y="3119438"/>
          <p14:tracePt t="8369" x="1981200" y="3111500"/>
          <p14:tracePt t="8379" x="2017713" y="3101975"/>
          <p14:tracePt t="8396" x="2052638" y="3092450"/>
          <p14:tracePt t="8412" x="2116138" y="3084513"/>
          <p14:tracePt t="8429" x="2151063" y="3065463"/>
          <p14:tracePt t="8446" x="2178050" y="3065463"/>
          <p14:tracePt t="8448" x="2205038" y="3048000"/>
          <p14:tracePt t="8462" x="2232025" y="3038475"/>
          <p14:tracePt t="8479" x="2286000" y="3021013"/>
          <p14:tracePt t="8496" x="2330450" y="3003550"/>
          <p14:tracePt t="8512" x="2349500" y="2994025"/>
          <p14:tracePt t="8529" x="2393950" y="2976563"/>
          <p14:tracePt t="8546" x="2428875" y="2959100"/>
          <p14:tracePt t="8562" x="2455863" y="2940050"/>
          <p14:tracePt t="8579" x="2501900" y="2922588"/>
          <p14:tracePt t="8595" x="2536825" y="2913063"/>
          <p14:tracePt t="8612" x="2554288" y="2895600"/>
          <p14:tracePt t="8629" x="2590800" y="2886075"/>
          <p14:tracePt t="8646" x="2627313" y="2868613"/>
          <p14:tracePt t="8662" x="2635250" y="2868613"/>
          <p14:tracePt t="8679" x="2662238" y="2859088"/>
          <p14:tracePt t="8696" x="2679700" y="2851150"/>
          <p14:tracePt t="8712" x="2698750" y="2841625"/>
          <p14:tracePt t="8729" x="2716213" y="2832100"/>
          <p14:tracePt t="8745" x="2733675" y="2824163"/>
          <p14:tracePt t="8762" x="2733675" y="2814638"/>
          <p14:tracePt t="8779" x="2743200" y="2814638"/>
          <p14:tracePt t="8795" x="2752725" y="2806700"/>
          <p14:tracePt t="9121" x="2743200" y="2806700"/>
          <p14:tracePt t="9213" x="2733675" y="2806700"/>
          <p14:tracePt t="9254" x="2725738" y="2806700"/>
          <p14:tracePt t="9274" x="2716213" y="2806700"/>
          <p14:tracePt t="9294" x="2698750" y="2797175"/>
          <p14:tracePt t="9302" x="2689225" y="2797175"/>
          <p14:tracePt t="9312" x="2679700" y="2787650"/>
          <p14:tracePt t="9327" x="2662238" y="2787650"/>
          <p14:tracePt t="9344" x="2654300" y="2779713"/>
          <p14:tracePt t="9361" x="2644775" y="2779713"/>
          <p14:tracePt t="9377" x="2635250" y="2779713"/>
          <p14:tracePt t="9393" x="2627313" y="2770188"/>
          <p14:tracePt t="9412" x="2617788" y="2770188"/>
          <p14:tracePt t="9427" x="2617788" y="2760663"/>
          <p14:tracePt t="9501" x="2608263" y="2760663"/>
          <p14:tracePt t="9510" x="2608263" y="2752725"/>
          <p14:tracePt t="10276" x="2617788" y="2752725"/>
          <p14:tracePt t="10576" x="2617788" y="2760663"/>
          <p14:tracePt t="11211" x="2617788" y="2770188"/>
          <p14:tracePt t="11750" x="2627313" y="2770188"/>
          <p14:tracePt t="12983" x="2635250" y="2770188"/>
          <p14:tracePt t="31598" x="2698750" y="2779713"/>
          <p14:tracePt t="31608" x="2770188" y="2787650"/>
          <p14:tracePt t="31616" x="2851150" y="2797175"/>
          <p14:tracePt t="31626" x="2922588" y="2806700"/>
          <p14:tracePt t="31638" x="2994025" y="2814638"/>
          <p14:tracePt t="31655" x="3074988" y="2814638"/>
          <p14:tracePt t="31671" x="3236913" y="2814638"/>
          <p14:tracePt t="31688" x="3389313" y="2814638"/>
          <p14:tracePt t="31704" x="3568700" y="2814638"/>
          <p14:tracePt t="31721" x="3648075" y="2814638"/>
          <p14:tracePt t="31738" x="3810000" y="2814638"/>
          <p14:tracePt t="31754" x="3952875" y="2814638"/>
          <p14:tracePt t="31771" x="4006850" y="2814638"/>
          <p14:tracePt t="31788" x="4151313" y="2814638"/>
          <p14:tracePt t="31804" x="4284663" y="2824163"/>
          <p14:tracePt t="31821" x="4338638" y="2832100"/>
          <p14:tracePt t="31838" x="4437063" y="2851150"/>
          <p14:tracePt t="31854" x="4483100" y="2868613"/>
          <p14:tracePt t="31871" x="4508500" y="2868613"/>
          <p14:tracePt t="31888" x="4535488" y="2886075"/>
          <p14:tracePt t="31904" x="4554538" y="2905125"/>
          <p14:tracePt t="31921" x="4562475" y="2905125"/>
          <p14:tracePt t="31938" x="4581525" y="2922588"/>
          <p14:tracePt t="31954" x="4589463" y="2932113"/>
          <p14:tracePt t="32265" x="4608513" y="2940050"/>
          <p14:tracePt t="32274" x="4625975" y="2940050"/>
          <p14:tracePt t="32285" x="4635500" y="2949575"/>
          <p14:tracePt t="32302" x="4643438" y="2949575"/>
          <p14:tracePt t="32318" x="4652963" y="2959100"/>
          <p14:tracePt t="32434" x="4643438" y="2959100"/>
          <p14:tracePt t="32464" x="4635500" y="2959100"/>
          <p14:tracePt t="32514" x="4625975" y="2959100"/>
          <p14:tracePt t="32584" x="4616450" y="2959100"/>
          <p14:tracePt t="32613" x="4608513" y="2959100"/>
          <p14:tracePt t="32623" x="4598988" y="2959100"/>
          <p14:tracePt t="32635" x="4598988" y="2949575"/>
          <p14:tracePt t="32652" x="4572000" y="2949575"/>
          <p14:tracePt t="32668" x="4562475" y="2940050"/>
          <p14:tracePt t="32685" x="4535488" y="2940050"/>
          <p14:tracePt t="32702" x="4508500" y="2932113"/>
          <p14:tracePt t="32718" x="4500563" y="2922588"/>
          <p14:tracePt t="32735" x="4473575" y="2922588"/>
          <p14:tracePt t="32752" x="4464050" y="2922588"/>
          <p14:tracePt t="32768" x="4456113" y="2913063"/>
          <p14:tracePt t="32785" x="4446588" y="2913063"/>
          <p14:tracePt t="32801" x="4437063" y="2905125"/>
          <p14:tracePt t="32822" x="4429125" y="2905125"/>
          <p14:tracePt t="33330" x="4437063" y="2905125"/>
          <p14:tracePt t="33508" x="4437063" y="2895600"/>
          <p14:tracePt t="33698" x="4446588" y="2895600"/>
          <p14:tracePt t="33778" x="4446588" y="2886075"/>
          <p14:tracePt t="33797" x="4456113" y="2886075"/>
          <p14:tracePt t="33808" x="4464050" y="2886075"/>
          <p14:tracePt t="33819" x="4483100" y="2878138"/>
          <p14:tracePt t="33836" x="4589463" y="2878138"/>
          <p14:tracePt t="33853" x="4660900" y="2868613"/>
          <p14:tracePt t="33869" x="4787900" y="2868613"/>
          <p14:tracePt t="33886" x="4921250" y="2878138"/>
          <p14:tracePt t="33903" x="4984750" y="2905125"/>
          <p14:tracePt t="33919" x="5110163" y="2959100"/>
          <p14:tracePt t="33936" x="5218113" y="3030538"/>
          <p14:tracePt t="33953" x="5270500" y="3084513"/>
          <p14:tracePt t="33958" x="5316538" y="3136900"/>
          <p14:tracePt t="33969" x="5378450" y="3209925"/>
          <p14:tracePt t="33986" x="5459413" y="3343275"/>
          <p14:tracePt t="34003" x="5486400" y="3397250"/>
          <p14:tracePt t="34019" x="5530850" y="3505200"/>
          <p14:tracePt t="34035" x="5557838" y="3603625"/>
          <p14:tracePt t="34052" x="5575300" y="3648075"/>
          <p14:tracePt t="34069" x="5594350" y="3721100"/>
          <p14:tracePt t="34085" x="5611813" y="3783013"/>
          <p14:tracePt t="34102" x="5621338" y="3819525"/>
          <p14:tracePt t="34118" x="5629275" y="3881438"/>
          <p14:tracePt t="34135" x="5638800" y="3935413"/>
          <p14:tracePt t="34152" x="5648325" y="3962400"/>
          <p14:tracePt t="34169" x="5656263" y="3998913"/>
          <p14:tracePt t="34185" x="5656263" y="4033838"/>
          <p14:tracePt t="34202" x="5656263" y="4043363"/>
          <p14:tracePt t="34219" x="5665788" y="4070350"/>
          <p14:tracePt t="34235" x="5675313" y="4078288"/>
          <p14:tracePt t="34253" x="5675313" y="4087813"/>
          <p14:tracePt t="34269" x="5675313" y="4097338"/>
          <p14:tracePt t="34285" x="5683250" y="4105275"/>
          <p14:tracePt t="34303" x="5683250" y="4114800"/>
          <p14:tracePt t="34335" x="5683250" y="4124325"/>
          <p14:tracePt t="34353" x="5692775" y="4124325"/>
          <p14:tracePt t="43758" x="5737225" y="4087813"/>
          <p14:tracePt t="43768" x="5800725" y="4033838"/>
          <p14:tracePt t="43777" x="5845175" y="3979863"/>
          <p14:tracePt t="43793" x="5899150" y="3917950"/>
          <p14:tracePt t="43810" x="6024563" y="3792538"/>
          <p14:tracePt t="43827" x="6122988" y="3675063"/>
          <p14:tracePt t="43843" x="6211888" y="3576638"/>
          <p14:tracePt t="43860" x="6248400" y="3549650"/>
          <p14:tracePt t="43877" x="6302375" y="3468688"/>
          <p14:tracePt t="43893" x="6346825" y="3416300"/>
          <p14:tracePt t="43910" x="6364288" y="3397250"/>
          <p14:tracePt t="43927" x="6391275" y="3362325"/>
          <p14:tracePt t="43943" x="6418263" y="3343275"/>
          <p14:tracePt t="43960" x="6437313" y="3325813"/>
          <p14:tracePt t="43962" x="6445250" y="3316288"/>
          <p14:tracePt t="43976" x="6454775" y="3298825"/>
          <p14:tracePt t="43993" x="6472238" y="3289300"/>
          <p14:tracePt t="44010" x="6472238" y="3281363"/>
          <p14:tracePt t="44027" x="6481763" y="3271838"/>
          <p14:tracePt t="44043" x="6481763" y="3263900"/>
          <p14:tracePt t="44062" x="6481763" y="3254375"/>
          <p14:tracePt t="44076" x="6489700" y="3254375"/>
          <p14:tracePt t="44154" x="6489700" y="3244850"/>
          <p14:tracePt t="44303" x="6489700" y="3236913"/>
          <p14:tracePt t="44343" x="6481763" y="3236913"/>
          <p14:tracePt t="44372" x="6472238" y="3236913"/>
          <p14:tracePt t="44382" x="6464300" y="3227388"/>
          <p14:tracePt t="44402" x="6454775" y="3227388"/>
          <p14:tracePt t="44413" x="6454775" y="3209925"/>
          <p14:tracePt t="44424" x="6437313" y="3209925"/>
          <p14:tracePt t="44441" x="6427788" y="3182938"/>
          <p14:tracePt t="44458" x="6418263" y="3173413"/>
          <p14:tracePt t="44461" x="6418263" y="3155950"/>
          <p14:tracePt t="44474" x="6400800" y="3136900"/>
          <p14:tracePt t="44491" x="6391275" y="3111500"/>
          <p14:tracePt t="44508" x="6391275" y="3084513"/>
          <p14:tracePt t="44524" x="6383338" y="3048000"/>
          <p14:tracePt t="44541" x="6373813" y="3011488"/>
          <p14:tracePt t="44558" x="6373813" y="2994025"/>
          <p14:tracePt t="44574" x="6373813" y="2959100"/>
          <p14:tracePt t="44591" x="6364288" y="2932113"/>
          <p14:tracePt t="44607" x="6364288" y="2913063"/>
          <p14:tracePt t="44624" x="6356350" y="2895600"/>
          <p14:tracePt t="44641" x="6356350" y="2886075"/>
          <p14:tracePt t="44657" x="6356350" y="2878138"/>
          <p14:tracePt t="44674" x="6356350" y="2868613"/>
          <p14:tracePt t="44691" x="6346825" y="2859088"/>
          <p14:tracePt t="44707" x="6346825" y="2851150"/>
          <p14:tracePt t="44741" x="6346825" y="2841625"/>
          <p14:tracePt t="44757" x="6346825" y="2832100"/>
          <p14:tracePt t="44790" x="6346825" y="2824163"/>
          <p14:tracePt t="44819" x="6346825" y="2814638"/>
          <p14:tracePt t="44849" x="6337300" y="2806700"/>
          <p14:tracePt t="44859" x="6337300" y="2797175"/>
          <p14:tracePt t="44869" x="6337300" y="2787650"/>
          <p14:tracePt t="44889" x="6337300" y="2779713"/>
          <p14:tracePt t="44899" x="6337300" y="2770188"/>
          <p14:tracePt t="44909" x="6337300" y="2760663"/>
          <p14:tracePt t="44924" x="6337300" y="2752725"/>
          <p14:tracePt t="44941" x="6337300" y="2733675"/>
          <p14:tracePt t="44957" x="6329363" y="2716213"/>
          <p14:tracePt t="44973" x="6329363" y="2706688"/>
          <p14:tracePt t="44990" x="6329363" y="2698750"/>
          <p14:tracePt t="45007" x="6329363" y="2689225"/>
          <p14:tracePt t="45023" x="6329363" y="2679700"/>
          <p14:tracePt t="45040" x="6319838" y="2679700"/>
          <p14:tracePt t="45057" x="6319838" y="2671763"/>
          <p14:tracePt t="45546" x="6319838" y="2679700"/>
          <p14:tracePt t="45646" x="6319838" y="2689225"/>
          <p14:tracePt t="45674" x="6311900" y="2689225"/>
          <p14:tracePt t="45732" x="6302375" y="2689225"/>
          <p14:tracePt t="45743" x="6302375" y="2698750"/>
          <p14:tracePt t="45793" x="6302375" y="2706688"/>
          <p14:tracePt t="45843" x="6292850" y="2706688"/>
          <p14:tracePt t="45883" x="6292850" y="2716213"/>
          <p14:tracePt t="46120" x="6284913" y="2716213"/>
          <p14:tracePt t="51267" x="6284913" y="2725738"/>
          <p14:tracePt t="51825" x="6275388" y="2725738"/>
          <p14:tracePt t="51865" x="6265863" y="2725738"/>
          <p14:tracePt t="51965" x="6257925" y="2725738"/>
          <p14:tracePt t="52452" x="6257925" y="2733675"/>
          <p14:tracePt t="52493" x="6257925" y="2743200"/>
          <p14:tracePt t="52582" x="6257925" y="2752725"/>
          <p14:tracePt t="52601" x="6265863" y="2752725"/>
          <p14:tracePt t="52781" x="6275388" y="2752725"/>
          <p14:tracePt t="53816" x="6284913" y="2752725"/>
          <p14:tracePt t="54184" x="6284913" y="2743200"/>
          <p14:tracePt t="54282" x="6284913" y="2733675"/>
          <p14:tracePt t="55090" x="6292850" y="2733675"/>
          <p14:tracePt t="55120" x="6319838" y="2725738"/>
          <p14:tracePt t="55131" x="6464300" y="2679700"/>
          <p14:tracePt t="55139" x="6651625" y="2635250"/>
          <p14:tracePt t="55148" x="6831013" y="2581275"/>
          <p14:tracePt t="55161" x="7027863" y="2519363"/>
          <p14:tracePt t="55178" x="7467600" y="2393950"/>
          <p14:tracePt t="55194" x="7683500" y="2322513"/>
          <p14:tracePt t="55211" x="8121650" y="2214563"/>
          <p14:tracePt t="55227" x="8382000" y="2151063"/>
          <p14:tracePt t="55244" x="8462963" y="2133600"/>
          <p14:tracePt t="55261" x="8561388" y="2116138"/>
          <p14:tracePt t="55277" x="8615363" y="2106613"/>
          <p14:tracePt t="55294" x="8623300" y="2106613"/>
          <p14:tracePt t="55311" x="8642350" y="2106613"/>
          <p14:tracePt t="55328" x="8650288" y="2106613"/>
          <p14:tracePt t="55361" x="8659813" y="2106613"/>
          <p14:tracePt t="55378" x="8669338" y="2106613"/>
          <p14:tracePt t="56750" x="8669338" y="2116138"/>
          <p14:tracePt t="56762" x="8677275" y="2116138"/>
          <p14:tracePt t="56772" x="8677275" y="2124075"/>
          <p14:tracePt t="56789" x="8686800" y="2133600"/>
          <p14:tracePt t="56806" x="8686800" y="2143125"/>
          <p14:tracePt t="56822" x="8704263" y="2151063"/>
          <p14:tracePt t="56839" x="8713788" y="2160588"/>
          <p14:tracePt t="56856" x="8731250" y="2178050"/>
          <p14:tracePt t="56873" x="8758238" y="2205038"/>
          <p14:tracePt t="56891" x="8775700" y="2241550"/>
          <p14:tracePt t="56906" x="8794750" y="2249488"/>
          <p14:tracePt t="56922" x="8812213" y="2276475"/>
          <p14:tracePt t="56941" x="8829675" y="2295525"/>
          <p14:tracePt t="56956" x="8839200" y="2303463"/>
          <p14:tracePt t="56973" x="8848725" y="2330450"/>
          <p14:tracePt t="56991" x="8856663" y="2349500"/>
          <p14:tracePt t="57006" x="8866188" y="2366963"/>
          <p14:tracePt t="57023" x="8866188" y="2384425"/>
          <p14:tracePt t="57040" x="8875713" y="2420938"/>
          <p14:tracePt t="57056" x="8875713" y="2428875"/>
          <p14:tracePt t="57073" x="8875713" y="2455863"/>
          <p14:tracePt t="57090" x="8875713" y="2474913"/>
          <p14:tracePt t="57106" x="8875713" y="2509838"/>
          <p14:tracePt t="57123" x="8875713" y="2546350"/>
          <p14:tracePt t="57140" x="8875713" y="2563813"/>
          <p14:tracePt t="57156" x="8875713" y="2600325"/>
          <p14:tracePt t="57173" x="8856663" y="2644775"/>
          <p14:tracePt t="57189" x="8856663" y="2662238"/>
          <p14:tracePt t="57206" x="8856663" y="2706688"/>
          <p14:tracePt t="57223" x="8839200" y="2752725"/>
          <p14:tracePt t="57239" x="8839200" y="2770188"/>
          <p14:tracePt t="57256" x="8829675" y="2797175"/>
          <p14:tracePt t="57273" x="8829675" y="2806700"/>
          <p14:tracePt t="57289" x="8829675" y="2814638"/>
          <p14:tracePt t="57306" x="8829675" y="2824163"/>
          <p14:tracePt t="57717" x="8821738" y="2824163"/>
          <p14:tracePt t="57840" x="8821738" y="2814638"/>
          <p14:tracePt t="58078" x="8821738" y="2806700"/>
          <p14:tracePt t="58128" x="8856663" y="2797175"/>
          <p14:tracePt t="58137" x="8947150" y="2770188"/>
          <p14:tracePt t="58149" x="9036050" y="2752725"/>
          <p14:tracePt t="58166" x="9107488" y="2725738"/>
          <p14:tracePt t="58183" x="9215438" y="2706688"/>
          <p14:tracePt t="58199" x="9269413" y="2689225"/>
          <p14:tracePt t="58216" x="9296400" y="2679700"/>
          <p14:tracePt t="58233" x="9313863" y="2679700"/>
          <p14:tracePt t="58249" x="9332913" y="2679700"/>
          <p14:tracePt t="58282" x="9340850" y="2679700"/>
          <p14:tracePt t="59362" x="9332913" y="2679700"/>
          <p14:tracePt t="59373" x="9286875" y="2679700"/>
          <p14:tracePt t="59384" x="9107488" y="2679700"/>
          <p14:tracePt t="59400" x="8794750" y="2679700"/>
          <p14:tracePt t="59416" x="8642350" y="2679700"/>
          <p14:tracePt t="59433" x="8391525" y="2679700"/>
          <p14:tracePt t="59450" x="8158163" y="2679700"/>
          <p14:tracePt t="59466" x="8050213" y="2679700"/>
          <p14:tracePt t="59483" x="7880350" y="2689225"/>
          <p14:tracePt t="59499" x="7772400" y="2698750"/>
          <p14:tracePt t="59516" x="7745413" y="2706688"/>
          <p14:tracePt t="59533" x="7691438" y="2706688"/>
          <p14:tracePt t="59549" x="7664450" y="2706688"/>
          <p14:tracePt t="59583" x="7646988" y="2706688"/>
          <p14:tracePt t="59600" x="7637463" y="2706688"/>
          <p14:tracePt t="59629" x="7637463" y="2716213"/>
          <p14:tracePt t="59639" x="7629525" y="2716213"/>
          <p14:tracePt t="59649" x="7620000" y="2716213"/>
          <p14:tracePt t="59689" x="7610475" y="2716213"/>
          <p14:tracePt t="59708" x="7602538" y="2725738"/>
          <p14:tracePt t="59728" x="7593013" y="2733675"/>
          <p14:tracePt t="59738" x="7583488" y="2733675"/>
          <p14:tracePt t="59748" x="7575550" y="2743200"/>
          <p14:tracePt t="59758" x="7566025" y="2743200"/>
          <p14:tracePt t="59767" x="7556500" y="2743200"/>
          <p14:tracePt t="59783" x="7556500" y="2752725"/>
          <p14:tracePt t="59799" x="7548563" y="2752725"/>
          <p14:tracePt t="59816" x="7539038" y="2760663"/>
          <p14:tracePt t="59833" x="7539038" y="2770188"/>
          <p14:tracePt t="59849" x="7531100" y="2779713"/>
          <p14:tracePt t="59866" x="7521575" y="2779713"/>
          <p14:tracePt t="59883" x="7521575" y="2806700"/>
          <p14:tracePt t="59899" x="7504113" y="2832100"/>
          <p14:tracePt t="59916" x="7504113" y="2841625"/>
          <p14:tracePt t="59932" x="7504113" y="2851150"/>
          <p14:tracePt t="59949" x="7504113" y="2859088"/>
          <p14:tracePt t="59966" x="7504113" y="2868613"/>
          <p14:tracePt t="59987" x="7504113" y="2878138"/>
          <p14:tracePt t="60029" x="7504113" y="2886075"/>
          <p14:tracePt t="60097" x="7512050" y="2886075"/>
          <p14:tracePt t="60107" x="7512050" y="2895600"/>
          <p14:tracePt t="60147" x="7512050" y="2905125"/>
          <p14:tracePt t="60177" x="7521575" y="2905125"/>
          <p14:tracePt t="60227" x="7521575" y="2913063"/>
          <p14:tracePt t="60257" x="7531100" y="2913063"/>
          <p14:tracePt t="60306" x="7531100" y="2922588"/>
          <p14:tracePt t="60346" x="7539038" y="2922588"/>
          <p14:tracePt t="60365" x="7539038" y="2932113"/>
          <p14:tracePt t="60385" x="7548563" y="2940050"/>
          <p14:tracePt t="60435" x="7548563" y="2949575"/>
          <p14:tracePt t="60485" x="7556500" y="2949575"/>
          <p14:tracePt t="60515" x="7556500" y="2959100"/>
          <p14:tracePt t="60636" x="7566025" y="2959100"/>
          <p14:tracePt t="60715" x="7566025" y="2967038"/>
          <p14:tracePt t="61948" x="7566025" y="2959100"/>
          <p14:tracePt t="62049" x="7566025" y="2949575"/>
          <p14:tracePt t="62139" x="7566025" y="2940050"/>
          <p14:tracePt t="62807" x="7566025" y="2932113"/>
          <p14:tracePt t="66270" x="7566025" y="2922588"/>
          <p14:tracePt t="66319" x="7566025" y="2913063"/>
          <p14:tracePt t="66370" x="7566025" y="2905125"/>
          <p14:tracePt t="67404" x="7566025" y="2913063"/>
          <p14:tracePt t="67415" x="7566025" y="2922588"/>
          <p14:tracePt t="67426" x="7566025" y="2932113"/>
          <p14:tracePt t="67442" x="7566025" y="2940050"/>
          <p14:tracePt t="67471" x="7566025" y="2949575"/>
          <p14:tracePt t="67533" x="7566025" y="2959100"/>
          <p14:tracePt t="67582" x="7566025" y="2967038"/>
          <p14:tracePt t="67614" x="7566025" y="2976563"/>
          <p14:tracePt t="67622" x="7575550" y="2976563"/>
          <p14:tracePt t="67631" x="7575550" y="2984500"/>
          <p14:tracePt t="67642" x="7583488" y="2994025"/>
          <p14:tracePt t="67659" x="7583488" y="3011488"/>
          <p14:tracePt t="67676" x="7602538" y="3030538"/>
          <p14:tracePt t="67692" x="7620000" y="3057525"/>
          <p14:tracePt t="67710" x="7637463" y="3074988"/>
          <p14:tracePt t="67726" x="7646988" y="3084513"/>
          <p14:tracePt t="67742" x="7683500" y="3101975"/>
          <p14:tracePt t="67759" x="7700963" y="3119438"/>
          <p14:tracePt t="67775" x="7735888" y="3146425"/>
          <p14:tracePt t="67792" x="7781925" y="3163888"/>
          <p14:tracePt t="67810" x="7808913" y="3182938"/>
          <p14:tracePt t="67826" x="7826375" y="3182938"/>
          <p14:tracePt t="67842" x="7861300" y="3190875"/>
          <p14:tracePt t="67859" x="7870825" y="3200400"/>
          <p14:tracePt t="67875" x="7907338" y="3200400"/>
          <p14:tracePt t="67892" x="7942263" y="3217863"/>
          <p14:tracePt t="67909" x="7951788" y="3217863"/>
          <p14:tracePt t="67925" x="7988300" y="3227388"/>
          <p14:tracePt t="67942" x="8023225" y="3244850"/>
          <p14:tracePt t="67959" x="8032750" y="3244850"/>
          <p14:tracePt t="67975" x="8050213" y="3244850"/>
          <p14:tracePt t="67992" x="8059738" y="3254375"/>
          <p14:tracePt t="68009" x="8067675" y="3254375"/>
          <p14:tracePt t="68266" x="8067675" y="3263900"/>
          <p14:tracePt t="68458" x="8059738" y="3263900"/>
          <p14:tracePt t="68479" x="8050213" y="3263900"/>
          <p14:tracePt t="68489" x="8032750" y="3263900"/>
          <p14:tracePt t="68499" x="8005763" y="3263900"/>
          <p14:tracePt t="68513" x="7978775" y="3263900"/>
          <p14:tracePt t="68529" x="7934325" y="3271838"/>
          <p14:tracePt t="68546" x="7915275" y="3271838"/>
          <p14:tracePt t="68562" x="7880350" y="3281363"/>
          <p14:tracePt t="68579" x="7843838" y="3281363"/>
          <p14:tracePt t="68596" x="7835900" y="3281363"/>
          <p14:tracePt t="68613" x="7808913" y="3281363"/>
          <p14:tracePt t="68629" x="7799388" y="3289300"/>
          <p14:tracePt t="68646" x="7789863" y="3289300"/>
          <p14:tracePt t="68662" x="7781925" y="3289300"/>
          <p14:tracePt t="68679" x="7772400" y="3289300"/>
          <p14:tracePt t="68696" x="7754938" y="3289300"/>
          <p14:tracePt t="68712" x="7745413" y="3289300"/>
          <p14:tracePt t="68729" x="7735888" y="3289300"/>
          <p14:tracePt t="68746" x="7727950" y="3289300"/>
          <p14:tracePt t="68779" x="7708900" y="3289300"/>
          <p14:tracePt t="68795" x="7700963" y="3298825"/>
          <p14:tracePt t="68829" x="7691438" y="3298825"/>
          <p14:tracePt t="68846" x="7683500" y="3298825"/>
          <p14:tracePt t="68875" x="7673975" y="3298825"/>
          <p14:tracePt t="70630" x="7673975" y="3316288"/>
          <p14:tracePt t="70640" x="7691438" y="3352800"/>
          <p14:tracePt t="70652" x="7691438" y="3379788"/>
          <p14:tracePt t="70669" x="7708900" y="3416300"/>
          <p14:tracePt t="70685" x="7718425" y="3451225"/>
          <p14:tracePt t="70702" x="7727950" y="3468688"/>
          <p14:tracePt t="70719" x="7735888" y="3495675"/>
          <p14:tracePt t="70735" x="7745413" y="3505200"/>
          <p14:tracePt t="70752" x="7745413" y="3514725"/>
          <p14:tracePt t="70769" x="7754938" y="3522663"/>
          <p14:tracePt t="70785" x="7754938" y="3532188"/>
          <p14:tracePt t="70819" x="7762875" y="3541713"/>
          <p14:tracePt t="70846" x="7762875" y="3549650"/>
          <p14:tracePt t="70856" x="7772400" y="3559175"/>
          <p14:tracePt t="70895" x="7781925" y="3568700"/>
          <p14:tracePt t="70906" x="7789863" y="3568700"/>
          <p14:tracePt t="70925" x="7789863" y="3576638"/>
          <p14:tracePt t="70935" x="7799388" y="3576638"/>
          <p14:tracePt t="70956" x="7799388" y="3586163"/>
          <p14:tracePt t="70966" x="7808913" y="3594100"/>
          <p14:tracePt t="70985" x="7808913" y="3603625"/>
          <p14:tracePt t="70995" x="7816850" y="3603625"/>
          <p14:tracePt t="71005" x="7816850" y="3613150"/>
          <p14:tracePt t="71025" x="7826375" y="3621088"/>
          <p14:tracePt t="71035" x="7835900" y="3630613"/>
          <p14:tracePt t="71052" x="7835900" y="3640138"/>
          <p14:tracePt t="71068" x="7843838" y="3648075"/>
          <p14:tracePt t="71085" x="7843838" y="3657600"/>
          <p14:tracePt t="71102" x="7853363" y="3657600"/>
          <p14:tracePt t="71118" x="7853363" y="3667125"/>
          <p14:tracePt t="71135" x="7861300" y="3667125"/>
          <p14:tracePt t="71152" x="7861300" y="3675063"/>
          <p14:tracePt t="71293" x="7870825" y="3675063"/>
          <p14:tracePt t="71753" x="7880350" y="3675063"/>
          <p14:tracePt t="72201" x="7880350" y="3667125"/>
          <p14:tracePt t="72247" x="7880350" y="3657600"/>
          <p14:tracePt t="73176" x="7870825" y="3657600"/>
          <p14:tracePt t="73335" x="7861300" y="3657600"/>
          <p14:tracePt t="78091" x="7861300" y="3667125"/>
          <p14:tracePt t="78101" x="7861300" y="3684588"/>
          <p14:tracePt t="78112" x="7861300" y="3721100"/>
          <p14:tracePt t="78128" x="7843838" y="3819525"/>
          <p14:tracePt t="78145" x="7835900" y="3863975"/>
          <p14:tracePt t="78162" x="7826375" y="3925888"/>
          <p14:tracePt t="78178" x="7808913" y="3971925"/>
          <p14:tracePt t="78195" x="7799388" y="3979863"/>
          <p14:tracePt t="78212" x="7799388" y="3998913"/>
          <p14:tracePt t="78228" x="7789863" y="4016375"/>
          <p14:tracePt t="78245" x="7789863" y="4025900"/>
          <p14:tracePt t="78262" x="7781925" y="4043363"/>
          <p14:tracePt t="78278" x="7772400" y="4070350"/>
          <p14:tracePt t="78295" x="7772400" y="4087813"/>
          <p14:tracePt t="78312" x="7762875" y="4114800"/>
          <p14:tracePt t="78328" x="7754938" y="4151313"/>
          <p14:tracePt t="78361" x="7754938" y="4168775"/>
          <p14:tracePt t="78378" x="7745413" y="4178300"/>
          <p14:tracePt t="78459" x="7735888" y="4178300"/>
          <p14:tracePt t="78806" x="7727950" y="4178300"/>
          <p14:tracePt t="78914" x="7718425" y="4178300"/>
          <p14:tracePt t="78954" x="7718425" y="4168775"/>
          <p14:tracePt t="78965" x="7708900" y="4168775"/>
          <p14:tracePt t="78985" x="7708900" y="4159250"/>
          <p14:tracePt t="79004" x="7700963" y="4159250"/>
          <p14:tracePt t="79014" x="7691438" y="4159250"/>
          <p14:tracePt t="79034" x="7683500" y="4159250"/>
          <p14:tracePt t="79045" x="7664450" y="4159250"/>
          <p14:tracePt t="79054" x="7656513" y="4159250"/>
          <p14:tracePt t="79065" x="7646988" y="4159250"/>
          <p14:tracePt t="79077" x="7637463" y="4159250"/>
          <p14:tracePt t="79094" x="7629525" y="4159250"/>
          <p14:tracePt t="79143" x="7620000" y="4159250"/>
          <p14:tracePt t="79224" x="7620000" y="4151313"/>
          <p14:tracePt t="106064" x="7610475" y="4151313"/>
          <p14:tracePt t="106074" x="7602538" y="4168775"/>
          <p14:tracePt t="106084" x="7583488" y="4186238"/>
          <p14:tracePt t="106101" x="7575550" y="4195763"/>
          <p14:tracePt t="106118" x="7548563" y="4230688"/>
          <p14:tracePt t="106134" x="7512050" y="4257675"/>
          <p14:tracePt t="106151" x="7485063" y="4276725"/>
          <p14:tracePt t="106167" x="7440613" y="4303713"/>
          <p14:tracePt t="106184" x="7386638" y="4330700"/>
          <p14:tracePt t="106201" x="7342188" y="4348163"/>
          <p14:tracePt t="106217" x="7324725" y="4356100"/>
          <p14:tracePt t="106234" x="7278688" y="4375150"/>
          <p14:tracePt t="106251" x="7234238" y="4375150"/>
          <p14:tracePt t="106267" x="7216775" y="4383088"/>
          <p14:tracePt t="106284" x="7189788" y="4392613"/>
          <p14:tracePt t="106301" x="7145338" y="4402138"/>
          <p14:tracePt t="106317" x="7126288" y="4402138"/>
          <p14:tracePt t="106334" x="7091363" y="4402138"/>
          <p14:tracePt t="106351" x="7054850" y="4402138"/>
          <p14:tracePt t="106367" x="7019925" y="4392613"/>
          <p14:tracePt t="106384" x="6946900" y="4356100"/>
          <p14:tracePt t="106401" x="6875463" y="4284663"/>
          <p14:tracePt t="106418" x="6831013" y="4257675"/>
          <p14:tracePt t="106434" x="6759575" y="4186238"/>
          <p14:tracePt t="106451" x="6688138" y="4097338"/>
          <p14:tracePt t="106467" x="6651625" y="4043363"/>
          <p14:tracePt t="106484" x="6589713" y="3944938"/>
          <p14:tracePt t="106501" x="6526213" y="3836988"/>
          <p14:tracePt t="106517" x="6499225" y="3773488"/>
          <p14:tracePt t="106534" x="6454775" y="3640138"/>
          <p14:tracePt t="106551" x="6418263" y="3478213"/>
          <p14:tracePt t="106567" x="6400800" y="3406775"/>
          <p14:tracePt t="106584" x="6383338" y="3254375"/>
          <p14:tracePt t="106600" x="6373813" y="3136900"/>
          <p14:tracePt t="106617" x="6373813" y="3101975"/>
          <p14:tracePt t="106634" x="6373813" y="3038475"/>
          <p14:tracePt t="106650" x="6373813" y="3003550"/>
          <p14:tracePt t="106667" x="6373813" y="2994025"/>
          <p14:tracePt t="106684" x="6383338" y="2967038"/>
          <p14:tracePt t="106701" x="6427788" y="2932113"/>
          <p14:tracePt t="106717" x="6481763" y="2913063"/>
          <p14:tracePt t="106734" x="6589713" y="2878138"/>
          <p14:tracePt t="106750" x="6661150" y="2859088"/>
          <p14:tracePt t="106767" x="6705600" y="2851150"/>
          <p14:tracePt t="106784" x="6769100" y="2832100"/>
          <p14:tracePt t="106800" x="6831013" y="2832100"/>
          <p14:tracePt t="106818" x="6911975" y="2824163"/>
          <p14:tracePt t="106834" x="6956425" y="2824163"/>
          <p14:tracePt t="106850" x="7099300" y="2824163"/>
          <p14:tracePt t="106867" x="7270750" y="2814638"/>
          <p14:tracePt t="106884" x="7351713" y="2814638"/>
          <p14:tracePt t="106900" x="7521575" y="2814638"/>
          <p14:tracePt t="106917" x="7656513" y="2814638"/>
          <p14:tracePt t="106934" x="7708900" y="2814638"/>
          <p14:tracePt t="106950" x="7789863" y="2824163"/>
          <p14:tracePt t="106967" x="7826375" y="2832100"/>
          <p14:tracePt t="106984" x="7870825" y="2859088"/>
          <p14:tracePt t="107000" x="7897813" y="2886075"/>
          <p14:tracePt t="107017" x="7915275" y="2994025"/>
          <p14:tracePt t="107033" x="7915275" y="3065463"/>
          <p14:tracePt t="107050" x="7915275" y="3209925"/>
          <p14:tracePt t="107067" x="7897813" y="3335338"/>
          <p14:tracePt t="107083" x="7888288" y="3389313"/>
          <p14:tracePt t="107100" x="7853363" y="3505200"/>
          <p14:tracePt t="107117" x="7835900" y="3621088"/>
          <p14:tracePt t="107133" x="7816850" y="3675063"/>
          <p14:tracePt t="107150" x="7781925" y="3783013"/>
          <p14:tracePt t="107167" x="7745413" y="3908425"/>
          <p14:tracePt t="107183" x="7727950" y="3962400"/>
          <p14:tracePt t="107200" x="7691438" y="4070350"/>
          <p14:tracePt t="107217" x="7646988" y="4159250"/>
          <p14:tracePt t="107233" x="7620000" y="4213225"/>
          <p14:tracePt t="107250" x="7593013" y="4294188"/>
          <p14:tracePt t="107267" x="7556500" y="4365625"/>
          <p14:tracePt t="107283" x="7548563" y="4392613"/>
          <p14:tracePt t="107300" x="7521575" y="4464050"/>
          <p14:tracePt t="107316" x="7504113" y="4508500"/>
          <p14:tracePt t="107333" x="7494588" y="4535488"/>
          <p14:tracePt t="107350" x="7477125" y="4589463"/>
          <p14:tracePt t="107367" x="7450138" y="4635500"/>
          <p14:tracePt t="107383" x="7450138" y="4660900"/>
          <p14:tracePt t="107400" x="7423150" y="4706938"/>
          <p14:tracePt t="107417" x="7413625" y="4733925"/>
          <p14:tracePt t="107433" x="7404100" y="4751388"/>
          <p14:tracePt t="107450" x="7386638" y="4760913"/>
          <p14:tracePt t="107466" x="7386638" y="4768850"/>
          <p14:tracePt t="107500" x="7378700" y="4768850"/>
          <p14:tracePt t="107516" x="7378700" y="4778375"/>
          <p14:tracePt t="107533" x="7378700" y="4787900"/>
          <p14:tracePt t="107550" x="7369175" y="4787900"/>
          <p14:tracePt t="107566" x="7369175" y="4795838"/>
          <p14:tracePt t="107605" x="7359650" y="4795838"/>
          <p14:tracePt t="107615" x="7359650" y="4805363"/>
          <p14:tracePt t="108033" x="7359650" y="4795838"/>
          <p14:tracePt t="108543" x="7359650" y="4787900"/>
          <p14:tracePt t="108791" x="7369175" y="4778375"/>
          <p14:tracePt t="109468" x="7369175" y="4768850"/>
          <p14:tracePt t="109577" x="7369175" y="4760913"/>
          <p14:tracePt t="109667" x="7369175" y="4751388"/>
          <p14:tracePt t="109717" x="7369175" y="4741863"/>
          <p14:tracePt t="111261" x="7324725" y="4733925"/>
          <p14:tracePt t="111270" x="7270750" y="4706938"/>
          <p14:tracePt t="111280" x="7226300" y="4687888"/>
          <p14:tracePt t="111296" x="7162800" y="4652963"/>
          <p14:tracePt t="111313" x="7145338" y="4643438"/>
          <p14:tracePt t="111330" x="7118350" y="4625975"/>
          <p14:tracePt t="111346" x="7099300" y="4608513"/>
          <p14:tracePt t="111363" x="7099300" y="4589463"/>
          <p14:tracePt t="111380" x="7081838" y="4554538"/>
          <p14:tracePt t="111396" x="7073900" y="4473575"/>
          <p14:tracePt t="111413" x="7064375" y="4437063"/>
          <p14:tracePt t="111430" x="7037388" y="4356100"/>
          <p14:tracePt t="111446" x="7027863" y="4294188"/>
          <p14:tracePt t="111463" x="7010400" y="4267200"/>
          <p14:tracePt t="111480" x="6992938" y="4240213"/>
          <p14:tracePt t="111496" x="6965950" y="4203700"/>
          <p14:tracePt t="111513" x="6946900" y="4195763"/>
          <p14:tracePt t="111530" x="6938963" y="4186238"/>
          <p14:tracePt t="111546" x="6921500" y="4178300"/>
          <p14:tracePt t="111580" x="6902450" y="4168775"/>
          <p14:tracePt t="111596" x="6884988" y="4168775"/>
          <p14:tracePt t="111613" x="6875463" y="4168775"/>
          <p14:tracePt t="111630" x="6840538" y="4168775"/>
          <p14:tracePt t="111646" x="6804025" y="4168775"/>
          <p14:tracePt t="111663" x="6794500" y="4168775"/>
          <p14:tracePt t="111680" x="6777038" y="4168775"/>
          <p14:tracePt t="111696" x="6759575" y="4168775"/>
          <p14:tracePt t="111730" x="6750050" y="4168775"/>
          <p14:tracePt t="111756" x="6750050" y="4159250"/>
          <p14:tracePt t="111776" x="6769100" y="4151313"/>
          <p14:tracePt t="111786" x="6821488" y="4132263"/>
          <p14:tracePt t="111796" x="6875463" y="4114800"/>
          <p14:tracePt t="111813" x="6911975" y="4097338"/>
          <p14:tracePt t="111830" x="6956425" y="4087813"/>
          <p14:tracePt t="111846" x="6973888" y="4078288"/>
          <p14:tracePt t="111880" x="6983413" y="4078288"/>
          <p14:tracePt t="111925" x="6965950" y="4078288"/>
          <p14:tracePt t="111935" x="6929438" y="4097338"/>
          <p14:tracePt t="111944" x="6875463" y="4124325"/>
          <p14:tracePt t="111955" x="6848475" y="4141788"/>
          <p14:tracePt t="111965" x="6813550" y="4168775"/>
          <p14:tracePt t="111980" x="6794500" y="4168775"/>
          <p14:tracePt t="111996" x="6777038" y="4186238"/>
          <p14:tracePt t="112013" x="6769100" y="4195763"/>
          <p14:tracePt t="112030" x="6759575" y="4195763"/>
          <p14:tracePt t="112084" x="6769100" y="4203700"/>
          <p14:tracePt t="112104" x="6777038" y="4203700"/>
          <p14:tracePt t="112115" x="6777038" y="4213225"/>
          <p14:tracePt t="112124" x="6794500" y="4213225"/>
          <p14:tracePt t="112134" x="6794500" y="4230688"/>
          <p14:tracePt t="112146" x="6794500" y="4249738"/>
          <p14:tracePt t="112163" x="6794500" y="4276725"/>
          <p14:tracePt t="112179" x="6794500" y="4330700"/>
          <p14:tracePt t="112196" x="6786563" y="4356100"/>
          <p14:tracePt t="112213" x="6786563" y="4375150"/>
          <p14:tracePt t="112229" x="6777038" y="4392613"/>
          <p14:tracePt t="112246" x="6769100" y="4402138"/>
          <p14:tracePt t="112264" x="6769100" y="4410075"/>
          <p14:tracePt t="112297" x="6769100" y="4419600"/>
          <p14:tracePt t="112325" x="6769100" y="4429125"/>
          <p14:tracePt t="112364" x="6769100" y="4437063"/>
          <p14:tracePt t="112404" x="6769100" y="4446588"/>
          <p14:tracePt t="112413" x="6777038" y="4446588"/>
          <p14:tracePt t="112423" x="6777038" y="4456113"/>
          <p14:tracePt t="112434" x="6786563" y="4456113"/>
          <p14:tracePt t="112473" x="6786563" y="4464050"/>
          <p14:tracePt t="112483" x="6794500" y="4464050"/>
          <p14:tracePt t="112511" x="6794500" y="4473575"/>
          <p14:tracePt t="112531" x="6804025" y="4473575"/>
          <p14:tracePt t="112551" x="6804025" y="4483100"/>
          <p14:tracePt t="112571" x="6804025" y="4491038"/>
          <p14:tracePt t="112604" x="6804025" y="4500563"/>
          <p14:tracePt t="112644" x="6804025" y="4508500"/>
          <p14:tracePt t="112664" x="6813550" y="4518025"/>
          <p14:tracePt t="112673" x="6813550" y="4527550"/>
          <p14:tracePt t="112684" x="6813550" y="4535488"/>
          <p14:tracePt t="112702" x="6813550" y="4545013"/>
          <p14:tracePt t="112722" x="6813550" y="4554538"/>
          <p14:tracePt t="112742" x="6813550" y="4562475"/>
          <p14:tracePt t="112772" x="6813550" y="4572000"/>
          <p14:tracePt t="112792" x="6813550" y="4581525"/>
          <p14:tracePt t="112801" x="6813550" y="4589463"/>
          <p14:tracePt t="112812" x="6813550" y="4598988"/>
        </p14:tracePtLst>
      </p14:laserTraceLst>
    </p:ext>
  </p:extLst>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 name="Group 2"/>
          <p:cNvGrpSpPr/>
          <p:nvPr/>
        </p:nvGrpSpPr>
        <p:grpSpPr>
          <a:xfrm>
            <a:off x="684572" y="1545203"/>
            <a:ext cx="4395337" cy="4478630"/>
            <a:chOff x="684572" y="1545203"/>
            <a:chExt cx="4395337" cy="447863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4572" y="1545203"/>
              <a:ext cx="4395337" cy="4478630"/>
            </a:xfrm>
            <a:prstGeom prst="rect">
              <a:avLst/>
            </a:prstGeom>
          </p:spPr>
        </p:pic>
        <p:sp>
          <p:nvSpPr>
            <p:cNvPr id="22" name="Rectangle 21"/>
            <p:cNvSpPr/>
            <p:nvPr/>
          </p:nvSpPr>
          <p:spPr>
            <a:xfrm>
              <a:off x="1487488" y="354611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p:cNvSpPr/>
            <p:nvPr/>
          </p:nvSpPr>
          <p:spPr>
            <a:xfrm>
              <a:off x="1487488" y="343187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8827" y="1545203"/>
            <a:ext cx="4369962" cy="4452775"/>
          </a:xfrm>
          <a:prstGeom prst="rect">
            <a:avLst/>
          </a:prstGeom>
        </p:spPr>
      </p:pic>
      <p:grpSp>
        <p:nvGrpSpPr>
          <p:cNvPr id="8" name="Group 7"/>
          <p:cNvGrpSpPr/>
          <p:nvPr/>
        </p:nvGrpSpPr>
        <p:grpSpPr>
          <a:xfrm>
            <a:off x="1012026" y="1848823"/>
            <a:ext cx="547566" cy="594970"/>
            <a:chOff x="1291750" y="509896"/>
            <a:chExt cx="547566" cy="594970"/>
          </a:xfrm>
        </p:grpSpPr>
        <p:sp>
          <p:nvSpPr>
            <p:cNvPr id="9" name="Right Arrow 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1</a:t>
              </a:r>
              <a:endParaRPr lang="nl-BE" dirty="0"/>
            </a:p>
          </p:txBody>
        </p:sp>
      </p:grpSp>
      <p:sp>
        <p:nvSpPr>
          <p:cNvPr id="11" name="Rectangle 10"/>
          <p:cNvSpPr/>
          <p:nvPr/>
        </p:nvSpPr>
        <p:spPr>
          <a:xfrm>
            <a:off x="1559592" y="2542942"/>
            <a:ext cx="2069757" cy="8217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Edit -&gt; Settings</a:t>
            </a:r>
            <a:endParaRPr lang="nl-BE" dirty="0"/>
          </a:p>
        </p:txBody>
      </p:sp>
      <p:grpSp>
        <p:nvGrpSpPr>
          <p:cNvPr id="12" name="Group 11"/>
          <p:cNvGrpSpPr/>
          <p:nvPr/>
        </p:nvGrpSpPr>
        <p:grpSpPr>
          <a:xfrm>
            <a:off x="7188345" y="3119509"/>
            <a:ext cx="547566" cy="594970"/>
            <a:chOff x="1291750" y="509896"/>
            <a:chExt cx="547566" cy="594970"/>
          </a:xfrm>
        </p:grpSpPr>
        <p:sp>
          <p:nvSpPr>
            <p:cNvPr id="13" name="Right Arrow 12"/>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Oval 13"/>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2</a:t>
              </a:r>
              <a:endParaRPr lang="nl-BE" dirty="0"/>
            </a:p>
          </p:txBody>
        </p:sp>
      </p:grpSp>
      <p:grpSp>
        <p:nvGrpSpPr>
          <p:cNvPr id="15" name="Group 14"/>
          <p:cNvGrpSpPr/>
          <p:nvPr/>
        </p:nvGrpSpPr>
        <p:grpSpPr>
          <a:xfrm>
            <a:off x="8702152" y="3063356"/>
            <a:ext cx="547566" cy="594970"/>
            <a:chOff x="1291750" y="509896"/>
            <a:chExt cx="547566" cy="594970"/>
          </a:xfrm>
        </p:grpSpPr>
        <p:sp>
          <p:nvSpPr>
            <p:cNvPr id="16" name="Right Arrow 15"/>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7" name="Oval 16"/>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4</a:t>
              </a:r>
              <a:endParaRPr lang="nl-BE" dirty="0"/>
            </a:p>
          </p:txBody>
        </p:sp>
      </p:grpSp>
      <p:grpSp>
        <p:nvGrpSpPr>
          <p:cNvPr id="18" name="Group 17"/>
          <p:cNvGrpSpPr/>
          <p:nvPr/>
        </p:nvGrpSpPr>
        <p:grpSpPr>
          <a:xfrm>
            <a:off x="9105702" y="4388136"/>
            <a:ext cx="547566" cy="594970"/>
            <a:chOff x="1291750" y="509896"/>
            <a:chExt cx="547566" cy="594970"/>
          </a:xfrm>
        </p:grpSpPr>
        <p:sp>
          <p:nvSpPr>
            <p:cNvPr id="19" name="Right Arrow 1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Oval 1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3</a:t>
              </a:r>
              <a:endParaRPr lang="nl-BE" dirty="0"/>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52</a:t>
            </a:fld>
            <a:endParaRPr lang="nl-BE" sz="900" dirty="0">
              <a:solidFill>
                <a:schemeClr val="bg1"/>
              </a:solidFill>
            </a:endParaRPr>
          </a:p>
        </p:txBody>
      </p:sp>
      <p:sp>
        <p:nvSpPr>
          <p:cNvPr id="24"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177727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EC2BD4-45B8-509C-ACBB-FEA42E173F1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02753" y="1189579"/>
            <a:ext cx="8586493" cy="4744368"/>
          </a:xfrm>
          <a:prstGeom prst="rect">
            <a:avLst/>
          </a:prstGeom>
        </p:spPr>
      </p:pic>
      <p:grpSp>
        <p:nvGrpSpPr>
          <p:cNvPr id="8" name="Group 7"/>
          <p:cNvGrpSpPr/>
          <p:nvPr/>
        </p:nvGrpSpPr>
        <p:grpSpPr>
          <a:xfrm>
            <a:off x="3647728" y="4149080"/>
            <a:ext cx="457200" cy="637409"/>
            <a:chOff x="1382116" y="647666"/>
            <a:chExt cx="457200" cy="637409"/>
          </a:xfrm>
        </p:grpSpPr>
        <p:sp>
          <p:nvSpPr>
            <p:cNvPr id="9" name="Right Arrow 8"/>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5</a:t>
              </a:r>
              <a:endParaRPr lang="nl-BE" dirty="0"/>
            </a:p>
          </p:txBody>
        </p:sp>
      </p:grpSp>
      <p:grpSp>
        <p:nvGrpSpPr>
          <p:cNvPr id="21" name="Group 20"/>
          <p:cNvGrpSpPr/>
          <p:nvPr/>
        </p:nvGrpSpPr>
        <p:grpSpPr>
          <a:xfrm>
            <a:off x="9070509" y="1747464"/>
            <a:ext cx="665247" cy="457200"/>
            <a:chOff x="1174069" y="647666"/>
            <a:chExt cx="665247" cy="457200"/>
          </a:xfrm>
        </p:grpSpPr>
        <p:sp>
          <p:nvSpPr>
            <p:cNvPr id="22" name="Right Arrow 21"/>
            <p:cNvSpPr/>
            <p:nvPr/>
          </p:nvSpPr>
          <p:spPr>
            <a:xfrm rot="10800000">
              <a:off x="1174069" y="749696"/>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3" name="Oval 22"/>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6</a:t>
              </a:r>
              <a:endParaRPr lang="nl-BE" dirty="0"/>
            </a:p>
          </p:txBody>
        </p:sp>
      </p:grpSp>
      <p:grpSp>
        <p:nvGrpSpPr>
          <p:cNvPr id="24" name="Group 23"/>
          <p:cNvGrpSpPr/>
          <p:nvPr/>
        </p:nvGrpSpPr>
        <p:grpSpPr>
          <a:xfrm>
            <a:off x="8377351" y="2240260"/>
            <a:ext cx="547566" cy="594970"/>
            <a:chOff x="1291750" y="509896"/>
            <a:chExt cx="547566" cy="594970"/>
          </a:xfrm>
        </p:grpSpPr>
        <p:sp>
          <p:nvSpPr>
            <p:cNvPr id="25" name="Right Arrow 24"/>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Oval 25"/>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7</a:t>
              </a:r>
              <a:endParaRPr lang="nl-BE" dirty="0"/>
            </a:p>
          </p:txBody>
        </p:sp>
      </p:grpSp>
      <p:grpSp>
        <p:nvGrpSpPr>
          <p:cNvPr id="27" name="Group 26"/>
          <p:cNvGrpSpPr/>
          <p:nvPr/>
        </p:nvGrpSpPr>
        <p:grpSpPr>
          <a:xfrm>
            <a:off x="7868812" y="3131515"/>
            <a:ext cx="547566" cy="594970"/>
            <a:chOff x="1291750" y="509896"/>
            <a:chExt cx="547566" cy="594970"/>
          </a:xfrm>
        </p:grpSpPr>
        <p:sp>
          <p:nvSpPr>
            <p:cNvPr id="28" name="Right Arrow 27"/>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Oval 28"/>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8</a:t>
              </a:r>
              <a:endParaRPr lang="nl-BE" dirty="0"/>
            </a:p>
          </p:txBody>
        </p:sp>
      </p:grpSp>
      <p:grpSp>
        <p:nvGrpSpPr>
          <p:cNvPr id="30" name="Group 29"/>
          <p:cNvGrpSpPr/>
          <p:nvPr/>
        </p:nvGrpSpPr>
        <p:grpSpPr>
          <a:xfrm>
            <a:off x="8113451" y="4970959"/>
            <a:ext cx="457200" cy="637409"/>
            <a:chOff x="1382116" y="647666"/>
            <a:chExt cx="457200" cy="637409"/>
          </a:xfrm>
        </p:grpSpPr>
        <p:sp>
          <p:nvSpPr>
            <p:cNvPr id="31" name="Right Arrow 30"/>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2" name="Oval 31"/>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9</a:t>
              </a:r>
              <a:endParaRPr lang="nl-BE" dirty="0"/>
            </a:p>
          </p:txBody>
        </p:sp>
      </p:grpSp>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53</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3994483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681823" y="320654"/>
            <a:ext cx="5700888" cy="5808921"/>
            <a:chOff x="2681823" y="320654"/>
            <a:chExt cx="5700888" cy="5808921"/>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1823" y="320654"/>
              <a:ext cx="5700888" cy="5808921"/>
            </a:xfrm>
            <a:prstGeom prst="rect">
              <a:avLst/>
            </a:prstGeom>
          </p:spPr>
        </p:pic>
        <p:sp>
          <p:nvSpPr>
            <p:cNvPr id="10" name="Rectangle 9"/>
            <p:cNvSpPr/>
            <p:nvPr/>
          </p:nvSpPr>
          <p:spPr>
            <a:xfrm>
              <a:off x="3672000" y="2775528"/>
              <a:ext cx="504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p:nvSpPr>
          <p:spPr>
            <a:xfrm>
              <a:off x="6696000" y="2928850"/>
              <a:ext cx="288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p:nvSpPr>
          <p:spPr>
            <a:xfrm>
              <a:off x="6397147" y="2780928"/>
              <a:ext cx="252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p:nvSpPr>
          <p:spPr>
            <a:xfrm>
              <a:off x="5580000" y="1260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p:cNvSpPr/>
            <p:nvPr/>
          </p:nvSpPr>
          <p:spPr>
            <a:xfrm>
              <a:off x="5580000" y="1880368"/>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p:nvSpPr>
          <p:spPr>
            <a:xfrm>
              <a:off x="7596000" y="2142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p:cNvSpPr/>
            <p:nvPr/>
          </p:nvSpPr>
          <p:spPr>
            <a:xfrm>
              <a:off x="3672000" y="2933328"/>
              <a:ext cx="432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p:cNvSpPr/>
            <p:nvPr/>
          </p:nvSpPr>
          <p:spPr>
            <a:xfrm>
              <a:off x="3636000" y="360000"/>
              <a:ext cx="396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 name="Rounded Rectangular Callout 2"/>
          <p:cNvSpPr/>
          <p:nvPr/>
        </p:nvSpPr>
        <p:spPr>
          <a:xfrm>
            <a:off x="388368" y="3068960"/>
            <a:ext cx="1891208" cy="1211997"/>
          </a:xfrm>
          <a:prstGeom prst="wedgeRoundRectCallout">
            <a:avLst>
              <a:gd name="adj1" fmla="val 147440"/>
              <a:gd name="adj2" fmla="val 4204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Content on your local machine (e.g. laptop)</a:t>
            </a:r>
            <a:endParaRPr lang="nl-BE" dirty="0"/>
          </a:p>
        </p:txBody>
      </p:sp>
      <p:sp>
        <p:nvSpPr>
          <p:cNvPr id="5" name="Rounded Rectangular Callout 4"/>
          <p:cNvSpPr/>
          <p:nvPr/>
        </p:nvSpPr>
        <p:spPr>
          <a:xfrm>
            <a:off x="9082218" y="3159440"/>
            <a:ext cx="2817340" cy="955517"/>
          </a:xfrm>
          <a:prstGeom prst="wedgeRoundRectCallout">
            <a:avLst>
              <a:gd name="adj1" fmla="val -132236"/>
              <a:gd name="adj2" fmla="val 70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Content of your chosen folder</a:t>
            </a:r>
            <a:endParaRPr lang="nl-BE" dirty="0"/>
          </a:p>
        </p:txBody>
      </p:sp>
      <p:sp>
        <p:nvSpPr>
          <p:cNvPr id="33" name="Rounded Rectangular Callout 32"/>
          <p:cNvSpPr/>
          <p:nvPr/>
        </p:nvSpPr>
        <p:spPr>
          <a:xfrm>
            <a:off x="9082217" y="1952368"/>
            <a:ext cx="2817340" cy="994718"/>
          </a:xfrm>
          <a:prstGeom prst="wedgeRoundRectCallout">
            <a:avLst>
              <a:gd name="adj1" fmla="val -76945"/>
              <a:gd name="adj2" fmla="val -2383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Navigate here to to your </a:t>
            </a:r>
            <a:r>
              <a:rPr lang="en-US" dirty="0">
                <a:latin typeface="Courier New" panose="02070309020205020404" pitchFamily="49" charset="0"/>
                <a:cs typeface="Courier New" panose="02070309020205020404" pitchFamily="49" charset="0"/>
              </a:rPr>
              <a:t>$VSC_DATA</a:t>
            </a:r>
            <a:r>
              <a:rPr lang="en-US" dirty="0"/>
              <a:t> folder, e.g.</a:t>
            </a:r>
            <a:br>
              <a:rPr lang="en-US" dirty="0"/>
            </a:br>
            <a:r>
              <a:rPr lang="en-US" sz="1600" dirty="0"/>
              <a:t>/data/</a:t>
            </a:r>
            <a:r>
              <a:rPr lang="en-US" sz="1600" dirty="0" err="1"/>
              <a:t>leuven</a:t>
            </a:r>
            <a:r>
              <a:rPr lang="en-US" sz="1600" dirty="0"/>
              <a:t>/399/vsc39934</a:t>
            </a:r>
            <a:endParaRPr lang="nl-BE" sz="1600" dirty="0"/>
          </a:p>
        </p:txBody>
      </p:sp>
      <p:sp>
        <p:nvSpPr>
          <p:cNvPr id="34" name="Rounded Rectangular Callout 33"/>
          <p:cNvSpPr/>
          <p:nvPr/>
        </p:nvSpPr>
        <p:spPr>
          <a:xfrm>
            <a:off x="8884508" y="320654"/>
            <a:ext cx="3015049" cy="995341"/>
          </a:xfrm>
          <a:prstGeom prst="wedgeRoundRectCallout">
            <a:avLst>
              <a:gd name="adj1" fmla="val -178005"/>
              <a:gd name="adj2" fmla="val -1322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It can be convenient to bookmark your data and scratch folders</a:t>
            </a:r>
            <a:endParaRPr lang="nl-BE" dirty="0"/>
          </a:p>
        </p:txBody>
      </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54</a:t>
            </a:fld>
            <a:endParaRPr lang="nl-BE" sz="900" dirty="0">
              <a:solidFill>
                <a:schemeClr val="bg1"/>
              </a:solidFill>
            </a:endParaRPr>
          </a:p>
        </p:txBody>
      </p:sp>
      <p:sp>
        <p:nvSpPr>
          <p:cNvPr id="4" name="Rounded Rectangular Callout 4">
            <a:extLst>
              <a:ext uri="{FF2B5EF4-FFF2-40B4-BE49-F238E27FC236}">
                <a16:creationId xmlns:a16="http://schemas.microsoft.com/office/drawing/2014/main" id="{F95FE157-ADB0-6DAE-2CD0-0E7FCB97C317}"/>
              </a:ext>
            </a:extLst>
          </p:cNvPr>
          <p:cNvSpPr/>
          <p:nvPr/>
        </p:nvSpPr>
        <p:spPr>
          <a:xfrm>
            <a:off x="9103185" y="4289775"/>
            <a:ext cx="2796372" cy="1443481"/>
          </a:xfrm>
          <a:prstGeom prst="wedgeRoundRectCallout">
            <a:avLst>
              <a:gd name="adj1" fmla="val -48501"/>
              <a:gd name="adj2" fmla="val -2084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rgbClr val="FFFF00"/>
                </a:solidFill>
              </a:rPr>
              <a:t>WARNING:</a:t>
            </a:r>
            <a:r>
              <a:rPr lang="en-US" dirty="0"/>
              <a:t> by default you will land in your </a:t>
            </a:r>
            <a:r>
              <a:rPr lang="en-US" dirty="0">
                <a:latin typeface="Courier New" panose="02070309020205020404" pitchFamily="49" charset="0"/>
                <a:cs typeface="Courier New" panose="02070309020205020404" pitchFamily="49" charset="0"/>
              </a:rPr>
              <a:t>$VSC_HOME</a:t>
            </a:r>
            <a:r>
              <a:rPr lang="en-US" dirty="0"/>
              <a:t> which is typically </a:t>
            </a:r>
            <a:r>
              <a:rPr lang="en-US" b="1" dirty="0"/>
              <a:t>NOT</a:t>
            </a:r>
            <a:r>
              <a:rPr lang="en-US" dirty="0"/>
              <a:t> where you want to store data</a:t>
            </a:r>
            <a:endParaRPr lang="nl-BE" dirty="0"/>
          </a:p>
        </p:txBody>
      </p:sp>
    </p:spTree>
    <p:extLst>
      <p:ext uri="{BB962C8B-B14F-4D97-AF65-F5344CB8AC3E}">
        <p14:creationId xmlns:p14="http://schemas.microsoft.com/office/powerpoint/2010/main" val="1783343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33" grpId="0" animBg="1"/>
      <p:bldP spid="34" grpId="0" animBg="1"/>
      <p:bldP spid="4"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55</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a:t>
            </a:r>
            <a:r>
              <a:rPr lang="en-US" altLang="en-US" sz="3200" dirty="0" err="1"/>
              <a:t>rsync</a:t>
            </a:r>
            <a:endParaRPr lang="pl-PL" altLang="en-US" sz="3200" dirty="0"/>
          </a:p>
        </p:txBody>
      </p:sp>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172011"/>
            <a:ext cx="11352624" cy="2401005"/>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For Linux, Mac and Windows WSL users</a:t>
            </a:r>
          </a:p>
          <a:p>
            <a:pPr marL="324000" indent="-324000">
              <a:buClr>
                <a:srgbClr val="DB6C30"/>
              </a:buClr>
              <a:buFont typeface="Wingdings" panose="05000000000000000000" pitchFamily="2" charset="2"/>
              <a:buChar char="q"/>
            </a:pPr>
            <a:r>
              <a:rPr lang="en-US" dirty="0"/>
              <a:t>Synchronize source and destination</a:t>
            </a:r>
          </a:p>
          <a:p>
            <a:pPr marL="324000" indent="-324000">
              <a:buClr>
                <a:srgbClr val="DB6C30"/>
              </a:buClr>
              <a:buFont typeface="Wingdings" panose="05000000000000000000" pitchFamily="2" charset="2"/>
              <a:buChar char="q"/>
            </a:pPr>
            <a:r>
              <a:rPr lang="en-US" dirty="0"/>
              <a:t>Listens to your SSH agent</a:t>
            </a:r>
          </a:p>
          <a:p>
            <a:pPr marL="324000" indent="-324000">
              <a:buClr>
                <a:srgbClr val="DB6C30"/>
              </a:buClr>
              <a:buFont typeface="Wingdings" panose="05000000000000000000" pitchFamily="2" charset="2"/>
              <a:buChar char="q"/>
            </a:pPr>
            <a:r>
              <a:rPr lang="en-US" dirty="0"/>
              <a:t>Example usage:</a:t>
            </a:r>
            <a:br>
              <a:rPr lang="en-US" dirty="0"/>
            </a:b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rsync</a:t>
            </a:r>
            <a:r>
              <a:rPr lang="en-US" sz="1800" dirty="0">
                <a:latin typeface="Courier New" panose="02070309020205020404" pitchFamily="49" charset="0"/>
                <a:cs typeface="Courier New" panose="02070309020205020404" pitchFamily="49" charset="0"/>
              </a:rPr>
              <a:t> –av /path/to/source </a:t>
            </a:r>
            <a:r>
              <a:rPr lang="en-US" sz="1800" dirty="0">
                <a:latin typeface="Courier New" panose="02070309020205020404" pitchFamily="49" charset="0"/>
                <a:cs typeface="Courier New" panose="02070309020205020404" pitchFamily="49" charset="0"/>
                <a:hlinkClick r:id="rId2">
                  <a:extLst>
                    <a:ext uri="{A12FA001-AC4F-418D-AE19-62706E023703}">
                      <ahyp:hlinkClr xmlns:ahyp="http://schemas.microsoft.com/office/drawing/2018/hyperlinkcolor" val="tx"/>
                    </a:ext>
                  </a:extLst>
                </a:hlinkClick>
              </a:rPr>
              <a:t>vsc3XXXX@login.hpc.kuleuven.be:/path/to/destination</a:t>
            </a:r>
            <a:endParaRPr lang="en-US" sz="18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endParaRPr lang="en-US" dirty="0">
              <a:cs typeface="Courier New" panose="02070309020205020404" pitchFamily="49" charset="0"/>
            </a:endParaRPr>
          </a:p>
        </p:txBody>
      </p:sp>
    </p:spTree>
    <p:extLst>
      <p:ext uri="{BB962C8B-B14F-4D97-AF65-F5344CB8AC3E}">
        <p14:creationId xmlns:p14="http://schemas.microsoft.com/office/powerpoint/2010/main" val="9921739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56</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Globus</a:t>
            </a:r>
            <a:endParaRPr lang="pl-PL" altLang="en-US" sz="3200" dirty="0"/>
          </a:p>
        </p:txBody>
      </p:sp>
      <p:pic>
        <p:nvPicPr>
          <p:cNvPr id="2" name="Picture 1">
            <a:extLst>
              <a:ext uri="{FF2B5EF4-FFF2-40B4-BE49-F238E27FC236}">
                <a16:creationId xmlns:a16="http://schemas.microsoft.com/office/drawing/2014/main" id="{F7E02027-17C5-6485-3764-38B305A83A79}"/>
              </a:ext>
            </a:extLst>
          </p:cNvPr>
          <p:cNvPicPr>
            <a:picLocks noChangeAspect="1"/>
          </p:cNvPicPr>
          <p:nvPr/>
        </p:nvPicPr>
        <p:blipFill rotWithShape="1">
          <a:blip r:embed="rId2"/>
          <a:srcRect l="2224" t="6514" r="41926" b="2407"/>
          <a:stretch/>
        </p:blipFill>
        <p:spPr>
          <a:xfrm>
            <a:off x="5847724" y="1286929"/>
            <a:ext cx="5964561" cy="4464437"/>
          </a:xfrm>
          <a:prstGeom prst="rect">
            <a:avLst/>
          </a:prstGeom>
        </p:spPr>
      </p:pic>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268760"/>
            <a:ext cx="4968552" cy="4489238"/>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Web interface for transferring, sharing and searching within data</a:t>
            </a:r>
          </a:p>
          <a:p>
            <a:pPr marL="324000" indent="-324000">
              <a:buClr>
                <a:srgbClr val="DB6C30"/>
              </a:buClr>
              <a:buFont typeface="Wingdings" panose="05000000000000000000" pitchFamily="2" charset="2"/>
              <a:buChar char="q"/>
            </a:pPr>
            <a:r>
              <a:rPr lang="en-US" dirty="0"/>
              <a:t>Schedule and resume (large) transfers</a:t>
            </a:r>
          </a:p>
          <a:p>
            <a:pPr marL="324000" indent="-324000">
              <a:buClr>
                <a:srgbClr val="DB6C30"/>
              </a:buClr>
              <a:buFont typeface="Wingdings" panose="05000000000000000000" pitchFamily="2" charset="2"/>
              <a:buChar char="q"/>
            </a:pPr>
            <a:r>
              <a:rPr lang="en-US" dirty="0"/>
              <a:t>Workflow:</a:t>
            </a:r>
            <a:br>
              <a:rPr lang="en-US" dirty="0"/>
            </a:br>
            <a:r>
              <a:rPr lang="en-US" dirty="0"/>
              <a:t>Define “endpoint” on the source</a:t>
            </a:r>
            <a:br>
              <a:rPr lang="en-US" dirty="0"/>
            </a:br>
            <a:r>
              <a:rPr lang="en-US" dirty="0"/>
              <a:t>Define “endpoint” on the destination</a:t>
            </a:r>
            <a:br>
              <a:rPr lang="en-US" dirty="0"/>
            </a:br>
            <a:r>
              <a:rPr lang="en-US" dirty="0"/>
              <a:t>Transfer between endpoints</a:t>
            </a:r>
          </a:p>
          <a:p>
            <a:pPr marL="324000" indent="-324000">
              <a:buClr>
                <a:srgbClr val="DB6C30"/>
              </a:buClr>
              <a:buFont typeface="Wingdings" panose="05000000000000000000" pitchFamily="2" charset="2"/>
              <a:buChar char="q"/>
            </a:pPr>
            <a:r>
              <a:rPr lang="en-US" dirty="0"/>
              <a:t>Endpoints on all VSC sites:</a:t>
            </a:r>
            <a:br>
              <a:rPr lang="en-US" dirty="0"/>
            </a:br>
            <a:r>
              <a:rPr lang="en-US" dirty="0"/>
              <a:t>all Tier-2 clusters: home, data, scratch*</a:t>
            </a:r>
            <a:br>
              <a:rPr lang="en-US" dirty="0"/>
            </a:br>
            <a:r>
              <a:rPr lang="en-US" dirty="0"/>
              <a:t>all Tier-1 clusters: scratch, projects</a:t>
            </a:r>
          </a:p>
          <a:p>
            <a:pPr marL="324000" indent="-324000">
              <a:buClr>
                <a:srgbClr val="DB6C30"/>
              </a:buClr>
              <a:buFont typeface="Wingdings" panose="05000000000000000000" pitchFamily="2" charset="2"/>
              <a:buChar char="q"/>
            </a:pPr>
            <a:endParaRPr lang="en-US" dirty="0"/>
          </a:p>
          <a:p>
            <a:pPr marL="0" indent="0">
              <a:buClr>
                <a:srgbClr val="DB6C30"/>
              </a:buClr>
              <a:buNone/>
            </a:pPr>
            <a:r>
              <a:rPr lang="en-US" dirty="0"/>
              <a:t>* You can also access staging storage   </a:t>
            </a:r>
            <a:br>
              <a:rPr lang="en-US" dirty="0"/>
            </a:br>
            <a:r>
              <a:rPr lang="en-US" dirty="0"/>
              <a:t>   through this endpoint (Leuven Tier-2 only)</a:t>
            </a:r>
          </a:p>
        </p:txBody>
      </p:sp>
    </p:spTree>
    <p:extLst>
      <p:ext uri="{BB962C8B-B14F-4D97-AF65-F5344CB8AC3E}">
        <p14:creationId xmlns:p14="http://schemas.microsoft.com/office/powerpoint/2010/main" val="41038613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57</a:t>
            </a:fld>
            <a:endParaRPr lang="nl-BE" sz="900" dirty="0">
              <a:solidFill>
                <a:schemeClr val="bg1"/>
              </a:solidFill>
            </a:endParaRPr>
          </a:p>
        </p:txBody>
      </p:sp>
      <p:pic>
        <p:nvPicPr>
          <p:cNvPr id="4" name="Picture 3">
            <a:extLst>
              <a:ext uri="{FF2B5EF4-FFF2-40B4-BE49-F238E27FC236}">
                <a16:creationId xmlns:a16="http://schemas.microsoft.com/office/drawing/2014/main" id="{1530C477-AD68-5B71-3418-BC005F9936AF}"/>
              </a:ext>
            </a:extLst>
          </p:cNvPr>
          <p:cNvPicPr>
            <a:picLocks noChangeAspect="1"/>
          </p:cNvPicPr>
          <p:nvPr/>
        </p:nvPicPr>
        <p:blipFill>
          <a:blip r:embed="rId2"/>
          <a:stretch>
            <a:fillRect/>
          </a:stretch>
        </p:blipFill>
        <p:spPr>
          <a:xfrm>
            <a:off x="1587251" y="260648"/>
            <a:ext cx="8515199" cy="5575729"/>
          </a:xfrm>
          <a:prstGeom prst="rect">
            <a:avLst/>
          </a:prstGeom>
        </p:spPr>
      </p:pic>
    </p:spTree>
    <p:extLst>
      <p:ext uri="{BB962C8B-B14F-4D97-AF65-F5344CB8AC3E}">
        <p14:creationId xmlns:p14="http://schemas.microsoft.com/office/powerpoint/2010/main" val="346711238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086395" y="4212377"/>
            <a:ext cx="3137397"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Open OnDemand</a:t>
            </a:r>
          </a:p>
        </p:txBody>
      </p:sp>
      <p:sp>
        <p:nvSpPr>
          <p:cNvPr id="6" name="Slide Number Placeholder 5"/>
          <p:cNvSpPr>
            <a:spLocks noGrp="1"/>
          </p:cNvSpPr>
          <p:nvPr>
            <p:ph type="sldNum" sz="quarter" idx="12"/>
          </p:nvPr>
        </p:nvSpPr>
        <p:spPr/>
        <p:txBody>
          <a:bodyPr/>
          <a:lstStyle/>
          <a:p>
            <a:fld id="{A2912448-FEEC-49E8-9588-2DF1F90D57C2}" type="slidenum">
              <a:rPr lang="en-US" smtClean="0"/>
              <a:t>58</a:t>
            </a:fld>
            <a:endParaRPr lang="en-US"/>
          </a:p>
        </p:txBody>
      </p:sp>
    </p:spTree>
    <p:extLst>
      <p:ext uri="{BB962C8B-B14F-4D97-AF65-F5344CB8AC3E}">
        <p14:creationId xmlns:p14="http://schemas.microsoft.com/office/powerpoint/2010/main" val="9804414"/>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839415" y="1298179"/>
            <a:ext cx="5005435" cy="378700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Access clusters via your web browser</a:t>
            </a:r>
          </a:p>
          <a:p>
            <a:pPr marL="324000" indent="-324000">
              <a:buBlip>
                <a:blip r:embed="rId3"/>
              </a:buBlip>
            </a:pPr>
            <a:r>
              <a:rPr lang="en-US" sz="2000" dirty="0">
                <a:hlinkClick r:id="rId4"/>
              </a:rPr>
              <a:t>https://ondemand.hpc.kuleuven.be</a:t>
            </a:r>
            <a:endParaRPr lang="en-US" sz="2000" dirty="0"/>
          </a:p>
          <a:p>
            <a:pPr marL="324000" indent="-324000">
              <a:buBlip>
                <a:blip r:embed="rId3"/>
              </a:buBlip>
            </a:pPr>
            <a:r>
              <a:rPr lang="en-US" dirty="0"/>
              <a:t>Login via your institute’s IDP</a:t>
            </a:r>
          </a:p>
          <a:p>
            <a:pPr marL="324000" indent="-324000">
              <a:buBlip>
                <a:blip r:embed="rId3"/>
              </a:buBlip>
            </a:pPr>
            <a:r>
              <a:rPr lang="en-US" dirty="0"/>
              <a:t>File browser + Data Transfer (Globus)</a:t>
            </a:r>
          </a:p>
          <a:p>
            <a:pPr marL="324000" indent="-324000">
              <a:buBlip>
                <a:blip r:embed="rId3"/>
              </a:buBlip>
            </a:pPr>
            <a:r>
              <a:rPr lang="en-US" dirty="0"/>
              <a:t>Develop, compile and test your code</a:t>
            </a:r>
          </a:p>
          <a:p>
            <a:pPr marL="324000" indent="-324000">
              <a:buBlip>
                <a:blip r:embed="rId3"/>
              </a:buBlip>
            </a:pPr>
            <a:r>
              <a:rPr lang="en-US" dirty="0"/>
              <a:t>Interactive apps + integrated shell</a:t>
            </a:r>
          </a:p>
          <a:p>
            <a:pPr marL="324000" indent="-324000">
              <a:buBlip>
                <a:blip r:embed="rId3"/>
              </a:buBlip>
            </a:pPr>
            <a:r>
              <a:rPr lang="en-US" dirty="0" err="1"/>
              <a:t>noVNC</a:t>
            </a:r>
            <a:r>
              <a:rPr lang="en-US" dirty="0"/>
              <a:t> Desktop for graphical apps</a:t>
            </a:r>
          </a:p>
          <a:p>
            <a:pPr marL="324000" indent="-324000">
              <a:buBlip>
                <a:blip r:embed="rId3"/>
              </a:buBlip>
            </a:pPr>
            <a:r>
              <a:rPr lang="en-US" dirty="0" err="1"/>
              <a:t>VSCode</a:t>
            </a:r>
            <a:r>
              <a:rPr lang="en-US" dirty="0"/>
              <a:t> and PyCharm editors</a:t>
            </a:r>
          </a:p>
          <a:p>
            <a:pPr marL="324000" indent="-324000">
              <a:buBlip>
                <a:blip r:embed="rId3"/>
              </a:buBlip>
            </a:pPr>
            <a:r>
              <a:rPr lang="en-US" dirty="0"/>
              <a:t>Fluent, </a:t>
            </a:r>
            <a:r>
              <a:rPr lang="en-US" dirty="0" err="1"/>
              <a:t>Jupyter</a:t>
            </a:r>
            <a:r>
              <a:rPr lang="en-US" dirty="0"/>
              <a:t> Lab, </a:t>
            </a:r>
            <a:r>
              <a:rPr lang="en-US" dirty="0" err="1"/>
              <a:t>Rstudio</a:t>
            </a:r>
            <a:r>
              <a:rPr lang="en-US" dirty="0"/>
              <a:t>, MATLAB, </a:t>
            </a:r>
            <a:r>
              <a:rPr lang="en-US" dirty="0" err="1"/>
              <a:t>ParaView</a:t>
            </a:r>
            <a:r>
              <a:rPr lang="en-US" dirty="0"/>
              <a:t>, </a:t>
            </a:r>
            <a:r>
              <a:rPr lang="en-US" dirty="0" err="1"/>
              <a:t>Tensorboard</a:t>
            </a:r>
            <a:r>
              <a:rPr lang="en-US" dirty="0"/>
              <a:t>, </a:t>
            </a:r>
            <a:r>
              <a:rPr lang="en-US" dirty="0" err="1"/>
              <a:t>Gnuplot</a:t>
            </a:r>
            <a:endParaRPr lang="nl-BE" dirty="0"/>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59</a:t>
            </a:fld>
            <a:endParaRPr lang="nl-BE" sz="900" dirty="0">
              <a:solidFill>
                <a:schemeClr val="bg1"/>
              </a:solidFill>
            </a:endParaRPr>
          </a:p>
        </p:txBody>
      </p:sp>
      <p:pic>
        <p:nvPicPr>
          <p:cNvPr id="5" name="Picture 4"/>
          <p:cNvPicPr>
            <a:picLocks noChangeAspect="1"/>
          </p:cNvPicPr>
          <p:nvPr/>
        </p:nvPicPr>
        <p:blipFill>
          <a:blip r:embed="rId5">
            <a:extLst>
              <a:ext uri="{28A0092B-C50C-407E-A947-70E740481C1C}">
                <a14:useLocalDpi xmlns:a14="http://schemas.microsoft.com/office/drawing/2010/main" val="0"/>
              </a:ext>
            </a:extLst>
          </a:blip>
          <a:srcRect/>
          <a:stretch/>
        </p:blipFill>
        <p:spPr>
          <a:xfrm>
            <a:off x="6843734" y="332680"/>
            <a:ext cx="4491683" cy="5741543"/>
          </a:xfrm>
          <a:prstGeom prst="rect">
            <a:avLst/>
          </a:prstGeom>
        </p:spPr>
      </p:pic>
      <p:grpSp>
        <p:nvGrpSpPr>
          <p:cNvPr id="10" name="Group 9">
            <a:extLst>
              <a:ext uri="{FF2B5EF4-FFF2-40B4-BE49-F238E27FC236}">
                <a16:creationId xmlns:a16="http://schemas.microsoft.com/office/drawing/2014/main" id="{B7F409E1-F14E-2A4F-B417-916F0FABD87E}"/>
              </a:ext>
            </a:extLst>
          </p:cNvPr>
          <p:cNvGrpSpPr/>
          <p:nvPr/>
        </p:nvGrpSpPr>
        <p:grpSpPr>
          <a:xfrm>
            <a:off x="1271464" y="5047766"/>
            <a:ext cx="4248472" cy="996326"/>
            <a:chOff x="1055440" y="5047766"/>
            <a:chExt cx="4104456" cy="996326"/>
          </a:xfrm>
        </p:grpSpPr>
        <p:sp>
          <p:nvSpPr>
            <p:cNvPr id="2" name="Rectangle: Rounded Corners 1">
              <a:extLst>
                <a:ext uri="{FF2B5EF4-FFF2-40B4-BE49-F238E27FC236}">
                  <a16:creationId xmlns:a16="http://schemas.microsoft.com/office/drawing/2014/main" id="{99343D6B-AE28-C018-50BD-23F0D7E527A0}"/>
                </a:ext>
              </a:extLst>
            </p:cNvPr>
            <p:cNvSpPr/>
            <p:nvPr/>
          </p:nvSpPr>
          <p:spPr>
            <a:xfrm>
              <a:off x="1055440" y="5425438"/>
              <a:ext cx="4032448" cy="6186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Please close your interactive sessions</a:t>
              </a:r>
              <a:br>
                <a:rPr lang="en-US" dirty="0"/>
              </a:br>
              <a:r>
                <a:rPr lang="en-US" dirty="0"/>
                <a:t>when you no longer actively use them!</a:t>
              </a:r>
              <a:endParaRPr lang="nl-BE" dirty="0"/>
            </a:p>
          </p:txBody>
        </p:sp>
        <p:sp>
          <p:nvSpPr>
            <p:cNvPr id="3" name="TextBox 2">
              <a:extLst>
                <a:ext uri="{FF2B5EF4-FFF2-40B4-BE49-F238E27FC236}">
                  <a16:creationId xmlns:a16="http://schemas.microsoft.com/office/drawing/2014/main" id="{B0011A01-C1A2-38DA-4599-54D77E914CF8}"/>
                </a:ext>
              </a:extLst>
            </p:cNvPr>
            <p:cNvSpPr txBox="1"/>
            <p:nvPr/>
          </p:nvSpPr>
          <p:spPr>
            <a:xfrm>
              <a:off x="4799856" y="5047766"/>
              <a:ext cx="360040" cy="369332"/>
            </a:xfrm>
            <a:prstGeom prst="rect">
              <a:avLst/>
            </a:prstGeom>
            <a:noFill/>
          </p:spPr>
          <p:txBody>
            <a:bodyPr wrap="square" rtlCol="0">
              <a:spAutoFit/>
            </a:bodyPr>
            <a:lstStyle/>
            <a:p>
              <a:r>
                <a:rPr lang="nl-BE" dirty="0"/>
                <a:t>💡</a:t>
              </a:r>
            </a:p>
          </p:txBody>
        </p:sp>
      </p:grpSp>
    </p:spTree>
    <p:extLst>
      <p:ext uri="{BB962C8B-B14F-4D97-AF65-F5344CB8AC3E}">
        <p14:creationId xmlns:p14="http://schemas.microsoft.com/office/powerpoint/2010/main" val="4023084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60</a:t>
            </a:fld>
            <a:endParaRPr lang="nl-BE" sz="900" dirty="0">
              <a:solidFill>
                <a:schemeClr val="bg1"/>
              </a:solidFill>
            </a:endParaRPr>
          </a:p>
        </p:txBody>
      </p:sp>
      <p:grpSp>
        <p:nvGrpSpPr>
          <p:cNvPr id="15" name="Group 14">
            <a:extLst>
              <a:ext uri="{FF2B5EF4-FFF2-40B4-BE49-F238E27FC236}">
                <a16:creationId xmlns:a16="http://schemas.microsoft.com/office/drawing/2014/main" id="{0959B70E-6044-3E1A-0785-73423CDCA59F}"/>
              </a:ext>
            </a:extLst>
          </p:cNvPr>
          <p:cNvGrpSpPr/>
          <p:nvPr/>
        </p:nvGrpSpPr>
        <p:grpSpPr>
          <a:xfrm>
            <a:off x="340950" y="1050258"/>
            <a:ext cx="11731714" cy="1874685"/>
            <a:chOff x="340950" y="1050258"/>
            <a:chExt cx="11731714" cy="1874685"/>
          </a:xfrm>
        </p:grpSpPr>
        <p:pic>
          <p:nvPicPr>
            <p:cNvPr id="3" name="Picture 2">
              <a:extLst>
                <a:ext uri="{FF2B5EF4-FFF2-40B4-BE49-F238E27FC236}">
                  <a16:creationId xmlns:a16="http://schemas.microsoft.com/office/drawing/2014/main" id="{942C30BC-86F3-A606-9164-79DC789366FA}"/>
                </a:ext>
              </a:extLst>
            </p:cNvPr>
            <p:cNvPicPr>
              <a:picLocks noChangeAspect="1"/>
            </p:cNvPicPr>
            <p:nvPr/>
          </p:nvPicPr>
          <p:blipFill>
            <a:blip r:embed="rId3"/>
            <a:stretch>
              <a:fillRect/>
            </a:stretch>
          </p:blipFill>
          <p:spPr>
            <a:xfrm>
              <a:off x="5628571" y="1530504"/>
              <a:ext cx="6203429" cy="1278826"/>
            </a:xfrm>
            <a:prstGeom prst="rect">
              <a:avLst/>
            </a:prstGeom>
          </p:spPr>
        </p:pic>
        <p:grpSp>
          <p:nvGrpSpPr>
            <p:cNvPr id="14" name="Group 13">
              <a:extLst>
                <a:ext uri="{FF2B5EF4-FFF2-40B4-BE49-F238E27FC236}">
                  <a16:creationId xmlns:a16="http://schemas.microsoft.com/office/drawing/2014/main" id="{843570E9-D0BC-C00C-BDA0-E9839705EAA6}"/>
                </a:ext>
              </a:extLst>
            </p:cNvPr>
            <p:cNvGrpSpPr/>
            <p:nvPr/>
          </p:nvGrpSpPr>
          <p:grpSpPr>
            <a:xfrm>
              <a:off x="340950" y="1050258"/>
              <a:ext cx="11731714" cy="1874685"/>
              <a:chOff x="340950" y="1050258"/>
              <a:chExt cx="11731714" cy="1874685"/>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412776"/>
                <a:ext cx="11712664" cy="1512167"/>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dirty="0"/>
                  <a:t>Use the “Files” tab to access your </a:t>
                </a:r>
                <a:br>
                  <a:rPr lang="en-US" dirty="0"/>
                </a:br>
                <a:r>
                  <a:rPr lang="en-US" dirty="0">
                    <a:latin typeface="Courier New" panose="02070309020205020404" pitchFamily="49" charset="0"/>
                    <a:cs typeface="Courier New" panose="02070309020205020404" pitchFamily="49" charset="0"/>
                  </a:rPr>
                  <a:t>VSC_HOME </a:t>
                </a:r>
                <a:r>
                  <a:rPr lang="en-US" dirty="0"/>
                  <a:t>and </a:t>
                </a:r>
                <a:r>
                  <a:rPr lang="en-US" dirty="0">
                    <a:latin typeface="Courier New" panose="02070309020205020404" pitchFamily="49" charset="0"/>
                    <a:cs typeface="Courier New" panose="02070309020205020404" pitchFamily="49" charset="0"/>
                  </a:rPr>
                  <a:t>VSC_DATA</a:t>
                </a:r>
              </a:p>
              <a:p>
                <a:pPr marL="324000" indent="-324000">
                  <a:buBlip>
                    <a:blip r:embed="rId4"/>
                  </a:buBlip>
                </a:pPr>
                <a:r>
                  <a:rPr lang="en-US" dirty="0">
                    <a:latin typeface="Courier New" panose="02070309020205020404" pitchFamily="49" charset="0"/>
                    <a:cs typeface="Courier New" panose="02070309020205020404" pitchFamily="49" charset="0"/>
                  </a:rPr>
                  <a:t>VSC_SCRATCH</a:t>
                </a:r>
                <a:r>
                  <a:rPr lang="en-US" dirty="0"/>
                  <a:t> is not available</a:t>
                </a:r>
                <a:br>
                  <a:rPr lang="en-US" dirty="0"/>
                </a:br>
                <a:r>
                  <a:rPr lang="en-US" dirty="0"/>
                  <a:t>from this menu</a:t>
                </a:r>
                <a:endParaRPr lang="nl-BE" dirty="0"/>
              </a:p>
            </p:txBody>
          </p:sp>
          <p:sp>
            <p:nvSpPr>
              <p:cNvPr id="13" name="TextBox 12">
                <a:extLst>
                  <a:ext uri="{FF2B5EF4-FFF2-40B4-BE49-F238E27FC236}">
                    <a16:creationId xmlns:a16="http://schemas.microsoft.com/office/drawing/2014/main" id="{794D014A-35E0-1DF7-514C-719712B099B2}"/>
                  </a:ext>
                </a:extLst>
              </p:cNvPr>
              <p:cNvSpPr txBox="1"/>
              <p:nvPr/>
            </p:nvSpPr>
            <p:spPr>
              <a:xfrm>
                <a:off x="9408368" y="1050258"/>
                <a:ext cx="2664296" cy="369332"/>
              </a:xfrm>
              <a:prstGeom prst="rect">
                <a:avLst/>
              </a:prstGeom>
              <a:solidFill>
                <a:srgbClr val="DB6C30"/>
              </a:solidFill>
            </p:spPr>
            <p:txBody>
              <a:bodyPr wrap="square" rtlCol="0">
                <a:spAutoFit/>
              </a:bodyPr>
              <a:lstStyle/>
              <a:p>
                <a:r>
                  <a:rPr lang="en-US" dirty="0"/>
                  <a:t>Access your VSC storage</a:t>
                </a:r>
                <a:endParaRPr lang="nl-BE" dirty="0"/>
              </a:p>
            </p:txBody>
          </p:sp>
        </p:grpSp>
      </p:grpSp>
      <p:grpSp>
        <p:nvGrpSpPr>
          <p:cNvPr id="22" name="Group 21">
            <a:extLst>
              <a:ext uri="{FF2B5EF4-FFF2-40B4-BE49-F238E27FC236}">
                <a16:creationId xmlns:a16="http://schemas.microsoft.com/office/drawing/2014/main" id="{5DC340A2-DA60-8142-E54F-728D5911AB90}"/>
              </a:ext>
            </a:extLst>
          </p:cNvPr>
          <p:cNvGrpSpPr/>
          <p:nvPr/>
        </p:nvGrpSpPr>
        <p:grpSpPr>
          <a:xfrm>
            <a:off x="303417" y="3373393"/>
            <a:ext cx="11735161" cy="2503879"/>
            <a:chOff x="303417" y="3238902"/>
            <a:chExt cx="11735161" cy="2503879"/>
          </a:xfrm>
        </p:grpSpPr>
        <p:sp>
          <p:nvSpPr>
            <p:cNvPr id="19" name="Tijdelijke aanduiding voor inhoud 2">
              <a:extLst>
                <a:ext uri="{FF2B5EF4-FFF2-40B4-BE49-F238E27FC236}">
                  <a16:creationId xmlns:a16="http://schemas.microsoft.com/office/drawing/2014/main" id="{2D1BB4D2-3517-6E3D-90CA-D05A716DBBE7}"/>
                </a:ext>
              </a:extLst>
            </p:cNvPr>
            <p:cNvSpPr txBox="1">
              <a:spLocks/>
            </p:cNvSpPr>
            <p:nvPr/>
          </p:nvSpPr>
          <p:spPr>
            <a:xfrm>
              <a:off x="303417" y="3652310"/>
              <a:ext cx="11712664" cy="209047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endParaRPr lang="en-US" dirty="0"/>
            </a:p>
            <a:p>
              <a:pPr marL="324000" indent="-324000">
                <a:buBlip>
                  <a:blip r:embed="rId4"/>
                </a:buBlip>
              </a:pPr>
              <a:endParaRPr lang="en-US" dirty="0"/>
            </a:p>
            <a:p>
              <a:pPr marL="324000" indent="-324000">
                <a:buBlip>
                  <a:blip r:embed="rId4"/>
                </a:buBlip>
              </a:pPr>
              <a:r>
                <a:rPr lang="en-US" dirty="0"/>
                <a:t>OK for transferring small files/folders</a:t>
              </a:r>
            </a:p>
            <a:p>
              <a:pPr marL="324000" indent="-324000">
                <a:buBlip>
                  <a:blip r:embed="rId4"/>
                </a:buBlip>
              </a:pPr>
              <a:r>
                <a:rPr lang="en-US" dirty="0"/>
                <a:t>Open any (sub)folder in terminal (will open a new tab)</a:t>
              </a:r>
            </a:p>
            <a:p>
              <a:pPr marL="324000" indent="-324000">
                <a:buBlip>
                  <a:blip r:embed="rId4"/>
                </a:buBlip>
              </a:pPr>
              <a:r>
                <a:rPr lang="en-US" dirty="0"/>
                <a:t>Deleted files/folders can be retrieved from (hourly, daily, weekly) snapshots</a:t>
              </a:r>
              <a:endParaRPr lang="nl-BE" dirty="0"/>
            </a:p>
          </p:txBody>
        </p:sp>
        <p:sp>
          <p:nvSpPr>
            <p:cNvPr id="20" name="TextBox 19">
              <a:extLst>
                <a:ext uri="{FF2B5EF4-FFF2-40B4-BE49-F238E27FC236}">
                  <a16:creationId xmlns:a16="http://schemas.microsoft.com/office/drawing/2014/main" id="{582EF448-58F3-A6A2-AA2E-348CBCBB80D8}"/>
                </a:ext>
              </a:extLst>
            </p:cNvPr>
            <p:cNvSpPr txBox="1"/>
            <p:nvPr/>
          </p:nvSpPr>
          <p:spPr>
            <a:xfrm>
              <a:off x="9408368" y="3238902"/>
              <a:ext cx="2630210" cy="369332"/>
            </a:xfrm>
            <a:prstGeom prst="rect">
              <a:avLst/>
            </a:prstGeom>
            <a:solidFill>
              <a:srgbClr val="DB6C30"/>
            </a:solidFill>
          </p:spPr>
          <p:txBody>
            <a:bodyPr wrap="square" rtlCol="0">
              <a:spAutoFit/>
            </a:bodyPr>
            <a:lstStyle/>
            <a:p>
              <a:r>
                <a:rPr lang="en-US" dirty="0"/>
                <a:t>File/Folder management</a:t>
              </a:r>
              <a:endParaRPr lang="nl-BE" dirty="0"/>
            </a:p>
          </p:txBody>
        </p:sp>
        <p:pic>
          <p:nvPicPr>
            <p:cNvPr id="12" name="Picture 11">
              <a:extLst>
                <a:ext uri="{FF2B5EF4-FFF2-40B4-BE49-F238E27FC236}">
                  <a16:creationId xmlns:a16="http://schemas.microsoft.com/office/drawing/2014/main" id="{C0629BC2-9343-0E08-884D-B532C718C291}"/>
                </a:ext>
              </a:extLst>
            </p:cNvPr>
            <p:cNvPicPr preferRelativeResize="0">
              <a:picLocks/>
            </p:cNvPicPr>
            <p:nvPr/>
          </p:nvPicPr>
          <p:blipFill>
            <a:blip r:embed="rId5">
              <a:extLst>
                <a:ext uri="{28A0092B-C50C-407E-A947-70E740481C1C}">
                  <a14:useLocalDpi xmlns:a14="http://schemas.microsoft.com/office/drawing/2010/main" val="0"/>
                </a:ext>
              </a:extLst>
            </a:blip>
            <a:stretch/>
          </p:blipFill>
          <p:spPr>
            <a:xfrm>
              <a:off x="600261" y="3724862"/>
              <a:ext cx="11184371" cy="505751"/>
            </a:xfrm>
            <a:prstGeom prst="rect">
              <a:avLst/>
            </a:prstGeom>
          </p:spPr>
        </p:pic>
      </p:grpSp>
    </p:spTree>
    <p:extLst>
      <p:ext uri="{BB962C8B-B14F-4D97-AF65-F5344CB8AC3E}">
        <p14:creationId xmlns:p14="http://schemas.microsoft.com/office/powerpoint/2010/main" val="40859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61</a:t>
            </a:fld>
            <a:endParaRPr lang="nl-BE" sz="900" dirty="0">
              <a:solidFill>
                <a:schemeClr val="bg1"/>
              </a:solidFill>
            </a:endParaRPr>
          </a:p>
        </p:txBody>
      </p:sp>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412776"/>
            <a:ext cx="11712664" cy="4032448"/>
          </a:xfrm>
          <a:prstGeom prst="rect">
            <a:avLst/>
          </a:prstGeom>
          <a:ln w="2540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dirty="0"/>
          </a:p>
        </p:txBody>
      </p:sp>
      <p:sp>
        <p:nvSpPr>
          <p:cNvPr id="13" name="TextBox 12">
            <a:extLst>
              <a:ext uri="{FF2B5EF4-FFF2-40B4-BE49-F238E27FC236}">
                <a16:creationId xmlns:a16="http://schemas.microsoft.com/office/drawing/2014/main" id="{794D014A-35E0-1DF7-514C-719712B099B2}"/>
              </a:ext>
            </a:extLst>
          </p:cNvPr>
          <p:cNvSpPr txBox="1"/>
          <p:nvPr/>
        </p:nvSpPr>
        <p:spPr>
          <a:xfrm>
            <a:off x="9408368" y="1050258"/>
            <a:ext cx="2664296" cy="369332"/>
          </a:xfrm>
          <a:prstGeom prst="rect">
            <a:avLst/>
          </a:prstGeom>
          <a:solidFill>
            <a:srgbClr val="DB6C30"/>
          </a:solidFill>
        </p:spPr>
        <p:txBody>
          <a:bodyPr wrap="square" rtlCol="0">
            <a:spAutoFit/>
          </a:bodyPr>
          <a:lstStyle/>
          <a:p>
            <a:r>
              <a:rPr lang="en-US" dirty="0"/>
              <a:t>Monitor your active jobs</a:t>
            </a:r>
            <a:endParaRPr lang="nl-BE" dirty="0"/>
          </a:p>
        </p:txBody>
      </p:sp>
      <p:pic>
        <p:nvPicPr>
          <p:cNvPr id="10" name="Picture 9">
            <a:extLst>
              <a:ext uri="{FF2B5EF4-FFF2-40B4-BE49-F238E27FC236}">
                <a16:creationId xmlns:a16="http://schemas.microsoft.com/office/drawing/2014/main" id="{B2A62354-5B95-307F-F2C2-111A270EBB4B}"/>
              </a:ext>
            </a:extLst>
          </p:cNvPr>
          <p:cNvPicPr>
            <a:picLocks noChangeAspect="1"/>
          </p:cNvPicPr>
          <p:nvPr/>
        </p:nvPicPr>
        <p:blipFill>
          <a:blip r:embed="rId3"/>
          <a:stretch>
            <a:fillRect/>
          </a:stretch>
        </p:blipFill>
        <p:spPr>
          <a:xfrm>
            <a:off x="1427820" y="1794340"/>
            <a:ext cx="9336360" cy="3269320"/>
          </a:xfrm>
          <a:prstGeom prst="rect">
            <a:avLst/>
          </a:prstGeom>
        </p:spPr>
      </p:pic>
    </p:spTree>
    <p:extLst>
      <p:ext uri="{BB962C8B-B14F-4D97-AF65-F5344CB8AC3E}">
        <p14:creationId xmlns:p14="http://schemas.microsoft.com/office/powerpoint/2010/main" val="12291487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Login Server Shell Access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62</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231425" y="1204379"/>
            <a:ext cx="4833269" cy="4067872"/>
            <a:chOff x="340950" y="-1221556"/>
            <a:chExt cx="11816428" cy="4267195"/>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821499"/>
              <a:ext cx="11816428" cy="3867138"/>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Starts a shell in a new browser tab</a:t>
              </a:r>
            </a:p>
            <a:p>
              <a:pPr marL="324000" indent="-324000">
                <a:buBlip>
                  <a:blip r:embed="rId3"/>
                </a:buBlip>
              </a:pPr>
              <a:r>
                <a:rPr lang="nl-BE" dirty="0" err="1"/>
                <a:t>You</a:t>
              </a:r>
              <a:r>
                <a:rPr lang="nl-BE" dirty="0"/>
                <a:t> land on a Genius login node</a:t>
              </a:r>
              <a:br>
                <a:rPr lang="nl-BE" dirty="0"/>
              </a:br>
              <a:r>
                <a:rPr lang="nl-BE" dirty="0"/>
                <a:t>(</a:t>
              </a:r>
              <a:r>
                <a:rPr lang="nl-BE" dirty="0" err="1"/>
                <a:t>from</a:t>
              </a:r>
              <a:r>
                <a:rPr lang="nl-BE" dirty="0"/>
                <a:t> </a:t>
              </a:r>
              <a:r>
                <a:rPr lang="nl-BE" dirty="0" err="1"/>
                <a:t>which</a:t>
              </a:r>
              <a:r>
                <a:rPr lang="nl-BE" dirty="0"/>
                <a:t> </a:t>
              </a:r>
              <a:r>
                <a:rPr lang="nl-BE" dirty="0" err="1"/>
                <a:t>you</a:t>
              </a:r>
              <a:r>
                <a:rPr lang="nl-BE" dirty="0"/>
                <a:t> </a:t>
              </a:r>
              <a:r>
                <a:rPr lang="nl-BE" dirty="0" err="1"/>
                <a:t>can</a:t>
              </a:r>
              <a:r>
                <a:rPr lang="nl-BE" dirty="0"/>
                <a:t> </a:t>
              </a:r>
              <a:r>
                <a:rPr lang="nl-BE" dirty="0" err="1"/>
                <a:t>also</a:t>
              </a:r>
              <a:r>
                <a:rPr lang="nl-BE" dirty="0"/>
                <a:t> access </a:t>
              </a:r>
              <a:r>
                <a:rPr lang="nl-BE" dirty="0" err="1"/>
                <a:t>wICE</a:t>
              </a:r>
              <a:r>
                <a:rPr lang="nl-BE" dirty="0"/>
                <a:t>)</a:t>
              </a:r>
            </a:p>
            <a:p>
              <a:pPr marL="324000" indent="-324000">
                <a:buBlip>
                  <a:blip r:embed="rId3"/>
                </a:buBlip>
              </a:pPr>
              <a:r>
                <a:rPr lang="nl-BE" dirty="0" err="1"/>
                <a:t>You</a:t>
              </a:r>
              <a:r>
                <a:rPr lang="nl-BE" dirty="0"/>
                <a:t> land on </a:t>
              </a:r>
              <a:r>
                <a:rPr lang="nl-BE" dirty="0" err="1"/>
                <a:t>your</a:t>
              </a:r>
              <a:r>
                <a:rPr lang="nl-BE" dirty="0"/>
                <a:t> </a:t>
              </a:r>
              <a:r>
                <a:rPr lang="nl-BE" dirty="0">
                  <a:latin typeface="Courier New" panose="02070309020205020404" pitchFamily="49" charset="0"/>
                  <a:cs typeface="Courier New" panose="02070309020205020404" pitchFamily="49" charset="0"/>
                </a:rPr>
                <a:t>VSC_HOME.</a:t>
              </a:r>
              <a:br>
                <a:rPr lang="nl-BE" dirty="0"/>
              </a:br>
              <a:r>
                <a:rPr lang="nl-BE" dirty="0">
                  <a:latin typeface="Courier New" panose="02070309020205020404" pitchFamily="49" charset="0"/>
                  <a:cs typeface="Courier New" panose="02070309020205020404" pitchFamily="49" charset="0"/>
                </a:rPr>
                <a:t>cd</a:t>
              </a:r>
              <a:r>
                <a:rPr lang="nl-BE" dirty="0"/>
                <a:t> </a:t>
              </a:r>
              <a:r>
                <a:rPr lang="nl-BE" dirty="0" err="1"/>
                <a:t>to</a:t>
              </a:r>
              <a:r>
                <a:rPr lang="nl-BE" dirty="0"/>
                <a:t> data/scratch/</a:t>
              </a:r>
              <a:r>
                <a:rPr lang="nl-BE" dirty="0" err="1"/>
                <a:t>staging</a:t>
              </a:r>
              <a:r>
                <a:rPr lang="nl-BE" dirty="0"/>
                <a:t> </a:t>
              </a:r>
              <a:r>
                <a:rPr lang="nl-BE" dirty="0" err="1"/>
                <a:t>immediately</a:t>
              </a:r>
              <a:endParaRPr lang="nl-BE" dirty="0"/>
            </a:p>
            <a:p>
              <a:pPr marL="324000" indent="-324000">
                <a:buBlip>
                  <a:blip r:embed="rId3"/>
                </a:buBlip>
              </a:pPr>
              <a:r>
                <a:rPr lang="nl-BE" dirty="0"/>
                <a:t>Do NOT </a:t>
              </a:r>
              <a:r>
                <a:rPr lang="nl-BE" dirty="0" err="1"/>
                <a:t>compute</a:t>
              </a:r>
              <a:r>
                <a:rPr lang="nl-BE" dirty="0"/>
                <a:t> on </a:t>
              </a:r>
              <a:r>
                <a:rPr lang="nl-BE" dirty="0" err="1"/>
                <a:t>the</a:t>
              </a:r>
              <a:r>
                <a:rPr lang="nl-BE" dirty="0"/>
                <a:t> login </a:t>
              </a:r>
              <a:r>
                <a:rPr lang="nl-BE" dirty="0" err="1"/>
                <a:t>nodes</a:t>
              </a:r>
              <a:endParaRPr lang="nl-BE" dirty="0"/>
            </a:p>
            <a:p>
              <a:pPr marL="324000" indent="-324000">
                <a:buBlip>
                  <a:blip r:embed="rId3"/>
                </a:buBlip>
              </a:pPr>
              <a:r>
                <a:rPr lang="nl-BE" dirty="0" err="1"/>
                <a:t>Try</a:t>
              </a:r>
              <a:r>
                <a:rPr lang="nl-BE" dirty="0"/>
                <a:t>:</a:t>
              </a:r>
              <a:br>
                <a:rPr lang="nl-BE" dirty="0"/>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sam-balance</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myquota</a:t>
              </a:r>
              <a:endParaRPr lang="nl-BE" dirty="0">
                <a:latin typeface="Courier New" panose="02070309020205020404" pitchFamily="49" charset="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9045256" y="-1221556"/>
              <a:ext cx="3112122" cy="387429"/>
            </a:xfrm>
            <a:prstGeom prst="rect">
              <a:avLst/>
            </a:prstGeom>
            <a:solidFill>
              <a:srgbClr val="DB6C30"/>
            </a:solidFill>
          </p:spPr>
          <p:txBody>
            <a:bodyPr wrap="square" rtlCol="0">
              <a:spAutoFit/>
            </a:bodyPr>
            <a:lstStyle/>
            <a:p>
              <a:r>
                <a:rPr lang="en-US" dirty="0"/>
                <a:t>Login shell</a:t>
              </a:r>
              <a:endParaRPr lang="nl-BE" dirty="0"/>
            </a:p>
          </p:txBody>
        </p:sp>
      </p:grpSp>
      <p:pic>
        <p:nvPicPr>
          <p:cNvPr id="5" name="Picture 4">
            <a:extLst>
              <a:ext uri="{FF2B5EF4-FFF2-40B4-BE49-F238E27FC236}">
                <a16:creationId xmlns:a16="http://schemas.microsoft.com/office/drawing/2014/main" id="{4925EEAE-FAB1-49A6-551E-CEDBCE32B3A2}"/>
              </a:ext>
            </a:extLst>
          </p:cNvPr>
          <p:cNvPicPr>
            <a:picLocks noChangeAspect="1"/>
          </p:cNvPicPr>
          <p:nvPr/>
        </p:nvPicPr>
        <p:blipFill>
          <a:blip r:embed="rId4"/>
          <a:stretch>
            <a:fillRect/>
          </a:stretch>
        </p:blipFill>
        <p:spPr>
          <a:xfrm>
            <a:off x="5304163" y="1340768"/>
            <a:ext cx="6657975" cy="4333875"/>
          </a:xfrm>
          <a:prstGeom prst="rect">
            <a:avLst/>
          </a:prstGeom>
        </p:spPr>
      </p:pic>
    </p:spTree>
    <p:extLst>
      <p:ext uri="{BB962C8B-B14F-4D97-AF65-F5344CB8AC3E}">
        <p14:creationId xmlns:p14="http://schemas.microsoft.com/office/powerpoint/2010/main" val="213745840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Interactive Shell</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63</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231425" y="2251154"/>
            <a:ext cx="8240839" cy="2906038"/>
            <a:chOff x="340950" y="-211822"/>
            <a:chExt cx="14734623" cy="246472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4689868" cy="212632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Start a shell as a job (on a compute node)</a:t>
              </a:r>
            </a:p>
            <a:p>
              <a:pPr marL="324000" indent="-324000">
                <a:buBlip>
                  <a:blip r:embed="rId3"/>
                </a:buBlip>
              </a:pPr>
              <a:r>
                <a:rPr lang="en-US" dirty="0">
                  <a:cs typeface="Courier New" panose="02070309020205020404" pitchFamily="49" charset="0"/>
                </a:rPr>
                <a:t>Recommended to:</a:t>
              </a:r>
              <a:br>
                <a:rPr lang="en-US" dirty="0">
                  <a:cs typeface="Courier New" panose="02070309020205020404" pitchFamily="49" charset="0"/>
                </a:rPr>
              </a:br>
              <a:r>
                <a:rPr lang="en-US" dirty="0">
                  <a:cs typeface="Courier New" panose="02070309020205020404" pitchFamily="49" charset="0"/>
                </a:rPr>
                <a:t>Install your own software (in </a:t>
              </a:r>
              <a:r>
                <a:rPr lang="en-US" dirty="0">
                  <a:latin typeface="Courier New" panose="02070309020205020404" pitchFamily="49" charset="0"/>
                  <a:cs typeface="Courier New" panose="02070309020205020404" pitchFamily="49" charset="0"/>
                </a:rPr>
                <a:t>VSC_DATA</a:t>
              </a:r>
              <a:r>
                <a:rPr lang="en-US" dirty="0">
                  <a:cs typeface="Courier New" panose="02070309020205020404" pitchFamily="49" charset="0"/>
                </a:rPr>
                <a:t>)</a:t>
              </a:r>
              <a:br>
                <a:rPr lang="en-US" dirty="0">
                  <a:cs typeface="Courier New" panose="02070309020205020404" pitchFamily="49" charset="0"/>
                </a:rPr>
              </a:br>
              <a:r>
                <a:rPr lang="en-US" dirty="0">
                  <a:cs typeface="Courier New" panose="02070309020205020404" pitchFamily="49" charset="0"/>
                </a:rPr>
                <a:t>Test/run your program interactively</a:t>
              </a:r>
              <a:br>
                <a:rPr lang="en-US" dirty="0">
                  <a:cs typeface="Courier New" panose="02070309020205020404" pitchFamily="49" charset="0"/>
                </a:rPr>
              </a:br>
              <a:r>
                <a:rPr lang="en-US" dirty="0">
                  <a:cs typeface="Courier New" panose="02070309020205020404" pitchFamily="49" charset="0"/>
                </a:rPr>
                <a:t>Debug a program</a:t>
              </a:r>
            </a:p>
            <a:p>
              <a:pPr marL="324000" indent="-324000">
                <a:buBlip>
                  <a:blip r:embed="rId3"/>
                </a:buBlip>
              </a:pPr>
              <a:r>
                <a:rPr lang="en-US" dirty="0">
                  <a:cs typeface="Courier New" panose="02070309020205020404" pitchFamily="49" charset="0"/>
                </a:rPr>
                <a:t>Choose the relevant cluster, partition and resources</a:t>
              </a:r>
              <a:br>
                <a:rPr lang="en-US" dirty="0">
                  <a:cs typeface="Courier New" panose="02070309020205020404" pitchFamily="49" charset="0"/>
                </a:rPr>
              </a:br>
              <a:r>
                <a:rPr lang="en-US" dirty="0">
                  <a:cs typeface="Courier New" panose="02070309020205020404" pitchFamily="49" charset="0"/>
                </a:rPr>
                <a:t>(cores, memory, GPU)</a:t>
              </a:r>
              <a:endParaRPr lang="nl-BE" dirty="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1985565" y="-211822"/>
              <a:ext cx="3090008" cy="338400"/>
            </a:xfrm>
            <a:prstGeom prst="rect">
              <a:avLst/>
            </a:prstGeom>
            <a:solidFill>
              <a:srgbClr val="DB6C30"/>
            </a:solidFill>
          </p:spPr>
          <p:txBody>
            <a:bodyPr wrap="square" rtlCol="0">
              <a:spAutoFit/>
            </a:bodyPr>
            <a:lstStyle/>
            <a:p>
              <a:r>
                <a:rPr lang="en-US" dirty="0"/>
                <a:t>Interactive Shell</a:t>
              </a:r>
              <a:endParaRPr lang="nl-BE" dirty="0"/>
            </a:p>
          </p:txBody>
        </p:sp>
      </p:gr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4"/>
          <a:stretch>
            <a:fillRect/>
          </a:stretch>
        </p:blipFill>
        <p:spPr>
          <a:xfrm>
            <a:off x="8760296" y="116631"/>
            <a:ext cx="3302004" cy="5788333"/>
          </a:xfrm>
          <a:prstGeom prst="rect">
            <a:avLst/>
          </a:prstGeom>
        </p:spPr>
      </p:pic>
    </p:spTree>
    <p:extLst>
      <p:ext uri="{BB962C8B-B14F-4D97-AF65-F5344CB8AC3E}">
        <p14:creationId xmlns:p14="http://schemas.microsoft.com/office/powerpoint/2010/main" val="11438006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a:t>
            </a:r>
            <a:r>
              <a:rPr lang="en-US" altLang="en-US" sz="3200" dirty="0" err="1"/>
              <a:t>JupyterLab</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64</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475712" y="1135380"/>
            <a:ext cx="8231314" cy="3301733"/>
            <a:chOff x="340950" y="-211822"/>
            <a:chExt cx="14717592" cy="3025206"/>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4689867" cy="2686807"/>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hlinkClick r:id="rId4"/>
                </a:rPr>
                <a:t>Create a notebook </a:t>
              </a:r>
              <a:r>
                <a:rPr lang="en-US" dirty="0"/>
                <a:t>as a job (on a compute node)</a:t>
              </a:r>
            </a:p>
            <a:p>
              <a:pPr marL="324000" indent="-324000">
                <a:buBlip>
                  <a:blip r:embed="rId3"/>
                </a:buBlip>
              </a:pPr>
              <a:r>
                <a:rPr lang="en-US" dirty="0">
                  <a:cs typeface="Courier New" panose="02070309020205020404" pitchFamily="49" charset="0"/>
                </a:rPr>
                <a:t>Suitable for:</a:t>
              </a:r>
              <a:br>
                <a:rPr lang="en-US" dirty="0">
                  <a:cs typeface="Courier New" panose="02070309020205020404" pitchFamily="49" charset="0"/>
                </a:rPr>
              </a:br>
              <a:r>
                <a:rPr lang="en-US" dirty="0">
                  <a:cs typeface="Courier New" panose="02070309020205020404" pitchFamily="49" charset="0"/>
                </a:rPr>
                <a:t>	pre/post-processing your data</a:t>
              </a:r>
              <a:br>
                <a:rPr lang="en-US" dirty="0">
                  <a:cs typeface="Courier New" panose="02070309020205020404" pitchFamily="49" charset="0"/>
                </a:rPr>
              </a:br>
              <a:r>
                <a:rPr lang="en-US" dirty="0">
                  <a:cs typeface="Courier New" panose="02070309020205020404" pitchFamily="49" charset="0"/>
                </a:rPr>
                <a:t>	prototyping</a:t>
              </a:r>
              <a:br>
                <a:rPr lang="en-US" dirty="0">
                  <a:cs typeface="Courier New" panose="02070309020205020404" pitchFamily="49" charset="0"/>
                </a:rPr>
              </a:br>
              <a:r>
                <a:rPr lang="en-US" dirty="0">
                  <a:cs typeface="Courier New" panose="02070309020205020404" pitchFamily="49" charset="0"/>
                </a:rPr>
                <a:t>	adding figures and text for pedagogical purposes</a:t>
              </a:r>
            </a:p>
            <a:p>
              <a:pPr marL="324000" indent="-324000">
                <a:buBlip>
                  <a:blip r:embed="rId3"/>
                </a:buBlip>
              </a:pPr>
              <a:r>
                <a:rPr lang="en-US" dirty="0">
                  <a:cs typeface="Courier New" panose="02070309020205020404" pitchFamily="49" charset="0"/>
                </a:rPr>
                <a:t>Choose the appropriate cluster, partition and resources</a:t>
              </a:r>
              <a:br>
                <a:rPr lang="en-US" dirty="0">
                  <a:cs typeface="Courier New" panose="02070309020205020404" pitchFamily="49" charset="0"/>
                </a:rPr>
              </a:br>
              <a:r>
                <a:rPr lang="en-US" dirty="0">
                  <a:cs typeface="Courier New" panose="02070309020205020404" pitchFamily="49" charset="0"/>
                </a:rPr>
                <a:t>(cores, memory, GPU)</a:t>
              </a:r>
            </a:p>
            <a:p>
              <a:pPr marL="324000" indent="-324000">
                <a:buBlip>
                  <a:blip r:embed="rId3"/>
                </a:buBlip>
              </a:pPr>
              <a:r>
                <a:rPr lang="en-US" dirty="0">
                  <a:cs typeface="Courier New" panose="02070309020205020404" pitchFamily="49" charset="0"/>
                </a:rPr>
                <a:t>User your own Python/R kernels (next slide)</a:t>
              </a:r>
            </a:p>
          </p:txBody>
        </p:sp>
        <p:sp>
          <p:nvSpPr>
            <p:cNvPr id="13" name="TextBox 12">
              <a:extLst>
                <a:ext uri="{FF2B5EF4-FFF2-40B4-BE49-F238E27FC236}">
                  <a16:creationId xmlns:a16="http://schemas.microsoft.com/office/drawing/2014/main" id="{794D014A-35E0-1DF7-514C-719712B099B2}"/>
                </a:ext>
              </a:extLst>
            </p:cNvPr>
            <p:cNvSpPr txBox="1"/>
            <p:nvPr/>
          </p:nvSpPr>
          <p:spPr>
            <a:xfrm>
              <a:off x="12578782" y="-211822"/>
              <a:ext cx="2479760" cy="338400"/>
            </a:xfrm>
            <a:prstGeom prst="rect">
              <a:avLst/>
            </a:prstGeom>
            <a:solidFill>
              <a:srgbClr val="DB6C30"/>
            </a:solidFill>
          </p:spPr>
          <p:txBody>
            <a:bodyPr wrap="square" rtlCol="0">
              <a:spAutoFit/>
            </a:bodyPr>
            <a:lstStyle/>
            <a:p>
              <a:r>
                <a:rPr lang="en-US" dirty="0" err="1"/>
                <a:t>Jupyter</a:t>
              </a:r>
              <a:r>
                <a:rPr lang="en-US" dirty="0"/>
                <a:t> Lab</a:t>
              </a:r>
              <a:endParaRPr lang="nl-BE" dirty="0"/>
            </a:p>
          </p:txBody>
        </p:sp>
      </p:gr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9085545" y="116631"/>
            <a:ext cx="2651506" cy="5788333"/>
          </a:xfrm>
          <a:prstGeom prst="rect">
            <a:avLst/>
          </a:prstGeom>
        </p:spPr>
      </p:pic>
    </p:spTree>
    <p:extLst>
      <p:ext uri="{BB962C8B-B14F-4D97-AF65-F5344CB8AC3E}">
        <p14:creationId xmlns:p14="http://schemas.microsoft.com/office/powerpoint/2010/main" val="42425751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fontScale="925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65</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623392" y="1124745"/>
            <a:ext cx="11106099" cy="1224136"/>
            <a:chOff x="340950" y="-211822"/>
            <a:chExt cx="19857709" cy="1121612"/>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9827551" cy="783213"/>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cs typeface="Courier New" panose="02070309020205020404" pitchFamily="49" charset="0"/>
                </a:rPr>
                <a:t>The default kernels may not offer the R/Python/… interpreter version or packages you want</a:t>
              </a:r>
            </a:p>
            <a:p>
              <a:pPr marL="324000" indent="-324000">
                <a:buBlip>
                  <a:blip r:embed="rId3"/>
                </a:buBlip>
              </a:pPr>
              <a:r>
                <a:rPr lang="en-US" dirty="0">
                  <a:cs typeface="Courier New" panose="02070309020205020404" pitchFamily="49" charset="0"/>
                </a:rPr>
                <a:t>You can create a </a:t>
              </a:r>
              <a:r>
                <a:rPr lang="en-US" dirty="0" err="1">
                  <a:cs typeface="Courier New" panose="02070309020205020404" pitchFamily="49" charset="0"/>
                </a:rPr>
                <a:t>miniconda</a:t>
              </a:r>
              <a:r>
                <a:rPr lang="en-US" dirty="0">
                  <a:cs typeface="Courier New" panose="02070309020205020404" pitchFamily="49" charset="0"/>
                </a:rPr>
                <a:t> env and add it to your OnDemand kernels</a:t>
              </a:r>
              <a:endParaRPr lang="nl-BE" dirty="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7207243" y="-211822"/>
              <a:ext cx="2991416" cy="338400"/>
            </a:xfrm>
            <a:prstGeom prst="rect">
              <a:avLst/>
            </a:prstGeom>
            <a:solidFill>
              <a:srgbClr val="DB6C30"/>
            </a:solidFill>
          </p:spPr>
          <p:txBody>
            <a:bodyPr wrap="square" rtlCol="0">
              <a:spAutoFit/>
            </a:bodyPr>
            <a:lstStyle/>
            <a:p>
              <a:r>
                <a:rPr lang="en-US" dirty="0"/>
                <a:t>Custom kernels</a:t>
              </a:r>
              <a:endParaRPr lang="nl-BE" dirty="0"/>
            </a:p>
          </p:txBody>
        </p:sp>
      </p:grpSp>
      <p:grpSp>
        <p:nvGrpSpPr>
          <p:cNvPr id="2" name="Group 1">
            <a:extLst>
              <a:ext uri="{FF2B5EF4-FFF2-40B4-BE49-F238E27FC236}">
                <a16:creationId xmlns:a16="http://schemas.microsoft.com/office/drawing/2014/main" id="{0752D9D7-3970-B218-40FF-103736FB2C11}"/>
              </a:ext>
            </a:extLst>
          </p:cNvPr>
          <p:cNvGrpSpPr/>
          <p:nvPr/>
        </p:nvGrpSpPr>
        <p:grpSpPr>
          <a:xfrm>
            <a:off x="598361" y="2624267"/>
            <a:ext cx="11112901" cy="3469029"/>
            <a:chOff x="340950" y="-211822"/>
            <a:chExt cx="19869870" cy="3046537"/>
          </a:xfrm>
        </p:grpSpPr>
        <p:sp>
          <p:nvSpPr>
            <p:cNvPr id="5" name="Tijdelijke aanduiding voor inhoud 2">
              <a:extLst>
                <a:ext uri="{FF2B5EF4-FFF2-40B4-BE49-F238E27FC236}">
                  <a16:creationId xmlns:a16="http://schemas.microsoft.com/office/drawing/2014/main" id="{34329549-3778-0339-F91E-EB944CAA69CB}"/>
                </a:ext>
              </a:extLst>
            </p:cNvPr>
            <p:cNvSpPr txBox="1">
              <a:spLocks/>
            </p:cNvSpPr>
            <p:nvPr/>
          </p:nvSpPr>
          <p:spPr>
            <a:xfrm>
              <a:off x="340950" y="126577"/>
              <a:ext cx="19827550" cy="2708138"/>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a:cs typeface="Courier New" panose="02070309020205020404" pitchFamily="49" charset="0"/>
                </a:rPr>
                <a:t>Start </a:t>
              </a:r>
              <a:r>
                <a:rPr lang="nl-BE" dirty="0" err="1">
                  <a:cs typeface="Courier New" panose="02070309020205020404" pitchFamily="49" charset="0"/>
                </a:rPr>
                <a:t>an</a:t>
              </a:r>
              <a:r>
                <a:rPr lang="nl-BE" dirty="0">
                  <a:cs typeface="Courier New" panose="02070309020205020404" pitchFamily="49" charset="0"/>
                </a:rPr>
                <a:t> Interactive Shell</a:t>
              </a:r>
            </a:p>
            <a:p>
              <a:pPr marL="0" indent="0">
                <a:buNone/>
              </a:pPr>
              <a:r>
                <a:rPr lang="nl-BE" dirty="0">
                  <a:cs typeface="Courier New" panose="02070309020205020404" pitchFamily="49" charset="0"/>
                </a:rPr>
                <a:t>Go </a:t>
              </a:r>
              <a:r>
                <a:rPr lang="nl-BE" dirty="0" err="1">
                  <a:cs typeface="Courier New" panose="02070309020205020404" pitchFamily="49" charset="0"/>
                </a:rPr>
                <a:t>to</a:t>
              </a:r>
              <a:r>
                <a:rPr lang="nl-BE" dirty="0">
                  <a:cs typeface="Courier New" panose="02070309020205020404" pitchFamily="49" charset="0"/>
                </a:rPr>
                <a:t> </a:t>
              </a:r>
              <a:r>
                <a:rPr lang="nl-BE" dirty="0" err="1">
                  <a:cs typeface="Courier New" panose="02070309020205020404" pitchFamily="49" charset="0"/>
                </a:rPr>
                <a:t>your</a:t>
              </a:r>
              <a:r>
                <a:rPr lang="nl-BE" dirty="0">
                  <a:cs typeface="Courier New" panose="02070309020205020404" pitchFamily="49" charset="0"/>
                </a:rPr>
                <a:t> data folder</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cd ${VSC_DATA}</a:t>
              </a:r>
            </a:p>
            <a:p>
              <a:pPr marL="0" indent="0">
                <a:buNone/>
              </a:pPr>
              <a:r>
                <a:rPr lang="nl-BE" dirty="0">
                  <a:cs typeface="Courier New" panose="02070309020205020404" pitchFamily="49" charset="0"/>
                </a:rPr>
                <a:t>Download </a:t>
              </a:r>
              <a:r>
                <a:rPr lang="nl-BE" dirty="0" err="1">
                  <a:cs typeface="Courier New" panose="02070309020205020404" pitchFamily="49" charset="0"/>
                </a:rPr>
                <a:t>Miniconda</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wget</a:t>
              </a:r>
              <a:r>
                <a:rPr lang="nl-BE" sz="1800" dirty="0">
                  <a:latin typeface="Courier New" panose="02070309020205020404" pitchFamily="49" charset="0"/>
                  <a:cs typeface="Courier New" panose="02070309020205020404" pitchFamily="49" charset="0"/>
                </a:rPr>
                <a:t> </a:t>
              </a:r>
              <a:r>
                <a:rPr lang="nl-BE" sz="1800" dirty="0">
                  <a:latin typeface="Courier New" panose="02070309020205020404" pitchFamily="49" charset="0"/>
                  <a:cs typeface="Courier New" panose="02070309020205020404" pitchFamily="49" charset="0"/>
                  <a:hlinkClick r:id="rId4"/>
                </a:rPr>
                <a:t>https://repo.continuum.io/miniconda/Miniconda3-latest-Linux-x86_64.sh</a:t>
              </a:r>
              <a:endParaRPr lang="nl-BE" sz="1800" dirty="0">
                <a:latin typeface="Courier New" panose="02070309020205020404" pitchFamily="49" charset="0"/>
                <a:cs typeface="Courier New" panose="02070309020205020404" pitchFamily="49" charset="0"/>
              </a:endParaRPr>
            </a:p>
            <a:p>
              <a:pPr marL="0" indent="0">
                <a:buNone/>
              </a:pPr>
              <a:r>
                <a:rPr lang="nl-BE" dirty="0" err="1">
                  <a:cs typeface="Courier New" panose="02070309020205020404" pitchFamily="49" charset="0"/>
                </a:rPr>
                <a:t>Install</a:t>
              </a:r>
              <a:r>
                <a:rPr lang="nl-BE" dirty="0">
                  <a:cs typeface="Courier New" panose="02070309020205020404" pitchFamily="49" charset="0"/>
                </a:rPr>
                <a:t> </a:t>
              </a:r>
              <a:r>
                <a:rPr lang="nl-BE" dirty="0" err="1">
                  <a:cs typeface="Courier New" panose="02070309020205020404" pitchFamily="49" charset="0"/>
                </a:rPr>
                <a:t>Miniconda</a:t>
              </a:r>
              <a:r>
                <a:rPr lang="nl-BE" dirty="0">
                  <a:cs typeface="Courier New" panose="02070309020205020404" pitchFamily="49" charset="0"/>
                </a:rPr>
                <a:t> in </a:t>
              </a:r>
              <a:r>
                <a:rPr lang="nl-BE" dirty="0" err="1">
                  <a:cs typeface="Courier New" panose="02070309020205020404" pitchFamily="49" charset="0"/>
                </a:rPr>
                <a:t>your</a:t>
              </a:r>
              <a:r>
                <a:rPr lang="nl-BE" dirty="0">
                  <a:cs typeface="Courier New" panose="02070309020205020404" pitchFamily="49" charset="0"/>
                </a:rPr>
                <a:t> VSC_DATA</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bash</a:t>
              </a:r>
              <a:r>
                <a:rPr lang="nl-BE" sz="1800" dirty="0">
                  <a:latin typeface="Courier New" panose="02070309020205020404" pitchFamily="49" charset="0"/>
                  <a:cs typeface="Courier New" panose="02070309020205020404" pitchFamily="49" charset="0"/>
                </a:rPr>
                <a:t> </a:t>
              </a:r>
              <a:r>
                <a:rPr lang="it-IT" sz="1800" dirty="0">
                  <a:latin typeface="Courier New" panose="02070309020205020404" pitchFamily="49" charset="0"/>
                  <a:cs typeface="Courier New" panose="02070309020205020404" pitchFamily="49" charset="0"/>
                </a:rPr>
                <a:t>Miniconda3-latest-Linux-x86_64.sh -b –p $VSC_DATA/miniconda3</a:t>
              </a:r>
            </a:p>
            <a:p>
              <a:pPr marL="0" indent="0">
                <a:buNone/>
              </a:pPr>
              <a:r>
                <a:rPr lang="it-IT" dirty="0" err="1">
                  <a:cs typeface="Courier New" panose="02070309020205020404" pitchFamily="49" charset="0"/>
                </a:rPr>
                <a:t>Permanently</a:t>
              </a:r>
              <a:r>
                <a:rPr lang="it-IT" dirty="0">
                  <a:cs typeface="Courier New" panose="02070309020205020404" pitchFamily="49" charset="0"/>
                </a:rPr>
                <a:t> </a:t>
              </a:r>
              <a:r>
                <a:rPr lang="it-IT" dirty="0" err="1">
                  <a:cs typeface="Courier New" panose="02070309020205020404" pitchFamily="49" charset="0"/>
                </a:rPr>
                <a:t>add</a:t>
              </a:r>
              <a:r>
                <a:rPr lang="it-IT" dirty="0">
                  <a:cs typeface="Courier New" panose="02070309020205020404" pitchFamily="49" charset="0"/>
                </a:rPr>
                <a:t> the </a:t>
              </a:r>
              <a:r>
                <a:rPr lang="it-IT" dirty="0" err="1">
                  <a:cs typeface="Courier New" panose="02070309020205020404" pitchFamily="49" charset="0"/>
                </a:rPr>
                <a:t>path</a:t>
              </a:r>
              <a:r>
                <a:rPr lang="it-IT" dirty="0">
                  <a:cs typeface="Courier New" panose="02070309020205020404" pitchFamily="49" charset="0"/>
                </a:rPr>
                <a:t> to </a:t>
              </a:r>
              <a:r>
                <a:rPr lang="it-IT" dirty="0" err="1">
                  <a:cs typeface="Courier New" panose="02070309020205020404" pitchFamily="49" charset="0"/>
                </a:rPr>
                <a:t>Miniconda</a:t>
              </a:r>
              <a:r>
                <a:rPr lang="it-IT" dirty="0">
                  <a:cs typeface="Courier New" panose="02070309020205020404" pitchFamily="49" charset="0"/>
                </a:rPr>
                <a:t> to </a:t>
              </a:r>
              <a:r>
                <a:rPr lang="it-IT" dirty="0" err="1">
                  <a:cs typeface="Courier New" panose="02070309020205020404" pitchFamily="49" charset="0"/>
                </a:rPr>
                <a:t>your</a:t>
              </a:r>
              <a:r>
                <a:rPr lang="it-IT" dirty="0">
                  <a:cs typeface="Courier New" panose="02070309020205020404" pitchFamily="49" charset="0"/>
                </a:rPr>
                <a:t> </a:t>
              </a:r>
              <a:r>
                <a:rPr lang="it-IT" sz="1800" dirty="0">
                  <a:latin typeface="Courier New" panose="02070309020205020404" pitchFamily="49" charset="0"/>
                  <a:cs typeface="Courier New" panose="02070309020205020404" pitchFamily="49" charset="0"/>
                </a:rPr>
                <a:t>~/.</a:t>
              </a:r>
              <a:r>
                <a:rPr lang="it-IT" sz="1800" dirty="0" err="1">
                  <a:latin typeface="Courier New" panose="02070309020205020404" pitchFamily="49" charset="0"/>
                  <a:cs typeface="Courier New" panose="02070309020205020404" pitchFamily="49" charset="0"/>
                </a:rPr>
                <a:t>bashrc</a:t>
              </a:r>
              <a:br>
                <a:rPr lang="it-IT" sz="1800" dirty="0">
                  <a:latin typeface="Courier New" panose="02070309020205020404" pitchFamily="49" charset="0"/>
                  <a:cs typeface="Courier New" panose="02070309020205020404" pitchFamily="49" charset="0"/>
                </a:rPr>
              </a:br>
              <a:r>
                <a:rPr lang="nl-BE" sz="1800" dirty="0">
                  <a:solidFill>
                    <a:srgbClr val="4E5865"/>
                  </a:solidFill>
                  <a:latin typeface="Courier New" panose="02070309020205020404" pitchFamily="49" charset="0"/>
                  <a:cs typeface="Courier New" panose="02070309020205020404" pitchFamily="49" charset="0"/>
                </a:rPr>
                <a:t>$ echo 'export PATH="${VSC_DATA}/miniconda3/bin:${PATH}" ' &gt;&gt; ~/.</a:t>
              </a:r>
              <a:r>
                <a:rPr lang="nl-BE" sz="1800" dirty="0" err="1">
                  <a:solidFill>
                    <a:srgbClr val="4E5865"/>
                  </a:solidFill>
                  <a:latin typeface="Courier New" panose="02070309020205020404" pitchFamily="49" charset="0"/>
                  <a:cs typeface="Courier New" panose="02070309020205020404" pitchFamily="49" charset="0"/>
                </a:rPr>
                <a:t>bashrc</a:t>
              </a:r>
              <a:endParaRPr lang="nl-BE" sz="1800" dirty="0">
                <a:cs typeface="Courier New" panose="02070309020205020404" pitchFamily="49" charset="0"/>
              </a:endParaRPr>
            </a:p>
          </p:txBody>
        </p:sp>
        <p:sp>
          <p:nvSpPr>
            <p:cNvPr id="9" name="TextBox 8">
              <a:extLst>
                <a:ext uri="{FF2B5EF4-FFF2-40B4-BE49-F238E27FC236}">
                  <a16:creationId xmlns:a16="http://schemas.microsoft.com/office/drawing/2014/main" id="{A860ED43-CBEA-5067-CCFC-773E2B5DB310}"/>
                </a:ext>
              </a:extLst>
            </p:cNvPr>
            <p:cNvSpPr txBox="1"/>
            <p:nvPr/>
          </p:nvSpPr>
          <p:spPr>
            <a:xfrm>
              <a:off x="16736995" y="-211822"/>
              <a:ext cx="3473825" cy="324351"/>
            </a:xfrm>
            <a:prstGeom prst="rect">
              <a:avLst/>
            </a:prstGeom>
            <a:solidFill>
              <a:srgbClr val="DB6C30"/>
            </a:solidFill>
          </p:spPr>
          <p:txBody>
            <a:bodyPr wrap="square" rtlCol="0">
              <a:spAutoFit/>
            </a:bodyPr>
            <a:lstStyle/>
            <a:p>
              <a:r>
                <a:rPr lang="en-US" dirty="0"/>
                <a:t>Step 1: </a:t>
              </a:r>
              <a:r>
                <a:rPr lang="en-US" dirty="0" err="1"/>
                <a:t>Miniconda</a:t>
              </a:r>
              <a:endParaRPr lang="nl-BE" dirty="0"/>
            </a:p>
          </p:txBody>
        </p:sp>
      </p:grpSp>
    </p:spTree>
    <p:extLst>
      <p:ext uri="{BB962C8B-B14F-4D97-AF65-F5344CB8AC3E}">
        <p14:creationId xmlns:p14="http://schemas.microsoft.com/office/powerpoint/2010/main" val="330486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fontScale="925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66</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623392" y="1124745"/>
            <a:ext cx="11106099" cy="2304255"/>
            <a:chOff x="340950" y="-211822"/>
            <a:chExt cx="19857709" cy="211127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9827551" cy="177287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cs typeface="Courier New" panose="02070309020205020404" pitchFamily="49" charset="0"/>
                </a:rPr>
                <a:t>Create a new environment </a:t>
              </a:r>
              <a:r>
                <a:rPr lang="nl-BE" dirty="0">
                  <a:latin typeface="Courier New" panose="02070309020205020404" pitchFamily="49" charset="0"/>
                  <a:cs typeface="Courier New" panose="02070309020205020404" pitchFamily="49" charset="0"/>
                </a:rPr>
                <a:t>&lt;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a:t>
              </a:r>
              <a:r>
                <a:rPr lang="en-US" dirty="0">
                  <a:cs typeface="Courier New" panose="02070309020205020404" pitchFamily="49" charset="0"/>
                </a:rPr>
                <a:t>with all packages you need, e.g.</a:t>
              </a:r>
              <a:br>
                <a:rPr lang="en-US" dirty="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conda</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create</a:t>
              </a:r>
              <a:r>
                <a:rPr lang="nl-BE" dirty="0">
                  <a:latin typeface="Courier New" panose="02070309020205020404" pitchFamily="49" charset="0"/>
                  <a:cs typeface="Courier New" panose="02070309020205020404" pitchFamily="49" charset="0"/>
                </a:rPr>
                <a:t> --name=&lt;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a:t>
              </a:r>
              <a:r>
                <a:rPr lang="nl-BE" dirty="0" err="1">
                  <a:latin typeface="Courier New" panose="02070309020205020404" pitchFamily="49" charset="0"/>
                  <a:cs typeface="Courier New" panose="02070309020205020404" pitchFamily="49" charset="0"/>
                </a:rPr>
                <a:t>numpy</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scipy</a:t>
              </a:r>
              <a:r>
                <a:rPr lang="nl-BE" dirty="0">
                  <a:latin typeface="Courier New" panose="02070309020205020404" pitchFamily="49" charset="0"/>
                  <a:cs typeface="Courier New" panose="02070309020205020404" pitchFamily="49" charset="0"/>
                </a:rPr>
                <a:t> …</a:t>
              </a:r>
              <a:br>
                <a:rPr lang="nl-BE" dirty="0">
                  <a:latin typeface="Courier New" panose="02070309020205020404" pitchFamily="49" charset="0"/>
                  <a:cs typeface="Courier New" panose="02070309020205020404" pitchFamily="49" charset="0"/>
                </a:rPr>
              </a:br>
              <a:r>
                <a:rPr lang="en-US" dirty="0">
                  <a:cs typeface="Courier New" panose="02070309020205020404" pitchFamily="49" charset="0"/>
                </a:rPr>
                <a:t>Enable your new environment</a:t>
              </a:r>
              <a:br>
                <a:rPr lang="en-US" dirty="0">
                  <a:cs typeface="Courier New" panose="02070309020205020404" pitchFamily="49" charset="0"/>
                </a:rPr>
              </a:br>
              <a:r>
                <a:rPr lang="nl-BE" dirty="0">
                  <a:latin typeface="Courier New" panose="02070309020205020404" pitchFamily="49" charset="0"/>
                  <a:cs typeface="Courier New" panose="02070309020205020404" pitchFamily="49" charset="0"/>
                </a:rPr>
                <a:t>$ source </a:t>
              </a:r>
              <a:r>
                <a:rPr lang="nl-BE" dirty="0" err="1">
                  <a:latin typeface="Courier New" panose="02070309020205020404" pitchFamily="49" charset="0"/>
                  <a:cs typeface="Courier New" panose="02070309020205020404" pitchFamily="49" charset="0"/>
                </a:rPr>
                <a:t>activate</a:t>
              </a:r>
              <a:r>
                <a:rPr lang="nl-BE" dirty="0">
                  <a:latin typeface="Courier New" panose="02070309020205020404" pitchFamily="49" charset="0"/>
                  <a:cs typeface="Courier New" panose="02070309020205020404" pitchFamily="49" charset="0"/>
                </a:rPr>
                <a:t>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a:t>
              </a:r>
              <a:br>
                <a:rPr lang="nl-BE" dirty="0">
                  <a:latin typeface="Courier New" panose="02070309020205020404" pitchFamily="49" charset="0"/>
                  <a:cs typeface="Courier New" panose="02070309020205020404" pitchFamily="49" charset="0"/>
                </a:rPr>
              </a:br>
              <a:r>
                <a:rPr lang="nl-BE" dirty="0" err="1">
                  <a:cs typeface="Courier New" panose="02070309020205020404" pitchFamily="49" charset="0"/>
                </a:rPr>
                <a:t>Add</a:t>
              </a:r>
              <a:r>
                <a:rPr lang="nl-BE" dirty="0">
                  <a:cs typeface="Courier New" panose="02070309020205020404" pitchFamily="49" charset="0"/>
                </a:rPr>
                <a:t> </a:t>
              </a:r>
              <a:r>
                <a:rPr lang="nl-BE" dirty="0" err="1">
                  <a:cs typeface="Courier New" panose="02070309020205020404" pitchFamily="49" charset="0"/>
                </a:rPr>
                <a:t>the</a:t>
              </a:r>
              <a:r>
                <a:rPr lang="nl-BE" dirty="0">
                  <a:cs typeface="Courier New" panose="02070309020205020404" pitchFamily="49" charset="0"/>
                </a:rPr>
                <a:t> </a:t>
              </a:r>
              <a:r>
                <a:rPr lang="nl-BE" dirty="0" err="1">
                  <a:cs typeface="Courier New" panose="02070309020205020404" pitchFamily="49" charset="0"/>
                </a:rPr>
                <a:t>ipykernel</a:t>
              </a:r>
              <a:r>
                <a:rPr lang="nl-BE" dirty="0">
                  <a:cs typeface="Courier New" panose="02070309020205020404" pitchFamily="49" charset="0"/>
                </a:rPr>
                <a:t> package</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conda</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install</a:t>
              </a:r>
              <a:r>
                <a:rPr lang="nl-BE" dirty="0">
                  <a:latin typeface="Courier New" panose="02070309020205020404" pitchFamily="49" charset="0"/>
                  <a:cs typeface="Courier New" panose="02070309020205020404" pitchFamily="49" charset="0"/>
                </a:rPr>
                <a:t> -c </a:t>
              </a:r>
              <a:r>
                <a:rPr lang="nl-BE" dirty="0" err="1">
                  <a:latin typeface="Courier New" panose="02070309020205020404" pitchFamily="49" charset="0"/>
                  <a:cs typeface="Courier New" panose="02070309020205020404" pitchFamily="49" charset="0"/>
                </a:rPr>
                <a:t>conda-forge</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ipykernel</a:t>
              </a:r>
              <a:endParaRPr lang="nl-BE" dirty="0">
                <a:latin typeface="Courier New" panose="02070309020205020404" pitchFamily="49" charset="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5147238" y="-211822"/>
              <a:ext cx="5051421" cy="338400"/>
            </a:xfrm>
            <a:prstGeom prst="rect">
              <a:avLst/>
            </a:prstGeom>
            <a:solidFill>
              <a:srgbClr val="DB6C30"/>
            </a:solidFill>
          </p:spPr>
          <p:txBody>
            <a:bodyPr wrap="square" rtlCol="0">
              <a:spAutoFit/>
            </a:bodyPr>
            <a:lstStyle/>
            <a:p>
              <a:r>
                <a:rPr lang="en-US" dirty="0"/>
                <a:t>Step 2: Environment setup</a:t>
              </a:r>
              <a:endParaRPr lang="nl-BE" dirty="0"/>
            </a:p>
          </p:txBody>
        </p:sp>
      </p:grpSp>
      <p:grpSp>
        <p:nvGrpSpPr>
          <p:cNvPr id="2" name="Group 1">
            <a:extLst>
              <a:ext uri="{FF2B5EF4-FFF2-40B4-BE49-F238E27FC236}">
                <a16:creationId xmlns:a16="http://schemas.microsoft.com/office/drawing/2014/main" id="{0752D9D7-3970-B218-40FF-103736FB2C11}"/>
              </a:ext>
            </a:extLst>
          </p:cNvPr>
          <p:cNvGrpSpPr/>
          <p:nvPr/>
        </p:nvGrpSpPr>
        <p:grpSpPr>
          <a:xfrm>
            <a:off x="625681" y="3645024"/>
            <a:ext cx="11103810" cy="1156053"/>
            <a:chOff x="385705" y="1839744"/>
            <a:chExt cx="19853615" cy="1059230"/>
          </a:xfrm>
        </p:grpSpPr>
        <p:sp>
          <p:nvSpPr>
            <p:cNvPr id="5" name="Tijdelijke aanduiding voor inhoud 2">
              <a:extLst>
                <a:ext uri="{FF2B5EF4-FFF2-40B4-BE49-F238E27FC236}">
                  <a16:creationId xmlns:a16="http://schemas.microsoft.com/office/drawing/2014/main" id="{34329549-3778-0339-F91E-EB944CAA69CB}"/>
                </a:ext>
              </a:extLst>
            </p:cNvPr>
            <p:cNvSpPr txBox="1">
              <a:spLocks/>
            </p:cNvSpPr>
            <p:nvPr/>
          </p:nvSpPr>
          <p:spPr>
            <a:xfrm>
              <a:off x="385705" y="2178143"/>
              <a:ext cx="19827550" cy="72083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a:latin typeface="Courier New" panose="02070309020205020404" pitchFamily="49" charset="0"/>
                  <a:cs typeface="Courier New" panose="02070309020205020404" pitchFamily="49" charset="0"/>
                </a:rPr>
                <a:t>$ python -m </a:t>
              </a:r>
              <a:r>
                <a:rPr lang="nl-BE" dirty="0" err="1">
                  <a:latin typeface="Courier New" panose="02070309020205020404" pitchFamily="49" charset="0"/>
                  <a:cs typeface="Courier New" panose="02070309020205020404" pitchFamily="49" charset="0"/>
                </a:rPr>
                <a:t>ipykernel</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install</a:t>
              </a:r>
              <a:r>
                <a:rPr lang="nl-BE" dirty="0">
                  <a:latin typeface="Courier New" panose="02070309020205020404" pitchFamily="49" charset="0"/>
                  <a:cs typeface="Courier New" panose="02070309020205020404" pitchFamily="49" charset="0"/>
                </a:rPr>
                <a:t> --user --</a:t>
              </a:r>
              <a:r>
                <a:rPr lang="nl-BE" dirty="0" err="1">
                  <a:latin typeface="Courier New" panose="02070309020205020404" pitchFamily="49" charset="0"/>
                  <a:cs typeface="Courier New" panose="02070309020205020404" pitchFamily="49" charset="0"/>
                </a:rPr>
                <a:t>env</a:t>
              </a:r>
              <a:r>
                <a:rPr lang="nl-BE" dirty="0">
                  <a:latin typeface="Courier New" panose="02070309020205020404" pitchFamily="49" charset="0"/>
                  <a:cs typeface="Courier New" panose="02070309020205020404" pitchFamily="49" charset="0"/>
                </a:rPr>
                <a:t> PYTHONPATH "" \</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--name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--display-name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a:t>
              </a:r>
            </a:p>
          </p:txBody>
        </p:sp>
        <p:sp>
          <p:nvSpPr>
            <p:cNvPr id="9" name="TextBox 8">
              <a:extLst>
                <a:ext uri="{FF2B5EF4-FFF2-40B4-BE49-F238E27FC236}">
                  <a16:creationId xmlns:a16="http://schemas.microsoft.com/office/drawing/2014/main" id="{A860ED43-CBEA-5067-CCFC-773E2B5DB310}"/>
                </a:ext>
              </a:extLst>
            </p:cNvPr>
            <p:cNvSpPr txBox="1"/>
            <p:nvPr/>
          </p:nvSpPr>
          <p:spPr>
            <a:xfrm>
              <a:off x="14930399" y="1839744"/>
              <a:ext cx="5308921" cy="338400"/>
            </a:xfrm>
            <a:prstGeom prst="rect">
              <a:avLst/>
            </a:prstGeom>
            <a:solidFill>
              <a:srgbClr val="DB6C30"/>
            </a:solidFill>
          </p:spPr>
          <p:txBody>
            <a:bodyPr wrap="square" rtlCol="0">
              <a:spAutoFit/>
            </a:bodyPr>
            <a:lstStyle/>
            <a:p>
              <a:r>
                <a:rPr lang="en-US" dirty="0"/>
                <a:t>Step 3: Register your kernel</a:t>
              </a:r>
              <a:endParaRPr lang="nl-BE" dirty="0"/>
            </a:p>
          </p:txBody>
        </p:sp>
      </p:grpSp>
      <p:sp>
        <p:nvSpPr>
          <p:cNvPr id="3" name="Tijdelijke aanduiding voor inhoud 2">
            <a:extLst>
              <a:ext uri="{FF2B5EF4-FFF2-40B4-BE49-F238E27FC236}">
                <a16:creationId xmlns:a16="http://schemas.microsoft.com/office/drawing/2014/main" id="{45B5E082-EE51-25B9-D829-1934618D07C8}"/>
              </a:ext>
            </a:extLst>
          </p:cNvPr>
          <p:cNvSpPr txBox="1">
            <a:spLocks/>
          </p:cNvSpPr>
          <p:nvPr/>
        </p:nvSpPr>
        <p:spPr>
          <a:xfrm>
            <a:off x="627693" y="5397053"/>
            <a:ext cx="11089232" cy="786723"/>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err="1">
                <a:cs typeface="Courier New" panose="02070309020205020404" pitchFamily="49" charset="0"/>
              </a:rPr>
              <a:t>Now</a:t>
            </a:r>
            <a:r>
              <a:rPr lang="nl-BE" dirty="0">
                <a:cs typeface="Courier New" panose="02070309020205020404" pitchFamily="49" charset="0"/>
              </a:rPr>
              <a:t> start a new </a:t>
            </a:r>
            <a:r>
              <a:rPr lang="nl-BE" dirty="0" err="1">
                <a:cs typeface="Courier New" panose="02070309020205020404" pitchFamily="49" charset="0"/>
              </a:rPr>
              <a:t>Jupyter</a:t>
            </a:r>
            <a:r>
              <a:rPr lang="nl-BE" dirty="0">
                <a:cs typeface="Courier New" panose="02070309020205020404" pitchFamily="49" charset="0"/>
              </a:rPr>
              <a:t> Lab </a:t>
            </a:r>
            <a:r>
              <a:rPr lang="nl-BE" dirty="0" err="1">
                <a:cs typeface="Courier New" panose="02070309020205020404" pitchFamily="49" charset="0"/>
              </a:rPr>
              <a:t>session</a:t>
            </a:r>
            <a:endParaRPr lang="nl-BE" dirty="0">
              <a:cs typeface="Courier New" panose="02070309020205020404" pitchFamily="49" charset="0"/>
            </a:endParaRPr>
          </a:p>
          <a:p>
            <a:pPr marL="0" indent="0">
              <a:buNone/>
            </a:pPr>
            <a:r>
              <a:rPr lang="nl-BE" dirty="0" err="1">
                <a:cs typeface="Courier New" panose="02070309020205020404" pitchFamily="49" charset="0"/>
              </a:rPr>
              <a:t>Your</a:t>
            </a:r>
            <a:r>
              <a:rPr lang="nl-BE" dirty="0">
                <a:cs typeface="Courier New" panose="02070309020205020404" pitchFamily="49" charset="0"/>
              </a:rPr>
              <a:t> new </a:t>
            </a:r>
            <a:r>
              <a:rPr lang="nl-BE" dirty="0" err="1">
                <a:cs typeface="Courier New" panose="02070309020205020404" pitchFamily="49" charset="0"/>
              </a:rPr>
              <a:t>kernel</a:t>
            </a:r>
            <a:r>
              <a:rPr lang="nl-BE" dirty="0">
                <a:cs typeface="Courier New" panose="02070309020205020404" pitchFamily="49" charset="0"/>
              </a:rPr>
              <a:t> </a:t>
            </a:r>
            <a:r>
              <a:rPr lang="nl-BE" dirty="0" err="1">
                <a:cs typeface="Courier New" panose="02070309020205020404" pitchFamily="49" charset="0"/>
              </a:rPr>
              <a:t>should</a:t>
            </a:r>
            <a:r>
              <a:rPr lang="nl-BE" dirty="0">
                <a:cs typeface="Courier New" panose="02070309020205020404" pitchFamily="49" charset="0"/>
              </a:rPr>
              <a:t> </a:t>
            </a:r>
            <a:r>
              <a:rPr lang="nl-BE" dirty="0" err="1">
                <a:cs typeface="Courier New" panose="02070309020205020404" pitchFamily="49" charset="0"/>
              </a:rPr>
              <a:t>be</a:t>
            </a:r>
            <a:r>
              <a:rPr lang="nl-BE" dirty="0">
                <a:cs typeface="Courier New" panose="02070309020205020404" pitchFamily="49" charset="0"/>
              </a:rPr>
              <a:t> </a:t>
            </a:r>
            <a:r>
              <a:rPr lang="nl-BE" dirty="0" err="1">
                <a:cs typeface="Courier New" panose="02070309020205020404" pitchFamily="49" charset="0"/>
              </a:rPr>
              <a:t>available</a:t>
            </a:r>
            <a:r>
              <a:rPr lang="nl-BE" dirty="0">
                <a:cs typeface="Courier New" panose="02070309020205020404" pitchFamily="49" charset="0"/>
              </a:rPr>
              <a:t> </a:t>
            </a:r>
            <a:r>
              <a:rPr lang="nl-BE" dirty="0" err="1">
                <a:cs typeface="Courier New" panose="02070309020205020404" pitchFamily="49" charset="0"/>
              </a:rPr>
              <a:t>there</a:t>
            </a:r>
            <a:endParaRPr lang="nl-BE" dirty="0">
              <a:cs typeface="Courier New" panose="02070309020205020404" pitchFamily="49" charset="0"/>
            </a:endParaRPr>
          </a:p>
        </p:txBody>
      </p:sp>
      <p:sp>
        <p:nvSpPr>
          <p:cNvPr id="10" name="TextBox 9">
            <a:extLst>
              <a:ext uri="{FF2B5EF4-FFF2-40B4-BE49-F238E27FC236}">
                <a16:creationId xmlns:a16="http://schemas.microsoft.com/office/drawing/2014/main" id="{7C0A0086-0C17-C951-1205-2817B5062F51}"/>
              </a:ext>
            </a:extLst>
          </p:cNvPr>
          <p:cNvSpPr txBox="1"/>
          <p:nvPr/>
        </p:nvSpPr>
        <p:spPr>
          <a:xfrm>
            <a:off x="8616280" y="5023277"/>
            <a:ext cx="3122271" cy="369333"/>
          </a:xfrm>
          <a:prstGeom prst="rect">
            <a:avLst/>
          </a:prstGeom>
          <a:solidFill>
            <a:srgbClr val="DB6C30"/>
          </a:solidFill>
        </p:spPr>
        <p:txBody>
          <a:bodyPr wrap="square" rtlCol="0">
            <a:spAutoFit/>
          </a:bodyPr>
          <a:lstStyle/>
          <a:p>
            <a:r>
              <a:rPr lang="en-US" dirty="0"/>
              <a:t>Step 4: Launching </a:t>
            </a:r>
            <a:r>
              <a:rPr lang="en-US" dirty="0" err="1"/>
              <a:t>JupyterLab</a:t>
            </a:r>
            <a:endParaRPr lang="nl-BE" dirty="0"/>
          </a:p>
        </p:txBody>
      </p:sp>
    </p:spTree>
    <p:extLst>
      <p:ext uri="{BB962C8B-B14F-4D97-AF65-F5344CB8AC3E}">
        <p14:creationId xmlns:p14="http://schemas.microsoft.com/office/powerpoint/2010/main" val="1715887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C9A08-5877-3291-0EFC-6D44A8B9C00E}"/>
            </a:ext>
          </a:extLst>
        </p:cNvPr>
        <p:cNvGrpSpPr/>
        <p:nvPr/>
      </p:nvGrpSpPr>
      <p:grpSpPr>
        <a:xfrm>
          <a:off x="0" y="0"/>
          <a:ext cx="0" cy="0"/>
          <a:chOff x="0" y="0"/>
          <a:chExt cx="0" cy="0"/>
        </a:xfrm>
      </p:grpSpPr>
      <p:sp>
        <p:nvSpPr>
          <p:cNvPr id="8" name="Rectangle 2">
            <a:extLst>
              <a:ext uri="{FF2B5EF4-FFF2-40B4-BE49-F238E27FC236}">
                <a16:creationId xmlns:a16="http://schemas.microsoft.com/office/drawing/2014/main" id="{E54BCEFA-4645-256E-5202-33E9C3319B83}"/>
              </a:ext>
            </a:extLst>
          </p:cNvPr>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a:t>
            </a:r>
            <a:r>
              <a:rPr lang="en-US" altLang="en-US" sz="3200" dirty="0" err="1"/>
              <a:t>noVNC</a:t>
            </a:r>
            <a:r>
              <a:rPr lang="en-US" altLang="en-US" sz="3200" dirty="0"/>
              <a:t> Desktop</a:t>
            </a:r>
            <a:endParaRPr lang="pl-PL" altLang="en-US" sz="3200" dirty="0"/>
          </a:p>
        </p:txBody>
      </p:sp>
      <p:pic>
        <p:nvPicPr>
          <p:cNvPr id="4" name="Picture 3" descr="Logo, icon&#10;&#10;Description automatically generated">
            <a:extLst>
              <a:ext uri="{FF2B5EF4-FFF2-40B4-BE49-F238E27FC236}">
                <a16:creationId xmlns:a16="http://schemas.microsoft.com/office/drawing/2014/main" id="{3A99DFCA-D85F-D20E-57ED-EC2AE92EF9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a:extLst>
              <a:ext uri="{FF2B5EF4-FFF2-40B4-BE49-F238E27FC236}">
                <a16:creationId xmlns:a16="http://schemas.microsoft.com/office/drawing/2014/main" id="{93C33A83-5C5F-F2CE-9EF5-12819E34B1D5}"/>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67</a:t>
            </a:fld>
            <a:endParaRPr lang="nl-BE" sz="900" dirty="0">
              <a:solidFill>
                <a:schemeClr val="bg1"/>
              </a:solidFill>
            </a:endParaRPr>
          </a:p>
        </p:txBody>
      </p:sp>
      <p:grpSp>
        <p:nvGrpSpPr>
          <p:cNvPr id="14" name="Group 13">
            <a:extLst>
              <a:ext uri="{FF2B5EF4-FFF2-40B4-BE49-F238E27FC236}">
                <a16:creationId xmlns:a16="http://schemas.microsoft.com/office/drawing/2014/main" id="{E6D289A7-1562-4383-3707-A25986324F00}"/>
              </a:ext>
            </a:extLst>
          </p:cNvPr>
          <p:cNvGrpSpPr/>
          <p:nvPr/>
        </p:nvGrpSpPr>
        <p:grpSpPr>
          <a:xfrm>
            <a:off x="475712" y="1135380"/>
            <a:ext cx="5871439" cy="3301733"/>
            <a:chOff x="340950" y="-211822"/>
            <a:chExt cx="14717592" cy="3025206"/>
          </a:xfrm>
        </p:grpSpPr>
        <p:sp>
          <p:nvSpPr>
            <p:cNvPr id="7" name="Tijdelijke aanduiding voor inhoud 2">
              <a:extLst>
                <a:ext uri="{FF2B5EF4-FFF2-40B4-BE49-F238E27FC236}">
                  <a16:creationId xmlns:a16="http://schemas.microsoft.com/office/drawing/2014/main" id="{458C31FB-FBAF-4885-7A13-D6D3DE1D4B31}"/>
                </a:ext>
              </a:extLst>
            </p:cNvPr>
            <p:cNvSpPr txBox="1">
              <a:spLocks/>
            </p:cNvSpPr>
            <p:nvPr/>
          </p:nvSpPr>
          <p:spPr>
            <a:xfrm>
              <a:off x="340950" y="126577"/>
              <a:ext cx="14689867" cy="2686807"/>
            </a:xfrm>
            <a:prstGeom prst="rect">
              <a:avLst/>
            </a:prstGeom>
            <a:ln w="381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dirty="0">
                  <a:cs typeface="Courier New" panose="02070309020205020404" pitchFamily="49" charset="0"/>
                </a:rPr>
                <a:t>Ideal for apps with GUI</a:t>
              </a:r>
            </a:p>
            <a:p>
              <a:pPr marL="324000" indent="-324000">
                <a:buBlip>
                  <a:blip r:embed="rId4"/>
                </a:buBlip>
              </a:pPr>
              <a:r>
                <a:rPr lang="en-US" dirty="0">
                  <a:cs typeface="Courier New" panose="02070309020205020404" pitchFamily="49" charset="0"/>
                </a:rPr>
                <a:t>Load (graphical) modules in Terminal, e.g. MATLAB, Fluent, </a:t>
              </a:r>
              <a:r>
                <a:rPr lang="en-US" dirty="0" err="1">
                  <a:cs typeface="Courier New" panose="02070309020205020404" pitchFamily="49" charset="0"/>
                </a:rPr>
                <a:t>ncview</a:t>
              </a:r>
              <a:r>
                <a:rPr lang="en-US" dirty="0">
                  <a:cs typeface="Courier New" panose="02070309020205020404" pitchFamily="49" charset="0"/>
                </a:rPr>
                <a:t>, </a:t>
              </a:r>
              <a:r>
                <a:rPr lang="en-US" dirty="0" err="1">
                  <a:cs typeface="Courier New" panose="02070309020205020404" pitchFamily="49" charset="0"/>
                </a:rPr>
                <a:t>VisIt</a:t>
              </a:r>
              <a:r>
                <a:rPr lang="en-US" dirty="0">
                  <a:cs typeface="Courier New" panose="02070309020205020404" pitchFamily="49" charset="0"/>
                </a:rPr>
                <a:t>, …</a:t>
              </a:r>
            </a:p>
            <a:p>
              <a:pPr marL="324000" indent="-324000">
                <a:buBlip>
                  <a:blip r:embed="rId4"/>
                </a:buBlip>
              </a:pPr>
              <a:r>
                <a:rPr lang="en-US" dirty="0">
                  <a:cs typeface="Courier New" panose="02070309020205020404" pitchFamily="49" charset="0"/>
                </a:rPr>
                <a:t>Minimalistic Terminal (different from login node)</a:t>
              </a:r>
            </a:p>
            <a:p>
              <a:pPr marL="324000" indent="-324000">
                <a:buBlip>
                  <a:blip r:embed="rId4"/>
                </a:buBlip>
              </a:pPr>
              <a:r>
                <a:rPr lang="en-US" dirty="0">
                  <a:cs typeface="Courier New" panose="02070309020205020404" pitchFamily="49" charset="0"/>
                </a:rPr>
                <a:t>Two visualization apps (</a:t>
              </a:r>
              <a:r>
                <a:rPr lang="en-US" dirty="0" err="1">
                  <a:cs typeface="Courier New" panose="02070309020205020404" pitchFamily="49" charset="0"/>
                </a:rPr>
                <a:t>VisIt</a:t>
              </a:r>
              <a:r>
                <a:rPr lang="en-US" dirty="0">
                  <a:cs typeface="Courier New" panose="02070309020205020404" pitchFamily="49" charset="0"/>
                </a:rPr>
                <a:t> and VMD)</a:t>
              </a:r>
            </a:p>
          </p:txBody>
        </p:sp>
        <p:sp>
          <p:nvSpPr>
            <p:cNvPr id="13" name="TextBox 12">
              <a:extLst>
                <a:ext uri="{FF2B5EF4-FFF2-40B4-BE49-F238E27FC236}">
                  <a16:creationId xmlns:a16="http://schemas.microsoft.com/office/drawing/2014/main" id="{158E058B-4C78-A675-CF82-4B612A6F9276}"/>
                </a:ext>
              </a:extLst>
            </p:cNvPr>
            <p:cNvSpPr txBox="1"/>
            <p:nvPr/>
          </p:nvSpPr>
          <p:spPr>
            <a:xfrm>
              <a:off x="12578782" y="-211822"/>
              <a:ext cx="2479760" cy="338400"/>
            </a:xfrm>
            <a:prstGeom prst="rect">
              <a:avLst/>
            </a:prstGeom>
            <a:solidFill>
              <a:srgbClr val="DB6C30"/>
            </a:solidFill>
          </p:spPr>
          <p:txBody>
            <a:bodyPr wrap="square" rtlCol="0">
              <a:spAutoFit/>
            </a:bodyPr>
            <a:lstStyle/>
            <a:p>
              <a:r>
                <a:rPr lang="en-US" dirty="0"/>
                <a:t>Desktop</a:t>
              </a:r>
              <a:endParaRPr lang="nl-BE" dirty="0"/>
            </a:p>
          </p:txBody>
        </p:sp>
      </p:grpSp>
      <p:pic>
        <p:nvPicPr>
          <p:cNvPr id="5" name="Picture 4">
            <a:extLst>
              <a:ext uri="{FF2B5EF4-FFF2-40B4-BE49-F238E27FC236}">
                <a16:creationId xmlns:a16="http://schemas.microsoft.com/office/drawing/2014/main" id="{454DA44A-B000-1FAA-F2CA-F6552BA1188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726474" y="1162398"/>
            <a:ext cx="5254903" cy="4354833"/>
          </a:xfrm>
          <a:prstGeom prst="rect">
            <a:avLst/>
          </a:prstGeom>
        </p:spPr>
      </p:pic>
    </p:spTree>
    <p:extLst>
      <p:ext uri="{BB962C8B-B14F-4D97-AF65-F5344CB8AC3E}">
        <p14:creationId xmlns:p14="http://schemas.microsoft.com/office/powerpoint/2010/main" val="30396916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68</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21" name="Group 20">
            <a:extLst>
              <a:ext uri="{FF2B5EF4-FFF2-40B4-BE49-F238E27FC236}">
                <a16:creationId xmlns:a16="http://schemas.microsoft.com/office/drawing/2014/main" id="{24C33FD9-9653-A2B0-80FF-70CFD5550831}"/>
              </a:ext>
            </a:extLst>
          </p:cNvPr>
          <p:cNvGrpSpPr/>
          <p:nvPr/>
        </p:nvGrpSpPr>
        <p:grpSpPr>
          <a:xfrm>
            <a:off x="897076" y="1402095"/>
            <a:ext cx="10155502" cy="1574847"/>
            <a:chOff x="1577710" y="1494475"/>
            <a:chExt cx="10155502" cy="1574847"/>
          </a:xfrm>
        </p:grpSpPr>
        <p:sp>
          <p:nvSpPr>
            <p:cNvPr id="17" name="Tijdelijke aanduiding voor inhoud 2">
              <a:extLst>
                <a:ext uri="{FF2B5EF4-FFF2-40B4-BE49-F238E27FC236}">
                  <a16:creationId xmlns:a16="http://schemas.microsoft.com/office/drawing/2014/main" id="{7D7FB31D-53C8-92BD-64D4-C141A6D75776}"/>
                </a:ext>
              </a:extLst>
            </p:cNvPr>
            <p:cNvSpPr txBox="1">
              <a:spLocks/>
            </p:cNvSpPr>
            <p:nvPr/>
          </p:nvSpPr>
          <p:spPr>
            <a:xfrm>
              <a:off x="3188860" y="1494475"/>
              <a:ext cx="8544352" cy="1574847"/>
            </a:xfrm>
            <a:prstGeom prst="rect">
              <a:avLst/>
            </a:prstGeom>
            <a:ln w="28575">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Visual Studio Code server as a job</a:t>
              </a:r>
            </a:p>
            <a:p>
              <a:pPr marL="0" indent="0">
                <a:buNone/>
              </a:pPr>
              <a:r>
                <a:rPr lang="en-US" dirty="0"/>
                <a:t>Develop, deploy and debug your workflow directly on HPC</a:t>
              </a:r>
            </a:p>
            <a:p>
              <a:pPr marL="0" indent="0">
                <a:buNone/>
              </a:pPr>
              <a:r>
                <a:rPr lang="en-US" dirty="0"/>
                <a:t>Use of the interactive partitions is free of charge and is a good choice</a:t>
              </a:r>
            </a:p>
            <a:p>
              <a:pPr marL="0" indent="0">
                <a:buNone/>
              </a:pPr>
              <a:r>
                <a:rPr lang="en-US" dirty="0"/>
                <a:t>Supports many languages + </a:t>
              </a:r>
              <a:r>
                <a:rPr lang="en-US" dirty="0" err="1"/>
                <a:t>Github</a:t>
              </a:r>
              <a:r>
                <a:rPr lang="en-US" dirty="0"/>
                <a:t> integration</a:t>
              </a:r>
            </a:p>
          </p:txBody>
        </p:sp>
        <p:pic>
          <p:nvPicPr>
            <p:cNvPr id="5" name="Picture 4">
              <a:extLst>
                <a:ext uri="{FF2B5EF4-FFF2-40B4-BE49-F238E27FC236}">
                  <a16:creationId xmlns:a16="http://schemas.microsoft.com/office/drawing/2014/main" id="{1A140DB8-1C69-4BD9-2433-4633A86C6867}"/>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577710" y="1541109"/>
              <a:ext cx="1450943" cy="1424799"/>
            </a:xfrm>
            <a:prstGeom prst="rect">
              <a:avLst/>
            </a:prstGeom>
          </p:spPr>
        </p:pic>
      </p:grpSp>
      <p:grpSp>
        <p:nvGrpSpPr>
          <p:cNvPr id="23" name="Group 22">
            <a:extLst>
              <a:ext uri="{FF2B5EF4-FFF2-40B4-BE49-F238E27FC236}">
                <a16:creationId xmlns:a16="http://schemas.microsoft.com/office/drawing/2014/main" id="{FD42A31F-EA75-367D-0408-91535F5568A3}"/>
              </a:ext>
            </a:extLst>
          </p:cNvPr>
          <p:cNvGrpSpPr/>
          <p:nvPr/>
        </p:nvGrpSpPr>
        <p:grpSpPr>
          <a:xfrm>
            <a:off x="986719" y="3222267"/>
            <a:ext cx="10065859" cy="1325936"/>
            <a:chOff x="986719" y="3259359"/>
            <a:chExt cx="10065859" cy="1325936"/>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2508226" y="3259359"/>
              <a:ext cx="8544352" cy="132176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RStudio IDE as a job</a:t>
              </a:r>
              <a:endParaRPr lang="nl-BE" dirty="0"/>
            </a:p>
            <a:p>
              <a:pPr marL="0" indent="0">
                <a:buNone/>
              </a:pPr>
              <a:r>
                <a:rPr lang="nl-BE" dirty="0" err="1"/>
                <a:t>Install</a:t>
              </a:r>
              <a:r>
                <a:rPr lang="nl-BE" dirty="0"/>
                <a:t> </a:t>
              </a:r>
              <a:r>
                <a:rPr lang="nl-BE" dirty="0" err="1"/>
                <a:t>your</a:t>
              </a:r>
              <a:r>
                <a:rPr lang="nl-BE" dirty="0"/>
                <a:t> </a:t>
              </a:r>
              <a:r>
                <a:rPr lang="nl-BE" dirty="0" err="1"/>
                <a:t>own</a:t>
              </a:r>
              <a:r>
                <a:rPr lang="nl-BE" dirty="0"/>
                <a:t> packages in VSC_DATA</a:t>
              </a:r>
              <a:endParaRPr lang="en-US" dirty="0"/>
            </a:p>
          </p:txBody>
        </p:sp>
        <p:pic>
          <p:nvPicPr>
            <p:cNvPr id="14" name="Picture 13">
              <a:extLst>
                <a:ext uri="{FF2B5EF4-FFF2-40B4-BE49-F238E27FC236}">
                  <a16:creationId xmlns:a16="http://schemas.microsoft.com/office/drawing/2014/main" id="{6718339F-625D-0059-D483-FAB81C13ACFA}"/>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986719" y="3341896"/>
              <a:ext cx="1249129" cy="1243399"/>
            </a:xfrm>
            <a:prstGeom prst="rect">
              <a:avLst/>
            </a:prstGeom>
          </p:spPr>
        </p:pic>
      </p:grpSp>
      <p:grpSp>
        <p:nvGrpSpPr>
          <p:cNvPr id="24" name="Group 23">
            <a:extLst>
              <a:ext uri="{FF2B5EF4-FFF2-40B4-BE49-F238E27FC236}">
                <a16:creationId xmlns:a16="http://schemas.microsoft.com/office/drawing/2014/main" id="{C09B9ECB-2319-58B0-FB77-F8003BBCC514}"/>
              </a:ext>
            </a:extLst>
          </p:cNvPr>
          <p:cNvGrpSpPr/>
          <p:nvPr/>
        </p:nvGrpSpPr>
        <p:grpSpPr>
          <a:xfrm>
            <a:off x="986719" y="4857867"/>
            <a:ext cx="10065859" cy="1249130"/>
            <a:chOff x="986719" y="4857867"/>
            <a:chExt cx="10065859" cy="1249130"/>
          </a:xfrm>
        </p:grpSpPr>
        <p:pic>
          <p:nvPicPr>
            <p:cNvPr id="16" name="Picture 15">
              <a:extLst>
                <a:ext uri="{FF2B5EF4-FFF2-40B4-BE49-F238E27FC236}">
                  <a16:creationId xmlns:a16="http://schemas.microsoft.com/office/drawing/2014/main" id="{ED840B4E-2245-3FEA-C5BC-F12169E44C37}"/>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86719" y="4857868"/>
              <a:ext cx="1249129" cy="1249129"/>
            </a:xfrm>
            <a:prstGeom prst="rect">
              <a:avLst/>
            </a:prstGeom>
          </p:spPr>
        </p:pic>
        <p:sp>
          <p:nvSpPr>
            <p:cNvPr id="18" name="Tijdelijke aanduiding voor inhoud 2">
              <a:extLst>
                <a:ext uri="{FF2B5EF4-FFF2-40B4-BE49-F238E27FC236}">
                  <a16:creationId xmlns:a16="http://schemas.microsoft.com/office/drawing/2014/main" id="{A2D3978A-B9C3-D1F9-D205-7CCCEDA47F0B}"/>
                </a:ext>
              </a:extLst>
            </p:cNvPr>
            <p:cNvSpPr txBox="1">
              <a:spLocks/>
            </p:cNvSpPr>
            <p:nvPr/>
          </p:nvSpPr>
          <p:spPr>
            <a:xfrm>
              <a:off x="2508226" y="4857867"/>
              <a:ext cx="8544352" cy="124912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Track machine learning metrics and visualize data during the workflow</a:t>
              </a:r>
            </a:p>
            <a:p>
              <a:pPr marL="0" indent="0">
                <a:buNone/>
              </a:pPr>
              <a:r>
                <a:rPr lang="en-US" dirty="0"/>
                <a:t>You need to provide a log folder</a:t>
              </a:r>
            </a:p>
          </p:txBody>
        </p:sp>
      </p:grpSp>
    </p:spTree>
    <p:extLst>
      <p:ext uri="{BB962C8B-B14F-4D97-AF65-F5344CB8AC3E}">
        <p14:creationId xmlns:p14="http://schemas.microsoft.com/office/powerpoint/2010/main" val="2908394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A2887-D3DE-960E-2B63-3ACB78A3A04B}"/>
            </a:ext>
          </a:extLst>
        </p:cNvPr>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728CE920-DB38-FFDC-AB7D-A78380EF903A}"/>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69</a:t>
            </a:fld>
            <a:endParaRPr lang="nl-BE" sz="900" dirty="0">
              <a:solidFill>
                <a:schemeClr val="bg1"/>
              </a:solidFill>
            </a:endParaRPr>
          </a:p>
        </p:txBody>
      </p:sp>
      <p:sp>
        <p:nvSpPr>
          <p:cNvPr id="11" name="Rectangle 2">
            <a:extLst>
              <a:ext uri="{FF2B5EF4-FFF2-40B4-BE49-F238E27FC236}">
                <a16:creationId xmlns:a16="http://schemas.microsoft.com/office/drawing/2014/main" id="{E6162E6C-64C7-4E23-2F29-0849B258559A}"/>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1E45867D-D9C5-EA18-581D-06F2CD93B1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17" name="Tijdelijke aanduiding voor inhoud 2">
            <a:extLst>
              <a:ext uri="{FF2B5EF4-FFF2-40B4-BE49-F238E27FC236}">
                <a16:creationId xmlns:a16="http://schemas.microsoft.com/office/drawing/2014/main" id="{B668347F-A21F-7E75-7BCF-4AC94665D958}"/>
              </a:ext>
            </a:extLst>
          </p:cNvPr>
          <p:cNvSpPr txBox="1">
            <a:spLocks/>
          </p:cNvSpPr>
          <p:nvPr/>
        </p:nvSpPr>
        <p:spPr>
          <a:xfrm>
            <a:off x="2508226" y="1337389"/>
            <a:ext cx="8544352" cy="1639553"/>
          </a:xfrm>
          <a:prstGeom prst="rect">
            <a:avLst/>
          </a:prstGeom>
          <a:ln w="28575">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PyCharm IDE as a job</a:t>
            </a:r>
          </a:p>
          <a:p>
            <a:pPr marL="0" indent="0">
              <a:buNone/>
            </a:pPr>
            <a:r>
              <a:rPr lang="en-US" dirty="0"/>
              <a:t>Develop, deploy and debug your Python workflow directly on HPC</a:t>
            </a:r>
          </a:p>
          <a:p>
            <a:pPr marL="0" indent="0">
              <a:buNone/>
            </a:pPr>
            <a:r>
              <a:rPr lang="en-US" dirty="0"/>
              <a:t>Use Python environment based on Conda or virtual environments</a:t>
            </a:r>
          </a:p>
        </p:txBody>
      </p:sp>
      <p:sp>
        <p:nvSpPr>
          <p:cNvPr id="7" name="Tijdelijke aanduiding voor inhoud 2">
            <a:extLst>
              <a:ext uri="{FF2B5EF4-FFF2-40B4-BE49-F238E27FC236}">
                <a16:creationId xmlns:a16="http://schemas.microsoft.com/office/drawing/2014/main" id="{84C8BBD9-1229-1F80-A2EF-3CCD17A318E3}"/>
              </a:ext>
            </a:extLst>
          </p:cNvPr>
          <p:cNvSpPr txBox="1">
            <a:spLocks/>
          </p:cNvSpPr>
          <p:nvPr/>
        </p:nvSpPr>
        <p:spPr>
          <a:xfrm>
            <a:off x="2508226" y="3222267"/>
            <a:ext cx="8544352" cy="132176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Use Fluent for CFD simulations (single-node)</a:t>
            </a:r>
            <a:endParaRPr lang="nl-BE" dirty="0"/>
          </a:p>
          <a:p>
            <a:pPr marL="0" indent="0">
              <a:buNone/>
            </a:pPr>
            <a:r>
              <a:rPr lang="en-US" dirty="0"/>
              <a:t>You need to be in a license group before being able to see the app logo</a:t>
            </a:r>
          </a:p>
          <a:p>
            <a:pPr marL="0" indent="0">
              <a:buNone/>
            </a:pPr>
            <a:r>
              <a:rPr lang="en-US" dirty="0"/>
              <a:t>Contact your supervisor to help you joining an existing license group</a:t>
            </a:r>
          </a:p>
        </p:txBody>
      </p:sp>
      <p:sp>
        <p:nvSpPr>
          <p:cNvPr id="18" name="Tijdelijke aanduiding voor inhoud 2">
            <a:extLst>
              <a:ext uri="{FF2B5EF4-FFF2-40B4-BE49-F238E27FC236}">
                <a16:creationId xmlns:a16="http://schemas.microsoft.com/office/drawing/2014/main" id="{68B28F2D-E55C-5ABC-6D01-498195168628}"/>
              </a:ext>
            </a:extLst>
          </p:cNvPr>
          <p:cNvSpPr txBox="1">
            <a:spLocks/>
          </p:cNvSpPr>
          <p:nvPr/>
        </p:nvSpPr>
        <p:spPr>
          <a:xfrm>
            <a:off x="2508226" y="4857867"/>
            <a:ext cx="8544352" cy="124912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Tunnel to the cluster from your local </a:t>
            </a:r>
            <a:r>
              <a:rPr lang="en-US" dirty="0" err="1"/>
              <a:t>VSCode</a:t>
            </a:r>
            <a:r>
              <a:rPr lang="en-US" dirty="0"/>
              <a:t>, so that you code locally, but run remotely! You can enable extensions such as Copilot and more.</a:t>
            </a:r>
          </a:p>
        </p:txBody>
      </p:sp>
      <p:pic>
        <p:nvPicPr>
          <p:cNvPr id="3" name="Picture 2">
            <a:extLst>
              <a:ext uri="{FF2B5EF4-FFF2-40B4-BE49-F238E27FC236}">
                <a16:creationId xmlns:a16="http://schemas.microsoft.com/office/drawing/2014/main" id="{42651972-03F2-36DE-8391-563105CD016F}"/>
              </a:ext>
            </a:extLst>
          </p:cNvPr>
          <p:cNvPicPr>
            <a:picLocks noChangeAspect="1"/>
          </p:cNvPicPr>
          <p:nvPr/>
        </p:nvPicPr>
        <p:blipFill>
          <a:blip r:embed="rId3"/>
          <a:stretch>
            <a:fillRect/>
          </a:stretch>
        </p:blipFill>
        <p:spPr>
          <a:xfrm>
            <a:off x="986719" y="1496731"/>
            <a:ext cx="1219263" cy="1320868"/>
          </a:xfrm>
          <a:prstGeom prst="rect">
            <a:avLst/>
          </a:prstGeom>
        </p:spPr>
      </p:pic>
      <p:pic>
        <p:nvPicPr>
          <p:cNvPr id="8" name="Picture 7">
            <a:extLst>
              <a:ext uri="{FF2B5EF4-FFF2-40B4-BE49-F238E27FC236}">
                <a16:creationId xmlns:a16="http://schemas.microsoft.com/office/drawing/2014/main" id="{52089419-98DD-86B7-BF6D-81835AB453F3}"/>
              </a:ext>
            </a:extLst>
          </p:cNvPr>
          <p:cNvPicPr>
            <a:picLocks noChangeAspect="1"/>
          </p:cNvPicPr>
          <p:nvPr/>
        </p:nvPicPr>
        <p:blipFill>
          <a:blip r:embed="rId4"/>
          <a:stretch>
            <a:fillRect/>
          </a:stretch>
        </p:blipFill>
        <p:spPr>
          <a:xfrm>
            <a:off x="1012013" y="3203153"/>
            <a:ext cx="1187511" cy="1301817"/>
          </a:xfrm>
          <a:prstGeom prst="rect">
            <a:avLst/>
          </a:prstGeom>
        </p:spPr>
      </p:pic>
      <p:pic>
        <p:nvPicPr>
          <p:cNvPr id="10" name="Picture 9">
            <a:extLst>
              <a:ext uri="{FF2B5EF4-FFF2-40B4-BE49-F238E27FC236}">
                <a16:creationId xmlns:a16="http://schemas.microsoft.com/office/drawing/2014/main" id="{ACC1B0CA-1353-B036-6CFC-2CE66E56CCBB}"/>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045263" y="4831522"/>
            <a:ext cx="1154261" cy="1340432"/>
          </a:xfrm>
          <a:prstGeom prst="rect">
            <a:avLst/>
          </a:prstGeom>
        </p:spPr>
      </p:pic>
    </p:spTree>
    <p:extLst>
      <p:ext uri="{BB962C8B-B14F-4D97-AF65-F5344CB8AC3E}">
        <p14:creationId xmlns:p14="http://schemas.microsoft.com/office/powerpoint/2010/main" val="14610840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839416" y="1298179"/>
            <a:ext cx="6336704" cy="2346845"/>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i="1" dirty="0"/>
              <a:t>E.g.</a:t>
            </a:r>
            <a:r>
              <a:rPr lang="en-US" dirty="0"/>
              <a:t> to start a </a:t>
            </a:r>
            <a:r>
              <a:rPr lang="en-US" dirty="0" err="1"/>
              <a:t>Jupyter</a:t>
            </a:r>
            <a:r>
              <a:rPr lang="en-US" dirty="0"/>
              <a:t> notebook</a:t>
            </a:r>
          </a:p>
          <a:p>
            <a:pPr marL="324000" indent="-324000">
              <a:buBlip>
                <a:blip r:embed="rId2"/>
              </a:buBlip>
            </a:pPr>
            <a:r>
              <a:rPr lang="en-US" dirty="0"/>
              <a:t> Pick a valid </a:t>
            </a:r>
            <a:r>
              <a:rPr lang="en-US" dirty="0" err="1"/>
              <a:t>Slurm</a:t>
            </a:r>
            <a:r>
              <a:rPr lang="en-US" dirty="0"/>
              <a:t> credit account</a:t>
            </a:r>
          </a:p>
          <a:p>
            <a:pPr marL="324000" indent="-324000">
              <a:buBlip>
                <a:blip r:embed="rId2"/>
              </a:buBlip>
            </a:pPr>
            <a:r>
              <a:rPr lang="en-US" dirty="0"/>
              <a:t> Default partition for most apps: </a:t>
            </a:r>
            <a:r>
              <a:rPr lang="en-US" i="1" dirty="0"/>
              <a:t>interactive</a:t>
            </a:r>
            <a:br>
              <a:rPr lang="en-US" dirty="0"/>
            </a:br>
            <a:r>
              <a:rPr lang="en-US" dirty="0"/>
              <a:t> (interactive: max 8 cores, 1 GPU instance, 16 </a:t>
            </a:r>
            <a:r>
              <a:rPr lang="en-US" dirty="0" err="1"/>
              <a:t>hr</a:t>
            </a:r>
            <a:r>
              <a:rPr lang="en-US" dirty="0"/>
              <a:t>)</a:t>
            </a:r>
          </a:p>
          <a:p>
            <a:pPr marL="324000" indent="-324000">
              <a:buBlip>
                <a:blip r:embed="rId2"/>
              </a:buBlip>
            </a:pPr>
            <a:r>
              <a:rPr lang="en-US" dirty="0"/>
              <a:t> Default resources:</a:t>
            </a:r>
            <a:br>
              <a:rPr lang="en-US" dirty="0"/>
            </a:br>
            <a:r>
              <a:rPr lang="en-US" dirty="0"/>
              <a:t> 1 core, 1 hour, 3400 MB RAM, no GPU</a:t>
            </a:r>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70</a:t>
            </a:fld>
            <a:endParaRPr lang="nl-BE" sz="900" dirty="0">
              <a:solidFill>
                <a:schemeClr val="bg1"/>
              </a:solidFill>
            </a:endParaRPr>
          </a:p>
        </p:txBody>
      </p:sp>
      <p:grpSp>
        <p:nvGrpSpPr>
          <p:cNvPr id="10" name="Group 9"/>
          <p:cNvGrpSpPr/>
          <p:nvPr/>
        </p:nvGrpSpPr>
        <p:grpSpPr>
          <a:xfrm>
            <a:off x="7752184" y="0"/>
            <a:ext cx="3764786" cy="6093296"/>
            <a:chOff x="7752184" y="0"/>
            <a:chExt cx="3764786" cy="6093296"/>
          </a:xfrm>
        </p:grpSpPr>
        <p:pic>
          <p:nvPicPr>
            <p:cNvPr id="8" name="Picture 7" descr="A screenshot of a computer&#10;&#10;Description automatically generated with medium confidence">
              <a:extLst>
                <a:ext uri="{FF2B5EF4-FFF2-40B4-BE49-F238E27FC236}">
                  <a16:creationId xmlns:a16="http://schemas.microsoft.com/office/drawing/2014/main" id="{7DDD3335-622A-4DB4-93CC-1985614A60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52184" y="0"/>
              <a:ext cx="3764786" cy="6093296"/>
            </a:xfrm>
            <a:prstGeom prst="rect">
              <a:avLst/>
            </a:prstGeom>
          </p:spPr>
        </p:pic>
        <p:sp>
          <p:nvSpPr>
            <p:cNvPr id="3" name="Rectangle 2"/>
            <p:cNvSpPr/>
            <p:nvPr/>
          </p:nvSpPr>
          <p:spPr>
            <a:xfrm>
              <a:off x="9084762" y="1228255"/>
              <a:ext cx="703766" cy="18126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sz="700" dirty="0">
                <a:solidFill>
                  <a:srgbClr val="84625E"/>
                </a:solidFill>
              </a:endParaRPr>
            </a:p>
          </p:txBody>
        </p:sp>
        <p:sp>
          <p:nvSpPr>
            <p:cNvPr id="9" name="Rectangle 8"/>
            <p:cNvSpPr/>
            <p:nvPr/>
          </p:nvSpPr>
          <p:spPr>
            <a:xfrm>
              <a:off x="9048328" y="1226731"/>
              <a:ext cx="703766" cy="18126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nl-BE" sz="700" dirty="0">
                  <a:solidFill>
                    <a:srgbClr val="84625E"/>
                  </a:solidFill>
                </a:rPr>
                <a:t>lp_myproject</a:t>
              </a:r>
              <a:endParaRPr lang="en-GB" sz="700" dirty="0">
                <a:solidFill>
                  <a:srgbClr val="84625E"/>
                </a:solidFill>
              </a:endParaRPr>
            </a:p>
          </p:txBody>
        </p:sp>
      </p:gr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Resources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Tree>
    <p:extLst>
      <p:ext uri="{BB962C8B-B14F-4D97-AF65-F5344CB8AC3E}">
        <p14:creationId xmlns:p14="http://schemas.microsoft.com/office/powerpoint/2010/main" val="18749757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563562" y="4221088"/>
            <a:ext cx="1724126"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Software</a:t>
            </a:r>
          </a:p>
        </p:txBody>
      </p:sp>
      <p:sp>
        <p:nvSpPr>
          <p:cNvPr id="6" name="Slide Number Placeholder 5"/>
          <p:cNvSpPr>
            <a:spLocks noGrp="1"/>
          </p:cNvSpPr>
          <p:nvPr>
            <p:ph type="sldNum" sz="quarter" idx="12"/>
          </p:nvPr>
        </p:nvSpPr>
        <p:spPr/>
        <p:txBody>
          <a:bodyPr/>
          <a:lstStyle/>
          <a:p>
            <a:fld id="{A2912448-FEEC-49E8-9588-2DF1F90D57C2}" type="slidenum">
              <a:rPr lang="en-US" smtClean="0"/>
              <a:t>71</a:t>
            </a:fld>
            <a:endParaRPr lang="en-US"/>
          </a:p>
        </p:txBody>
      </p:sp>
    </p:spTree>
    <p:extLst>
      <p:ext uri="{BB962C8B-B14F-4D97-AF65-F5344CB8AC3E}">
        <p14:creationId xmlns:p14="http://schemas.microsoft.com/office/powerpoint/2010/main" val="1648996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10662" y="1145018"/>
            <a:ext cx="10515600" cy="2644022"/>
          </a:xfrm>
        </p:spPr>
        <p:txBody>
          <a:bodyPr>
            <a:noAutofit/>
          </a:bodyPr>
          <a:lstStyle/>
          <a:p>
            <a:pPr marL="172800" indent="-324000">
              <a:buBlip>
                <a:blip r:embed="rId2"/>
              </a:buBlip>
            </a:pPr>
            <a:r>
              <a:rPr lang="en-US" sz="2000" dirty="0"/>
              <a:t>OS: </a:t>
            </a:r>
            <a:r>
              <a:rPr lang="en-US" sz="2000" dirty="0" err="1"/>
              <a:t>wICE</a:t>
            </a:r>
            <a:r>
              <a:rPr lang="en-US" sz="2000" dirty="0"/>
              <a:t> is running on Rocky Linux 9.6 and Genius (GPU nodes) migrate to that, soon.</a:t>
            </a:r>
          </a:p>
          <a:p>
            <a:pPr marL="172800" indent="-324000">
              <a:lnSpc>
                <a:spcPct val="120000"/>
              </a:lnSpc>
              <a:buBlip>
                <a:blip r:embed="rId2"/>
              </a:buBlip>
            </a:pPr>
            <a:r>
              <a:rPr lang="en-US" sz="2000" dirty="0"/>
              <a:t>Toolchains:</a:t>
            </a:r>
          </a:p>
          <a:p>
            <a:pPr marL="515700" lvl="1" indent="-324000">
              <a:lnSpc>
                <a:spcPct val="120000"/>
              </a:lnSpc>
              <a:buClr>
                <a:srgbClr val="DB6C30"/>
              </a:buClr>
            </a:pPr>
            <a:r>
              <a:rPr lang="en-US" sz="1600" i="1" dirty="0"/>
              <a:t>intel</a:t>
            </a:r>
            <a:r>
              <a:rPr lang="en-US" sz="1600" dirty="0"/>
              <a:t> (</a:t>
            </a:r>
            <a:r>
              <a:rPr lang="en-US" sz="1600" dirty="0" err="1"/>
              <a:t>icc</a:t>
            </a:r>
            <a:r>
              <a:rPr lang="en-US" sz="1600" dirty="0"/>
              <a:t>, </a:t>
            </a:r>
            <a:r>
              <a:rPr lang="en-US" sz="1600" dirty="0" err="1"/>
              <a:t>icpc</a:t>
            </a:r>
            <a:r>
              <a:rPr lang="en-US" sz="1600" dirty="0"/>
              <a:t>, </a:t>
            </a:r>
            <a:r>
              <a:rPr lang="en-US" sz="1600" dirty="0" err="1"/>
              <a:t>ifort</a:t>
            </a:r>
            <a:r>
              <a:rPr lang="en-US" sz="1600" dirty="0"/>
              <a:t>; Intel MPI; Intel MKL)</a:t>
            </a:r>
          </a:p>
          <a:p>
            <a:pPr marL="515700" lvl="1" indent="-324000">
              <a:lnSpc>
                <a:spcPct val="120000"/>
              </a:lnSpc>
              <a:buClr>
                <a:srgbClr val="DB6C30"/>
              </a:buClr>
            </a:pPr>
            <a:r>
              <a:rPr lang="en-US" sz="1600" i="1" dirty="0" err="1"/>
              <a:t>foss</a:t>
            </a:r>
            <a:r>
              <a:rPr lang="en-US" sz="1600" dirty="0"/>
              <a:t> (</a:t>
            </a:r>
            <a:r>
              <a:rPr lang="en-US" sz="1600" dirty="0" err="1"/>
              <a:t>gcc</a:t>
            </a:r>
            <a:r>
              <a:rPr lang="en-US" sz="1600" dirty="0"/>
              <a:t>, g++, </a:t>
            </a:r>
            <a:r>
              <a:rPr lang="en-US" sz="1600" dirty="0" err="1"/>
              <a:t>gfortran</a:t>
            </a:r>
            <a:r>
              <a:rPr lang="en-US" sz="1600" dirty="0"/>
              <a:t>; </a:t>
            </a:r>
            <a:r>
              <a:rPr lang="en-US" sz="1600" dirty="0" err="1"/>
              <a:t>OpenMPI</a:t>
            </a:r>
            <a:r>
              <a:rPr lang="en-US" sz="1600" dirty="0"/>
              <a:t>; </a:t>
            </a:r>
            <a:r>
              <a:rPr lang="en-US" sz="1600" dirty="0" err="1"/>
              <a:t>ScaLAPACK</a:t>
            </a:r>
            <a:r>
              <a:rPr lang="en-US" sz="1600" dirty="0"/>
              <a:t>, </a:t>
            </a:r>
            <a:r>
              <a:rPr lang="en-US" sz="1600" dirty="0" err="1"/>
              <a:t>OpenBLAS</a:t>
            </a:r>
            <a:r>
              <a:rPr lang="en-US" sz="1600" dirty="0"/>
              <a:t>, FFTW)</a:t>
            </a:r>
          </a:p>
          <a:p>
            <a:pPr marL="515700" lvl="1" indent="-324000">
              <a:lnSpc>
                <a:spcPct val="120000"/>
              </a:lnSpc>
              <a:buClr>
                <a:srgbClr val="DB6C30"/>
              </a:buClr>
            </a:pPr>
            <a:r>
              <a:rPr lang="en-US" sz="1600" dirty="0"/>
              <a:t>Toolchain year on Genius from 2018a onwards; on </a:t>
            </a:r>
            <a:r>
              <a:rPr lang="en-US" sz="1600" dirty="0" err="1"/>
              <a:t>wICE</a:t>
            </a:r>
            <a:r>
              <a:rPr lang="en-US" sz="1600" dirty="0"/>
              <a:t> from 2021a onwards</a:t>
            </a:r>
          </a:p>
          <a:p>
            <a:pPr marL="172800" indent="-324000">
              <a:buBlip>
                <a:blip r:embed="rId2"/>
              </a:buBlip>
            </a:pPr>
            <a:r>
              <a:rPr lang="en-US" sz="2000" dirty="0"/>
              <a:t>Note: not all toolchains are compatible with each other (conflicting dependencies)</a:t>
            </a:r>
            <a:br>
              <a:rPr lang="en-US" sz="2000" dirty="0"/>
            </a:br>
            <a:r>
              <a:rPr lang="en-US" sz="2000" dirty="0"/>
              <a:t>   For example, </a:t>
            </a:r>
            <a:r>
              <a:rPr lang="en-US" sz="2000" b="1" dirty="0"/>
              <a:t>never mix …-</a:t>
            </a:r>
            <a:r>
              <a:rPr lang="en-US" sz="2000" b="1" i="1" dirty="0" err="1"/>
              <a:t>foss</a:t>
            </a:r>
            <a:r>
              <a:rPr lang="en-US" sz="2000" b="1" dirty="0"/>
              <a:t>-… and …-</a:t>
            </a:r>
            <a:r>
              <a:rPr lang="en-US" sz="2000" b="1" i="1" dirty="0"/>
              <a:t>intel</a:t>
            </a:r>
            <a:r>
              <a:rPr lang="en-US" sz="2000" b="1" dirty="0"/>
              <a:t>-… </a:t>
            </a:r>
            <a:r>
              <a:rPr lang="en-US" sz="2000" dirty="0"/>
              <a:t>modules</a:t>
            </a:r>
          </a:p>
          <a:p>
            <a:pPr marL="0" indent="0">
              <a:buNone/>
            </a:pPr>
            <a:endParaRPr lang="en-US" sz="1800" dirty="0"/>
          </a:p>
        </p:txBody>
      </p:sp>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72</a:t>
            </a:fld>
            <a:endParaRPr lang="nl-BE"/>
          </a:p>
        </p:txBody>
      </p:sp>
      <p:sp>
        <p:nvSpPr>
          <p:cNvPr id="12" name="Rectangle 11"/>
          <p:cNvSpPr/>
          <p:nvPr/>
        </p:nvSpPr>
        <p:spPr>
          <a:xfrm>
            <a:off x="1791010" y="3731186"/>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1791010" y="410538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1791010" y="4479574"/>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Rectangle 14"/>
          <p:cNvSpPr/>
          <p:nvPr/>
        </p:nvSpPr>
        <p:spPr>
          <a:xfrm>
            <a:off x="1791010" y="4853768"/>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Rectangle 15"/>
          <p:cNvSpPr/>
          <p:nvPr/>
        </p:nvSpPr>
        <p:spPr>
          <a:xfrm>
            <a:off x="1791010" y="522796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6" name="Table 5"/>
          <p:cNvGraphicFramePr>
            <a:graphicFrameLocks noGrp="1"/>
          </p:cNvGraphicFramePr>
          <p:nvPr>
            <p:extLst>
              <p:ext uri="{D42A27DB-BD31-4B8C-83A1-F6EECF244321}">
                <p14:modId xmlns:p14="http://schemas.microsoft.com/office/powerpoint/2010/main" val="888350082"/>
              </p:ext>
            </p:extLst>
          </p:nvPr>
        </p:nvGraphicFramePr>
        <p:xfrm>
          <a:off x="610662" y="3771096"/>
          <a:ext cx="10515600" cy="2682240"/>
        </p:xfrm>
        <a:graphic>
          <a:graphicData uri="http://schemas.openxmlformats.org/drawingml/2006/table">
            <a:tbl>
              <a:tblPr firstRow="1" bandRow="1">
                <a:tableStyleId>{5C22544A-7EE6-4342-B048-85BDC9FD1C3A}</a:tableStyleId>
              </a:tblPr>
              <a:tblGrid>
                <a:gridCol w="5773370">
                  <a:extLst>
                    <a:ext uri="{9D8B030D-6E8A-4147-A177-3AD203B41FA5}">
                      <a16:colId xmlns:a16="http://schemas.microsoft.com/office/drawing/2014/main" val="4156501750"/>
                    </a:ext>
                  </a:extLst>
                </a:gridCol>
                <a:gridCol w="4742230">
                  <a:extLst>
                    <a:ext uri="{9D8B030D-6E8A-4147-A177-3AD203B41FA5}">
                      <a16:colId xmlns:a16="http://schemas.microsoft.com/office/drawing/2014/main" val="3947363681"/>
                    </a:ext>
                  </a:extLst>
                </a:gridCol>
              </a:tblGrid>
              <a:tr h="288019">
                <a:tc>
                  <a:txBody>
                    <a:bodyPr/>
                    <a:lstStyle/>
                    <a:p>
                      <a:r>
                        <a:rPr lang="en-US" sz="1600" dirty="0"/>
                        <a:t>Command</a:t>
                      </a:r>
                      <a:endParaRPr lang="nl-BE" sz="1600" dirty="0"/>
                    </a:p>
                  </a:txBody>
                  <a:tcPr/>
                </a:tc>
                <a:tc>
                  <a:txBody>
                    <a:bodyPr/>
                    <a:lstStyle/>
                    <a:p>
                      <a:r>
                        <a:rPr lang="en-US" sz="1600" dirty="0"/>
                        <a:t>Remark</a:t>
                      </a:r>
                      <a:endParaRPr lang="nl-BE" sz="1600" dirty="0"/>
                    </a:p>
                  </a:txBody>
                  <a:tcPr/>
                </a:tc>
                <a:extLst>
                  <a:ext uri="{0D108BD9-81ED-4DB2-BD59-A6C34878D82A}">
                    <a16:rowId xmlns:a16="http://schemas.microsoft.com/office/drawing/2014/main" val="3741445228"/>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a:t>
                      </a:r>
                      <a:r>
                        <a:rPr lang="en-US" sz="1600" baseline="0" dirty="0" err="1">
                          <a:latin typeface="Courier New" panose="02070309020205020404" pitchFamily="49" charset="0"/>
                          <a:cs typeface="Courier New" panose="02070309020205020404" pitchFamily="49" charset="0"/>
                        </a:rPr>
                        <a:t>av</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available modules</a:t>
                      </a:r>
                      <a:endParaRPr lang="nl-BE" sz="1600" dirty="0"/>
                    </a:p>
                  </a:txBody>
                  <a:tcPr/>
                </a:tc>
                <a:extLst>
                  <a:ext uri="{0D108BD9-81ED-4DB2-BD59-A6C34878D82A}">
                    <a16:rowId xmlns:a16="http://schemas.microsoft.com/office/drawing/2014/main" val="3705576117"/>
                  </a:ext>
                </a:extLst>
              </a:tr>
              <a:tr h="288019">
                <a:tc>
                  <a:txBody>
                    <a:bodyPr/>
                    <a:lstStyle/>
                    <a:p>
                      <a:r>
                        <a:rPr lang="en-US" sz="1600" dirty="0">
                          <a:latin typeface="Courier New" panose="02070309020205020404" pitchFamily="49" charset="0"/>
                          <a:cs typeface="Courier New" panose="02070309020205020404" pitchFamily="49" charset="0"/>
                        </a:rPr>
                        <a:t>module </a:t>
                      </a:r>
                      <a:r>
                        <a:rPr lang="en-US" sz="1600" dirty="0" err="1">
                          <a:latin typeface="Courier New" panose="02070309020205020404" pitchFamily="49" charset="0"/>
                          <a:cs typeface="Courier New" panose="02070309020205020404" pitchFamily="49" charset="0"/>
                        </a:rPr>
                        <a:t>av</a:t>
                      </a:r>
                      <a:r>
                        <a:rPr lang="en-US" sz="1600" dirty="0">
                          <a:latin typeface="Courier New" panose="02070309020205020404" pitchFamily="49" charset="0"/>
                          <a:cs typeface="Courier New" panose="02070309020205020404" pitchFamily="49" charset="0"/>
                        </a:rPr>
                        <a:t> Python</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Python-related</a:t>
                      </a:r>
                      <a:r>
                        <a:rPr lang="en-US" sz="1600" baseline="0" dirty="0"/>
                        <a:t> modules</a:t>
                      </a:r>
                      <a:endParaRPr lang="nl-BE" sz="1600" dirty="0"/>
                    </a:p>
                  </a:txBody>
                  <a:tcPr/>
                </a:tc>
                <a:extLst>
                  <a:ext uri="{0D108BD9-81ED-4DB2-BD59-A6C34878D82A}">
                    <a16:rowId xmlns:a16="http://schemas.microsoft.com/office/drawing/2014/main" val="3648460249"/>
                  </a:ext>
                </a:extLst>
              </a:tr>
              <a:tr h="288019">
                <a:tc>
                  <a:txBody>
                    <a:bodyPr/>
                    <a:lstStyle/>
                    <a:p>
                      <a:r>
                        <a:rPr lang="en-US" sz="1600" dirty="0">
                          <a:latin typeface="Courier New" panose="02070309020205020404" pitchFamily="49" charset="0"/>
                          <a:cs typeface="Courier New" panose="02070309020205020404" pitchFamily="49" charset="0"/>
                        </a:rPr>
                        <a:t>module spider Python</a:t>
                      </a:r>
                      <a:endParaRPr lang="nl-BE" sz="1600" dirty="0">
                        <a:latin typeface="Courier New" panose="02070309020205020404" pitchFamily="49" charset="0"/>
                        <a:cs typeface="Courier New" panose="02070309020205020404" pitchFamily="49" charset="0"/>
                      </a:endParaRPr>
                    </a:p>
                  </a:txBody>
                  <a:tcPr/>
                </a:tc>
                <a:tc>
                  <a:txBody>
                    <a:bodyPr/>
                    <a:lstStyle/>
                    <a:p>
                      <a:r>
                        <a:rPr lang="nl-BE" sz="1600" dirty="0"/>
                        <a:t>Get more info</a:t>
                      </a:r>
                    </a:p>
                  </a:txBody>
                  <a:tcPr/>
                </a:tc>
                <a:extLst>
                  <a:ext uri="{0D108BD9-81ED-4DB2-BD59-A6C34878D82A}">
                    <a16:rowId xmlns:a16="http://schemas.microsoft.com/office/drawing/2014/main" val="1618289940"/>
                  </a:ext>
                </a:extLst>
              </a:tr>
              <a:tr h="288019">
                <a:tc>
                  <a:txBody>
                    <a:bodyPr/>
                    <a:lstStyle/>
                    <a:p>
                      <a:r>
                        <a:rPr lang="en-US" sz="1600" dirty="0">
                          <a:latin typeface="Courier New" panose="02070309020205020404" pitchFamily="49" charset="0"/>
                          <a:cs typeface="Courier New" panose="02070309020205020404" pitchFamily="49" charset="0"/>
                        </a:rPr>
                        <a:t>module 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Load a specific module</a:t>
                      </a:r>
                      <a:endParaRPr lang="nl-BE" sz="1600" dirty="0"/>
                    </a:p>
                  </a:txBody>
                  <a:tcPr/>
                </a:tc>
                <a:extLst>
                  <a:ext uri="{0D108BD9-81ED-4DB2-BD59-A6C34878D82A}">
                    <a16:rowId xmlns:a16="http://schemas.microsoft.com/office/drawing/2014/main" val="4161769664"/>
                  </a:ext>
                </a:extLst>
              </a:tr>
              <a:tr h="288019">
                <a:tc>
                  <a:txBody>
                    <a:bodyPr/>
                    <a:lstStyle/>
                    <a:p>
                      <a:r>
                        <a:rPr lang="en-US" sz="1600" dirty="0">
                          <a:latin typeface="Courier New" panose="02070309020205020404" pitchFamily="49" charset="0"/>
                          <a:cs typeface="Courier New" panose="02070309020205020404" pitchFamily="49" charset="0"/>
                        </a:rPr>
                        <a:t>module list</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loaded modules and their dependencies</a:t>
                      </a:r>
                      <a:endParaRPr lang="nl-BE" sz="1600" dirty="0"/>
                    </a:p>
                  </a:txBody>
                  <a:tcPr/>
                </a:tc>
                <a:extLst>
                  <a:ext uri="{0D108BD9-81ED-4DB2-BD59-A6C34878D82A}">
                    <a16:rowId xmlns:a16="http://schemas.microsoft.com/office/drawing/2014/main" val="3663350736"/>
                  </a:ext>
                </a:extLst>
              </a:tr>
              <a:tr h="288019">
                <a:tc>
                  <a:txBody>
                    <a:bodyPr/>
                    <a:lstStyle/>
                    <a:p>
                      <a:r>
                        <a:rPr lang="en-US" sz="1600" dirty="0">
                          <a:latin typeface="Courier New" panose="02070309020205020404" pitchFamily="49" charset="0"/>
                          <a:cs typeface="Courier New" panose="02070309020205020404" pitchFamily="49" charset="0"/>
                        </a:rPr>
                        <a:t>module unload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Unload a module (but dependencies still stay)</a:t>
                      </a:r>
                      <a:endParaRPr lang="nl-BE" sz="1600" dirty="0"/>
                    </a:p>
                  </a:txBody>
                  <a:tcPr/>
                </a:tc>
                <a:extLst>
                  <a:ext uri="{0D108BD9-81ED-4DB2-BD59-A6C34878D82A}">
                    <a16:rowId xmlns:a16="http://schemas.microsoft.com/office/drawing/2014/main" val="1501394509"/>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purge</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Remove all modules</a:t>
                      </a:r>
                      <a:r>
                        <a:rPr lang="en-US" sz="1600" baseline="0" dirty="0"/>
                        <a:t> from your work session</a:t>
                      </a:r>
                      <a:endParaRPr lang="nl-BE" sz="1600" dirty="0"/>
                    </a:p>
                  </a:txBody>
                  <a:tcPr/>
                </a:tc>
                <a:extLst>
                  <a:ext uri="{0D108BD9-81ED-4DB2-BD59-A6C34878D82A}">
                    <a16:rowId xmlns:a16="http://schemas.microsoft.com/office/drawing/2014/main" val="4143998482"/>
                  </a:ext>
                </a:extLst>
              </a:tr>
            </a:tbl>
          </a:graphicData>
        </a:graphic>
      </p:graphicFrame>
      <p:sp>
        <p:nvSpPr>
          <p:cNvPr id="1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Centrally installed modules</a:t>
            </a:r>
            <a:endParaRPr lang="pl-PL" altLang="en-US" sz="3200" dirty="0"/>
          </a:p>
        </p:txBody>
      </p:sp>
    </p:spTree>
    <p:extLst>
      <p:ext uri="{BB962C8B-B14F-4D97-AF65-F5344CB8AC3E}">
        <p14:creationId xmlns:p14="http://schemas.microsoft.com/office/powerpoint/2010/main" val="21283736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10662" y="1330084"/>
            <a:ext cx="10515600" cy="3611084"/>
          </a:xfrm>
          <a:ln w="25400">
            <a:solidFill>
              <a:schemeClr val="accent5"/>
            </a:solidFill>
          </a:ln>
        </p:spPr>
        <p:txBody>
          <a:bodyPr anchor="ctr">
            <a:normAutofit/>
          </a:bodyPr>
          <a:lstStyle/>
          <a:p>
            <a:pPr marL="324000" indent="-324000">
              <a:buBlip>
                <a:blip r:embed="rId2"/>
              </a:buBlip>
            </a:pPr>
            <a:r>
              <a:rPr lang="en-US" sz="2000" dirty="0"/>
              <a:t>If you need a software package that is not yet available as a module,</a:t>
            </a:r>
            <a:br>
              <a:rPr lang="en-US" sz="2000" dirty="0"/>
            </a:br>
            <a:r>
              <a:rPr lang="en-US" sz="2000" dirty="0"/>
              <a:t>you can ask us to provide it</a:t>
            </a:r>
          </a:p>
          <a:p>
            <a:pPr marL="666900" lvl="1" indent="-324000">
              <a:buBlip>
                <a:blip r:embed="rId2"/>
              </a:buBlip>
            </a:pPr>
            <a:r>
              <a:rPr lang="en-US" dirty="0"/>
              <a:t>For Python and R packages, however, we prefer that you install it yourself</a:t>
            </a:r>
          </a:p>
          <a:p>
            <a:pPr marL="666900" lvl="1" indent="-324000">
              <a:buBlip>
                <a:blip r:embed="rId2"/>
              </a:buBlip>
            </a:pPr>
            <a:r>
              <a:rPr lang="en-US" sz="1700" dirty="0"/>
              <a:t>Read more about </a:t>
            </a:r>
            <a:r>
              <a:rPr lang="en-US" sz="1700" dirty="0">
                <a:hlinkClick r:id="rId3"/>
              </a:rPr>
              <a:t>Python Package Management</a:t>
            </a:r>
            <a:endParaRPr lang="en-US" sz="1700" dirty="0"/>
          </a:p>
          <a:p>
            <a:pPr marL="666900" lvl="1" indent="-324000">
              <a:buBlip>
                <a:blip r:embed="rId2"/>
              </a:buBlip>
            </a:pPr>
            <a:r>
              <a:rPr lang="en-US" sz="1700" dirty="0"/>
              <a:t>Read more about </a:t>
            </a:r>
            <a:r>
              <a:rPr lang="en-US" sz="1700" dirty="0">
                <a:hlinkClick r:id="rId4"/>
              </a:rPr>
              <a:t>R Package Management</a:t>
            </a:r>
            <a:endParaRPr lang="en-US" sz="1700" dirty="0"/>
          </a:p>
          <a:p>
            <a:pPr marL="666900" lvl="1" indent="-324000">
              <a:buBlip>
                <a:blip r:embed="rId2"/>
              </a:buBlip>
            </a:pPr>
            <a:endParaRPr lang="en-US" sz="1700" dirty="0"/>
          </a:p>
          <a:p>
            <a:pPr marL="324000" indent="-324000">
              <a:buBlip>
                <a:blip r:embed="rId2"/>
              </a:buBlip>
            </a:pPr>
            <a:r>
              <a:rPr lang="en-US" sz="2000" dirty="0"/>
              <a:t>If you want to compile software yourself:</a:t>
            </a:r>
          </a:p>
          <a:p>
            <a:pPr marL="666900" lvl="1" indent="-324000">
              <a:buBlip>
                <a:blip r:embed="rId2"/>
              </a:buBlip>
            </a:pPr>
            <a:r>
              <a:rPr lang="en-US" dirty="0"/>
              <a:t>Best install it in your VSC_DATA </a:t>
            </a:r>
          </a:p>
          <a:p>
            <a:pPr marL="666900" lvl="1" indent="-324000">
              <a:buBlip>
                <a:blip r:embed="rId2"/>
              </a:buBlip>
            </a:pPr>
            <a:r>
              <a:rPr lang="en-US" dirty="0"/>
              <a:t>Use </a:t>
            </a:r>
            <a:r>
              <a:rPr lang="en-US" i="1" dirty="0"/>
              <a:t>intel</a:t>
            </a:r>
            <a:r>
              <a:rPr lang="en-US" dirty="0"/>
              <a:t> or </a:t>
            </a:r>
            <a:r>
              <a:rPr lang="en-US" i="1" dirty="0" err="1"/>
              <a:t>foss</a:t>
            </a:r>
            <a:r>
              <a:rPr lang="en-US" dirty="0"/>
              <a:t> toolchains</a:t>
            </a:r>
          </a:p>
          <a:p>
            <a:pPr marL="666900" lvl="1" indent="-324000">
              <a:buBlip>
                <a:blip r:embed="rId2"/>
              </a:buBlip>
            </a:pPr>
            <a:r>
              <a:rPr lang="en-US" dirty="0"/>
              <a:t>Compile your code on a compute node (with interactive job)</a:t>
            </a:r>
          </a:p>
          <a:p>
            <a:pPr marL="666900" lvl="1" indent="-324000">
              <a:buBlip>
                <a:blip r:embed="rId2"/>
              </a:buBlip>
            </a:pPr>
            <a:r>
              <a:rPr lang="en-US" dirty="0"/>
              <a:t>If you run into problems, don’t hesitate to contact us</a:t>
            </a:r>
          </a:p>
        </p:txBody>
      </p:sp>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73</a:t>
            </a:fld>
            <a:endParaRPr lang="nl-BE"/>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Your specific needs</a:t>
            </a:r>
            <a:endParaRPr lang="pl-PL" altLang="en-US" sz="3200" dirty="0"/>
          </a:p>
        </p:txBody>
      </p:sp>
    </p:spTree>
    <p:extLst>
      <p:ext uri="{BB962C8B-B14F-4D97-AF65-F5344CB8AC3E}">
        <p14:creationId xmlns:p14="http://schemas.microsoft.com/office/powerpoint/2010/main" val="233141289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83432" y="4140369"/>
            <a:ext cx="357597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Starting to compute</a:t>
            </a:r>
          </a:p>
        </p:txBody>
      </p:sp>
      <p:sp>
        <p:nvSpPr>
          <p:cNvPr id="6" name="Slide Number Placeholder 5"/>
          <p:cNvSpPr>
            <a:spLocks noGrp="1"/>
          </p:cNvSpPr>
          <p:nvPr>
            <p:ph type="sldNum" sz="quarter" idx="12"/>
          </p:nvPr>
        </p:nvSpPr>
        <p:spPr/>
        <p:txBody>
          <a:bodyPr/>
          <a:lstStyle/>
          <a:p>
            <a:fld id="{A2912448-FEEC-49E8-9588-2DF1F90D57C2}" type="slidenum">
              <a:rPr lang="en-US" smtClean="0"/>
              <a:t>74</a:t>
            </a:fld>
            <a:endParaRPr lang="en-US"/>
          </a:p>
        </p:txBody>
      </p:sp>
    </p:spTree>
    <p:extLst>
      <p:ext uri="{BB962C8B-B14F-4D97-AF65-F5344CB8AC3E}">
        <p14:creationId xmlns:p14="http://schemas.microsoft.com/office/powerpoint/2010/main" val="35273512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75</a:t>
            </a:fld>
            <a:endParaRPr lang="nl-BE" dirty="0"/>
          </a:p>
        </p:txBody>
      </p:sp>
      <p:sp>
        <p:nvSpPr>
          <p:cNvPr id="12291" name="Rectangle 3"/>
          <p:cNvSpPr>
            <a:spLocks noGrp="1" noChangeArrowheads="1"/>
          </p:cNvSpPr>
          <p:nvPr>
            <p:ph idx="1"/>
          </p:nvPr>
        </p:nvSpPr>
        <p:spPr>
          <a:xfrm>
            <a:off x="720000" y="1155724"/>
            <a:ext cx="8544352" cy="3281388"/>
          </a:xfrm>
          <a:ln w="25400">
            <a:solidFill>
              <a:schemeClr val="accent5"/>
            </a:solidFill>
          </a:ln>
        </p:spPr>
        <p:txBody>
          <a:bodyPr anchor="ctr"/>
          <a:lstStyle/>
          <a:p>
            <a:pPr marL="324000" indent="-324000">
              <a:buClr>
                <a:srgbClr val="DB6C30"/>
              </a:buClr>
              <a:buBlip>
                <a:blip r:embed="rId2"/>
              </a:buBlip>
            </a:pPr>
            <a:r>
              <a:rPr lang="en-US" b="1" dirty="0"/>
              <a:t>Cluster: </a:t>
            </a:r>
            <a:r>
              <a:rPr lang="en-US" dirty="0"/>
              <a:t>which machine to use? Genius or </a:t>
            </a:r>
            <a:r>
              <a:rPr lang="en-US" dirty="0" err="1"/>
              <a:t>wICE</a:t>
            </a:r>
            <a:r>
              <a:rPr lang="en-US" dirty="0"/>
              <a:t>?</a:t>
            </a:r>
            <a:r>
              <a:rPr lang="en-US" b="1" dirty="0"/>
              <a:t> </a:t>
            </a:r>
          </a:p>
          <a:p>
            <a:pPr marL="324000" indent="-324000">
              <a:buClr>
                <a:srgbClr val="DB6C30"/>
              </a:buClr>
              <a:buBlip>
                <a:blip r:embed="rId2"/>
              </a:buBlip>
            </a:pPr>
            <a:r>
              <a:rPr lang="en-US" b="1" dirty="0"/>
              <a:t>Nodes</a:t>
            </a:r>
            <a:r>
              <a:rPr lang="en-US" dirty="0"/>
              <a:t>: how many compute servers to allocate?</a:t>
            </a:r>
          </a:p>
          <a:p>
            <a:pPr marL="324000" indent="-324000">
              <a:buClr>
                <a:srgbClr val="DB6C30"/>
              </a:buClr>
              <a:buBlip>
                <a:blip r:embed="rId2"/>
              </a:buBlip>
            </a:pPr>
            <a:r>
              <a:rPr lang="en-US" b="1" dirty="0"/>
              <a:t>Cores</a:t>
            </a:r>
            <a:r>
              <a:rPr lang="en-US" dirty="0"/>
              <a:t>: how many cores per node to allocate?</a:t>
            </a:r>
          </a:p>
          <a:p>
            <a:pPr marL="324000" indent="-324000">
              <a:buClr>
                <a:srgbClr val="DB6C30"/>
              </a:buClr>
              <a:buBlip>
                <a:blip r:embed="rId2"/>
              </a:buBlip>
            </a:pPr>
            <a:r>
              <a:rPr lang="en-US" b="1" dirty="0"/>
              <a:t>Memory</a:t>
            </a:r>
            <a:r>
              <a:rPr lang="en-US" dirty="0"/>
              <a:t>: how much CPU memory to allocate?</a:t>
            </a:r>
          </a:p>
          <a:p>
            <a:pPr marL="324000" indent="-324000">
              <a:buClr>
                <a:srgbClr val="DB6C30"/>
              </a:buClr>
              <a:buBlip>
                <a:blip r:embed="rId2"/>
              </a:buBlip>
            </a:pPr>
            <a:r>
              <a:rPr lang="en-US" b="1" dirty="0"/>
              <a:t>Partition</a:t>
            </a:r>
            <a:r>
              <a:rPr lang="en-US" dirty="0"/>
              <a:t>: batch, </a:t>
            </a:r>
            <a:r>
              <a:rPr lang="en-US" dirty="0" err="1"/>
              <a:t>gpu</a:t>
            </a:r>
            <a:r>
              <a:rPr lang="en-US" dirty="0"/>
              <a:t>, </a:t>
            </a:r>
            <a:r>
              <a:rPr lang="en-US" dirty="0" err="1"/>
              <a:t>bigmem</a:t>
            </a:r>
            <a:r>
              <a:rPr lang="en-US" dirty="0"/>
              <a:t>, …?</a:t>
            </a:r>
            <a:endParaRPr lang="en-US" b="1" dirty="0"/>
          </a:p>
          <a:p>
            <a:pPr marL="324000" indent="-324000">
              <a:buClr>
                <a:srgbClr val="DB6C30"/>
              </a:buClr>
              <a:buBlip>
                <a:blip r:embed="rId2"/>
              </a:buBlip>
            </a:pPr>
            <a:r>
              <a:rPr lang="en-US" b="1" dirty="0" err="1"/>
              <a:t>Walltime</a:t>
            </a:r>
            <a:r>
              <a:rPr lang="en-US" dirty="0"/>
              <a:t>: how long to allocate the resources?</a:t>
            </a:r>
          </a:p>
          <a:p>
            <a:pPr marL="324000" indent="-324000">
              <a:buClr>
                <a:srgbClr val="DB6C30"/>
              </a:buClr>
              <a:buBlip>
                <a:blip r:embed="rId2"/>
              </a:buBlip>
            </a:pPr>
            <a:r>
              <a:rPr lang="en-US" b="1" dirty="0"/>
              <a:t>Storage</a:t>
            </a:r>
            <a:r>
              <a:rPr lang="en-US" dirty="0"/>
              <a:t>: how much storage (data, scratch, </a:t>
            </a:r>
            <a:r>
              <a:rPr lang="en-US" dirty="0" err="1"/>
              <a:t>etc</a:t>
            </a:r>
            <a:r>
              <a:rPr lang="en-US" dirty="0"/>
              <a:t>) will the job require?</a:t>
            </a:r>
          </a:p>
          <a:p>
            <a:pPr marL="324000" indent="-324000">
              <a:buClr>
                <a:srgbClr val="DB6C30"/>
              </a:buClr>
              <a:buBlip>
                <a:blip r:embed="rId2"/>
              </a:buBlip>
            </a:pPr>
            <a:r>
              <a:rPr lang="en-US" b="1" dirty="0"/>
              <a:t>Credits</a:t>
            </a:r>
            <a:r>
              <a:rPr lang="en-US" dirty="0"/>
              <a:t>: how many compute credits will the job consume?</a:t>
            </a:r>
          </a:p>
        </p:txBody>
      </p:sp>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3611" y="4421059"/>
            <a:ext cx="1155885" cy="1634397"/>
          </a:xfrm>
          <a:prstGeom prst="rect">
            <a:avLst/>
          </a:prstGeom>
        </p:spPr>
      </p:pic>
      <p:pic>
        <p:nvPicPr>
          <p:cNvPr id="20" name="Picture 19"/>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817825"/>
            <a:ext cx="1512168" cy="1010000"/>
          </a:xfrm>
          <a:prstGeom prst="rect">
            <a:avLst/>
          </a:prstGeom>
        </p:spPr>
      </p:pic>
      <p:pic>
        <p:nvPicPr>
          <p:cNvPr id="21" name="Picture 20"/>
          <p:cNvPicPr>
            <a:picLocks noChangeAspect="1"/>
          </p:cNvPicPr>
          <p:nvPr/>
        </p:nvPicPr>
        <p:blipFill>
          <a:blip r:embed="rId5"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535461"/>
            <a:ext cx="1427911" cy="1427911"/>
          </a:xfrm>
          <a:prstGeom prst="rect">
            <a:avLst/>
          </a:prstGeom>
        </p:spPr>
      </p:pic>
      <p:pic>
        <p:nvPicPr>
          <p:cNvPr id="23" name="Picture 22"/>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506741" y="4683487"/>
            <a:ext cx="1109539" cy="1109539"/>
          </a:xfrm>
          <a:prstGeom prst="rect">
            <a:avLst/>
          </a:prstGeom>
        </p:spPr>
      </p:pic>
      <p:grpSp>
        <p:nvGrpSpPr>
          <p:cNvPr id="12288" name="Group 12287"/>
          <p:cNvGrpSpPr/>
          <p:nvPr/>
        </p:nvGrpSpPr>
        <p:grpSpPr>
          <a:xfrm>
            <a:off x="1624168" y="4485499"/>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694647"/>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9"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691930"/>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Resource g</a:t>
            </a:r>
            <a:r>
              <a:rPr lang="pl-PL" altLang="en-US" sz="3200" dirty="0"/>
              <a:t>lossary</a:t>
            </a:r>
          </a:p>
        </p:txBody>
      </p:sp>
    </p:spTree>
    <p:extLst>
      <p:ext uri="{BB962C8B-B14F-4D97-AF65-F5344CB8AC3E}">
        <p14:creationId xmlns:p14="http://schemas.microsoft.com/office/powerpoint/2010/main" val="757477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2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291">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291">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28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291">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291">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291">
                                            <p:txEl>
                                              <p:pRg st="5" end="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2291">
                                            <p:txEl>
                                              <p:pRg st="6" end="6"/>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2291">
                                            <p:txEl>
                                              <p:pRg st="7" end="7"/>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76</a:t>
            </a:fld>
            <a:endParaRPr lang="nl-BE" dirty="0"/>
          </a:p>
        </p:txBody>
      </p:sp>
      <p:sp>
        <p:nvSpPr>
          <p:cNvPr id="12291" name="Rectangle 3"/>
          <p:cNvSpPr>
            <a:spLocks noGrp="1" noChangeArrowheads="1"/>
          </p:cNvSpPr>
          <p:nvPr>
            <p:ph idx="1"/>
          </p:nvPr>
        </p:nvSpPr>
        <p:spPr>
          <a:xfrm>
            <a:off x="720000" y="1144622"/>
            <a:ext cx="8544352" cy="3281388"/>
          </a:xfrm>
          <a:ln w="25400">
            <a:solidFill>
              <a:schemeClr val="accent5"/>
            </a:solidFill>
          </a:ln>
        </p:spPr>
        <p:txBody>
          <a:bodyPr anchor="ctr"/>
          <a:lstStyle/>
          <a:p>
            <a:pPr marL="324000" indent="-324000">
              <a:buClr>
                <a:srgbClr val="DB6C30"/>
              </a:buClr>
              <a:buBlip>
                <a:blip r:embed="rId2"/>
              </a:buBlip>
            </a:pPr>
            <a:r>
              <a:rPr lang="en-US" b="1" dirty="0"/>
              <a:t>Cluster:</a:t>
            </a:r>
            <a:r>
              <a:rPr lang="en-US" dirty="0"/>
              <a:t> the cluster associated with the node you’re on (Genius or </a:t>
            </a:r>
            <a:r>
              <a:rPr lang="en-US" dirty="0" err="1"/>
              <a:t>wICE</a:t>
            </a:r>
            <a:r>
              <a:rPr lang="en-US" dirty="0"/>
              <a:t>)</a:t>
            </a:r>
          </a:p>
          <a:p>
            <a:pPr marL="324000" indent="-324000">
              <a:buClr>
                <a:srgbClr val="DB6C30"/>
              </a:buClr>
              <a:buBlip>
                <a:blip r:embed="rId2"/>
              </a:buBlip>
            </a:pPr>
            <a:r>
              <a:rPr lang="en-US" b="1" dirty="0"/>
              <a:t>Nodes:</a:t>
            </a:r>
            <a:r>
              <a:rPr lang="en-US" dirty="0"/>
              <a:t> 1</a:t>
            </a:r>
          </a:p>
          <a:p>
            <a:pPr marL="324000" indent="-324000">
              <a:buClr>
                <a:srgbClr val="DB6C30"/>
              </a:buClr>
              <a:buBlip>
                <a:blip r:embed="rId2"/>
              </a:buBlip>
            </a:pPr>
            <a:r>
              <a:rPr lang="en-US" b="1" dirty="0"/>
              <a:t>Cores: </a:t>
            </a:r>
            <a:r>
              <a:rPr lang="en-US" dirty="0"/>
              <a:t>1</a:t>
            </a:r>
          </a:p>
          <a:p>
            <a:pPr marL="324000" indent="-324000">
              <a:buClr>
                <a:srgbClr val="DB6C30"/>
              </a:buClr>
              <a:buBlip>
                <a:blip r:embed="rId2"/>
              </a:buBlip>
            </a:pPr>
            <a:r>
              <a:rPr lang="en-US" b="1" dirty="0"/>
              <a:t>Memory: </a:t>
            </a:r>
            <a:r>
              <a:rPr lang="en-US" dirty="0"/>
              <a:t>depends on which node(s) you use</a:t>
            </a:r>
          </a:p>
          <a:p>
            <a:pPr marL="324000" indent="-324000">
              <a:buClr>
                <a:srgbClr val="DB6C30"/>
              </a:buClr>
              <a:buBlip>
                <a:blip r:embed="rId2"/>
              </a:buBlip>
            </a:pPr>
            <a:r>
              <a:rPr lang="en-US" b="1" dirty="0"/>
              <a:t>Partition:</a:t>
            </a:r>
            <a:r>
              <a:rPr lang="en-US" dirty="0"/>
              <a:t> batch</a:t>
            </a:r>
          </a:p>
          <a:p>
            <a:pPr marL="324000" indent="-324000">
              <a:buClr>
                <a:srgbClr val="DB6C30"/>
              </a:buClr>
              <a:buBlip>
                <a:blip r:embed="rId2"/>
              </a:buBlip>
            </a:pPr>
            <a:r>
              <a:rPr lang="en-US" b="1" dirty="0" err="1"/>
              <a:t>Walltime</a:t>
            </a:r>
            <a:r>
              <a:rPr lang="en-US" b="1" dirty="0"/>
              <a:t>:</a:t>
            </a:r>
            <a:r>
              <a:rPr lang="en-US" dirty="0"/>
              <a:t> typically 1 hour</a:t>
            </a:r>
          </a:p>
          <a:p>
            <a:pPr marL="324000" indent="-324000">
              <a:buClr>
                <a:srgbClr val="DB6C30"/>
              </a:buClr>
              <a:buBlip>
                <a:blip r:embed="rId2"/>
              </a:buBlip>
            </a:pPr>
            <a:r>
              <a:rPr lang="en-US" b="1" dirty="0"/>
              <a:t>Storage:</a:t>
            </a:r>
            <a:r>
              <a:rPr lang="en-US" dirty="0"/>
              <a:t> no default</a:t>
            </a:r>
          </a:p>
          <a:p>
            <a:pPr marL="324000" indent="-324000">
              <a:buClr>
                <a:srgbClr val="DB6C30"/>
              </a:buClr>
              <a:buBlip>
                <a:blip r:embed="rId2"/>
              </a:buBlip>
            </a:pPr>
            <a:r>
              <a:rPr lang="en-US" b="1" dirty="0"/>
              <a:t>Credits:</a:t>
            </a:r>
            <a:r>
              <a:rPr lang="en-US" dirty="0"/>
              <a:t> no default</a:t>
            </a:r>
          </a:p>
        </p:txBody>
      </p:sp>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3611" y="4421059"/>
            <a:ext cx="1155885" cy="1634397"/>
          </a:xfrm>
          <a:prstGeom prst="rect">
            <a:avLst/>
          </a:prstGeom>
        </p:spPr>
      </p:pic>
      <p:pic>
        <p:nvPicPr>
          <p:cNvPr id="20" name="Picture 19"/>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817825"/>
            <a:ext cx="1512168" cy="1010000"/>
          </a:xfrm>
          <a:prstGeom prst="rect">
            <a:avLst/>
          </a:prstGeom>
        </p:spPr>
      </p:pic>
      <p:pic>
        <p:nvPicPr>
          <p:cNvPr id="21" name="Picture 20"/>
          <p:cNvPicPr>
            <a:picLocks noChangeAspect="1"/>
          </p:cNvPicPr>
          <p:nvPr/>
        </p:nvPicPr>
        <p:blipFill>
          <a:blip r:embed="rId5"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535461"/>
            <a:ext cx="1427911" cy="1427911"/>
          </a:xfrm>
          <a:prstGeom prst="rect">
            <a:avLst/>
          </a:prstGeom>
        </p:spPr>
      </p:pic>
      <p:pic>
        <p:nvPicPr>
          <p:cNvPr id="23" name="Picture 22"/>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506741" y="4683487"/>
            <a:ext cx="1109539" cy="1109539"/>
          </a:xfrm>
          <a:prstGeom prst="rect">
            <a:avLst/>
          </a:prstGeom>
        </p:spPr>
      </p:pic>
      <p:grpSp>
        <p:nvGrpSpPr>
          <p:cNvPr id="12288" name="Group 12287"/>
          <p:cNvGrpSpPr/>
          <p:nvPr/>
        </p:nvGrpSpPr>
        <p:grpSpPr>
          <a:xfrm>
            <a:off x="1624168" y="4485499"/>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694647"/>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9"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691930"/>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Default resources</a:t>
            </a:r>
            <a:endParaRPr lang="pl-PL" altLang="en-US" sz="3200" dirty="0"/>
          </a:p>
        </p:txBody>
      </p:sp>
    </p:spTree>
    <p:extLst>
      <p:ext uri="{BB962C8B-B14F-4D97-AF65-F5344CB8AC3E}">
        <p14:creationId xmlns:p14="http://schemas.microsoft.com/office/powerpoint/2010/main" val="982200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2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29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29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29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29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29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77</a:t>
            </a:fld>
            <a:endParaRPr lang="nl-BE" dirty="0"/>
          </a:p>
        </p:txBody>
      </p:sp>
      <p:sp>
        <p:nvSpPr>
          <p:cNvPr id="12290" name="Rectangle 2"/>
          <p:cNvSpPr>
            <a:spLocks noGrp="1" noChangeArrowheads="1"/>
          </p:cNvSpPr>
          <p:nvPr>
            <p:ph type="title"/>
          </p:nvPr>
        </p:nvSpPr>
        <p:spPr>
          <a:xfrm>
            <a:off x="335360" y="431077"/>
            <a:ext cx="2880320" cy="765675"/>
          </a:xfrm>
          <a:ln w="38100">
            <a:solidFill>
              <a:schemeClr val="tx1"/>
            </a:solidFill>
          </a:ln>
        </p:spPr>
        <p:txBody>
          <a:bodyPr>
            <a:normAutofit/>
          </a:bodyPr>
          <a:lstStyle/>
          <a:p>
            <a:pPr eaLnBrk="1" hangingPunct="1"/>
            <a:r>
              <a:rPr lang="en-US" altLang="en-US" sz="2400" b="1" dirty="0"/>
              <a:t>Serial application</a:t>
            </a:r>
            <a:br>
              <a:rPr lang="en-US" altLang="en-US" sz="2400" dirty="0"/>
            </a:br>
            <a:r>
              <a:rPr lang="en-US" altLang="en-US" sz="2000" dirty="0"/>
              <a:t>1 process on 1 core</a:t>
            </a:r>
          </a:p>
        </p:txBody>
      </p:sp>
      <p:grpSp>
        <p:nvGrpSpPr>
          <p:cNvPr id="27" name="Group 26"/>
          <p:cNvGrpSpPr/>
          <p:nvPr/>
        </p:nvGrpSpPr>
        <p:grpSpPr>
          <a:xfrm>
            <a:off x="3527516" y="380912"/>
            <a:ext cx="1764484" cy="400692"/>
            <a:chOff x="3527516" y="380912"/>
            <a:chExt cx="1764484" cy="400692"/>
          </a:xfrm>
        </p:grpSpPr>
        <p:cxnSp>
          <p:nvCxnSpPr>
            <p:cNvPr id="29" name="Straight Arrow Connector 28">
              <a:extLst>
                <a:ext uri="{FF2B5EF4-FFF2-40B4-BE49-F238E27FC236}">
                  <a16:creationId xmlns:a16="http://schemas.microsoft.com/office/drawing/2014/main" id="{67E5C280-8AAC-459F-9116-D73547CD5291}"/>
                </a:ext>
              </a:extLst>
            </p:cNvPr>
            <p:cNvCxnSpPr>
              <a:cxnSpLocks/>
            </p:cNvCxnSpPr>
            <p:nvPr/>
          </p:nvCxnSpPr>
          <p:spPr>
            <a:xfrm>
              <a:off x="3600000" y="781604"/>
              <a:ext cx="169200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1EC5511E-453B-4637-A477-87DBF0524146}"/>
                </a:ext>
              </a:extLst>
            </p:cNvPr>
            <p:cNvSpPr txBox="1"/>
            <p:nvPr/>
          </p:nvSpPr>
          <p:spPr>
            <a:xfrm>
              <a:off x="3527516" y="380912"/>
              <a:ext cx="1742311" cy="369332"/>
            </a:xfrm>
            <a:prstGeom prst="rect">
              <a:avLst/>
            </a:prstGeom>
            <a:noFill/>
          </p:spPr>
          <p:txBody>
            <a:bodyPr wrap="square" rtlCol="0">
              <a:spAutoFit/>
            </a:bodyPr>
            <a:lstStyle/>
            <a:p>
              <a:r>
                <a:rPr lang="en-US" dirty="0"/>
                <a:t>Single process</a:t>
              </a:r>
            </a:p>
          </p:txBody>
        </p:sp>
      </p:grpSp>
      <p:cxnSp>
        <p:nvCxnSpPr>
          <p:cNvPr id="46" name="Straight Connector 45">
            <a:extLst>
              <a:ext uri="{FF2B5EF4-FFF2-40B4-BE49-F238E27FC236}">
                <a16:creationId xmlns:a16="http://schemas.microsoft.com/office/drawing/2014/main" id="{90F945C9-3AB2-4E03-9560-359DD559B1C9}"/>
              </a:ext>
            </a:extLst>
          </p:cNvPr>
          <p:cNvCxnSpPr>
            <a:cxnSpLocks/>
          </p:cNvCxnSpPr>
          <p:nvPr/>
        </p:nvCxnSpPr>
        <p:spPr>
          <a:xfrm>
            <a:off x="3600000" y="1935088"/>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cxnSp>
        <p:nvCxnSpPr>
          <p:cNvPr id="26" name="Straight Connector 25">
            <a:extLst>
              <a:ext uri="{FF2B5EF4-FFF2-40B4-BE49-F238E27FC236}">
                <a16:creationId xmlns:a16="http://schemas.microsoft.com/office/drawing/2014/main" id="{09BFBA75-DBC9-4A64-95A5-A38E1A1505F0}"/>
              </a:ext>
            </a:extLst>
          </p:cNvPr>
          <p:cNvCxnSpPr>
            <a:cxnSpLocks/>
          </p:cNvCxnSpPr>
          <p:nvPr/>
        </p:nvCxnSpPr>
        <p:spPr>
          <a:xfrm>
            <a:off x="3600000" y="4005064"/>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grpSp>
        <p:nvGrpSpPr>
          <p:cNvPr id="23" name="Group 22">
            <a:extLst>
              <a:ext uri="{FF2B5EF4-FFF2-40B4-BE49-F238E27FC236}">
                <a16:creationId xmlns:a16="http://schemas.microsoft.com/office/drawing/2014/main" id="{33631330-07FE-4BBB-A974-C0DB00420AB4}"/>
              </a:ext>
            </a:extLst>
          </p:cNvPr>
          <p:cNvGrpSpPr/>
          <p:nvPr/>
        </p:nvGrpSpPr>
        <p:grpSpPr>
          <a:xfrm>
            <a:off x="8109315" y="4340091"/>
            <a:ext cx="1099962" cy="990260"/>
            <a:chOff x="8218632" y="4340091"/>
            <a:chExt cx="1099962" cy="990260"/>
          </a:xfrm>
        </p:grpSpPr>
        <p:pic>
          <p:nvPicPr>
            <p:cNvPr id="80" name="Picture 79">
              <a:extLst>
                <a:ext uri="{FF2B5EF4-FFF2-40B4-BE49-F238E27FC236}">
                  <a16:creationId xmlns:a16="http://schemas.microsoft.com/office/drawing/2014/main" id="{527024BE-8AF7-4038-AF8A-2B1CCCAFD23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1" name="Picture 80">
              <a:extLst>
                <a:ext uri="{FF2B5EF4-FFF2-40B4-BE49-F238E27FC236}">
                  <a16:creationId xmlns:a16="http://schemas.microsoft.com/office/drawing/2014/main" id="{A76025A3-E751-4C10-8CE4-FC011927BB0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3" name="Picture 92">
              <a:extLst>
                <a:ext uri="{FF2B5EF4-FFF2-40B4-BE49-F238E27FC236}">
                  <a16:creationId xmlns:a16="http://schemas.microsoft.com/office/drawing/2014/main" id="{06618A9B-356C-4345-A89B-4DE145A3BE2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4" name="Picture 93">
              <a:extLst>
                <a:ext uri="{FF2B5EF4-FFF2-40B4-BE49-F238E27FC236}">
                  <a16:creationId xmlns:a16="http://schemas.microsoft.com/office/drawing/2014/main" id="{883350B8-175D-4511-9D02-8B45F0F3E13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grpSp>
        <p:nvGrpSpPr>
          <p:cNvPr id="24" name="Group 23">
            <a:extLst>
              <a:ext uri="{FF2B5EF4-FFF2-40B4-BE49-F238E27FC236}">
                <a16:creationId xmlns:a16="http://schemas.microsoft.com/office/drawing/2014/main" id="{63DE2F95-F7FD-427F-B9BE-99CFD72AEDFD}"/>
              </a:ext>
            </a:extLst>
          </p:cNvPr>
          <p:cNvGrpSpPr/>
          <p:nvPr/>
        </p:nvGrpSpPr>
        <p:grpSpPr>
          <a:xfrm>
            <a:off x="8109315" y="5397045"/>
            <a:ext cx="1099961" cy="990260"/>
            <a:chOff x="8218632" y="5333217"/>
            <a:chExt cx="1099961" cy="990260"/>
          </a:xfrm>
        </p:grpSpPr>
        <p:pic>
          <p:nvPicPr>
            <p:cNvPr id="82" name="Picture 81">
              <a:extLst>
                <a:ext uri="{FF2B5EF4-FFF2-40B4-BE49-F238E27FC236}">
                  <a16:creationId xmlns:a16="http://schemas.microsoft.com/office/drawing/2014/main" id="{9D0224EE-AC27-4164-AD42-A3EC4828BDD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30865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3" name="Picture 82">
              <a:extLst>
                <a:ext uri="{FF2B5EF4-FFF2-40B4-BE49-F238E27FC236}">
                  <a16:creationId xmlns:a16="http://schemas.microsoft.com/office/drawing/2014/main" id="{EE074990-2ADC-41D1-AD05-4226F0C7C6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80464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5" name="Picture 94">
              <a:extLst>
                <a:ext uri="{FF2B5EF4-FFF2-40B4-BE49-F238E27FC236}">
                  <a16:creationId xmlns:a16="http://schemas.microsoft.com/office/drawing/2014/main" id="{9FACEB57-FBB0-4BDB-8A1F-F5E80B47B8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31151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6" name="Picture 95">
              <a:extLst>
                <a:ext uri="{FF2B5EF4-FFF2-40B4-BE49-F238E27FC236}">
                  <a16:creationId xmlns:a16="http://schemas.microsoft.com/office/drawing/2014/main" id="{98EDF9B7-E3ED-4A72-BC0B-4F3AF5BC180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80751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sp>
        <p:nvSpPr>
          <p:cNvPr id="97" name="Rectangle 2">
            <a:extLst>
              <a:ext uri="{FF2B5EF4-FFF2-40B4-BE49-F238E27FC236}">
                <a16:creationId xmlns:a16="http://schemas.microsoft.com/office/drawing/2014/main" id="{AC26446B-C9BC-45F1-A2F3-6658D339B69E}"/>
              </a:ext>
            </a:extLst>
          </p:cNvPr>
          <p:cNvSpPr txBox="1">
            <a:spLocks noChangeArrowheads="1"/>
          </p:cNvSpPr>
          <p:nvPr/>
        </p:nvSpPr>
        <p:spPr>
          <a:xfrm>
            <a:off x="335360" y="2348880"/>
            <a:ext cx="2880320" cy="1232507"/>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Multi-threaded application</a:t>
            </a:r>
            <a:br>
              <a:rPr lang="en-US" altLang="en-US" sz="2400" dirty="0"/>
            </a:br>
            <a:r>
              <a:rPr lang="en-US" altLang="en-US" sz="2000" dirty="0"/>
              <a:t>N threads on N cores</a:t>
            </a:r>
            <a:br>
              <a:rPr lang="en-US" altLang="en-US" sz="2000" dirty="0"/>
            </a:br>
            <a:r>
              <a:rPr lang="en-US" altLang="en-US" sz="2000" dirty="0"/>
              <a:t>on </a:t>
            </a:r>
            <a:r>
              <a:rPr lang="en-US" altLang="en-US" sz="2000" b="1" dirty="0"/>
              <a:t>1 node</a:t>
            </a:r>
            <a:endParaRPr lang="en-US" altLang="en-US" sz="2000" dirty="0"/>
          </a:p>
        </p:txBody>
      </p:sp>
      <p:sp>
        <p:nvSpPr>
          <p:cNvPr id="98" name="Rectangle 2">
            <a:extLst>
              <a:ext uri="{FF2B5EF4-FFF2-40B4-BE49-F238E27FC236}">
                <a16:creationId xmlns:a16="http://schemas.microsoft.com/office/drawing/2014/main" id="{CB8670E3-8053-4B3A-A568-46C99746B0D2}"/>
              </a:ext>
            </a:extLst>
          </p:cNvPr>
          <p:cNvSpPr txBox="1">
            <a:spLocks noChangeArrowheads="1"/>
          </p:cNvSpPr>
          <p:nvPr/>
        </p:nvSpPr>
        <p:spPr>
          <a:xfrm>
            <a:off x="353071" y="4483294"/>
            <a:ext cx="2880320" cy="1682010"/>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Distributed application</a:t>
            </a:r>
            <a:br>
              <a:rPr lang="en-US" altLang="en-US" sz="2400" dirty="0"/>
            </a:br>
            <a:r>
              <a:rPr lang="en-US" altLang="en-US" sz="2000" dirty="0"/>
              <a:t>Many processes on </a:t>
            </a:r>
          </a:p>
          <a:p>
            <a:r>
              <a:rPr lang="en-US" altLang="en-US" sz="2000" dirty="0"/>
              <a:t>multiple cores,</a:t>
            </a:r>
            <a:br>
              <a:rPr lang="en-US" altLang="en-US" sz="2000" dirty="0"/>
            </a:br>
            <a:r>
              <a:rPr lang="en-US" altLang="en-US" sz="2000" dirty="0"/>
              <a:t>possibly spread over multiple nodes</a:t>
            </a:r>
          </a:p>
        </p:txBody>
      </p:sp>
      <p:grpSp>
        <p:nvGrpSpPr>
          <p:cNvPr id="129" name="Group 128">
            <a:extLst>
              <a:ext uri="{FF2B5EF4-FFF2-40B4-BE49-F238E27FC236}">
                <a16:creationId xmlns:a16="http://schemas.microsoft.com/office/drawing/2014/main" id="{61D424D5-1357-4180-85FC-292BBE6194C7}"/>
              </a:ext>
            </a:extLst>
          </p:cNvPr>
          <p:cNvGrpSpPr/>
          <p:nvPr/>
        </p:nvGrpSpPr>
        <p:grpSpPr>
          <a:xfrm>
            <a:off x="8112224" y="2582958"/>
            <a:ext cx="1099962" cy="990260"/>
            <a:chOff x="8218632" y="4340091"/>
            <a:chExt cx="1099962" cy="990260"/>
          </a:xfrm>
        </p:grpSpPr>
        <p:pic>
          <p:nvPicPr>
            <p:cNvPr id="130" name="Picture 129">
              <a:extLst>
                <a:ext uri="{FF2B5EF4-FFF2-40B4-BE49-F238E27FC236}">
                  <a16:creationId xmlns:a16="http://schemas.microsoft.com/office/drawing/2014/main" id="{4B8F9F6B-89C3-4825-B93C-279F662DB8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1" name="Picture 130">
              <a:extLst>
                <a:ext uri="{FF2B5EF4-FFF2-40B4-BE49-F238E27FC236}">
                  <a16:creationId xmlns:a16="http://schemas.microsoft.com/office/drawing/2014/main" id="{3B2DD8D3-FA3A-4850-B12D-76C3217F30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2" name="Picture 131">
              <a:extLst>
                <a:ext uri="{FF2B5EF4-FFF2-40B4-BE49-F238E27FC236}">
                  <a16:creationId xmlns:a16="http://schemas.microsoft.com/office/drawing/2014/main" id="{5E67D3E9-E250-4A3D-AB2C-4BF9C2E12F4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3" name="Picture 132">
              <a:extLst>
                <a:ext uri="{FF2B5EF4-FFF2-40B4-BE49-F238E27FC236}">
                  <a16:creationId xmlns:a16="http://schemas.microsoft.com/office/drawing/2014/main" id="{942E5C76-B58A-4791-A788-F76E76A0C28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cxnSp>
        <p:nvCxnSpPr>
          <p:cNvPr id="139" name="Straight Arrow Connector 138">
            <a:extLst>
              <a:ext uri="{FF2B5EF4-FFF2-40B4-BE49-F238E27FC236}">
                <a16:creationId xmlns:a16="http://schemas.microsoft.com/office/drawing/2014/main" id="{4BF9B134-E40A-4C4C-8378-223B8C95C8FD}"/>
              </a:ext>
            </a:extLst>
          </p:cNvPr>
          <p:cNvCxnSpPr>
            <a:cxnSpLocks/>
          </p:cNvCxnSpPr>
          <p:nvPr/>
        </p:nvCxnSpPr>
        <p:spPr>
          <a:xfrm>
            <a:off x="3600000"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477E4CA-E169-4B84-B5BD-BF7126490820}"/>
              </a:ext>
            </a:extLst>
          </p:cNvPr>
          <p:cNvCxnSpPr>
            <a:cxnSpLocks/>
          </p:cNvCxnSpPr>
          <p:nvPr/>
        </p:nvCxnSpPr>
        <p:spPr>
          <a:xfrm>
            <a:off x="5447928"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1" name="Group 140">
            <a:extLst>
              <a:ext uri="{FF2B5EF4-FFF2-40B4-BE49-F238E27FC236}">
                <a16:creationId xmlns:a16="http://schemas.microsoft.com/office/drawing/2014/main" id="{A209BBD1-F295-437C-845B-5F10DAAD04F5}"/>
              </a:ext>
            </a:extLst>
          </p:cNvPr>
          <p:cNvGrpSpPr/>
          <p:nvPr/>
        </p:nvGrpSpPr>
        <p:grpSpPr>
          <a:xfrm>
            <a:off x="4320000" y="2524313"/>
            <a:ext cx="1099962" cy="990260"/>
            <a:chOff x="8218632" y="4340091"/>
            <a:chExt cx="1099962" cy="990260"/>
          </a:xfrm>
        </p:grpSpPr>
        <p:pic>
          <p:nvPicPr>
            <p:cNvPr id="142" name="Picture 141">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3" name="Picture 142">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44" name="Picture 143">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45" name="Picture 144">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46" name="Straight Arrow Connector 145">
            <a:extLst>
              <a:ext uri="{FF2B5EF4-FFF2-40B4-BE49-F238E27FC236}">
                <a16:creationId xmlns:a16="http://schemas.microsoft.com/office/drawing/2014/main" id="{11B61731-1055-4492-8E5E-1EC34FB52255}"/>
              </a:ext>
            </a:extLst>
          </p:cNvPr>
          <p:cNvCxnSpPr>
            <a:cxnSpLocks/>
          </p:cNvCxnSpPr>
          <p:nvPr/>
        </p:nvCxnSpPr>
        <p:spPr>
          <a:xfrm>
            <a:off x="9318594" y="3017573"/>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7" name="Group 146">
            <a:extLst>
              <a:ext uri="{FF2B5EF4-FFF2-40B4-BE49-F238E27FC236}">
                <a16:creationId xmlns:a16="http://schemas.microsoft.com/office/drawing/2014/main" id="{45D99EB7-7831-4394-9D44-6E9C05A43D31}"/>
              </a:ext>
            </a:extLst>
          </p:cNvPr>
          <p:cNvGrpSpPr/>
          <p:nvPr/>
        </p:nvGrpSpPr>
        <p:grpSpPr>
          <a:xfrm>
            <a:off x="10102196" y="2599375"/>
            <a:ext cx="1099962" cy="990260"/>
            <a:chOff x="8218632" y="4340091"/>
            <a:chExt cx="1099962" cy="990260"/>
          </a:xfrm>
        </p:grpSpPr>
        <p:pic>
          <p:nvPicPr>
            <p:cNvPr id="148" name="Picture 147">
              <a:extLst>
                <a:ext uri="{FF2B5EF4-FFF2-40B4-BE49-F238E27FC236}">
                  <a16:creationId xmlns:a16="http://schemas.microsoft.com/office/drawing/2014/main" id="{866CDC30-1B7D-451E-AF09-697B7AA1268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9" name="Picture 148">
              <a:extLst>
                <a:ext uri="{FF2B5EF4-FFF2-40B4-BE49-F238E27FC236}">
                  <a16:creationId xmlns:a16="http://schemas.microsoft.com/office/drawing/2014/main" id="{DE5EBD13-93A3-4890-A6A7-579D2802A4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0" name="Picture 149">
              <a:extLst>
                <a:ext uri="{FF2B5EF4-FFF2-40B4-BE49-F238E27FC236}">
                  <a16:creationId xmlns:a16="http://schemas.microsoft.com/office/drawing/2014/main" id="{1E1ABC94-9B63-487B-B413-07A28D70233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1" name="Picture 150">
              <a:extLst>
                <a:ext uri="{FF2B5EF4-FFF2-40B4-BE49-F238E27FC236}">
                  <a16:creationId xmlns:a16="http://schemas.microsoft.com/office/drawing/2014/main" id="{F1CA94FF-AD39-498B-973C-BE9B8CC845B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52" name="Straight Arrow Connector 151">
            <a:extLst>
              <a:ext uri="{FF2B5EF4-FFF2-40B4-BE49-F238E27FC236}">
                <a16:creationId xmlns:a16="http://schemas.microsoft.com/office/drawing/2014/main" id="{32961B65-B178-4722-BF3E-4A1739D1C42A}"/>
              </a:ext>
            </a:extLst>
          </p:cNvPr>
          <p:cNvCxnSpPr>
            <a:cxnSpLocks/>
          </p:cNvCxnSpPr>
          <p:nvPr/>
        </p:nvCxnSpPr>
        <p:spPr>
          <a:xfrm>
            <a:off x="9470994" y="5185397"/>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05251D02-67BB-4409-A719-85A9D16F864E}"/>
              </a:ext>
            </a:extLst>
          </p:cNvPr>
          <p:cNvGrpSpPr/>
          <p:nvPr/>
        </p:nvGrpSpPr>
        <p:grpSpPr>
          <a:xfrm>
            <a:off x="10314143" y="4687402"/>
            <a:ext cx="1099962" cy="990260"/>
            <a:chOff x="8218632" y="4340091"/>
            <a:chExt cx="1099962" cy="990260"/>
          </a:xfrm>
        </p:grpSpPr>
        <p:pic>
          <p:nvPicPr>
            <p:cNvPr id="154" name="Picture 153">
              <a:extLst>
                <a:ext uri="{FF2B5EF4-FFF2-40B4-BE49-F238E27FC236}">
                  <a16:creationId xmlns:a16="http://schemas.microsoft.com/office/drawing/2014/main" id="{A2B744A5-7380-4CE0-9181-DFD85C72CC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55" name="Picture 154">
              <a:extLst>
                <a:ext uri="{FF2B5EF4-FFF2-40B4-BE49-F238E27FC236}">
                  <a16:creationId xmlns:a16="http://schemas.microsoft.com/office/drawing/2014/main" id="{4EAECE30-6A7E-4F89-9C18-F6CC45155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6" name="Picture 155">
              <a:extLst>
                <a:ext uri="{FF2B5EF4-FFF2-40B4-BE49-F238E27FC236}">
                  <a16:creationId xmlns:a16="http://schemas.microsoft.com/office/drawing/2014/main" id="{1DBEB639-A8B9-45F6-BB12-7A25E6E30F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7" name="Picture 156">
              <a:extLst>
                <a:ext uri="{FF2B5EF4-FFF2-40B4-BE49-F238E27FC236}">
                  <a16:creationId xmlns:a16="http://schemas.microsoft.com/office/drawing/2014/main" id="{595BE90F-ECB4-4DE8-8D28-FC70BAB5AC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158" name="Group 157">
            <a:extLst>
              <a:ext uri="{FF2B5EF4-FFF2-40B4-BE49-F238E27FC236}">
                <a16:creationId xmlns:a16="http://schemas.microsoft.com/office/drawing/2014/main" id="{2807920B-A1B9-48BF-9FE0-6567C14168C4}"/>
              </a:ext>
            </a:extLst>
          </p:cNvPr>
          <p:cNvGrpSpPr/>
          <p:nvPr/>
        </p:nvGrpSpPr>
        <p:grpSpPr>
          <a:xfrm>
            <a:off x="5578821" y="268226"/>
            <a:ext cx="1300780" cy="1329617"/>
            <a:chOff x="5469341" y="498862"/>
            <a:chExt cx="1300780" cy="1329617"/>
          </a:xfrm>
        </p:grpSpPr>
        <p:grpSp>
          <p:nvGrpSpPr>
            <p:cNvPr id="124" name="Group 123">
              <a:extLst>
                <a:ext uri="{FF2B5EF4-FFF2-40B4-BE49-F238E27FC236}">
                  <a16:creationId xmlns:a16="http://schemas.microsoft.com/office/drawing/2014/main" id="{71EC2C3F-8BE0-4DA6-8939-2CD8A6606FFC}"/>
                </a:ext>
              </a:extLst>
            </p:cNvPr>
            <p:cNvGrpSpPr/>
            <p:nvPr/>
          </p:nvGrpSpPr>
          <p:grpSpPr>
            <a:xfrm>
              <a:off x="5506235" y="498862"/>
              <a:ext cx="1099962" cy="990260"/>
              <a:chOff x="8218632" y="4340091"/>
              <a:chExt cx="1099962" cy="990260"/>
            </a:xfrm>
          </p:grpSpPr>
          <p:pic>
            <p:nvPicPr>
              <p:cNvPr id="125" name="Picture 124">
                <a:extLst>
                  <a:ext uri="{FF2B5EF4-FFF2-40B4-BE49-F238E27FC236}">
                    <a16:creationId xmlns:a16="http://schemas.microsoft.com/office/drawing/2014/main" id="{B3543533-0D5A-4C76-A352-9A99AE91C4F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26" name="Picture 125">
                <a:extLst>
                  <a:ext uri="{FF2B5EF4-FFF2-40B4-BE49-F238E27FC236}">
                    <a16:creationId xmlns:a16="http://schemas.microsoft.com/office/drawing/2014/main" id="{A0B02EAE-524E-4B59-8C65-81CC73CFF13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27" name="Picture 126">
                <a:extLst>
                  <a:ext uri="{FF2B5EF4-FFF2-40B4-BE49-F238E27FC236}">
                    <a16:creationId xmlns:a16="http://schemas.microsoft.com/office/drawing/2014/main" id="{19A044FC-21CE-4655-ABA6-91259775B1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28" name="Picture 127">
                <a:extLst>
                  <a:ext uri="{FF2B5EF4-FFF2-40B4-BE49-F238E27FC236}">
                    <a16:creationId xmlns:a16="http://schemas.microsoft.com/office/drawing/2014/main" id="{B1D89F72-9D0D-4187-9FF9-1B758EC88E7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sp>
          <p:nvSpPr>
            <p:cNvPr id="123" name="TextBox 122">
              <a:extLst>
                <a:ext uri="{FF2B5EF4-FFF2-40B4-BE49-F238E27FC236}">
                  <a16:creationId xmlns:a16="http://schemas.microsoft.com/office/drawing/2014/main" id="{E57FDEAF-0207-4415-8E21-5C150012FD79}"/>
                </a:ext>
              </a:extLst>
            </p:cNvPr>
            <p:cNvSpPr txBox="1"/>
            <p:nvPr/>
          </p:nvSpPr>
          <p:spPr>
            <a:xfrm>
              <a:off x="5469341" y="1459147"/>
              <a:ext cx="1300780" cy="369332"/>
            </a:xfrm>
            <a:prstGeom prst="rect">
              <a:avLst/>
            </a:prstGeom>
            <a:noFill/>
          </p:spPr>
          <p:txBody>
            <a:bodyPr wrap="square" rtlCol="0">
              <a:spAutoFit/>
            </a:bodyPr>
            <a:lstStyle/>
            <a:p>
              <a:r>
                <a:rPr lang="en-US" dirty="0"/>
                <a:t>One node</a:t>
              </a:r>
            </a:p>
          </p:txBody>
        </p:sp>
      </p:grpSp>
      <p:cxnSp>
        <p:nvCxnSpPr>
          <p:cNvPr id="84" name="Straight Arrow Connector 83">
            <a:extLst>
              <a:ext uri="{FF2B5EF4-FFF2-40B4-BE49-F238E27FC236}">
                <a16:creationId xmlns:a16="http://schemas.microsoft.com/office/drawing/2014/main" id="{4BF9B134-E40A-4C4C-8378-223B8C95C8FD}"/>
              </a:ext>
            </a:extLst>
          </p:cNvPr>
          <p:cNvCxnSpPr>
            <a:cxnSpLocks/>
          </p:cNvCxnSpPr>
          <p:nvPr/>
        </p:nvCxnSpPr>
        <p:spPr>
          <a:xfrm>
            <a:off x="360000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B477E4CA-E169-4B84-B5BD-BF7126490820}"/>
              </a:ext>
            </a:extLst>
          </p:cNvPr>
          <p:cNvCxnSpPr>
            <a:cxnSpLocks/>
          </p:cNvCxnSpPr>
          <p:nvPr/>
        </p:nvCxnSpPr>
        <p:spPr>
          <a:xfrm>
            <a:off x="544237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A209BBD1-F295-437C-845B-5F10DAAD04F5}"/>
              </a:ext>
            </a:extLst>
          </p:cNvPr>
          <p:cNvGrpSpPr/>
          <p:nvPr/>
        </p:nvGrpSpPr>
        <p:grpSpPr>
          <a:xfrm>
            <a:off x="4320000" y="4907073"/>
            <a:ext cx="1099962" cy="990260"/>
            <a:chOff x="8218632" y="4340091"/>
            <a:chExt cx="1099962" cy="990260"/>
          </a:xfrm>
        </p:grpSpPr>
        <p:pic>
          <p:nvPicPr>
            <p:cNvPr id="87" name="Picture 86">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8" name="Picture 87">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91" name="Picture 90">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92" name="Picture 91">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28" name="Group 27"/>
          <p:cNvGrpSpPr/>
          <p:nvPr/>
        </p:nvGrpSpPr>
        <p:grpSpPr>
          <a:xfrm>
            <a:off x="6122476" y="4241981"/>
            <a:ext cx="1862890" cy="1863453"/>
            <a:chOff x="6122476" y="4241981"/>
            <a:chExt cx="1862890" cy="1863453"/>
          </a:xfrm>
        </p:grpSpPr>
        <p:cxnSp>
          <p:nvCxnSpPr>
            <p:cNvPr id="76" name="Straight Arrow Connector 75">
              <a:extLst>
                <a:ext uri="{FF2B5EF4-FFF2-40B4-BE49-F238E27FC236}">
                  <a16:creationId xmlns:a16="http://schemas.microsoft.com/office/drawing/2014/main" id="{4B8F1B03-A99F-4B29-8E35-3F22199066FF}"/>
                </a:ext>
              </a:extLst>
            </p:cNvPr>
            <p:cNvCxnSpPr/>
            <p:nvPr/>
          </p:nvCxnSpPr>
          <p:spPr>
            <a:xfrm>
              <a:off x="6264000" y="5220000"/>
              <a:ext cx="1603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47A2072A-0259-4EA2-A19B-029B35C5349B}"/>
                </a:ext>
              </a:extLst>
            </p:cNvPr>
            <p:cNvCxnSpPr>
              <a:cxnSpLocks/>
            </p:cNvCxnSpPr>
            <p:nvPr/>
          </p:nvCxnSpPr>
          <p:spPr>
            <a:xfrm>
              <a:off x="6229211" y="4845434"/>
              <a:ext cx="132845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99E0B48-ABAC-4FBF-A5A9-BBECBCC5EB1C}"/>
                </a:ext>
              </a:extLst>
            </p:cNvPr>
            <p:cNvCxnSpPr>
              <a:cxnSpLocks/>
            </p:cNvCxnSpPr>
            <p:nvPr/>
          </p:nvCxnSpPr>
          <p:spPr>
            <a:xfrm flipV="1">
              <a:off x="6229211" y="5925434"/>
              <a:ext cx="147813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2ECB5CC9-C981-4CD8-A3BF-1F7E5877E50A}"/>
                </a:ext>
              </a:extLst>
            </p:cNvPr>
            <p:cNvCxnSpPr>
              <a:cxnSpLocks/>
            </p:cNvCxnSpPr>
            <p:nvPr/>
          </p:nvCxnSpPr>
          <p:spPr>
            <a:xfrm>
              <a:off x="6229211" y="5565434"/>
              <a:ext cx="14715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A4DFE94B-0935-4372-BE9C-82DDB6B162E8}"/>
                </a:ext>
              </a:extLst>
            </p:cNvPr>
            <p:cNvCxnSpPr>
              <a:cxnSpLocks/>
            </p:cNvCxnSpPr>
            <p:nvPr/>
          </p:nvCxnSpPr>
          <p:spPr>
            <a:xfrm>
              <a:off x="6229211" y="5385434"/>
              <a:ext cx="1288254"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403F2278-450A-4EBC-930F-D4A2FD0D121F}"/>
                </a:ext>
              </a:extLst>
            </p:cNvPr>
            <p:cNvCxnSpPr>
              <a:cxnSpLocks/>
            </p:cNvCxnSpPr>
            <p:nvPr/>
          </p:nvCxnSpPr>
          <p:spPr>
            <a:xfrm>
              <a:off x="6229211" y="5745434"/>
              <a:ext cx="11521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DC6A8812-AA7D-4340-A50E-81604EDC62C5}"/>
                </a:ext>
              </a:extLst>
            </p:cNvPr>
            <p:cNvCxnSpPr>
              <a:cxnSpLocks/>
            </p:cNvCxnSpPr>
            <p:nvPr/>
          </p:nvCxnSpPr>
          <p:spPr>
            <a:xfrm flipV="1">
              <a:off x="6229211" y="5025434"/>
              <a:ext cx="1098259"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1840DE08-8D8D-48EE-BD70-91A1458F6A74}"/>
                </a:ext>
              </a:extLst>
            </p:cNvPr>
            <p:cNvCxnSpPr>
              <a:cxnSpLocks/>
            </p:cNvCxnSpPr>
            <p:nvPr/>
          </p:nvCxnSpPr>
          <p:spPr>
            <a:xfrm flipV="1">
              <a:off x="6229211" y="6105434"/>
              <a:ext cx="1332620" cy="0"/>
            </a:xfrm>
            <a:prstGeom prst="straightConnector1">
              <a:avLst/>
            </a:prstGeom>
            <a:ln w="76200" cap="rnd">
              <a:round/>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7A2072A-0259-4EA2-A19B-029B35C5349B}"/>
                </a:ext>
              </a:extLst>
            </p:cNvPr>
            <p:cNvCxnSpPr>
              <a:cxnSpLocks/>
            </p:cNvCxnSpPr>
            <p:nvPr/>
          </p:nvCxnSpPr>
          <p:spPr>
            <a:xfrm>
              <a:off x="6229210" y="4665434"/>
              <a:ext cx="1512000"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7A2072A-0259-4EA2-A19B-029B35C5349B}"/>
                </a:ext>
              </a:extLst>
            </p:cNvPr>
            <p:cNvCxnSpPr>
              <a:cxnSpLocks/>
            </p:cNvCxnSpPr>
            <p:nvPr/>
          </p:nvCxnSpPr>
          <p:spPr>
            <a:xfrm>
              <a:off x="6229211" y="4665434"/>
              <a:ext cx="0" cy="144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CEFF9717-0236-4C42-A502-2505387C6988}"/>
                </a:ext>
              </a:extLst>
            </p:cNvPr>
            <p:cNvSpPr txBox="1"/>
            <p:nvPr/>
          </p:nvSpPr>
          <p:spPr>
            <a:xfrm>
              <a:off x="6122476" y="4241981"/>
              <a:ext cx="1862890" cy="369332"/>
            </a:xfrm>
            <a:prstGeom prst="rect">
              <a:avLst/>
            </a:prstGeom>
            <a:noFill/>
          </p:spPr>
          <p:txBody>
            <a:bodyPr wrap="square" rtlCol="0">
              <a:spAutoFit/>
            </a:bodyPr>
            <a:lstStyle/>
            <a:p>
              <a:r>
                <a:rPr lang="en-US" dirty="0"/>
                <a:t>Process group</a:t>
              </a:r>
            </a:p>
          </p:txBody>
        </p:sp>
      </p:grpSp>
      <p:grpSp>
        <p:nvGrpSpPr>
          <p:cNvPr id="25" name="Group 24"/>
          <p:cNvGrpSpPr/>
          <p:nvPr/>
        </p:nvGrpSpPr>
        <p:grpSpPr>
          <a:xfrm>
            <a:off x="6106141" y="2068360"/>
            <a:ext cx="1934563" cy="1479444"/>
            <a:chOff x="6144178" y="2213509"/>
            <a:chExt cx="1934563" cy="1479444"/>
          </a:xfrm>
        </p:grpSpPr>
        <p:sp>
          <p:nvSpPr>
            <p:cNvPr id="59" name="TextBox 58">
              <a:extLst>
                <a:ext uri="{FF2B5EF4-FFF2-40B4-BE49-F238E27FC236}">
                  <a16:creationId xmlns:a16="http://schemas.microsoft.com/office/drawing/2014/main" id="{EA1EE363-8661-43BC-A3EA-FC1A48500FE3}"/>
                </a:ext>
              </a:extLst>
            </p:cNvPr>
            <p:cNvSpPr txBox="1"/>
            <p:nvPr/>
          </p:nvSpPr>
          <p:spPr>
            <a:xfrm>
              <a:off x="6144178" y="2213509"/>
              <a:ext cx="1934563" cy="369332"/>
            </a:xfrm>
            <a:prstGeom prst="rect">
              <a:avLst/>
            </a:prstGeom>
            <a:noFill/>
          </p:spPr>
          <p:txBody>
            <a:bodyPr wrap="square" rtlCol="0">
              <a:spAutoFit/>
            </a:bodyPr>
            <a:lstStyle/>
            <a:p>
              <a:r>
                <a:rPr lang="en-US" dirty="0"/>
                <a:t>Thread group</a:t>
              </a:r>
            </a:p>
          </p:txBody>
        </p:sp>
        <p:grpSp>
          <p:nvGrpSpPr>
            <p:cNvPr id="22" name="Group 21"/>
            <p:cNvGrpSpPr/>
            <p:nvPr/>
          </p:nvGrpSpPr>
          <p:grpSpPr>
            <a:xfrm>
              <a:off x="6267247" y="2608695"/>
              <a:ext cx="1603681" cy="1084258"/>
              <a:chOff x="6264000" y="2520000"/>
              <a:chExt cx="1603681" cy="1084258"/>
            </a:xfrm>
          </p:grpSpPr>
          <p:cxnSp>
            <p:nvCxnSpPr>
              <p:cNvPr id="54" name="Straight Arrow Connector 53">
                <a:extLst>
                  <a:ext uri="{FF2B5EF4-FFF2-40B4-BE49-F238E27FC236}">
                    <a16:creationId xmlns:a16="http://schemas.microsoft.com/office/drawing/2014/main" id="{B00FC50F-82E0-41BB-BB1B-E55D5DB83DBC}"/>
                  </a:ext>
                </a:extLst>
              </p:cNvPr>
              <p:cNvCxnSpPr>
                <a:cxnSpLocks/>
              </p:cNvCxnSpPr>
              <p:nvPr/>
            </p:nvCxnSpPr>
            <p:spPr>
              <a:xfrm>
                <a:off x="6264000" y="2520000"/>
                <a:ext cx="1328455"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FF4222A4-38EA-4AEB-A42E-9335ADD4E89E}"/>
                  </a:ext>
                </a:extLst>
              </p:cNvPr>
              <p:cNvCxnSpPr>
                <a:cxnSpLocks/>
              </p:cNvCxnSpPr>
              <p:nvPr/>
            </p:nvCxnSpPr>
            <p:spPr>
              <a:xfrm flipV="1">
                <a:off x="6264000" y="3600000"/>
                <a:ext cx="1332620" cy="4258"/>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D270F361-0666-4CC4-A96D-B34619E35891}"/>
                  </a:ext>
                </a:extLst>
              </p:cNvPr>
              <p:cNvCxnSpPr/>
              <p:nvPr/>
            </p:nvCxnSpPr>
            <p:spPr>
              <a:xfrm>
                <a:off x="6264000" y="2880000"/>
                <a:ext cx="1603681"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114D1CCF-DB93-432C-99BD-4A2B55AEA11E}"/>
                  </a:ext>
                </a:extLst>
              </p:cNvPr>
              <p:cNvCxnSpPr>
                <a:cxnSpLocks/>
              </p:cNvCxnSpPr>
              <p:nvPr/>
            </p:nvCxnSpPr>
            <p:spPr>
              <a:xfrm>
                <a:off x="6264000" y="3240000"/>
                <a:ext cx="1471528"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47A2072A-0259-4EA2-A19B-029B35C5349B}"/>
                  </a:ext>
                </a:extLst>
              </p:cNvPr>
              <p:cNvCxnSpPr>
                <a:cxnSpLocks/>
              </p:cNvCxnSpPr>
              <p:nvPr/>
            </p:nvCxnSpPr>
            <p:spPr>
              <a:xfrm>
                <a:off x="6264000" y="2520000"/>
                <a:ext cx="0" cy="108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82597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8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5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8"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78</a:t>
            </a:fld>
            <a:endParaRPr lang="nl-BE" dirty="0"/>
          </a:p>
        </p:txBody>
      </p:sp>
      <p:pic>
        <p:nvPicPr>
          <p:cNvPr id="5" name="Picture 4" descr="http://docs.adaptivecomputing.com/9-0-1/MWM/Content/Resources/Graphics/backfill.gif"/>
          <p:cNvPicPr>
            <a:picLocks noChangeAspect="1" noChangeArrowheads="1" noCrop="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94639" y="164929"/>
            <a:ext cx="8802723" cy="6401979"/>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D4D0C565-58A7-3E5E-13F8-711E0E7D896A}"/>
              </a:ext>
            </a:extLst>
          </p:cNvPr>
          <p:cNvCxnSpPr/>
          <p:nvPr/>
        </p:nvCxnSpPr>
        <p:spPr>
          <a:xfrm flipV="1">
            <a:off x="2423591" y="848519"/>
            <a:ext cx="0" cy="3444577"/>
          </a:xfrm>
          <a:prstGeom prst="straightConnector1">
            <a:avLst/>
          </a:prstGeom>
          <a:ln w="25400">
            <a:solidFill>
              <a:srgbClr val="FF0000"/>
            </a:solidFill>
            <a:headEnd w="lg" len="lg"/>
            <a:tailEnd type="triangle" w="lg" len="lg"/>
          </a:ln>
        </p:spPr>
        <p:style>
          <a:lnRef idx="3">
            <a:schemeClr val="accent1"/>
          </a:lnRef>
          <a:fillRef idx="0">
            <a:schemeClr val="accent1"/>
          </a:fillRef>
          <a:effectRef idx="2">
            <a:schemeClr val="accent1"/>
          </a:effectRef>
          <a:fontRef idx="minor">
            <a:schemeClr val="tx1"/>
          </a:fontRef>
        </p:style>
      </p:cxnSp>
      <p:sp>
        <p:nvSpPr>
          <p:cNvPr id="6" name="TextBox 5">
            <a:extLst>
              <a:ext uri="{FF2B5EF4-FFF2-40B4-BE49-F238E27FC236}">
                <a16:creationId xmlns:a16="http://schemas.microsoft.com/office/drawing/2014/main" id="{9C9B8142-6E2A-529F-5353-F9C61A431AC2}"/>
              </a:ext>
            </a:extLst>
          </p:cNvPr>
          <p:cNvSpPr txBox="1"/>
          <p:nvPr/>
        </p:nvSpPr>
        <p:spPr>
          <a:xfrm rot="16200000">
            <a:off x="1561447" y="2334069"/>
            <a:ext cx="1224134" cy="461665"/>
          </a:xfrm>
          <a:prstGeom prst="rect">
            <a:avLst/>
          </a:prstGeom>
          <a:noFill/>
        </p:spPr>
        <p:txBody>
          <a:bodyPr wrap="square" rtlCol="0">
            <a:spAutoFit/>
          </a:bodyPr>
          <a:lstStyle/>
          <a:p>
            <a:r>
              <a:rPr lang="nl-BE" sz="2400" dirty="0" err="1"/>
              <a:t>cores</a:t>
            </a:r>
            <a:endParaRPr lang="nl-BE" sz="2400" dirty="0"/>
          </a:p>
        </p:txBody>
      </p:sp>
      <p:sp>
        <p:nvSpPr>
          <p:cNvPr id="7" name="TextBox 6">
            <a:extLst>
              <a:ext uri="{FF2B5EF4-FFF2-40B4-BE49-F238E27FC236}">
                <a16:creationId xmlns:a16="http://schemas.microsoft.com/office/drawing/2014/main" id="{D47BE710-8743-5233-44D5-1BF889FEA81C}"/>
              </a:ext>
            </a:extLst>
          </p:cNvPr>
          <p:cNvSpPr txBox="1"/>
          <p:nvPr/>
        </p:nvSpPr>
        <p:spPr>
          <a:xfrm>
            <a:off x="9624392" y="4285316"/>
            <a:ext cx="1296144" cy="461665"/>
          </a:xfrm>
          <a:prstGeom prst="rect">
            <a:avLst/>
          </a:prstGeom>
          <a:noFill/>
        </p:spPr>
        <p:txBody>
          <a:bodyPr wrap="square" rtlCol="0">
            <a:spAutoFit/>
          </a:bodyPr>
          <a:lstStyle/>
          <a:p>
            <a:r>
              <a:rPr lang="nl-BE" sz="2400" dirty="0"/>
              <a:t>time</a:t>
            </a:r>
          </a:p>
        </p:txBody>
      </p:sp>
      <p:cxnSp>
        <p:nvCxnSpPr>
          <p:cNvPr id="8" name="Straight Arrow Connector 7">
            <a:extLst>
              <a:ext uri="{FF2B5EF4-FFF2-40B4-BE49-F238E27FC236}">
                <a16:creationId xmlns:a16="http://schemas.microsoft.com/office/drawing/2014/main" id="{FB420876-5680-8230-D37B-64903AFFFA48}"/>
              </a:ext>
            </a:extLst>
          </p:cNvPr>
          <p:cNvCxnSpPr>
            <a:cxnSpLocks/>
          </p:cNvCxnSpPr>
          <p:nvPr/>
        </p:nvCxnSpPr>
        <p:spPr>
          <a:xfrm>
            <a:off x="2423591" y="4293096"/>
            <a:ext cx="8073771" cy="0"/>
          </a:xfrm>
          <a:prstGeom prst="straightConnector1">
            <a:avLst/>
          </a:prstGeom>
          <a:ln w="25400">
            <a:solidFill>
              <a:srgbClr val="FF0000"/>
            </a:solidFill>
            <a:tailEnd type="triangle" w="lg" len="lg"/>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9817354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79</a:t>
            </a:fld>
            <a:endParaRPr lang="nl-BE" dirty="0"/>
          </a:p>
        </p:txBody>
      </p:sp>
      <p:grpSp>
        <p:nvGrpSpPr>
          <p:cNvPr id="39944" name="Group 39943">
            <a:extLst>
              <a:ext uri="{FF2B5EF4-FFF2-40B4-BE49-F238E27FC236}">
                <a16:creationId xmlns:a16="http://schemas.microsoft.com/office/drawing/2014/main" id="{CD7188EA-0375-4F4C-9F7C-75D3CBFA9549}"/>
              </a:ext>
            </a:extLst>
          </p:cNvPr>
          <p:cNvGrpSpPr/>
          <p:nvPr/>
        </p:nvGrpSpPr>
        <p:grpSpPr>
          <a:xfrm>
            <a:off x="7283255" y="607349"/>
            <a:ext cx="4573385" cy="2101571"/>
            <a:chOff x="7283255" y="919724"/>
            <a:chExt cx="4573385" cy="2101571"/>
          </a:xfrm>
        </p:grpSpPr>
        <p:grpSp>
          <p:nvGrpSpPr>
            <p:cNvPr id="14" name="Group 13">
              <a:extLst>
                <a:ext uri="{FF2B5EF4-FFF2-40B4-BE49-F238E27FC236}">
                  <a16:creationId xmlns:a16="http://schemas.microsoft.com/office/drawing/2014/main" id="{ECCF5742-FCDC-419E-BF78-19E9831891A3}"/>
                </a:ext>
              </a:extLst>
            </p:cNvPr>
            <p:cNvGrpSpPr/>
            <p:nvPr/>
          </p:nvGrpSpPr>
          <p:grpSpPr>
            <a:xfrm>
              <a:off x="9180137" y="1562127"/>
              <a:ext cx="2102082" cy="1237372"/>
              <a:chOff x="910621" y="1911681"/>
              <a:chExt cx="2102082" cy="1237372"/>
            </a:xfrm>
          </p:grpSpPr>
          <p:pic>
            <p:nvPicPr>
              <p:cNvPr id="20" name="Picture 19">
                <a:extLst>
                  <a:ext uri="{FF2B5EF4-FFF2-40B4-BE49-F238E27FC236}">
                    <a16:creationId xmlns:a16="http://schemas.microsoft.com/office/drawing/2014/main" id="{76BC5509-21EC-416B-A2A5-1753034B596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1" name="Picture 20">
                <a:extLst>
                  <a:ext uri="{FF2B5EF4-FFF2-40B4-BE49-F238E27FC236}">
                    <a16:creationId xmlns:a16="http://schemas.microsoft.com/office/drawing/2014/main" id="{43C4A6DB-BEEB-4F96-B6EE-E638E95B4D3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 name="Picture 21">
                <a:extLst>
                  <a:ext uri="{FF2B5EF4-FFF2-40B4-BE49-F238E27FC236}">
                    <a16:creationId xmlns:a16="http://schemas.microsoft.com/office/drawing/2014/main" id="{E3CA6A7B-1D8D-4443-B858-CF5735DDA1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3" name="Picture 22">
                <a:extLst>
                  <a:ext uri="{FF2B5EF4-FFF2-40B4-BE49-F238E27FC236}">
                    <a16:creationId xmlns:a16="http://schemas.microsoft.com/office/drawing/2014/main" id="{FD93739B-A4D5-41FF-9C4B-C1D4BBC7D4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4" name="Picture 23">
                <a:extLst>
                  <a:ext uri="{FF2B5EF4-FFF2-40B4-BE49-F238E27FC236}">
                    <a16:creationId xmlns:a16="http://schemas.microsoft.com/office/drawing/2014/main" id="{F2DA59A1-6CA8-440A-BF51-664B06F43AB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5" name="Picture 24">
                <a:extLst>
                  <a:ext uri="{FF2B5EF4-FFF2-40B4-BE49-F238E27FC236}">
                    <a16:creationId xmlns:a16="http://schemas.microsoft.com/office/drawing/2014/main" id="{A500FB17-796F-48BC-B369-3DB80618913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6" name="Picture 25">
                <a:extLst>
                  <a:ext uri="{FF2B5EF4-FFF2-40B4-BE49-F238E27FC236}">
                    <a16:creationId xmlns:a16="http://schemas.microsoft.com/office/drawing/2014/main" id="{1058BFC0-1CFD-424D-86B3-D9EC296B0F6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7" name="Picture 26">
                <a:extLst>
                  <a:ext uri="{FF2B5EF4-FFF2-40B4-BE49-F238E27FC236}">
                    <a16:creationId xmlns:a16="http://schemas.microsoft.com/office/drawing/2014/main" id="{BC94B4B6-1472-46B4-B0AE-C460D3B519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8" name="Picture 27">
                <a:extLst>
                  <a:ext uri="{FF2B5EF4-FFF2-40B4-BE49-F238E27FC236}">
                    <a16:creationId xmlns:a16="http://schemas.microsoft.com/office/drawing/2014/main" id="{C5E47A6B-E32E-47C4-A916-5CF3D8BFA5E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9" name="Picture 28">
                <a:extLst>
                  <a:ext uri="{FF2B5EF4-FFF2-40B4-BE49-F238E27FC236}">
                    <a16:creationId xmlns:a16="http://schemas.microsoft.com/office/drawing/2014/main" id="{953BCFA6-ADFC-4F5C-B666-25FDE58C0B2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30" name="Picture 29">
                <a:extLst>
                  <a:ext uri="{FF2B5EF4-FFF2-40B4-BE49-F238E27FC236}">
                    <a16:creationId xmlns:a16="http://schemas.microsoft.com/office/drawing/2014/main" id="{2C5F468B-7B1A-46F0-979E-FA9E4912312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31" name="Picture 30">
                <a:extLst>
                  <a:ext uri="{FF2B5EF4-FFF2-40B4-BE49-F238E27FC236}">
                    <a16:creationId xmlns:a16="http://schemas.microsoft.com/office/drawing/2014/main" id="{F5CD0C33-A166-4C73-8C27-006C8D1C00C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32" name="Picture 31">
                <a:extLst>
                  <a:ext uri="{FF2B5EF4-FFF2-40B4-BE49-F238E27FC236}">
                    <a16:creationId xmlns:a16="http://schemas.microsoft.com/office/drawing/2014/main" id="{8B114EA6-4473-44DC-8DF5-C3FAE30BED5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33" name="Picture 32">
                <a:extLst>
                  <a:ext uri="{FF2B5EF4-FFF2-40B4-BE49-F238E27FC236}">
                    <a16:creationId xmlns:a16="http://schemas.microsoft.com/office/drawing/2014/main" id="{6C2B3E39-27F1-4996-A822-EAB667FCB62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34" name="Picture 33">
                <a:extLst>
                  <a:ext uri="{FF2B5EF4-FFF2-40B4-BE49-F238E27FC236}">
                    <a16:creationId xmlns:a16="http://schemas.microsoft.com/office/drawing/2014/main" id="{C43293D8-4061-45F0-9B10-01ADD621E0C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35" name="Picture 34">
                <a:extLst>
                  <a:ext uri="{FF2B5EF4-FFF2-40B4-BE49-F238E27FC236}">
                    <a16:creationId xmlns:a16="http://schemas.microsoft.com/office/drawing/2014/main" id="{B77B8BEA-8090-4773-BD0E-4345157D22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36" name="Picture 35">
                <a:extLst>
                  <a:ext uri="{FF2B5EF4-FFF2-40B4-BE49-F238E27FC236}">
                    <a16:creationId xmlns:a16="http://schemas.microsoft.com/office/drawing/2014/main" id="{8F05B7D5-1C44-411C-B73A-30106DF1A83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37" name="Picture 36">
                <a:extLst>
                  <a:ext uri="{FF2B5EF4-FFF2-40B4-BE49-F238E27FC236}">
                    <a16:creationId xmlns:a16="http://schemas.microsoft.com/office/drawing/2014/main" id="{58ACAD5A-D9CD-4E1B-A4FE-89A3055261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38" name="Picture 37">
                <a:extLst>
                  <a:ext uri="{FF2B5EF4-FFF2-40B4-BE49-F238E27FC236}">
                    <a16:creationId xmlns:a16="http://schemas.microsoft.com/office/drawing/2014/main" id="{D662B765-5907-429E-9987-3787B67A50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39" name="Picture 38">
                <a:extLst>
                  <a:ext uri="{FF2B5EF4-FFF2-40B4-BE49-F238E27FC236}">
                    <a16:creationId xmlns:a16="http://schemas.microsoft.com/office/drawing/2014/main" id="{D70ED0D1-B47F-4FE0-BADC-0698356D3D6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40" name="Picture 39">
                <a:extLst>
                  <a:ext uri="{FF2B5EF4-FFF2-40B4-BE49-F238E27FC236}">
                    <a16:creationId xmlns:a16="http://schemas.microsoft.com/office/drawing/2014/main" id="{D403C023-5D79-424F-9FF9-C5F4E4B22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41" name="Picture 40">
                <a:extLst>
                  <a:ext uri="{FF2B5EF4-FFF2-40B4-BE49-F238E27FC236}">
                    <a16:creationId xmlns:a16="http://schemas.microsoft.com/office/drawing/2014/main" id="{D1ABEB45-C357-4371-8EB3-67CAFE082E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42" name="Picture 41">
                <a:extLst>
                  <a:ext uri="{FF2B5EF4-FFF2-40B4-BE49-F238E27FC236}">
                    <a16:creationId xmlns:a16="http://schemas.microsoft.com/office/drawing/2014/main" id="{5867A1FF-E55F-4CA2-B418-199C5F1F6A4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43" name="Picture 42">
                <a:extLst>
                  <a:ext uri="{FF2B5EF4-FFF2-40B4-BE49-F238E27FC236}">
                    <a16:creationId xmlns:a16="http://schemas.microsoft.com/office/drawing/2014/main" id="{985FF5CC-99B6-49C9-8876-835E6603A9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44" name="Picture 43">
                <a:extLst>
                  <a:ext uri="{FF2B5EF4-FFF2-40B4-BE49-F238E27FC236}">
                    <a16:creationId xmlns:a16="http://schemas.microsoft.com/office/drawing/2014/main" id="{8CF0C91C-749E-4273-9CD6-5373BEDF4DA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45" name="Picture 44">
                <a:extLst>
                  <a:ext uri="{FF2B5EF4-FFF2-40B4-BE49-F238E27FC236}">
                    <a16:creationId xmlns:a16="http://schemas.microsoft.com/office/drawing/2014/main" id="{07625853-8279-479D-8E2E-8D529ABC932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46" name="Picture 45">
                <a:extLst>
                  <a:ext uri="{FF2B5EF4-FFF2-40B4-BE49-F238E27FC236}">
                    <a16:creationId xmlns:a16="http://schemas.microsoft.com/office/drawing/2014/main" id="{82FCA003-F42C-4820-B757-3456A61A64E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47" name="Picture 46">
                <a:extLst>
                  <a:ext uri="{FF2B5EF4-FFF2-40B4-BE49-F238E27FC236}">
                    <a16:creationId xmlns:a16="http://schemas.microsoft.com/office/drawing/2014/main" id="{8332AC29-3289-4C36-BB32-D87748BFB8C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48" name="Picture 47">
                <a:extLst>
                  <a:ext uri="{FF2B5EF4-FFF2-40B4-BE49-F238E27FC236}">
                    <a16:creationId xmlns:a16="http://schemas.microsoft.com/office/drawing/2014/main" id="{136C49A8-F632-41B4-878E-248CD295005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49" name="Picture 48">
                <a:extLst>
                  <a:ext uri="{FF2B5EF4-FFF2-40B4-BE49-F238E27FC236}">
                    <a16:creationId xmlns:a16="http://schemas.microsoft.com/office/drawing/2014/main" id="{CD0C7D81-9E9D-480A-BFA4-D07FE8CA2F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50" name="Picture 49">
                <a:extLst>
                  <a:ext uri="{FF2B5EF4-FFF2-40B4-BE49-F238E27FC236}">
                    <a16:creationId xmlns:a16="http://schemas.microsoft.com/office/drawing/2014/main" id="{1A5EC24B-4BDE-44BA-A5D4-3EE7344087A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51" name="Picture 50">
                <a:extLst>
                  <a:ext uri="{FF2B5EF4-FFF2-40B4-BE49-F238E27FC236}">
                    <a16:creationId xmlns:a16="http://schemas.microsoft.com/office/drawing/2014/main" id="{4919FCBA-B108-4C7E-942E-644DC53C0A7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52" name="Picture 51">
                <a:extLst>
                  <a:ext uri="{FF2B5EF4-FFF2-40B4-BE49-F238E27FC236}">
                    <a16:creationId xmlns:a16="http://schemas.microsoft.com/office/drawing/2014/main" id="{D555C088-A2D9-4BA2-B395-6D42366F24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53" name="Picture 52">
                <a:extLst>
                  <a:ext uri="{FF2B5EF4-FFF2-40B4-BE49-F238E27FC236}">
                    <a16:creationId xmlns:a16="http://schemas.microsoft.com/office/drawing/2014/main" id="{9EAC2D74-1C39-45E1-8BBC-210B74C9E3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54" name="Picture 53">
                <a:extLst>
                  <a:ext uri="{FF2B5EF4-FFF2-40B4-BE49-F238E27FC236}">
                    <a16:creationId xmlns:a16="http://schemas.microsoft.com/office/drawing/2014/main" id="{9F567902-9D95-4377-A52A-21EEBBEDE8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55" name="Picture 54">
                <a:extLst>
                  <a:ext uri="{FF2B5EF4-FFF2-40B4-BE49-F238E27FC236}">
                    <a16:creationId xmlns:a16="http://schemas.microsoft.com/office/drawing/2014/main" id="{4A17736C-FDEB-4D3C-A427-F968C0B04F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56" name="Picture 55">
                <a:extLst>
                  <a:ext uri="{FF2B5EF4-FFF2-40B4-BE49-F238E27FC236}">
                    <a16:creationId xmlns:a16="http://schemas.microsoft.com/office/drawing/2014/main" id="{1D2B14ED-1ED0-4B85-8ECF-CAE22358717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57" name="Picture 56">
                <a:extLst>
                  <a:ext uri="{FF2B5EF4-FFF2-40B4-BE49-F238E27FC236}">
                    <a16:creationId xmlns:a16="http://schemas.microsoft.com/office/drawing/2014/main" id="{1F0F0B2D-86BE-4E12-93A6-B520B157DE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58" name="Picture 57">
                <a:extLst>
                  <a:ext uri="{FF2B5EF4-FFF2-40B4-BE49-F238E27FC236}">
                    <a16:creationId xmlns:a16="http://schemas.microsoft.com/office/drawing/2014/main" id="{30E2A27C-7365-406B-BA4D-D2EF5FE43BF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59" name="Picture 58">
                <a:extLst>
                  <a:ext uri="{FF2B5EF4-FFF2-40B4-BE49-F238E27FC236}">
                    <a16:creationId xmlns:a16="http://schemas.microsoft.com/office/drawing/2014/main" id="{CD92B261-2825-4DE4-8FD8-9A5C41C4A1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17" name="Group 16">
              <a:extLst>
                <a:ext uri="{FF2B5EF4-FFF2-40B4-BE49-F238E27FC236}">
                  <a16:creationId xmlns:a16="http://schemas.microsoft.com/office/drawing/2014/main" id="{F392FC6D-A8A3-433E-87BD-9410B5C8CD30}"/>
                </a:ext>
              </a:extLst>
            </p:cNvPr>
            <p:cNvGrpSpPr/>
            <p:nvPr/>
          </p:nvGrpSpPr>
          <p:grpSpPr>
            <a:xfrm>
              <a:off x="7283255" y="919724"/>
              <a:ext cx="4573385" cy="2101571"/>
              <a:chOff x="-986261" y="1055288"/>
              <a:chExt cx="4573385" cy="3557815"/>
            </a:xfrm>
          </p:grpSpPr>
          <p:sp>
            <p:nvSpPr>
              <p:cNvPr id="18" name="Rounded Rectangle 60">
                <a:extLst>
                  <a:ext uri="{FF2B5EF4-FFF2-40B4-BE49-F238E27FC236}">
                    <a16:creationId xmlns:a16="http://schemas.microsoft.com/office/drawing/2014/main" id="{22946686-53B9-4AFF-90E6-770C02B749C0}"/>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17C29BE4-1774-43B0-ABD3-DD1A2DC5765D}"/>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cxnSp>
        <p:nvCxnSpPr>
          <p:cNvPr id="9" name="Straight Connector 8">
            <a:extLst>
              <a:ext uri="{FF2B5EF4-FFF2-40B4-BE49-F238E27FC236}">
                <a16:creationId xmlns:a16="http://schemas.microsoft.com/office/drawing/2014/main" id="{32745D2C-92C4-4763-B2DE-6649BB3C109A}"/>
              </a:ext>
            </a:extLst>
          </p:cNvPr>
          <p:cNvCxnSpPr/>
          <p:nvPr/>
        </p:nvCxnSpPr>
        <p:spPr>
          <a:xfrm flipV="1">
            <a:off x="842859" y="3316991"/>
            <a:ext cx="10225136" cy="40001"/>
          </a:xfrm>
          <a:prstGeom prst="line">
            <a:avLst/>
          </a:prstGeom>
          <a:ln w="76200"/>
        </p:spPr>
        <p:style>
          <a:lnRef idx="3">
            <a:schemeClr val="accent2"/>
          </a:lnRef>
          <a:fillRef idx="0">
            <a:schemeClr val="accent2"/>
          </a:fillRef>
          <a:effectRef idx="2">
            <a:schemeClr val="accent2"/>
          </a:effectRef>
          <a:fontRef idx="minor">
            <a:schemeClr val="tx1"/>
          </a:fontRef>
        </p:style>
      </p:cxnSp>
      <p:pic>
        <p:nvPicPr>
          <p:cNvPr id="39937" name="Picture 39936" descr="Icon&#10;&#10;Description automatically generated">
            <a:extLst>
              <a:ext uri="{FF2B5EF4-FFF2-40B4-BE49-F238E27FC236}">
                <a16:creationId xmlns:a16="http://schemas.microsoft.com/office/drawing/2014/main" id="{03EE2BC8-0D4F-4424-AB3F-3840AA297AB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64152" y="1460528"/>
            <a:ext cx="865211" cy="809795"/>
          </a:xfrm>
          <a:prstGeom prst="rect">
            <a:avLst/>
          </a:prstGeom>
        </p:spPr>
      </p:pic>
      <p:pic>
        <p:nvPicPr>
          <p:cNvPr id="39940" name="Picture 39939">
            <a:extLst>
              <a:ext uri="{FF2B5EF4-FFF2-40B4-BE49-F238E27FC236}">
                <a16:creationId xmlns:a16="http://schemas.microsoft.com/office/drawing/2014/main" id="{718AC7A0-0891-4272-AC1C-2D5F7CEB04AB}"/>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rot="10800000" flipV="1">
            <a:off x="8318587" y="1607652"/>
            <a:ext cx="669220" cy="669220"/>
          </a:xfrm>
          <a:prstGeom prst="rect">
            <a:avLst/>
          </a:prstGeom>
        </p:spPr>
      </p:pic>
      <p:grpSp>
        <p:nvGrpSpPr>
          <p:cNvPr id="39942" name="Group 39941">
            <a:extLst>
              <a:ext uri="{FF2B5EF4-FFF2-40B4-BE49-F238E27FC236}">
                <a16:creationId xmlns:a16="http://schemas.microsoft.com/office/drawing/2014/main" id="{4FE9B8B9-0F9A-4692-BCEA-41B80B5354F7}"/>
              </a:ext>
            </a:extLst>
          </p:cNvPr>
          <p:cNvGrpSpPr/>
          <p:nvPr/>
        </p:nvGrpSpPr>
        <p:grpSpPr>
          <a:xfrm>
            <a:off x="1919536" y="1001731"/>
            <a:ext cx="2160240" cy="1728192"/>
            <a:chOff x="2117733" y="1732815"/>
            <a:chExt cx="2160240" cy="1728192"/>
          </a:xfrm>
        </p:grpSpPr>
        <p:grpSp>
          <p:nvGrpSpPr>
            <p:cNvPr id="6" name="Group 5">
              <a:extLst>
                <a:ext uri="{FF2B5EF4-FFF2-40B4-BE49-F238E27FC236}">
                  <a16:creationId xmlns:a16="http://schemas.microsoft.com/office/drawing/2014/main" id="{1C28983E-335E-4A5F-9815-36114D0B5FFE}"/>
                </a:ext>
              </a:extLst>
            </p:cNvPr>
            <p:cNvGrpSpPr/>
            <p:nvPr/>
          </p:nvGrpSpPr>
          <p:grpSpPr>
            <a:xfrm>
              <a:off x="2117733" y="1732815"/>
              <a:ext cx="2160240" cy="1728192"/>
              <a:chOff x="767408" y="2564904"/>
              <a:chExt cx="2160240" cy="1728192"/>
            </a:xfrm>
          </p:grpSpPr>
          <p:sp>
            <p:nvSpPr>
              <p:cNvPr id="8" name="Rectangle 7">
                <a:extLst>
                  <a:ext uri="{FF2B5EF4-FFF2-40B4-BE49-F238E27FC236}">
                    <a16:creationId xmlns:a16="http://schemas.microsoft.com/office/drawing/2014/main" id="{397713D9-6160-4E62-9328-A4CD90E24DBB}"/>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10" name="Freeform 173">
                <a:extLst>
                  <a:ext uri="{FF2B5EF4-FFF2-40B4-BE49-F238E27FC236}">
                    <a16:creationId xmlns:a16="http://schemas.microsoft.com/office/drawing/2014/main" id="{58E5BE0A-C2AA-420B-B498-906736CAFD2D}"/>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12" name="Picture 11" descr="A picture containing shape&#10;&#10;Description automatically generated">
                <a:extLst>
                  <a:ext uri="{FF2B5EF4-FFF2-40B4-BE49-F238E27FC236}">
                    <a16:creationId xmlns:a16="http://schemas.microsoft.com/office/drawing/2014/main" id="{ED5EDF53-0C4C-47EA-919B-F15DD1B79E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118" name="TextBox 117">
              <a:extLst>
                <a:ext uri="{FF2B5EF4-FFF2-40B4-BE49-F238E27FC236}">
                  <a16:creationId xmlns:a16="http://schemas.microsoft.com/office/drawing/2014/main" id="{70FD7460-D9D2-41BA-B50C-4470A820856A}"/>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grpSp>
        <p:nvGrpSpPr>
          <p:cNvPr id="39948" name="Group 39947">
            <a:extLst>
              <a:ext uri="{FF2B5EF4-FFF2-40B4-BE49-F238E27FC236}">
                <a16:creationId xmlns:a16="http://schemas.microsoft.com/office/drawing/2014/main" id="{2E083751-9E62-4594-986E-8B0D97479C1C}"/>
              </a:ext>
            </a:extLst>
          </p:cNvPr>
          <p:cNvGrpSpPr/>
          <p:nvPr/>
        </p:nvGrpSpPr>
        <p:grpSpPr>
          <a:xfrm>
            <a:off x="4122797" y="1489153"/>
            <a:ext cx="3055291" cy="819970"/>
            <a:chOff x="4122798" y="1489153"/>
            <a:chExt cx="3009540" cy="819970"/>
          </a:xfrm>
        </p:grpSpPr>
        <p:sp>
          <p:nvSpPr>
            <p:cNvPr id="39941" name="Arrow: Right 39940">
              <a:extLst>
                <a:ext uri="{FF2B5EF4-FFF2-40B4-BE49-F238E27FC236}">
                  <a16:creationId xmlns:a16="http://schemas.microsoft.com/office/drawing/2014/main" id="{CCA4462D-71DB-4AB2-9AEC-8DE01F2D3EFC}"/>
                </a:ext>
              </a:extLst>
            </p:cNvPr>
            <p:cNvSpPr/>
            <p:nvPr/>
          </p:nvSpPr>
          <p:spPr>
            <a:xfrm>
              <a:off x="4180010" y="1489153"/>
              <a:ext cx="295232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latin typeface="Courier New" panose="02070309020205020404" pitchFamily="49" charset="0"/>
                <a:cs typeface="Courier New" panose="02070309020205020404" pitchFamily="49" charset="0"/>
              </a:endParaRPr>
            </a:p>
          </p:txBody>
        </p:sp>
        <p:sp>
          <p:nvSpPr>
            <p:cNvPr id="39943" name="TextBox 39942">
              <a:extLst>
                <a:ext uri="{FF2B5EF4-FFF2-40B4-BE49-F238E27FC236}">
                  <a16:creationId xmlns:a16="http://schemas.microsoft.com/office/drawing/2014/main" id="{FF8C89DD-98EB-410F-9A33-673048192D33}"/>
                </a:ext>
              </a:extLst>
            </p:cNvPr>
            <p:cNvSpPr txBox="1"/>
            <p:nvPr/>
          </p:nvSpPr>
          <p:spPr>
            <a:xfrm>
              <a:off x="4122798" y="1714472"/>
              <a:ext cx="2893201" cy="369332"/>
            </a:xfrm>
            <a:prstGeom prst="rect">
              <a:avLst/>
            </a:prstGeom>
            <a:noFill/>
          </p:spPr>
          <p:txBody>
            <a:bodyPr wrap="square" rtlCol="0">
              <a:spAutoFit/>
            </a:bodyPr>
            <a:lstStyle/>
            <a:p>
              <a:r>
                <a:rPr lang="en-US" b="1" dirty="0" err="1">
                  <a:solidFill>
                    <a:schemeClr val="bg1"/>
                  </a:solidFill>
                  <a:latin typeface="Courier New" panose="02070309020205020404" pitchFamily="49" charset="0"/>
                  <a:cs typeface="Courier New" panose="02070309020205020404" pitchFamily="49" charset="0"/>
                </a:rPr>
                <a:t>srun</a:t>
              </a:r>
              <a:r>
                <a:rPr lang="en-US" b="1" dirty="0">
                  <a:solidFill>
                    <a:schemeClr val="bg1"/>
                  </a:solidFill>
                  <a:latin typeface="Courier New" panose="02070309020205020404" pitchFamily="49" charset="0"/>
                  <a:cs typeface="Courier New" panose="02070309020205020404" pitchFamily="49" charset="0"/>
                </a:rPr>
                <a:t> …</a:t>
              </a:r>
            </a:p>
          </p:txBody>
        </p:sp>
      </p:grpSp>
      <p:sp>
        <p:nvSpPr>
          <p:cNvPr id="129" name="Arrow: Right 128">
            <a:extLst>
              <a:ext uri="{FF2B5EF4-FFF2-40B4-BE49-F238E27FC236}">
                <a16:creationId xmlns:a16="http://schemas.microsoft.com/office/drawing/2014/main" id="{961BE2B8-04B7-46DB-8311-7383EFD8AC4E}"/>
              </a:ext>
            </a:extLst>
          </p:cNvPr>
          <p:cNvSpPr/>
          <p:nvPr/>
        </p:nvSpPr>
        <p:spPr>
          <a:xfrm>
            <a:off x="4180010" y="4838957"/>
            <a:ext cx="299807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latin typeface="Courier New" panose="02070309020205020404" pitchFamily="49" charset="0"/>
                <a:cs typeface="Courier New" panose="02070309020205020404" pitchFamily="49" charset="0"/>
              </a:rPr>
              <a:t>sbatch</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script.slurm</a:t>
            </a:r>
            <a:endParaRPr lang="en-US" b="1" dirty="0">
              <a:latin typeface="Courier New" panose="02070309020205020404" pitchFamily="49" charset="0"/>
              <a:cs typeface="Courier New" panose="02070309020205020404" pitchFamily="49" charset="0"/>
            </a:endParaRPr>
          </a:p>
        </p:txBody>
      </p:sp>
      <p:grpSp>
        <p:nvGrpSpPr>
          <p:cNvPr id="216" name="Group 215">
            <a:extLst>
              <a:ext uri="{FF2B5EF4-FFF2-40B4-BE49-F238E27FC236}">
                <a16:creationId xmlns:a16="http://schemas.microsoft.com/office/drawing/2014/main" id="{710F60FE-A051-41DC-85AF-48FD20A19249}"/>
              </a:ext>
            </a:extLst>
          </p:cNvPr>
          <p:cNvGrpSpPr/>
          <p:nvPr/>
        </p:nvGrpSpPr>
        <p:grpSpPr>
          <a:xfrm>
            <a:off x="7283255" y="3976425"/>
            <a:ext cx="4608631" cy="2101571"/>
            <a:chOff x="7283255" y="919724"/>
            <a:chExt cx="4573385" cy="2101571"/>
          </a:xfrm>
        </p:grpSpPr>
        <p:grpSp>
          <p:nvGrpSpPr>
            <p:cNvPr id="217" name="Group 216">
              <a:extLst>
                <a:ext uri="{FF2B5EF4-FFF2-40B4-BE49-F238E27FC236}">
                  <a16:creationId xmlns:a16="http://schemas.microsoft.com/office/drawing/2014/main" id="{53BFE208-070E-4683-8363-E34761D1C208}"/>
                </a:ext>
              </a:extLst>
            </p:cNvPr>
            <p:cNvGrpSpPr/>
            <p:nvPr/>
          </p:nvGrpSpPr>
          <p:grpSpPr>
            <a:xfrm>
              <a:off x="9180137" y="1562127"/>
              <a:ext cx="2102082" cy="1237372"/>
              <a:chOff x="910621" y="1911681"/>
              <a:chExt cx="2102082" cy="1237372"/>
            </a:xfrm>
          </p:grpSpPr>
          <p:pic>
            <p:nvPicPr>
              <p:cNvPr id="221" name="Picture 220">
                <a:extLst>
                  <a:ext uri="{FF2B5EF4-FFF2-40B4-BE49-F238E27FC236}">
                    <a16:creationId xmlns:a16="http://schemas.microsoft.com/office/drawing/2014/main" id="{7690D514-DA60-40DC-AEF7-91F1107E1C3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22" name="Picture 221">
                <a:extLst>
                  <a:ext uri="{FF2B5EF4-FFF2-40B4-BE49-F238E27FC236}">
                    <a16:creationId xmlns:a16="http://schemas.microsoft.com/office/drawing/2014/main" id="{EC9159E6-614E-41C5-AC60-8F0F0B4CF28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3" name="Picture 222">
                <a:extLst>
                  <a:ext uri="{FF2B5EF4-FFF2-40B4-BE49-F238E27FC236}">
                    <a16:creationId xmlns:a16="http://schemas.microsoft.com/office/drawing/2014/main" id="{C51B977F-820D-476F-B683-B13716C3A48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24" name="Picture 223">
                <a:extLst>
                  <a:ext uri="{FF2B5EF4-FFF2-40B4-BE49-F238E27FC236}">
                    <a16:creationId xmlns:a16="http://schemas.microsoft.com/office/drawing/2014/main" id="{3F240AA1-39D4-4CB6-A15B-25F2A66BB6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25" name="Picture 224">
                <a:extLst>
                  <a:ext uri="{FF2B5EF4-FFF2-40B4-BE49-F238E27FC236}">
                    <a16:creationId xmlns:a16="http://schemas.microsoft.com/office/drawing/2014/main" id="{B016C301-88B0-4087-8790-A12A9EB5710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26" name="Picture 225">
                <a:extLst>
                  <a:ext uri="{FF2B5EF4-FFF2-40B4-BE49-F238E27FC236}">
                    <a16:creationId xmlns:a16="http://schemas.microsoft.com/office/drawing/2014/main" id="{841270CB-8845-4426-82AE-EEC046A8164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27" name="Picture 226">
                <a:extLst>
                  <a:ext uri="{FF2B5EF4-FFF2-40B4-BE49-F238E27FC236}">
                    <a16:creationId xmlns:a16="http://schemas.microsoft.com/office/drawing/2014/main" id="{9E0513A3-7EC8-409D-9830-BCDD6C2C47F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28" name="Picture 227">
                <a:extLst>
                  <a:ext uri="{FF2B5EF4-FFF2-40B4-BE49-F238E27FC236}">
                    <a16:creationId xmlns:a16="http://schemas.microsoft.com/office/drawing/2014/main" id="{23474E4B-B013-441E-9C8F-FD4667B76AC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29" name="Picture 228">
                <a:extLst>
                  <a:ext uri="{FF2B5EF4-FFF2-40B4-BE49-F238E27FC236}">
                    <a16:creationId xmlns:a16="http://schemas.microsoft.com/office/drawing/2014/main" id="{2E109A33-6BE0-4489-9A7B-65FC2F85172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30" name="Picture 229">
                <a:extLst>
                  <a:ext uri="{FF2B5EF4-FFF2-40B4-BE49-F238E27FC236}">
                    <a16:creationId xmlns:a16="http://schemas.microsoft.com/office/drawing/2014/main" id="{C7162158-9241-47E0-9C69-A794039886B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231" name="Picture 230">
                <a:extLst>
                  <a:ext uri="{FF2B5EF4-FFF2-40B4-BE49-F238E27FC236}">
                    <a16:creationId xmlns:a16="http://schemas.microsoft.com/office/drawing/2014/main" id="{8D5E6EF7-5384-4C56-B6C4-6DAF4E03E5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232" name="Picture 231">
                <a:extLst>
                  <a:ext uri="{FF2B5EF4-FFF2-40B4-BE49-F238E27FC236}">
                    <a16:creationId xmlns:a16="http://schemas.microsoft.com/office/drawing/2014/main" id="{65311636-A7DD-45BC-9F27-6D80058DFA7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233" name="Picture 232">
                <a:extLst>
                  <a:ext uri="{FF2B5EF4-FFF2-40B4-BE49-F238E27FC236}">
                    <a16:creationId xmlns:a16="http://schemas.microsoft.com/office/drawing/2014/main" id="{C3A99DB6-C6B9-4B2F-9102-7B024BFFB61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234" name="Picture 233">
                <a:extLst>
                  <a:ext uri="{FF2B5EF4-FFF2-40B4-BE49-F238E27FC236}">
                    <a16:creationId xmlns:a16="http://schemas.microsoft.com/office/drawing/2014/main" id="{DE53529C-FF61-4058-821D-1DA177226F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235" name="Picture 234">
                <a:extLst>
                  <a:ext uri="{FF2B5EF4-FFF2-40B4-BE49-F238E27FC236}">
                    <a16:creationId xmlns:a16="http://schemas.microsoft.com/office/drawing/2014/main" id="{E6B0E781-E78E-43DB-A04A-93BC3C6FE5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236" name="Picture 235">
                <a:extLst>
                  <a:ext uri="{FF2B5EF4-FFF2-40B4-BE49-F238E27FC236}">
                    <a16:creationId xmlns:a16="http://schemas.microsoft.com/office/drawing/2014/main" id="{88F025DE-A7CA-41BB-8684-644F44CA2C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237" name="Picture 236">
                <a:extLst>
                  <a:ext uri="{FF2B5EF4-FFF2-40B4-BE49-F238E27FC236}">
                    <a16:creationId xmlns:a16="http://schemas.microsoft.com/office/drawing/2014/main" id="{39A108B3-29D0-426C-9C51-82F5C5BC26E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238" name="Picture 237">
                <a:extLst>
                  <a:ext uri="{FF2B5EF4-FFF2-40B4-BE49-F238E27FC236}">
                    <a16:creationId xmlns:a16="http://schemas.microsoft.com/office/drawing/2014/main" id="{9DE79DD8-645F-4B42-ADA9-ABE21BBAAF7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239" name="Picture 238">
                <a:extLst>
                  <a:ext uri="{FF2B5EF4-FFF2-40B4-BE49-F238E27FC236}">
                    <a16:creationId xmlns:a16="http://schemas.microsoft.com/office/drawing/2014/main" id="{EE18C7E6-4588-4523-89CA-9EDFB4412E0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240" name="Picture 239">
                <a:extLst>
                  <a:ext uri="{FF2B5EF4-FFF2-40B4-BE49-F238E27FC236}">
                    <a16:creationId xmlns:a16="http://schemas.microsoft.com/office/drawing/2014/main" id="{153881A6-23C1-449E-AB60-584B57A92B3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241" name="Picture 240">
                <a:extLst>
                  <a:ext uri="{FF2B5EF4-FFF2-40B4-BE49-F238E27FC236}">
                    <a16:creationId xmlns:a16="http://schemas.microsoft.com/office/drawing/2014/main" id="{C6177C80-67D4-4A45-AC9F-C5CE5694B53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242" name="Picture 241">
                <a:extLst>
                  <a:ext uri="{FF2B5EF4-FFF2-40B4-BE49-F238E27FC236}">
                    <a16:creationId xmlns:a16="http://schemas.microsoft.com/office/drawing/2014/main" id="{75FC089F-D9E5-44BC-AEAD-B17DF557E2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243" name="Picture 242">
                <a:extLst>
                  <a:ext uri="{FF2B5EF4-FFF2-40B4-BE49-F238E27FC236}">
                    <a16:creationId xmlns:a16="http://schemas.microsoft.com/office/drawing/2014/main" id="{63C3B2FD-26FA-4ED6-AEF1-A2E71EACE67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244" name="Picture 243">
                <a:extLst>
                  <a:ext uri="{FF2B5EF4-FFF2-40B4-BE49-F238E27FC236}">
                    <a16:creationId xmlns:a16="http://schemas.microsoft.com/office/drawing/2014/main" id="{EF269D2C-862F-4E2C-93C3-846DFD168B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245" name="Picture 244">
                <a:extLst>
                  <a:ext uri="{FF2B5EF4-FFF2-40B4-BE49-F238E27FC236}">
                    <a16:creationId xmlns:a16="http://schemas.microsoft.com/office/drawing/2014/main" id="{9E0A6679-53E9-40D8-B6E0-85CBD9CBF43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246" name="Picture 245">
                <a:extLst>
                  <a:ext uri="{FF2B5EF4-FFF2-40B4-BE49-F238E27FC236}">
                    <a16:creationId xmlns:a16="http://schemas.microsoft.com/office/drawing/2014/main" id="{7E568ACA-1FC5-438F-9CA0-27C49F8B7D5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247" name="Picture 246">
                <a:extLst>
                  <a:ext uri="{FF2B5EF4-FFF2-40B4-BE49-F238E27FC236}">
                    <a16:creationId xmlns:a16="http://schemas.microsoft.com/office/drawing/2014/main" id="{3910546A-1FE7-455F-B08C-61282884324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248" name="Picture 247">
                <a:extLst>
                  <a:ext uri="{FF2B5EF4-FFF2-40B4-BE49-F238E27FC236}">
                    <a16:creationId xmlns:a16="http://schemas.microsoft.com/office/drawing/2014/main" id="{B800F126-2D06-41E5-AD40-637279381F7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249" name="Picture 248">
                <a:extLst>
                  <a:ext uri="{FF2B5EF4-FFF2-40B4-BE49-F238E27FC236}">
                    <a16:creationId xmlns:a16="http://schemas.microsoft.com/office/drawing/2014/main" id="{45831DD1-A94F-4DD3-9745-B5B5FD3B6A5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250" name="Picture 249">
                <a:extLst>
                  <a:ext uri="{FF2B5EF4-FFF2-40B4-BE49-F238E27FC236}">
                    <a16:creationId xmlns:a16="http://schemas.microsoft.com/office/drawing/2014/main" id="{12F18491-4996-4DD1-9E05-6237E7429AD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251" name="Picture 250">
                <a:extLst>
                  <a:ext uri="{FF2B5EF4-FFF2-40B4-BE49-F238E27FC236}">
                    <a16:creationId xmlns:a16="http://schemas.microsoft.com/office/drawing/2014/main" id="{67BD012C-EE98-4C56-878D-7964FA70DF3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252" name="Picture 251">
                <a:extLst>
                  <a:ext uri="{FF2B5EF4-FFF2-40B4-BE49-F238E27FC236}">
                    <a16:creationId xmlns:a16="http://schemas.microsoft.com/office/drawing/2014/main" id="{3D89AC80-AACB-4E98-A7A0-FFDCAD3A424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253" name="Picture 252">
                <a:extLst>
                  <a:ext uri="{FF2B5EF4-FFF2-40B4-BE49-F238E27FC236}">
                    <a16:creationId xmlns:a16="http://schemas.microsoft.com/office/drawing/2014/main" id="{11354668-A215-44A4-AEF7-496F7C96C7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254" name="Picture 253">
                <a:extLst>
                  <a:ext uri="{FF2B5EF4-FFF2-40B4-BE49-F238E27FC236}">
                    <a16:creationId xmlns:a16="http://schemas.microsoft.com/office/drawing/2014/main" id="{C7095B74-9FE6-4459-8214-C87ECEEB40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255" name="Picture 254">
                <a:extLst>
                  <a:ext uri="{FF2B5EF4-FFF2-40B4-BE49-F238E27FC236}">
                    <a16:creationId xmlns:a16="http://schemas.microsoft.com/office/drawing/2014/main" id="{6969D03F-29C4-43A3-BE22-A421E315B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256" name="Picture 255">
                <a:extLst>
                  <a:ext uri="{FF2B5EF4-FFF2-40B4-BE49-F238E27FC236}">
                    <a16:creationId xmlns:a16="http://schemas.microsoft.com/office/drawing/2014/main" id="{1447298D-6AF4-43A8-937A-6F8F0DA7CBC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257" name="Picture 256">
                <a:extLst>
                  <a:ext uri="{FF2B5EF4-FFF2-40B4-BE49-F238E27FC236}">
                    <a16:creationId xmlns:a16="http://schemas.microsoft.com/office/drawing/2014/main" id="{1767609A-7981-4223-A428-CBA075EC4A8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258" name="Picture 257">
                <a:extLst>
                  <a:ext uri="{FF2B5EF4-FFF2-40B4-BE49-F238E27FC236}">
                    <a16:creationId xmlns:a16="http://schemas.microsoft.com/office/drawing/2014/main" id="{215784E7-293F-4FF0-8C9A-2E55DE095BE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259" name="Picture 258">
                <a:extLst>
                  <a:ext uri="{FF2B5EF4-FFF2-40B4-BE49-F238E27FC236}">
                    <a16:creationId xmlns:a16="http://schemas.microsoft.com/office/drawing/2014/main" id="{918A22D7-FC80-438E-8800-8A80877A83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260" name="Picture 259">
                <a:extLst>
                  <a:ext uri="{FF2B5EF4-FFF2-40B4-BE49-F238E27FC236}">
                    <a16:creationId xmlns:a16="http://schemas.microsoft.com/office/drawing/2014/main" id="{BCDE75B3-9F5C-4A7E-8558-2413DE3F2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218" name="Group 217">
              <a:extLst>
                <a:ext uri="{FF2B5EF4-FFF2-40B4-BE49-F238E27FC236}">
                  <a16:creationId xmlns:a16="http://schemas.microsoft.com/office/drawing/2014/main" id="{CE14FF2B-6254-4381-AB94-F8741C7C43CD}"/>
                </a:ext>
              </a:extLst>
            </p:cNvPr>
            <p:cNvGrpSpPr/>
            <p:nvPr/>
          </p:nvGrpSpPr>
          <p:grpSpPr>
            <a:xfrm>
              <a:off x="7283255" y="919724"/>
              <a:ext cx="4573385" cy="2101571"/>
              <a:chOff x="-986261" y="1055288"/>
              <a:chExt cx="4573385" cy="3557815"/>
            </a:xfrm>
          </p:grpSpPr>
          <p:sp>
            <p:nvSpPr>
              <p:cNvPr id="219" name="Rounded Rectangle 60">
                <a:extLst>
                  <a:ext uri="{FF2B5EF4-FFF2-40B4-BE49-F238E27FC236}">
                    <a16:creationId xmlns:a16="http://schemas.microsoft.com/office/drawing/2014/main" id="{5A34023B-A421-4410-A430-6AAC17E5B5E7}"/>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0" name="TextBox 219">
                <a:extLst>
                  <a:ext uri="{FF2B5EF4-FFF2-40B4-BE49-F238E27FC236}">
                    <a16:creationId xmlns:a16="http://schemas.microsoft.com/office/drawing/2014/main" id="{B7A498F3-1D8F-47DA-97E2-3610E7CD5E2B}"/>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pic>
        <p:nvPicPr>
          <p:cNvPr id="261" name="Picture 260" descr="A picture containing shape&#10;&#10;Description automatically generated">
            <a:extLst>
              <a:ext uri="{FF2B5EF4-FFF2-40B4-BE49-F238E27FC236}">
                <a16:creationId xmlns:a16="http://schemas.microsoft.com/office/drawing/2014/main" id="{ECEDC173-63CD-4E8D-9722-0859FFFBB48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60353" y="4938847"/>
            <a:ext cx="720080" cy="720080"/>
          </a:xfrm>
          <a:prstGeom prst="rect">
            <a:avLst/>
          </a:prstGeom>
        </p:spPr>
      </p:pic>
      <p:sp>
        <p:nvSpPr>
          <p:cNvPr id="39945" name="TextBox 39944">
            <a:extLst>
              <a:ext uri="{FF2B5EF4-FFF2-40B4-BE49-F238E27FC236}">
                <a16:creationId xmlns:a16="http://schemas.microsoft.com/office/drawing/2014/main" id="{F2C85FF6-BDF8-4ED0-A076-21C531DB252A}"/>
              </a:ext>
            </a:extLst>
          </p:cNvPr>
          <p:cNvSpPr txBox="1"/>
          <p:nvPr/>
        </p:nvSpPr>
        <p:spPr>
          <a:xfrm>
            <a:off x="277650" y="401856"/>
            <a:ext cx="2578769" cy="461665"/>
          </a:xfrm>
          <a:prstGeom prst="rect">
            <a:avLst/>
          </a:prstGeom>
          <a:solidFill>
            <a:schemeClr val="accent1">
              <a:lumMod val="20000"/>
              <a:lumOff val="80000"/>
            </a:schemeClr>
          </a:solidFill>
          <a:ln w="25400">
            <a:solidFill>
              <a:schemeClr val="accent1">
                <a:lumMod val="75000"/>
              </a:schemeClr>
            </a:solidFill>
          </a:ln>
        </p:spPr>
        <p:txBody>
          <a:bodyPr wrap="square" rtlCol="0">
            <a:spAutoFit/>
          </a:bodyPr>
          <a:lstStyle/>
          <a:p>
            <a:pPr algn="ctr"/>
            <a:r>
              <a:rPr lang="en-US" sz="2400" b="1" dirty="0"/>
              <a:t>Interactive job</a:t>
            </a:r>
          </a:p>
        </p:txBody>
      </p:sp>
      <p:sp>
        <p:nvSpPr>
          <p:cNvPr id="265" name="TextBox 264">
            <a:extLst>
              <a:ext uri="{FF2B5EF4-FFF2-40B4-BE49-F238E27FC236}">
                <a16:creationId xmlns:a16="http://schemas.microsoft.com/office/drawing/2014/main" id="{C8172AC7-FBA5-48C3-BCAF-7318ADCC893F}"/>
              </a:ext>
            </a:extLst>
          </p:cNvPr>
          <p:cNvSpPr txBox="1"/>
          <p:nvPr/>
        </p:nvSpPr>
        <p:spPr>
          <a:xfrm>
            <a:off x="277650" y="3760767"/>
            <a:ext cx="2578769" cy="461665"/>
          </a:xfrm>
          <a:prstGeom prst="rect">
            <a:avLst/>
          </a:prstGeom>
          <a:solidFill>
            <a:schemeClr val="accent1">
              <a:lumMod val="20000"/>
              <a:lumOff val="80000"/>
            </a:schemeClr>
          </a:solidFill>
          <a:ln w="25400">
            <a:solidFill>
              <a:schemeClr val="accent1">
                <a:lumMod val="75000"/>
              </a:schemeClr>
            </a:solidFill>
          </a:ln>
        </p:spPr>
        <p:txBody>
          <a:bodyPr wrap="square" rtlCol="0">
            <a:spAutoFit/>
          </a:bodyPr>
          <a:lstStyle/>
          <a:p>
            <a:pPr algn="ctr"/>
            <a:r>
              <a:rPr lang="en-US" sz="2400" b="1" dirty="0"/>
              <a:t>Batch job</a:t>
            </a:r>
          </a:p>
        </p:txBody>
      </p:sp>
      <p:grpSp>
        <p:nvGrpSpPr>
          <p:cNvPr id="266" name="Group 265">
            <a:extLst>
              <a:ext uri="{FF2B5EF4-FFF2-40B4-BE49-F238E27FC236}">
                <a16:creationId xmlns:a16="http://schemas.microsoft.com/office/drawing/2014/main" id="{AC50F887-A1B5-4A38-A6C6-309F37D836DC}"/>
              </a:ext>
            </a:extLst>
          </p:cNvPr>
          <p:cNvGrpSpPr/>
          <p:nvPr/>
        </p:nvGrpSpPr>
        <p:grpSpPr>
          <a:xfrm>
            <a:off x="1916623" y="4348989"/>
            <a:ext cx="2160240" cy="1728192"/>
            <a:chOff x="2117733" y="1732815"/>
            <a:chExt cx="2160240" cy="1728192"/>
          </a:xfrm>
        </p:grpSpPr>
        <p:grpSp>
          <p:nvGrpSpPr>
            <p:cNvPr id="267" name="Group 266">
              <a:extLst>
                <a:ext uri="{FF2B5EF4-FFF2-40B4-BE49-F238E27FC236}">
                  <a16:creationId xmlns:a16="http://schemas.microsoft.com/office/drawing/2014/main" id="{EC9E54F3-CE94-431D-8EE9-6EE16D4BE6C6}"/>
                </a:ext>
              </a:extLst>
            </p:cNvPr>
            <p:cNvGrpSpPr/>
            <p:nvPr/>
          </p:nvGrpSpPr>
          <p:grpSpPr>
            <a:xfrm>
              <a:off x="2117733" y="1732815"/>
              <a:ext cx="2160240" cy="1728192"/>
              <a:chOff x="767408" y="2564904"/>
              <a:chExt cx="2160240" cy="1728192"/>
            </a:xfrm>
          </p:grpSpPr>
          <p:sp>
            <p:nvSpPr>
              <p:cNvPr id="269" name="Rectangle 268">
                <a:extLst>
                  <a:ext uri="{FF2B5EF4-FFF2-40B4-BE49-F238E27FC236}">
                    <a16:creationId xmlns:a16="http://schemas.microsoft.com/office/drawing/2014/main" id="{34016635-0334-4B1E-B618-49A5B25EA330}"/>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270" name="Freeform 173">
                <a:extLst>
                  <a:ext uri="{FF2B5EF4-FFF2-40B4-BE49-F238E27FC236}">
                    <a16:creationId xmlns:a16="http://schemas.microsoft.com/office/drawing/2014/main" id="{F6288EE4-2056-4B83-9E81-A9C87D5CDF12}"/>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271" name="Picture 270" descr="A picture containing shape&#10;&#10;Description automatically generated">
                <a:extLst>
                  <a:ext uri="{FF2B5EF4-FFF2-40B4-BE49-F238E27FC236}">
                    <a16:creationId xmlns:a16="http://schemas.microsoft.com/office/drawing/2014/main" id="{CB667441-9E05-4FD9-8803-CE930A05B0F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268" name="TextBox 267">
              <a:extLst>
                <a:ext uri="{FF2B5EF4-FFF2-40B4-BE49-F238E27FC236}">
                  <a16:creationId xmlns:a16="http://schemas.microsoft.com/office/drawing/2014/main" id="{601BDC5E-1A90-4549-AB3E-2D44D8CF7B85}"/>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pic>
        <p:nvPicPr>
          <p:cNvPr id="3" name="Picture 2" descr="Logo, icon&#10;&#10;Description automatically generated">
            <a:extLst>
              <a:ext uri="{FF2B5EF4-FFF2-40B4-BE49-F238E27FC236}">
                <a16:creationId xmlns:a16="http://schemas.microsoft.com/office/drawing/2014/main" id="{2959D5F6-C4C6-2B71-2573-CB6D4C0CCC3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18425" y="632688"/>
            <a:ext cx="777242" cy="777242"/>
          </a:xfrm>
          <a:prstGeom prst="rect">
            <a:avLst/>
          </a:prstGeom>
        </p:spPr>
      </p:pic>
    </p:spTree>
    <p:extLst>
      <p:ext uri="{BB962C8B-B14F-4D97-AF65-F5344CB8AC3E}">
        <p14:creationId xmlns:p14="http://schemas.microsoft.com/office/powerpoint/2010/main" val="2317043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9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9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9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265"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453486" y="2564904"/>
            <a:ext cx="11738514" cy="923330"/>
          </a:xfrm>
          <a:prstGeom prst="rect">
            <a:avLst/>
          </a:prstGeom>
          <a:noFill/>
          <a:ln>
            <a:noFill/>
          </a:ln>
        </p:spPr>
        <p:txBody>
          <a:bodyPr wrap="square" rtlCol="0">
            <a:spAutoFit/>
          </a:bodyPr>
          <a:lstStyle/>
          <a:p>
            <a:r>
              <a:rPr lang="en-US" dirty="0">
                <a:latin typeface="72 Monospace" panose="020B0509030603020204" pitchFamily="49" charset="0"/>
                <a:cs typeface="72 Monospace" panose="020B0509030603020204" pitchFamily="49" charset="0"/>
              </a:rPr>
              <a:t>$ </a:t>
            </a:r>
            <a:r>
              <a:rPr lang="en-US" dirty="0" err="1">
                <a:latin typeface="72 Monospace" panose="020B0509030603020204" pitchFamily="49" charset="0"/>
                <a:cs typeface="72 Monospace" panose="020B0509030603020204" pitchFamily="49" charset="0"/>
              </a:rPr>
              <a:t>srun</a:t>
            </a:r>
            <a:r>
              <a:rPr lang="en-US" dirty="0">
                <a:latin typeface="72 Monospace" panose="020B0509030603020204" pitchFamily="49" charset="0"/>
                <a:cs typeface="72 Monospace" panose="020B0509030603020204" pitchFamily="49" charset="0"/>
              </a:rPr>
              <a:t> --account=&lt;project name&gt; --partition=interactive –-clusters=</a:t>
            </a:r>
            <a:r>
              <a:rPr lang="en-US" dirty="0" err="1">
                <a:latin typeface="72 Monospace" panose="020B0509030603020204" pitchFamily="49" charset="0"/>
                <a:cs typeface="72 Monospace" panose="020B0509030603020204" pitchFamily="49" charset="0"/>
              </a:rPr>
              <a:t>wice</a:t>
            </a:r>
            <a:r>
              <a:rPr lang="en-US" dirty="0">
                <a:latin typeface="72 Monospace" panose="020B0509030603020204" pitchFamily="49" charset="0"/>
                <a:cs typeface="72 Monospace" panose="020B0509030603020204" pitchFamily="49" charset="0"/>
              </a:rPr>
              <a:t>  \</a:t>
            </a:r>
            <a:br>
              <a:rPr lang="en-US" dirty="0">
                <a:latin typeface="72 Monospace" panose="020B0509030603020204" pitchFamily="49" charset="0"/>
                <a:cs typeface="72 Monospace" panose="020B0509030603020204" pitchFamily="49" charset="0"/>
              </a:rPr>
            </a:br>
            <a:br>
              <a:rPr lang="en-US" dirty="0">
                <a:latin typeface="72 Monospace" panose="020B0509030603020204" pitchFamily="49" charset="0"/>
                <a:cs typeface="72 Monospace" panose="020B0509030603020204" pitchFamily="49" charset="0"/>
              </a:rPr>
            </a:br>
            <a:r>
              <a:rPr lang="en-US" dirty="0">
                <a:latin typeface="72 Monospace" panose="020B0509030603020204" pitchFamily="49" charset="0"/>
                <a:cs typeface="72 Monospace" panose="020B0509030603020204" pitchFamily="49" charset="0"/>
              </a:rPr>
              <a:t>       --nodes=1 --</a:t>
            </a:r>
            <a:r>
              <a:rPr lang="en-US" dirty="0" err="1">
                <a:latin typeface="72 Monospace" panose="020B0509030603020204" pitchFamily="49" charset="0"/>
                <a:cs typeface="72 Monospace" panose="020B0509030603020204" pitchFamily="49" charset="0"/>
              </a:rPr>
              <a:t>ntasks</a:t>
            </a:r>
            <a:r>
              <a:rPr lang="en-US" dirty="0">
                <a:latin typeface="72 Monospace" panose="020B0509030603020204" pitchFamily="49" charset="0"/>
                <a:cs typeface="72 Monospace" panose="020B0509030603020204" pitchFamily="49" charset="0"/>
              </a:rPr>
              <a:t>=4 --time=01:00:00 --</a:t>
            </a:r>
            <a:r>
              <a:rPr lang="en-US" dirty="0" err="1">
                <a:latin typeface="72 Monospace" panose="020B0509030603020204" pitchFamily="49" charset="0"/>
                <a:cs typeface="72 Monospace" panose="020B0509030603020204" pitchFamily="49" charset="0"/>
              </a:rPr>
              <a:t>pty</a:t>
            </a:r>
            <a:r>
              <a:rPr lang="en-US" dirty="0">
                <a:latin typeface="72 Monospace" panose="020B0509030603020204" pitchFamily="49" charset="0"/>
                <a:cs typeface="72 Monospace" panose="020B0509030603020204" pitchFamily="49" charset="0"/>
              </a:rPr>
              <a:t> bash -l</a:t>
            </a:r>
          </a:p>
        </p:txBody>
      </p:sp>
      <p:grpSp>
        <p:nvGrpSpPr>
          <p:cNvPr id="6" name="Group 5"/>
          <p:cNvGrpSpPr/>
          <p:nvPr/>
        </p:nvGrpSpPr>
        <p:grpSpPr>
          <a:xfrm>
            <a:off x="621408" y="4725144"/>
            <a:ext cx="10875189" cy="1211362"/>
            <a:chOff x="621409" y="3704029"/>
            <a:chExt cx="10875189" cy="1211362"/>
          </a:xfrm>
        </p:grpSpPr>
        <p:sp>
          <p:nvSpPr>
            <p:cNvPr id="15" name="TextBox 14"/>
            <p:cNvSpPr txBox="1"/>
            <p:nvPr/>
          </p:nvSpPr>
          <p:spPr>
            <a:xfrm>
              <a:off x="621409" y="3992061"/>
              <a:ext cx="10875189" cy="923330"/>
            </a:xfrm>
            <a:prstGeom prst="rect">
              <a:avLst/>
            </a:prstGeom>
            <a:noFill/>
            <a:ln>
              <a:solidFill>
                <a:schemeClr val="accent1"/>
              </a:solidFill>
            </a:ln>
          </p:spPr>
          <p:txBody>
            <a:bodyPr wrap="square" rtlCol="0">
              <a:spAutoFit/>
            </a:bodyPr>
            <a:lstStyle/>
            <a:p>
              <a:pPr marL="172800" indent="-324000">
                <a:buClr>
                  <a:srgbClr val="DB6C30"/>
                </a:buClr>
                <a:buFont typeface="Wingdings" panose="05000000000000000000" pitchFamily="2" charset="2"/>
                <a:buChar char="q"/>
              </a:pPr>
              <a:r>
                <a:rPr lang="en-US" dirty="0"/>
                <a:t>Specifying &lt;project name&gt; for credits is mandatory, </a:t>
              </a:r>
              <a:r>
                <a:rPr lang="en-US" i="1" dirty="0"/>
                <a:t>e.g.</a:t>
              </a:r>
              <a:r>
                <a:rPr lang="en-US" dirty="0"/>
                <a:t> </a:t>
              </a:r>
              <a:r>
                <a:rPr lang="en-US" b="1" dirty="0">
                  <a:latin typeface="Courier New" panose="02070309020205020404" pitchFamily="49" charset="0"/>
                  <a:cs typeface="Courier New" panose="02070309020205020404" pitchFamily="49" charset="0"/>
                </a:rPr>
                <a:t>–A </a:t>
              </a:r>
              <a:r>
                <a:rPr lang="en-US" b="1" dirty="0" err="1">
                  <a:latin typeface="Courier New" panose="02070309020205020404" pitchFamily="49" charset="0"/>
                  <a:cs typeface="Courier New" panose="02070309020205020404" pitchFamily="49" charset="0"/>
                </a:rPr>
                <a:t>lp_hpcinfo</a:t>
              </a:r>
              <a:endParaRPr lang="en-US" b="1" dirty="0">
                <a:latin typeface="Courier New" panose="02070309020205020404" pitchFamily="49" charset="0"/>
                <a:cs typeface="Courier New" panose="02070309020205020404" pitchFamily="49" charset="0"/>
              </a:endParaRPr>
            </a:p>
            <a:p>
              <a:pPr marL="172800" indent="-324000">
                <a:buClr>
                  <a:srgbClr val="DB6C30"/>
                </a:buClr>
                <a:buFont typeface="Wingdings" panose="05000000000000000000" pitchFamily="2" charset="2"/>
                <a:buChar char="q"/>
              </a:pPr>
              <a:r>
                <a:rPr lang="en-US" dirty="0"/>
                <a:t>Implicit defaults for an interactive job on </a:t>
              </a:r>
              <a:r>
                <a:rPr lang="en-US" dirty="0" err="1"/>
                <a:t>wICE</a:t>
              </a:r>
              <a:r>
                <a:rPr lang="en-US" dirty="0"/>
                <a:t> are</a:t>
              </a:r>
              <a:br>
                <a:rPr lang="en-US" dirty="0"/>
              </a:br>
              <a:r>
                <a:rPr lang="en-US" dirty="0"/>
                <a:t>   </a:t>
              </a:r>
              <a:r>
                <a:rPr lang="en-US" dirty="0">
                  <a:latin typeface="Courier New" panose="02070309020205020404" pitchFamily="49" charset="0"/>
                  <a:cs typeface="Courier New" panose="02070309020205020404" pitchFamily="49" charset="0"/>
                </a:rPr>
                <a:t>-n 1 -t 01:00:00 –p batch --mem-per-</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=3400M</a:t>
              </a:r>
            </a:p>
          </p:txBody>
        </p:sp>
        <p:sp>
          <p:nvSpPr>
            <p:cNvPr id="4" name="Rectangle 3"/>
            <p:cNvSpPr/>
            <p:nvPr/>
          </p:nvSpPr>
          <p:spPr>
            <a:xfrm>
              <a:off x="10128448" y="3704029"/>
              <a:ext cx="1368150" cy="2880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Remark</a:t>
              </a:r>
              <a:endParaRPr lang="nl-BE" dirty="0"/>
            </a:p>
          </p:txBody>
        </p:sp>
      </p:grpSp>
      <p:grpSp>
        <p:nvGrpSpPr>
          <p:cNvPr id="10" name="Group 9"/>
          <p:cNvGrpSpPr/>
          <p:nvPr/>
        </p:nvGrpSpPr>
        <p:grpSpPr>
          <a:xfrm>
            <a:off x="724948" y="1211085"/>
            <a:ext cx="1555207" cy="1709710"/>
            <a:chOff x="879017" y="1046590"/>
            <a:chExt cx="1515245" cy="1709710"/>
          </a:xfrm>
        </p:grpSpPr>
        <p:sp>
          <p:nvSpPr>
            <p:cNvPr id="3" name="Rectangle 2"/>
            <p:cNvSpPr/>
            <p:nvPr/>
          </p:nvSpPr>
          <p:spPr>
            <a:xfrm>
              <a:off x="879018" y="2452628"/>
              <a:ext cx="673365" cy="303672"/>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7" name="Rectangle 6"/>
            <p:cNvSpPr/>
            <p:nvPr/>
          </p:nvSpPr>
          <p:spPr>
            <a:xfrm>
              <a:off x="879017" y="1046590"/>
              <a:ext cx="1515245" cy="67049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Request an interactive job</a:t>
              </a:r>
              <a:endParaRPr lang="nl-BE" sz="1600" dirty="0"/>
            </a:p>
          </p:txBody>
        </p:sp>
        <p:cxnSp>
          <p:nvCxnSpPr>
            <p:cNvPr id="9" name="Straight Connector 8"/>
            <p:cNvCxnSpPr>
              <a:cxnSpLocks/>
              <a:stCxn id="7" idx="1"/>
              <a:endCxn id="3" idx="1"/>
            </p:cNvCxnSpPr>
            <p:nvPr/>
          </p:nvCxnSpPr>
          <p:spPr>
            <a:xfrm>
              <a:off x="879017" y="1381835"/>
              <a:ext cx="1" cy="122262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1055440" y="3140968"/>
            <a:ext cx="1728191" cy="958181"/>
            <a:chOff x="433703" y="2230094"/>
            <a:chExt cx="1505657" cy="958181"/>
          </a:xfrm>
        </p:grpSpPr>
        <p:sp>
          <p:nvSpPr>
            <p:cNvPr id="23" name="Rectangle 22"/>
            <p:cNvSpPr/>
            <p:nvPr/>
          </p:nvSpPr>
          <p:spPr>
            <a:xfrm>
              <a:off x="791830" y="2230094"/>
              <a:ext cx="1147530"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ectangle 23"/>
            <p:cNvSpPr/>
            <p:nvPr/>
          </p:nvSpPr>
          <p:spPr>
            <a:xfrm>
              <a:off x="433703" y="2657648"/>
              <a:ext cx="1505656" cy="530627"/>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nodes</a:t>
              </a:r>
              <a:endParaRPr lang="nl-BE" sz="1600" dirty="0"/>
            </a:p>
          </p:txBody>
        </p:sp>
        <p:cxnSp>
          <p:nvCxnSpPr>
            <p:cNvPr id="25" name="Straight Connector 24"/>
            <p:cNvCxnSpPr>
              <a:stCxn id="23" idx="1"/>
            </p:cNvCxnSpPr>
            <p:nvPr/>
          </p:nvCxnSpPr>
          <p:spPr>
            <a:xfrm>
              <a:off x="791830" y="2380089"/>
              <a:ext cx="0" cy="26830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8" name="Group 37"/>
          <p:cNvGrpSpPr/>
          <p:nvPr/>
        </p:nvGrpSpPr>
        <p:grpSpPr>
          <a:xfrm>
            <a:off x="1525057" y="1999798"/>
            <a:ext cx="3344837" cy="925146"/>
            <a:chOff x="823792" y="2006313"/>
            <a:chExt cx="3344837" cy="925146"/>
          </a:xfrm>
        </p:grpSpPr>
        <p:sp>
          <p:nvSpPr>
            <p:cNvPr id="39" name="Rectangle 38"/>
            <p:cNvSpPr/>
            <p:nvPr/>
          </p:nvSpPr>
          <p:spPr>
            <a:xfrm>
              <a:off x="823792" y="2619114"/>
              <a:ext cx="3344837" cy="312345"/>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0" name="Rectangle 39"/>
            <p:cNvSpPr/>
            <p:nvPr/>
          </p:nvSpPr>
          <p:spPr>
            <a:xfrm>
              <a:off x="823792" y="2006313"/>
              <a:ext cx="3344837"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Credit account for compute credits</a:t>
              </a:r>
              <a:endParaRPr lang="nl-BE" sz="1600" dirty="0"/>
            </a:p>
          </p:txBody>
        </p:sp>
        <p:cxnSp>
          <p:nvCxnSpPr>
            <p:cNvPr id="41" name="Straight Connector 40"/>
            <p:cNvCxnSpPr>
              <a:stCxn id="40" idx="1"/>
              <a:endCxn id="39" idx="1"/>
            </p:cNvCxnSpPr>
            <p:nvPr/>
          </p:nvCxnSpPr>
          <p:spPr>
            <a:xfrm>
              <a:off x="823792" y="2252862"/>
              <a:ext cx="0" cy="522425"/>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2" name="Group 41"/>
          <p:cNvGrpSpPr/>
          <p:nvPr/>
        </p:nvGrpSpPr>
        <p:grpSpPr>
          <a:xfrm>
            <a:off x="4410631" y="3140968"/>
            <a:ext cx="2102559" cy="935661"/>
            <a:chOff x="1473413" y="3656092"/>
            <a:chExt cx="2374937" cy="935661"/>
          </a:xfrm>
        </p:grpSpPr>
        <p:sp>
          <p:nvSpPr>
            <p:cNvPr id="43" name="Rectangle 42"/>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44" name="Rectangle 43"/>
            <p:cNvSpPr/>
            <p:nvPr/>
          </p:nvSpPr>
          <p:spPr>
            <a:xfrm>
              <a:off x="1474343" y="4098655"/>
              <a:ext cx="1672400"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Max. runtime</a:t>
              </a:r>
              <a:endParaRPr lang="nl-BE" sz="1600" dirty="0"/>
            </a:p>
          </p:txBody>
        </p:sp>
        <p:cxnSp>
          <p:nvCxnSpPr>
            <p:cNvPr id="45" name="Straight Connector 44"/>
            <p:cNvCxnSpPr>
              <a:stCxn id="43" idx="1"/>
              <a:endCxn id="44" idx="1"/>
            </p:cNvCxnSpPr>
            <p:nvPr/>
          </p:nvCxnSpPr>
          <p:spPr>
            <a:xfrm>
              <a:off x="1473413" y="3806087"/>
              <a:ext cx="930" cy="539117"/>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8270910" y="1974283"/>
            <a:ext cx="2145570" cy="965007"/>
            <a:chOff x="-692852" y="61161"/>
            <a:chExt cx="2145570" cy="965007"/>
          </a:xfrm>
        </p:grpSpPr>
        <p:sp>
          <p:nvSpPr>
            <p:cNvPr id="47" name="Rectangle 46"/>
            <p:cNvSpPr/>
            <p:nvPr/>
          </p:nvSpPr>
          <p:spPr>
            <a:xfrm>
              <a:off x="-692852" y="685130"/>
              <a:ext cx="2145570" cy="341038"/>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48" name="Rectangle 47"/>
            <p:cNvSpPr/>
            <p:nvPr/>
          </p:nvSpPr>
          <p:spPr>
            <a:xfrm>
              <a:off x="-692852" y="61161"/>
              <a:ext cx="1557416" cy="51564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Target cluster</a:t>
              </a:r>
              <a:endParaRPr lang="nl-BE" sz="1600" dirty="0"/>
            </a:p>
          </p:txBody>
        </p:sp>
        <p:cxnSp>
          <p:nvCxnSpPr>
            <p:cNvPr id="49" name="Straight Connector 48"/>
            <p:cNvCxnSpPr>
              <a:stCxn id="48" idx="1"/>
              <a:endCxn id="47" idx="1"/>
            </p:cNvCxnSpPr>
            <p:nvPr/>
          </p:nvCxnSpPr>
          <p:spPr>
            <a:xfrm>
              <a:off x="-692852" y="318981"/>
              <a:ext cx="0" cy="53666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12" name="Slide Number Placeholder 11"/>
          <p:cNvSpPr>
            <a:spLocks noGrp="1"/>
          </p:cNvSpPr>
          <p:nvPr>
            <p:ph type="sldNum" sz="quarter" idx="12"/>
          </p:nvPr>
        </p:nvSpPr>
        <p:spPr/>
        <p:txBody>
          <a:bodyPr/>
          <a:lstStyle/>
          <a:p>
            <a:fld id="{F35D8031-C8E5-48F8-A3B6-81643B27A3AF}" type="slidenum">
              <a:rPr lang="nl-BE" smtClean="0"/>
              <a:pPr/>
              <a:t>80</a:t>
            </a:fld>
            <a:endParaRPr lang="nl-BE" dirty="0"/>
          </a:p>
        </p:txBody>
      </p:sp>
      <p:grpSp>
        <p:nvGrpSpPr>
          <p:cNvPr id="16" name="Group 15">
            <a:extLst>
              <a:ext uri="{FF2B5EF4-FFF2-40B4-BE49-F238E27FC236}">
                <a16:creationId xmlns:a16="http://schemas.microsoft.com/office/drawing/2014/main" id="{B9A51221-1611-67D3-99C1-D0A8E739ABE5}"/>
              </a:ext>
            </a:extLst>
          </p:cNvPr>
          <p:cNvGrpSpPr/>
          <p:nvPr/>
        </p:nvGrpSpPr>
        <p:grpSpPr>
          <a:xfrm>
            <a:off x="6578260" y="3140968"/>
            <a:ext cx="1937437" cy="944474"/>
            <a:chOff x="7926263" y="2740918"/>
            <a:chExt cx="1937437" cy="944474"/>
          </a:xfrm>
        </p:grpSpPr>
        <p:sp>
          <p:nvSpPr>
            <p:cNvPr id="8" name="Rectangle 7">
              <a:extLst>
                <a:ext uri="{FF2B5EF4-FFF2-40B4-BE49-F238E27FC236}">
                  <a16:creationId xmlns:a16="http://schemas.microsoft.com/office/drawing/2014/main" id="{34BF0104-EEB4-ACFA-A21E-EE8D3ECA9DF9}"/>
                </a:ext>
              </a:extLst>
            </p:cNvPr>
            <p:cNvSpPr/>
            <p:nvPr/>
          </p:nvSpPr>
          <p:spPr>
            <a:xfrm>
              <a:off x="7926263" y="2740918"/>
              <a:ext cx="1872089"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1" name="Rectangle 10">
              <a:extLst>
                <a:ext uri="{FF2B5EF4-FFF2-40B4-BE49-F238E27FC236}">
                  <a16:creationId xmlns:a16="http://schemas.microsoft.com/office/drawing/2014/main" id="{B14E4F10-B15C-1D8B-EDCE-F62C51EB16ED}"/>
                </a:ext>
              </a:extLst>
            </p:cNvPr>
            <p:cNvSpPr/>
            <p:nvPr/>
          </p:nvSpPr>
          <p:spPr>
            <a:xfrm>
              <a:off x="7926264" y="3183871"/>
              <a:ext cx="1937436"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Interpret with Bash</a:t>
              </a:r>
              <a:endParaRPr lang="nl-BE" sz="1600" dirty="0"/>
            </a:p>
          </p:txBody>
        </p:sp>
        <p:cxnSp>
          <p:nvCxnSpPr>
            <p:cNvPr id="13" name="Straight Connector 12">
              <a:extLst>
                <a:ext uri="{FF2B5EF4-FFF2-40B4-BE49-F238E27FC236}">
                  <a16:creationId xmlns:a16="http://schemas.microsoft.com/office/drawing/2014/main" id="{CF76F412-2AEC-B5D8-4103-1701D2AA3433}"/>
                </a:ext>
              </a:extLst>
            </p:cNvPr>
            <p:cNvCxnSpPr>
              <a:stCxn id="8" idx="1"/>
              <a:endCxn id="11" idx="1"/>
            </p:cNvCxnSpPr>
            <p:nvPr/>
          </p:nvCxnSpPr>
          <p:spPr>
            <a:xfrm>
              <a:off x="7926263" y="2890913"/>
              <a:ext cx="1" cy="54371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B9A51221-1611-67D3-99C1-D0A8E739ABE5}"/>
              </a:ext>
            </a:extLst>
          </p:cNvPr>
          <p:cNvGrpSpPr/>
          <p:nvPr/>
        </p:nvGrpSpPr>
        <p:grpSpPr>
          <a:xfrm>
            <a:off x="4931806" y="1999798"/>
            <a:ext cx="3277191" cy="932859"/>
            <a:chOff x="4122599" y="3047053"/>
            <a:chExt cx="3277191" cy="932859"/>
          </a:xfrm>
        </p:grpSpPr>
        <p:sp>
          <p:nvSpPr>
            <p:cNvPr id="37" name="Rectangle 36">
              <a:extLst>
                <a:ext uri="{FF2B5EF4-FFF2-40B4-BE49-F238E27FC236}">
                  <a16:creationId xmlns:a16="http://schemas.microsoft.com/office/drawing/2014/main" id="{34BF0104-EEB4-ACFA-A21E-EE8D3ECA9DF9}"/>
                </a:ext>
              </a:extLst>
            </p:cNvPr>
            <p:cNvSpPr/>
            <p:nvPr/>
          </p:nvSpPr>
          <p:spPr>
            <a:xfrm>
              <a:off x="4122600" y="3654991"/>
              <a:ext cx="3277190" cy="324921"/>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50" name="Rectangle 49">
              <a:extLst>
                <a:ext uri="{FF2B5EF4-FFF2-40B4-BE49-F238E27FC236}">
                  <a16:creationId xmlns:a16="http://schemas.microsoft.com/office/drawing/2014/main" id="{B14E4F10-B15C-1D8B-EDCE-F62C51EB16ED}"/>
                </a:ext>
              </a:extLst>
            </p:cNvPr>
            <p:cNvSpPr/>
            <p:nvPr/>
          </p:nvSpPr>
          <p:spPr>
            <a:xfrm>
              <a:off x="4122599" y="3047053"/>
              <a:ext cx="2748369"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For special hardware or queue</a:t>
              </a:r>
              <a:endParaRPr lang="nl-BE" sz="1600" dirty="0"/>
            </a:p>
          </p:txBody>
        </p:sp>
        <p:cxnSp>
          <p:nvCxnSpPr>
            <p:cNvPr id="51" name="Straight Connector 50">
              <a:extLst>
                <a:ext uri="{FF2B5EF4-FFF2-40B4-BE49-F238E27FC236}">
                  <a16:creationId xmlns:a16="http://schemas.microsoft.com/office/drawing/2014/main" id="{CF76F412-2AEC-B5D8-4103-1701D2AA3433}"/>
                </a:ext>
              </a:extLst>
            </p:cNvPr>
            <p:cNvCxnSpPr>
              <a:cxnSpLocks/>
              <a:stCxn id="50" idx="1"/>
              <a:endCxn id="37" idx="1"/>
            </p:cNvCxnSpPr>
            <p:nvPr/>
          </p:nvCxnSpPr>
          <p:spPr>
            <a:xfrm>
              <a:off x="4122599" y="3297814"/>
              <a:ext cx="1" cy="51963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5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interactive job on </a:t>
            </a:r>
            <a:r>
              <a:rPr lang="en-US" altLang="en-US" sz="3200" b="1" dirty="0" err="1"/>
              <a:t>wICE</a:t>
            </a:r>
            <a:endParaRPr lang="pl-PL" altLang="en-US" sz="3200" b="1" dirty="0"/>
          </a:p>
        </p:txBody>
      </p:sp>
      <p:grpSp>
        <p:nvGrpSpPr>
          <p:cNvPr id="2" name="Group 1">
            <a:extLst>
              <a:ext uri="{FF2B5EF4-FFF2-40B4-BE49-F238E27FC236}">
                <a16:creationId xmlns:a16="http://schemas.microsoft.com/office/drawing/2014/main" id="{C82A26A0-F64D-8E7D-2C64-092771B250EB}"/>
              </a:ext>
            </a:extLst>
          </p:cNvPr>
          <p:cNvGrpSpPr/>
          <p:nvPr/>
        </p:nvGrpSpPr>
        <p:grpSpPr>
          <a:xfrm>
            <a:off x="2852918" y="3155116"/>
            <a:ext cx="1491822" cy="1463169"/>
            <a:chOff x="1473413" y="3656092"/>
            <a:chExt cx="2374937" cy="1463169"/>
          </a:xfrm>
        </p:grpSpPr>
        <p:sp>
          <p:nvSpPr>
            <p:cNvPr id="14" name="Rectangle 13">
              <a:extLst>
                <a:ext uri="{FF2B5EF4-FFF2-40B4-BE49-F238E27FC236}">
                  <a16:creationId xmlns:a16="http://schemas.microsoft.com/office/drawing/2014/main" id="{17260FFB-543F-5A90-410B-AEEA7C8F76D7}"/>
                </a:ext>
              </a:extLst>
            </p:cNvPr>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17" name="Rectangle 16">
              <a:extLst>
                <a:ext uri="{FF2B5EF4-FFF2-40B4-BE49-F238E27FC236}">
                  <a16:creationId xmlns:a16="http://schemas.microsoft.com/office/drawing/2014/main" id="{C742DFD9-36B9-57BD-3B31-57A055D86FCD}"/>
                </a:ext>
              </a:extLst>
            </p:cNvPr>
            <p:cNvSpPr/>
            <p:nvPr/>
          </p:nvSpPr>
          <p:spPr>
            <a:xfrm>
              <a:off x="1474341" y="4098655"/>
              <a:ext cx="2355752" cy="1020606"/>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processes or cores</a:t>
              </a:r>
              <a:endParaRPr lang="nl-BE" sz="1600" dirty="0"/>
            </a:p>
          </p:txBody>
        </p:sp>
        <p:cxnSp>
          <p:nvCxnSpPr>
            <p:cNvPr id="18" name="Straight Connector 17">
              <a:extLst>
                <a:ext uri="{FF2B5EF4-FFF2-40B4-BE49-F238E27FC236}">
                  <a16:creationId xmlns:a16="http://schemas.microsoft.com/office/drawing/2014/main" id="{470322BD-7A87-B5CA-C148-3C8CFAD26962}"/>
                </a:ext>
              </a:extLst>
            </p:cNvPr>
            <p:cNvCxnSpPr>
              <a:cxnSpLocks/>
              <a:stCxn id="14" idx="1"/>
              <a:endCxn id="17" idx="1"/>
            </p:cNvCxnSpPr>
            <p:nvPr/>
          </p:nvCxnSpPr>
          <p:spPr>
            <a:xfrm>
              <a:off x="1473413" y="3806087"/>
              <a:ext cx="928" cy="802871"/>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28331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3361750290"/>
              </p:ext>
            </p:extLst>
          </p:nvPr>
        </p:nvGraphicFramePr>
        <p:xfrm>
          <a:off x="108155" y="1124744"/>
          <a:ext cx="12015019" cy="5245738"/>
        </p:xfrm>
        <a:graphic>
          <a:graphicData uri="http://schemas.openxmlformats.org/drawingml/2006/table">
            <a:tbl>
              <a:tblPr firstRow="1" firstCol="1" bandRow="1">
                <a:tableStyleId>{B301B821-A1FF-4177-AEE7-76D212191A09}</a:tableStyleId>
              </a:tblPr>
              <a:tblGrid>
                <a:gridCol w="6779933">
                  <a:extLst>
                    <a:ext uri="{9D8B030D-6E8A-4147-A177-3AD203B41FA5}">
                      <a16:colId xmlns:a16="http://schemas.microsoft.com/office/drawing/2014/main" val="1674356392"/>
                    </a:ext>
                  </a:extLst>
                </a:gridCol>
                <a:gridCol w="5235086">
                  <a:extLst>
                    <a:ext uri="{9D8B030D-6E8A-4147-A177-3AD203B41FA5}">
                      <a16:colId xmlns:a16="http://schemas.microsoft.com/office/drawing/2014/main" val="745218725"/>
                    </a:ext>
                  </a:extLst>
                </a:gridCol>
              </a:tblGrid>
              <a:tr h="406280">
                <a:tc>
                  <a:txBody>
                    <a:bodyPr/>
                    <a:lstStyle/>
                    <a:p>
                      <a:pPr>
                        <a:spcAft>
                          <a:spcPts val="0"/>
                        </a:spcAft>
                      </a:pPr>
                      <a:r>
                        <a:rPr lang="en-US" sz="1800" b="1" dirty="0">
                          <a:effectLst/>
                        </a:rPr>
                        <a:t>Command</a:t>
                      </a:r>
                      <a:endParaRPr lang="en-GB" sz="2000" b="1" dirty="0">
                        <a:effectLst/>
                        <a:latin typeface="Times New Roman" panose="02020603050405020304" pitchFamily="18" charset="0"/>
                        <a:ea typeface="Calibri" panose="020F0502020204030204" pitchFamily="34" charset="0"/>
                      </a:endParaRPr>
                    </a:p>
                  </a:txBody>
                  <a:tcPr/>
                </a:tc>
                <a:tc>
                  <a:txBody>
                    <a:bodyPr/>
                    <a:lstStyle/>
                    <a:p>
                      <a:pPr>
                        <a:spcAft>
                          <a:spcPts val="0"/>
                        </a:spcAft>
                      </a:pPr>
                      <a:r>
                        <a:rPr lang="en-US" sz="1800" b="1" dirty="0">
                          <a:effectLst/>
                        </a:rPr>
                        <a:t>Purpose</a:t>
                      </a:r>
                      <a:endParaRPr lang="en-GB" sz="2000" b="1" dirty="0">
                        <a:effectLst/>
                        <a:latin typeface="Times New Roman" panose="02020603050405020304" pitchFamily="18" charset="0"/>
                        <a:ea typeface="Calibri" panose="020F0502020204030204" pitchFamily="34" charset="0"/>
                      </a:endParaRPr>
                    </a:p>
                  </a:txBody>
                  <a:tcPr/>
                </a:tc>
                <a:extLst>
                  <a:ext uri="{0D108BD9-81ED-4DB2-BD59-A6C34878D82A}">
                    <a16:rowId xmlns:a16="http://schemas.microsoft.com/office/drawing/2014/main" val="151709603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sbatch</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690343910"/>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srun</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an interactive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233525469"/>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scancel</a:t>
                      </a:r>
                      <a:r>
                        <a:rPr lang="en-US" sz="1800" b="0" dirty="0">
                          <a:effectLst/>
                          <a:latin typeface="72 Monospace" panose="020B0509030603020204" pitchFamily="49" charset="0"/>
                          <a:cs typeface="72 Monospace" panose="020B0509030603020204" pitchFamily="49" charset="0"/>
                        </a:rPr>
                        <a:t> --cluster=</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Cancel a specific pending or running job </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192131618"/>
                  </a:ext>
                </a:extLst>
              </a:tr>
              <a:tr h="710991">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scontrol</a:t>
                      </a:r>
                      <a:r>
                        <a:rPr lang="en-US" sz="1800" b="0" dirty="0">
                          <a:effectLst/>
                          <a:latin typeface="72 Monospace" panose="020B0509030603020204" pitchFamily="49" charset="0"/>
                          <a:cs typeface="72 Monospace" panose="020B0509030603020204" pitchFamily="49" charset="0"/>
                        </a:rPr>
                        <a:t> show job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cs typeface="72 Monospace" panose="020B0509030603020204" pitchFamily="49" charset="0"/>
                      </a:endParaRPr>
                    </a:p>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slurm_jobinfo</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job info (very useful to diagnose issues)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87159822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--long</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Status of all recent jobs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8016296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--start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Give a rough estimate of when your jobs will start</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48600807"/>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sinfo</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Info about the state of available partitions and nodes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7826251"/>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sacct</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--batch --job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Show the </a:t>
                      </a:r>
                      <a:r>
                        <a:rPr lang="en-US" sz="1800" b="0" dirty="0" err="1">
                          <a:effectLst/>
                        </a:rPr>
                        <a:t>jobscript</a:t>
                      </a:r>
                      <a:r>
                        <a:rPr lang="en-US" sz="1800" b="0" dirty="0">
                          <a:effectLst/>
                        </a:rPr>
                        <a:t> used for a given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998208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slurmtop</a:t>
                      </a:r>
                      <a:endParaRPr lang="en-GB" sz="2000" b="0" dirty="0">
                        <a:effectLst/>
                        <a:latin typeface="72 Monospace" panose="020B0509030603020204" pitchFamily="49" charset="0"/>
                        <a:cs typeface="72 Monospace" panose="020B0509030603020204" pitchFamily="49" charset="0"/>
                      </a:endParaRPr>
                    </a:p>
                  </a:txBody>
                  <a:tcPr anchor="ctr"/>
                </a:tc>
                <a:tc>
                  <a:txBody>
                    <a:bodyPr/>
                    <a:lstStyle/>
                    <a:p>
                      <a:pPr>
                        <a:spcAft>
                          <a:spcPts val="0"/>
                        </a:spcAft>
                      </a:pPr>
                      <a:r>
                        <a:rPr lang="en-US" sz="1800" b="0" dirty="0">
                          <a:effectLst/>
                        </a:rPr>
                        <a:t>Overview of the cluster</a:t>
                      </a:r>
                      <a:endParaRPr lang="en-GB" sz="1800" b="0" dirty="0">
                        <a:effectLst/>
                      </a:endParaRPr>
                    </a:p>
                  </a:txBody>
                  <a:tcPr anchor="ctr"/>
                </a:tc>
                <a:extLst>
                  <a:ext uri="{0D108BD9-81ED-4DB2-BD59-A6C34878D82A}">
                    <a16:rowId xmlns:a16="http://schemas.microsoft.com/office/drawing/2014/main" val="2568071451"/>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-balance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Overview of all your available credit projects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090533005"/>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-list-allocations</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overview of your credit allocation history</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700031654"/>
                  </a:ext>
                </a:extLst>
              </a:tr>
            </a:tbl>
          </a:graphicData>
        </a:graphic>
      </p:graphicFrame>
      <p:sp>
        <p:nvSpPr>
          <p:cNvPr id="6"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81</a:t>
            </a:fld>
            <a:endParaRPr lang="en-US" dirty="0"/>
          </a:p>
        </p:txBody>
      </p:sp>
      <p:sp>
        <p:nvSpPr>
          <p:cNvPr id="2" name="Rectangle 2">
            <a:extLst>
              <a:ext uri="{FF2B5EF4-FFF2-40B4-BE49-F238E27FC236}">
                <a16:creationId xmlns:a16="http://schemas.microsoft.com/office/drawing/2014/main" id="{5775C8CF-D572-58DF-3EC7-BA40776E3BD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command-line tools</a:t>
            </a:r>
          </a:p>
        </p:txBody>
      </p:sp>
    </p:spTree>
    <p:extLst>
      <p:ext uri="{BB962C8B-B14F-4D97-AF65-F5344CB8AC3E}">
        <p14:creationId xmlns:p14="http://schemas.microsoft.com/office/powerpoint/2010/main" val="9182096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82</a:t>
            </a:fld>
            <a:endParaRPr lang="en-US" dirty="0"/>
          </a:p>
        </p:txBody>
      </p:sp>
      <p:graphicFrame>
        <p:nvGraphicFramePr>
          <p:cNvPr id="5" name="Tabel 4">
            <a:extLst>
              <a:ext uri="{FF2B5EF4-FFF2-40B4-BE49-F238E27FC236}">
                <a16:creationId xmlns:a16="http://schemas.microsoft.com/office/drawing/2014/main" id="{5E0E3581-424C-6925-32BC-119B91BC4FCE}"/>
              </a:ext>
            </a:extLst>
          </p:cNvPr>
          <p:cNvGraphicFramePr>
            <a:graphicFrameLocks noGrp="1"/>
          </p:cNvGraphicFramePr>
          <p:nvPr>
            <p:extLst>
              <p:ext uri="{D42A27DB-BD31-4B8C-83A1-F6EECF244321}">
                <p14:modId xmlns:p14="http://schemas.microsoft.com/office/powerpoint/2010/main" val="452057815"/>
              </p:ext>
            </p:extLst>
          </p:nvPr>
        </p:nvGraphicFramePr>
        <p:xfrm>
          <a:off x="912303" y="1010812"/>
          <a:ext cx="9865096" cy="5468542"/>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85475">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2521532997"/>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5000M (Genius)</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453872895"/>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lvl="0">
                        <a:buNone/>
                      </a:pPr>
                      <a:r>
                        <a:rPr lang="nl-NL" sz="2000" b="0" i="0" u="none" strike="noStrike" noProof="0" dirty="0">
                          <a:latin typeface="Courier New"/>
                        </a:rPr>
                        <a:t>--error=&lt;</a:t>
                      </a:r>
                      <a:r>
                        <a:rPr lang="nl-NL" sz="2000" b="0" i="0" u="none" strike="noStrike" noProof="0" dirty="0" err="1">
                          <a:latin typeface="Courier New"/>
                        </a:rPr>
                        <a:t>file_template</a:t>
                      </a:r>
                      <a:r>
                        <a:rPr lang="nl-NL" sz="2000" b="0" i="0" u="none" strike="noStrike" noProof="0" dirty="0">
                          <a:latin typeface="Courier New"/>
                        </a:rPr>
                        <a:t>&gt;</a:t>
                      </a:r>
                      <a:endParaRPr lang="nl-NL" sz="2000" dirty="0" err="1">
                        <a:solidFill>
                          <a:schemeClr val="tx1"/>
                        </a:solidFill>
                        <a:latin typeface="FlandersArtSans-Regular"/>
                      </a:endParaRPr>
                    </a:p>
                  </a:txBody>
                  <a:tcPr anchor="ctr"/>
                </a:tc>
                <a:tc>
                  <a:txBody>
                    <a:bodyPr/>
                    <a:lstStyle/>
                    <a:p>
                      <a:pPr lvl="0">
                        <a:buNone/>
                      </a:pPr>
                      <a:r>
                        <a:rPr lang="nl-NL" sz="2000" kern="1200" noProof="0" dirty="0">
                          <a:solidFill>
                            <a:schemeClr val="tx1"/>
                          </a:solidFill>
                          <a:latin typeface="+mn-lt"/>
                          <a:ea typeface="+mn-ea"/>
                          <a:cs typeface="+mn-cs"/>
                        </a:rPr>
                        <a:t>D</a:t>
                      </a:r>
                      <a:r>
                        <a:rPr lang="nl-NL" sz="2000" kern="1200" dirty="0" err="1">
                          <a:solidFill>
                            <a:schemeClr val="tx1"/>
                          </a:solidFill>
                          <a:latin typeface="+mn-lt"/>
                          <a:ea typeface="+mn-ea"/>
                          <a:cs typeface="+mn-cs"/>
                        </a:rPr>
                        <a:t>ef</a:t>
                      </a:r>
                      <a:r>
                        <a:rPr lang="nl-NL" sz="2000" dirty="0" err="1">
                          <a:solidFill>
                            <a:schemeClr val="tx1"/>
                          </a:solidFill>
                          <a:latin typeface="+mn-lt"/>
                        </a:rPr>
                        <a:t>ault</a:t>
                      </a:r>
                      <a:r>
                        <a:rPr lang="nl-NL" sz="2000" dirty="0">
                          <a:solidFill>
                            <a:schemeClr val="tx1"/>
                          </a:solidFill>
                          <a:latin typeface="+mn-lt"/>
                        </a:rPr>
                        <a:t>: </a:t>
                      </a:r>
                      <a:r>
                        <a:rPr lang="nl-NL" sz="2000" dirty="0" err="1">
                          <a:solidFill>
                            <a:schemeClr val="tx1"/>
                          </a:solidFill>
                          <a:latin typeface="+mn-lt"/>
                        </a:rPr>
                        <a:t>redirect</a:t>
                      </a:r>
                      <a:r>
                        <a:rPr lang="nl-NL" sz="2000" dirty="0">
                          <a:solidFill>
                            <a:schemeClr val="tx1"/>
                          </a:solidFill>
                          <a:latin typeface="+mn-lt"/>
                        </a:rPr>
                        <a:t> </a:t>
                      </a:r>
                      <a:r>
                        <a:rPr lang="nl-NL" sz="2000" dirty="0" err="1">
                          <a:solidFill>
                            <a:schemeClr val="tx1"/>
                          </a:solidFill>
                          <a:latin typeface="+mn-lt"/>
                        </a:rPr>
                        <a:t>to</a:t>
                      </a:r>
                      <a:r>
                        <a:rPr lang="nl-NL" sz="2000" dirty="0">
                          <a:solidFill>
                            <a:schemeClr val="tx1"/>
                          </a:solidFill>
                          <a:latin typeface="+mn-lt"/>
                        </a:rPr>
                        <a:t> STDOUT</a:t>
                      </a:r>
                      <a:endParaRPr lang="nl-NL" sz="2000" dirty="0">
                        <a:solidFill>
                          <a:schemeClr val="tx1"/>
                        </a:solidFill>
                        <a:latin typeface="FlandersArtSans-Regular"/>
                      </a:endParaRPr>
                    </a:p>
                  </a:txBody>
                  <a:tcPr anchor="ctr"/>
                </a:tc>
                <a:extLst>
                  <a:ext uri="{0D108BD9-81ED-4DB2-BD59-A6C34878D82A}">
                    <a16:rowId xmlns:a16="http://schemas.microsoft.com/office/drawing/2014/main" val="978844607"/>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t>Credit account (</a:t>
                      </a:r>
                      <a:r>
                        <a:rPr lang="nl-NL" sz="2000" b="0" i="0" u="none" strike="noStrike" noProof="0" dirty="0" err="1"/>
                        <a:t>mandatory</a:t>
                      </a:r>
                      <a:r>
                        <a:rPr lang="nl-NL" sz="2000" b="0" i="0" u="none" strike="noStrike" noProof="0" dirty="0"/>
                        <a:t>)</a:t>
                      </a:r>
                    </a:p>
                  </a:txBody>
                  <a:tcPr/>
                </a:tc>
                <a:extLst>
                  <a:ext uri="{0D108BD9-81ED-4DB2-BD59-A6C34878D82A}">
                    <a16:rowId xmlns:a16="http://schemas.microsoft.com/office/drawing/2014/main" val="911817103"/>
                  </a:ext>
                </a:extLst>
              </a:tr>
            </a:tbl>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82</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267109929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8FC6-DCFA-8608-0A4B-7F6A96028491}"/>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1F239218-4C82-6E3E-D130-C43909A6D85D}"/>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83</a:t>
            </a:fld>
            <a:endParaRPr lang="en-US" dirty="0"/>
          </a:p>
        </p:txBody>
      </p:sp>
      <p:graphicFrame>
        <p:nvGraphicFramePr>
          <p:cNvPr id="5" name="Tabel 4">
            <a:extLst>
              <a:ext uri="{FF2B5EF4-FFF2-40B4-BE49-F238E27FC236}">
                <a16:creationId xmlns:a16="http://schemas.microsoft.com/office/drawing/2014/main" id="{EE168ED7-2E10-FAC2-3F78-F447D7EFEDC6}"/>
              </a:ext>
            </a:extLst>
          </p:cNvPr>
          <p:cNvGraphicFramePr>
            <a:graphicFrameLocks noGrp="1"/>
          </p:cNvGraphicFramePr>
          <p:nvPr>
            <p:extLst>
              <p:ext uri="{D42A27DB-BD31-4B8C-83A1-F6EECF244321}">
                <p14:modId xmlns:p14="http://schemas.microsoft.com/office/powerpoint/2010/main" val="1174942935"/>
              </p:ext>
            </p:extLst>
          </p:nvPr>
        </p:nvGraphicFramePr>
        <p:xfrm>
          <a:off x="912303" y="1010812"/>
          <a:ext cx="9865096" cy="5196898"/>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437772">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Mandatory</a:t>
                      </a:r>
                      <a:r>
                        <a:rPr lang="nl-NL" sz="2000" b="0" i="0" u="none" strike="noStrike" noProof="0" dirty="0"/>
                        <a:t> (</a:t>
                      </a:r>
                      <a:r>
                        <a:rPr lang="nl-NL" sz="2000" b="0" i="0" u="none" strike="noStrike" noProof="0" dirty="0" err="1"/>
                        <a:t>credits</a:t>
                      </a:r>
                      <a:r>
                        <a:rPr lang="nl-NL" sz="2000" b="0" i="0" u="none" strike="noStrike" noProof="0" dirty="0"/>
                        <a:t>)</a:t>
                      </a:r>
                    </a:p>
                  </a:txBody>
                  <a:tcPr/>
                </a:tc>
                <a:extLst>
                  <a:ext uri="{0D108BD9-81ED-4DB2-BD59-A6C34878D82A}">
                    <a16:rowId xmlns:a16="http://schemas.microsoft.com/office/drawing/2014/main" val="27775940"/>
                  </a:ext>
                </a:extLst>
              </a:tr>
              <a:tr h="437772">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4077070776"/>
                  </a:ext>
                </a:extLst>
              </a:tr>
              <a:tr h="437772">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3434436885"/>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5000M (Genius)</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STDOUT+STDERR;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bl>
          </a:graphicData>
        </a:graphic>
      </p:graphicFrame>
      <p:sp>
        <p:nvSpPr>
          <p:cNvPr id="6" name="Slide Number Placeholder 4">
            <a:extLst>
              <a:ext uri="{FF2B5EF4-FFF2-40B4-BE49-F238E27FC236}">
                <a16:creationId xmlns:a16="http://schemas.microsoft.com/office/drawing/2014/main" id="{373EAAE2-0C86-4130-41CA-437982AF382C}"/>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83</a:t>
            </a:fld>
            <a:endParaRPr lang="nl-BE" sz="900" dirty="0">
              <a:solidFill>
                <a:schemeClr val="bg1"/>
              </a:solidFill>
            </a:endParaRPr>
          </a:p>
        </p:txBody>
      </p:sp>
      <p:sp>
        <p:nvSpPr>
          <p:cNvPr id="7" name="Rectangle 2">
            <a:extLst>
              <a:ext uri="{FF2B5EF4-FFF2-40B4-BE49-F238E27FC236}">
                <a16:creationId xmlns:a16="http://schemas.microsoft.com/office/drawing/2014/main" id="{55D6C00D-DA48-2ED6-5F1C-40A590A8ABC9}"/>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391117886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2912448-FEEC-49E8-9588-2DF1F90D57C2}" type="slidenum">
              <a:rPr lang="en-US" smtClean="0"/>
              <a:t>84</a:t>
            </a:fld>
            <a:endParaRPr lang="en-US" dirty="0"/>
          </a:p>
        </p:txBody>
      </p:sp>
      <p:graphicFrame>
        <p:nvGraphicFramePr>
          <p:cNvPr id="2" name="Table 3">
            <a:extLst>
              <a:ext uri="{FF2B5EF4-FFF2-40B4-BE49-F238E27FC236}">
                <a16:creationId xmlns:a16="http://schemas.microsoft.com/office/drawing/2014/main" id="{BF623C29-41CE-454E-8F80-63F1D33A16A0}"/>
              </a:ext>
            </a:extLst>
          </p:cNvPr>
          <p:cNvGraphicFramePr>
            <a:graphicFrameLocks noGrp="1"/>
          </p:cNvGraphicFramePr>
          <p:nvPr>
            <p:extLst>
              <p:ext uri="{D42A27DB-BD31-4B8C-83A1-F6EECF244321}">
                <p14:modId xmlns:p14="http://schemas.microsoft.com/office/powerpoint/2010/main" val="1421494752"/>
              </p:ext>
            </p:extLst>
          </p:nvPr>
        </p:nvGraphicFramePr>
        <p:xfrm>
          <a:off x="3273624" y="1052736"/>
          <a:ext cx="8006952" cy="5090160"/>
        </p:xfrm>
        <a:graphic>
          <a:graphicData uri="http://schemas.openxmlformats.org/drawingml/2006/table">
            <a:tbl>
              <a:tblPr firstRow="1" bandRow="1">
                <a:tableStyleId>{5C22544A-7EE6-4342-B048-85BDC9FD1C3A}</a:tableStyleId>
              </a:tblPr>
              <a:tblGrid>
                <a:gridCol w="1209708">
                  <a:extLst>
                    <a:ext uri="{9D8B030D-6E8A-4147-A177-3AD203B41FA5}">
                      <a16:colId xmlns:a16="http://schemas.microsoft.com/office/drawing/2014/main" val="4094831941"/>
                    </a:ext>
                  </a:extLst>
                </a:gridCol>
                <a:gridCol w="2557279">
                  <a:extLst>
                    <a:ext uri="{9D8B030D-6E8A-4147-A177-3AD203B41FA5}">
                      <a16:colId xmlns:a16="http://schemas.microsoft.com/office/drawing/2014/main" val="451435011"/>
                    </a:ext>
                  </a:extLst>
                </a:gridCol>
                <a:gridCol w="4239965">
                  <a:extLst>
                    <a:ext uri="{9D8B030D-6E8A-4147-A177-3AD203B41FA5}">
                      <a16:colId xmlns:a16="http://schemas.microsoft.com/office/drawing/2014/main" val="3177777384"/>
                    </a:ext>
                  </a:extLst>
                </a:gridCol>
              </a:tblGrid>
              <a:tr h="375780">
                <a:tc>
                  <a:txBody>
                    <a:bodyPr/>
                    <a:lstStyle/>
                    <a:p>
                      <a:r>
                        <a:rPr lang="en-US" sz="1800" dirty="0"/>
                        <a:t>Short version</a:t>
                      </a:r>
                      <a:endParaRPr lang="nl-BE" sz="1800" dirty="0"/>
                    </a:p>
                  </a:txBody>
                  <a:tcPr/>
                </a:tc>
                <a:tc>
                  <a:txBody>
                    <a:bodyPr/>
                    <a:lstStyle/>
                    <a:p>
                      <a:r>
                        <a:rPr lang="en-US" sz="1800" dirty="0"/>
                        <a:t>Long</a:t>
                      </a:r>
                      <a:br>
                        <a:rPr lang="en-US" sz="1800" dirty="0"/>
                      </a:br>
                      <a:r>
                        <a:rPr lang="en-US" sz="1800" dirty="0"/>
                        <a:t>version</a:t>
                      </a:r>
                      <a:endParaRPr lang="nl-BE" sz="1800" dirty="0"/>
                    </a:p>
                  </a:txBody>
                  <a:tcPr/>
                </a:tc>
                <a:tc>
                  <a:txBody>
                    <a:bodyPr/>
                    <a:lstStyle/>
                    <a:p>
                      <a:r>
                        <a:rPr lang="en-US" sz="1800" dirty="0"/>
                        <a:t>Meaning</a:t>
                      </a:r>
                      <a:endParaRPr lang="nl-BE" sz="1800" dirty="0"/>
                    </a:p>
                  </a:txBody>
                  <a:tcPr/>
                </a:tc>
                <a:extLst>
                  <a:ext uri="{0D108BD9-81ED-4DB2-BD59-A6C34878D82A}">
                    <a16:rowId xmlns:a16="http://schemas.microsoft.com/office/drawing/2014/main" val="400236656"/>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--account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err="1"/>
                        <a:t>Slurm</a:t>
                      </a:r>
                      <a:r>
                        <a:rPr lang="en-US" sz="1800" dirty="0"/>
                        <a:t> account name</a:t>
                      </a:r>
                      <a:endParaRPr lang="nl-BE" sz="1800" dirty="0"/>
                    </a:p>
                  </a:txBody>
                  <a:tcPr/>
                </a:tc>
                <a:extLst>
                  <a:ext uri="{0D108BD9-81ED-4DB2-BD59-A6C34878D82A}">
                    <a16:rowId xmlns:a16="http://schemas.microsoft.com/office/drawing/2014/main" val="1057992077"/>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--array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array range</a:t>
                      </a:r>
                      <a:endParaRPr lang="nl-BE" sz="1800" dirty="0"/>
                    </a:p>
                  </a:txBody>
                  <a:tcPr/>
                </a:tc>
                <a:extLst>
                  <a:ext uri="{0D108BD9-81ED-4DB2-BD59-A6C34878D82A}">
                    <a16:rowId xmlns:a16="http://schemas.microsoft.com/office/drawing/2014/main" val="872792786"/>
                  </a:ext>
                </a:extLst>
              </a:tr>
              <a:tr h="370840">
                <a:tc>
                  <a:txBody>
                    <a:bodyPr/>
                    <a:lstStyle/>
                    <a:p>
                      <a:r>
                        <a:rPr lang="en-US" sz="1800" dirty="0">
                          <a:latin typeface="Courier New" panose="02070309020205020404" pitchFamily="49" charset="0"/>
                          <a:cs typeface="Courier New" panose="02070309020205020404" pitchFamily="49" charset="0"/>
                        </a:rPr>
                        <a:t>-M</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--clusters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Cluster name</a:t>
                      </a:r>
                      <a:endParaRPr lang="nl-BE" sz="1800" dirty="0"/>
                    </a:p>
                  </a:txBody>
                  <a:tcPr/>
                </a:tc>
                <a:extLst>
                  <a:ext uri="{0D108BD9-81ED-4DB2-BD59-A6C34878D82A}">
                    <a16:rowId xmlns:a16="http://schemas.microsoft.com/office/drawing/2014/main" val="3927229"/>
                  </a:ext>
                </a:extLst>
              </a:tr>
              <a:tr h="370840">
                <a:tc>
                  <a:txBody>
                    <a:bodyPr/>
                    <a:lstStyle/>
                    <a:p>
                      <a:r>
                        <a:rPr lang="en-US" sz="1800" dirty="0">
                          <a:latin typeface="Courier New" panose="02070309020205020404" pitchFamily="49" charset="0"/>
                          <a:cs typeface="Courier New" panose="02070309020205020404" pitchFamily="49" charset="0"/>
                        </a:rPr>
                        <a:t>-c</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cpus</a:t>
                      </a:r>
                      <a:r>
                        <a:rPr lang="en-US" sz="1800" dirty="0">
                          <a:latin typeface="Courier New" panose="02070309020205020404" pitchFamily="49" charset="0"/>
                          <a:cs typeface="Courier New" panose="02070309020205020404" pitchFamily="49" charset="0"/>
                        </a:rPr>
                        <a:t>-per-task</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Number of cores per task (default: 1)</a:t>
                      </a:r>
                      <a:endParaRPr lang="nl-BE" sz="1800" dirty="0"/>
                    </a:p>
                  </a:txBody>
                  <a:tcPr/>
                </a:tc>
                <a:extLst>
                  <a:ext uri="{0D108BD9-81ED-4DB2-BD59-A6C34878D82A}">
                    <a16:rowId xmlns:a16="http://schemas.microsoft.com/office/drawing/2014/main" val="1825499147"/>
                  </a:ext>
                </a:extLst>
              </a:tr>
              <a:tr h="370840">
                <a:tc>
                  <a:txBody>
                    <a:bodyPr/>
                    <a:lstStyle/>
                    <a:p>
                      <a:r>
                        <a:rPr lang="en-US" sz="1800" dirty="0">
                          <a:latin typeface="Courier New" panose="02070309020205020404" pitchFamily="49" charset="0"/>
                          <a:cs typeface="Courier New" panose="02070309020205020404" pitchFamily="49" charset="0"/>
                        </a:rPr>
                        <a:t>-d</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--dependency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dependency (after, </a:t>
                      </a:r>
                      <a:r>
                        <a:rPr lang="en-US" sz="1800" dirty="0" err="1"/>
                        <a:t>afterok</a:t>
                      </a:r>
                      <a:r>
                        <a:rPr lang="en-US" sz="1800" dirty="0"/>
                        <a:t>, </a:t>
                      </a:r>
                      <a:r>
                        <a:rPr lang="en-US" sz="1800" dirty="0" err="1"/>
                        <a:t>afterany</a:t>
                      </a:r>
                      <a:r>
                        <a:rPr lang="en-US" sz="1800" dirty="0"/>
                        <a:t>, …)</a:t>
                      </a:r>
                      <a:endParaRPr lang="nl-BE" sz="1800" dirty="0"/>
                    </a:p>
                  </a:txBody>
                  <a:tcPr/>
                </a:tc>
                <a:extLst>
                  <a:ext uri="{0D108BD9-81ED-4DB2-BD59-A6C34878D82A}">
                    <a16:rowId xmlns:a16="http://schemas.microsoft.com/office/drawing/2014/main" val="3292799591"/>
                  </a:ext>
                </a:extLst>
              </a:tr>
              <a:tr h="370840">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i</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--input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STDIN filename</a:t>
                      </a:r>
                      <a:endParaRPr lang="nl-BE" sz="1800" dirty="0"/>
                    </a:p>
                  </a:txBody>
                  <a:tcPr/>
                </a:tc>
                <a:extLst>
                  <a:ext uri="{0D108BD9-81ED-4DB2-BD59-A6C34878D82A}">
                    <a16:rowId xmlns:a16="http://schemas.microsoft.com/office/drawing/2014/main" val="4209992204"/>
                  </a:ext>
                </a:extLst>
              </a:tr>
              <a:tr h="370840">
                <a:tc>
                  <a:txBody>
                    <a:bodyPr/>
                    <a:lstStyle/>
                    <a:p>
                      <a:r>
                        <a:rPr lang="en-US" sz="1800" dirty="0">
                          <a:latin typeface="Courier New" panose="02070309020205020404" pitchFamily="49" charset="0"/>
                          <a:cs typeface="Courier New" panose="02070309020205020404" pitchFamily="49" charset="0"/>
                        </a:rPr>
                        <a:t>-e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--error</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STDERR filename</a:t>
                      </a:r>
                      <a:endParaRPr lang="nl-BE" sz="1800" dirty="0"/>
                    </a:p>
                  </a:txBody>
                  <a:tcPr/>
                </a:tc>
                <a:extLst>
                  <a:ext uri="{0D108BD9-81ED-4DB2-BD59-A6C34878D82A}">
                    <a16:rowId xmlns:a16="http://schemas.microsoft.com/office/drawing/2014/main" val="483209916"/>
                  </a:ext>
                </a:extLst>
              </a:tr>
              <a:tr h="370840">
                <a:tc>
                  <a:txBody>
                    <a:bodyPr/>
                    <a:lstStyle/>
                    <a:p>
                      <a:r>
                        <a:rPr lang="en-US" sz="1800" dirty="0">
                          <a:latin typeface="Courier New" panose="02070309020205020404" pitchFamily="49" charset="0"/>
                          <a:cs typeface="Courier New" panose="02070309020205020404" pitchFamily="49" charset="0"/>
                        </a:rPr>
                        <a:t>-o</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--output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STDOUT filename</a:t>
                      </a:r>
                      <a:endParaRPr lang="nl-BE" sz="1800" dirty="0"/>
                    </a:p>
                  </a:txBody>
                  <a:tcPr/>
                </a:tc>
                <a:extLst>
                  <a:ext uri="{0D108BD9-81ED-4DB2-BD59-A6C34878D82A}">
                    <a16:rowId xmlns:a16="http://schemas.microsoft.com/office/drawing/2014/main" val="3035702464"/>
                  </a:ext>
                </a:extLst>
              </a:tr>
              <a:tr h="370840">
                <a:tc>
                  <a:txBody>
                    <a:bodyPr/>
                    <a:lstStyle/>
                    <a:p>
                      <a:r>
                        <a:rPr lang="en-US" sz="1800" dirty="0">
                          <a:latin typeface="Courier New" panose="02070309020205020404" pitchFamily="49" charset="0"/>
                          <a:cs typeface="Courier New" panose="02070309020205020404" pitchFamily="49" charset="0"/>
                        </a:rPr>
                        <a:t>-t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--time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a:t>
                      </a:r>
                      <a:r>
                        <a:rPr lang="en-US" sz="1800" dirty="0" err="1"/>
                        <a:t>walltime</a:t>
                      </a:r>
                      <a:endParaRPr lang="nl-BE" sz="1800" dirty="0"/>
                    </a:p>
                  </a:txBody>
                  <a:tcPr/>
                </a:tc>
                <a:extLst>
                  <a:ext uri="{0D108BD9-81ED-4DB2-BD59-A6C34878D82A}">
                    <a16:rowId xmlns:a16="http://schemas.microsoft.com/office/drawing/2014/main" val="1138024881"/>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--nodes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Minimum num nodes</a:t>
                      </a:r>
                      <a:endParaRPr lang="nl-BE" sz="1800" dirty="0"/>
                    </a:p>
                  </a:txBody>
                  <a:tcPr/>
                </a:tc>
                <a:extLst>
                  <a:ext uri="{0D108BD9-81ED-4DB2-BD59-A6C34878D82A}">
                    <a16:rowId xmlns:a16="http://schemas.microsoft.com/office/drawing/2014/main" val="1537042455"/>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ntasks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num tasks</a:t>
                      </a:r>
                      <a:endParaRPr lang="nl-BE" sz="1800" dirty="0"/>
                    </a:p>
                  </a:txBody>
                  <a:tcPr/>
                </a:tc>
                <a:extLst>
                  <a:ext uri="{0D108BD9-81ED-4DB2-BD59-A6C34878D82A}">
                    <a16:rowId xmlns:a16="http://schemas.microsoft.com/office/drawing/2014/main" val="587039612"/>
                  </a:ext>
                </a:extLst>
              </a:tr>
              <a:tr h="370840">
                <a:tc>
                  <a:txBody>
                    <a:bodyPr/>
                    <a:lstStyle/>
                    <a:p>
                      <a:r>
                        <a:rPr lang="en-US" sz="1800" dirty="0">
                          <a:latin typeface="Courier New" panose="02070309020205020404" pitchFamily="49" charset="0"/>
                          <a:cs typeface="Courier New" panose="02070309020205020404" pitchFamily="49" charset="0"/>
                        </a:rPr>
                        <a:t>-p</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--partition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Partition name</a:t>
                      </a:r>
                      <a:endParaRPr lang="nl-BE" sz="1800" dirty="0"/>
                    </a:p>
                  </a:txBody>
                  <a:tcPr/>
                </a:tc>
                <a:extLst>
                  <a:ext uri="{0D108BD9-81ED-4DB2-BD59-A6C34878D82A}">
                    <a16:rowId xmlns:a16="http://schemas.microsoft.com/office/drawing/2014/main" val="623322092"/>
                  </a:ext>
                </a:extLst>
              </a:tr>
            </a:tbl>
          </a:graphicData>
        </a:graphic>
      </p:graphicFrame>
      <p:sp>
        <p:nvSpPr>
          <p:cNvPr id="4" name="TextBox 3">
            <a:extLst>
              <a:ext uri="{FF2B5EF4-FFF2-40B4-BE49-F238E27FC236}">
                <a16:creationId xmlns:a16="http://schemas.microsoft.com/office/drawing/2014/main" id="{62B4DE41-19DD-480D-91AD-FEF4B135CEAE}"/>
              </a:ext>
            </a:extLst>
          </p:cNvPr>
          <p:cNvSpPr txBox="1"/>
          <p:nvPr/>
        </p:nvSpPr>
        <p:spPr>
          <a:xfrm>
            <a:off x="455180" y="1447616"/>
            <a:ext cx="2472468" cy="1477328"/>
          </a:xfrm>
          <a:prstGeom prst="rect">
            <a:avLst/>
          </a:prstGeom>
          <a:noFill/>
        </p:spPr>
        <p:txBody>
          <a:bodyPr wrap="square" rtlCol="0">
            <a:spAutoFit/>
          </a:bodyPr>
          <a:lstStyle/>
          <a:p>
            <a:r>
              <a:rPr lang="en-US" dirty="0"/>
              <a:t>Some (not all) of the </a:t>
            </a:r>
            <a:r>
              <a:rPr lang="en-US" dirty="0" err="1">
                <a:latin typeface="Courier New" panose="02070309020205020404" pitchFamily="49" charset="0"/>
                <a:cs typeface="Courier New" panose="02070309020205020404" pitchFamily="49" charset="0"/>
              </a:rPr>
              <a:t>sbatch</a:t>
            </a:r>
            <a:r>
              <a:rPr lang="en-US" dirty="0"/>
              <a:t>, </a:t>
            </a:r>
            <a:r>
              <a:rPr lang="en-US" dirty="0" err="1">
                <a:latin typeface="Courier New" panose="02070309020205020404" pitchFamily="49" charset="0"/>
                <a:cs typeface="Courier New" panose="02070309020205020404" pitchFamily="49" charset="0"/>
              </a:rPr>
              <a:t>srun</a:t>
            </a:r>
            <a:r>
              <a:rPr lang="en-US" dirty="0"/>
              <a:t> and </a:t>
            </a:r>
            <a:r>
              <a:rPr lang="en-US" dirty="0" err="1">
                <a:latin typeface="Courier New" panose="02070309020205020404" pitchFamily="49" charset="0"/>
                <a:cs typeface="Courier New" panose="02070309020205020404" pitchFamily="49" charset="0"/>
              </a:rPr>
              <a:t>salloc</a:t>
            </a:r>
            <a:r>
              <a:rPr lang="en-US" dirty="0"/>
              <a:t> command line options also have</a:t>
            </a:r>
          </a:p>
          <a:p>
            <a:r>
              <a:rPr lang="en-US" dirty="0"/>
              <a:t>a short version</a:t>
            </a:r>
            <a:endParaRPr lang="nl-BE" dirty="0"/>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Long and short options</a:t>
            </a:r>
          </a:p>
        </p:txBody>
      </p:sp>
    </p:spTree>
    <p:extLst>
      <p:ext uri="{BB962C8B-B14F-4D97-AF65-F5344CB8AC3E}">
        <p14:creationId xmlns:p14="http://schemas.microsoft.com/office/powerpoint/2010/main" val="6295287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85</a:t>
            </a:fld>
            <a:endParaRPr lang="nl-BE" dirty="0"/>
          </a:p>
        </p:txBody>
      </p:sp>
      <p:sp>
        <p:nvSpPr>
          <p:cNvPr id="5" name="TextBox 4"/>
          <p:cNvSpPr txBox="1"/>
          <p:nvPr/>
        </p:nvSpPr>
        <p:spPr>
          <a:xfrm>
            <a:off x="720000" y="1077118"/>
            <a:ext cx="11112000" cy="5201424"/>
          </a:xfrm>
          <a:prstGeom prst="rect">
            <a:avLst/>
          </a:prstGeom>
          <a:noFill/>
          <a:ln>
            <a:noFill/>
          </a:ln>
        </p:spPr>
        <p:txBody>
          <a:bodyPr wrap="square" rtlCol="0">
            <a:spAutoFit/>
          </a:bodyPr>
          <a:lstStyle/>
          <a:p>
            <a:pPr marL="342900" indent="-342900">
              <a:buBlip>
                <a:blip r:embed="rId2"/>
              </a:buBlip>
            </a:pPr>
            <a:r>
              <a:rPr lang="en-US" sz="2200" dirty="0"/>
              <a:t>Interactive job with default options (1 core for 1 hour on the </a:t>
            </a:r>
            <a:r>
              <a:rPr lang="en-US" sz="2200" i="1" dirty="0"/>
              <a:t>batch</a:t>
            </a:r>
            <a:r>
              <a:rPr lang="en-US" sz="2200" dirty="0"/>
              <a:t> partition)</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br>
              <a:rPr lang="en-US" sz="2000" dirty="0">
                <a:solidFill>
                  <a:srgbClr val="FF0000"/>
                </a:solidFill>
                <a:latin typeface="Courier New" panose="02070309020205020404" pitchFamily="49" charset="0"/>
                <a:cs typeface="Courier New" panose="02070309020205020404" pitchFamily="49" charset="0"/>
              </a:rPr>
            </a:br>
            <a:endParaRPr lang="en-US" sz="2200" dirty="0">
              <a:solidFill>
                <a:srgbClr val="FF0000"/>
              </a:solidFill>
            </a:endParaRPr>
          </a:p>
          <a:p>
            <a:pPr marL="342900" indent="-342900">
              <a:buBlip>
                <a:blip r:embed="rId2"/>
              </a:buBlip>
            </a:pPr>
            <a:r>
              <a:rPr lang="en-US" sz="2200" dirty="0"/>
              <a:t>Interactive job with X-forwarding</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a:t>
            </a:r>
            <a:r>
              <a:rPr lang="en-US" sz="2000" b="1" dirty="0">
                <a:solidFill>
                  <a:srgbClr val="FF0000"/>
                </a:solidFill>
                <a:latin typeface="Courier New" panose="02070309020205020404" pitchFamily="49" charset="0"/>
                <a:cs typeface="Courier New" panose="02070309020205020404" pitchFamily="49" charset="0"/>
              </a:rPr>
              <a:t>--x11 </a:t>
            </a: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endParaRPr lang="en-US" sz="2000" dirty="0"/>
          </a:p>
          <a:p>
            <a:pPr marL="342900" indent="-342900">
              <a:buBlip>
                <a:blip r:embed="rId2"/>
              </a:buBlip>
            </a:pPr>
            <a:endParaRPr lang="en-US" sz="2000" dirty="0"/>
          </a:p>
          <a:p>
            <a:pPr marL="342900" indent="-342900">
              <a:buBlip>
                <a:blip r:embed="rId2"/>
              </a:buBlip>
            </a:pPr>
            <a:r>
              <a:rPr lang="en-US" sz="2200" dirty="0"/>
              <a:t>Interactive job with multiple cores, on the </a:t>
            </a:r>
            <a:r>
              <a:rPr lang="en-US" sz="2200" i="1" dirty="0"/>
              <a:t>interactive</a:t>
            </a:r>
            <a:r>
              <a:rPr lang="en-US" sz="2200" dirty="0"/>
              <a:t> partition</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--nodes=1 --</a:t>
            </a:r>
            <a:r>
              <a:rPr lang="en-US" sz="2000" dirty="0" err="1">
                <a:latin typeface="Courier New" panose="02070309020205020404" pitchFamily="49" charset="0"/>
                <a:cs typeface="Courier New" panose="02070309020205020404" pitchFamily="49" charset="0"/>
              </a:rPr>
              <a:t>ntasks</a:t>
            </a:r>
            <a:r>
              <a:rPr lang="en-US" sz="2000" dirty="0">
                <a:latin typeface="Courier New" panose="02070309020205020404" pitchFamily="49" charset="0"/>
                <a:cs typeface="Courier New" panose="02070309020205020404" pitchFamily="49" charset="0"/>
              </a:rPr>
              <a:t>=4 \</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--partition=interactive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p>
          <a:p>
            <a:endParaRPr lang="en-US" sz="2000" dirty="0">
              <a:latin typeface="Courier New" panose="02070309020205020404" pitchFamily="49" charset="0"/>
              <a:cs typeface="Courier New" panose="02070309020205020404" pitchFamily="49" charset="0"/>
            </a:endParaRPr>
          </a:p>
          <a:p>
            <a:pPr marL="342900" indent="-342900">
              <a:buBlip>
                <a:blip r:embed="rId2"/>
              </a:buBlip>
            </a:pPr>
            <a:r>
              <a:rPr lang="en-US" sz="2200" dirty="0">
                <a:cs typeface="Courier New" panose="02070309020205020404" pitchFamily="49" charset="0"/>
              </a:rPr>
              <a:t>Interactive job with multiple cores and a GPU device</a:t>
            </a:r>
            <a:br>
              <a:rPr lang="en-US" sz="22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--nodes=1 --</a:t>
            </a:r>
            <a:r>
              <a:rPr lang="en-US" sz="2000" dirty="0" err="1">
                <a:latin typeface="Courier New" panose="02070309020205020404" pitchFamily="49" charset="0"/>
                <a:cs typeface="Courier New" panose="02070309020205020404" pitchFamily="49" charset="0"/>
              </a:rPr>
              <a:t>ntasks</a:t>
            </a:r>
            <a:r>
              <a:rPr lang="en-US" sz="2000" dirty="0">
                <a:latin typeface="Courier New" panose="02070309020205020404" pitchFamily="49" charset="0"/>
                <a:cs typeface="Courier New" panose="02070309020205020404" pitchFamily="49" charset="0"/>
              </a:rPr>
              <a:t>=18 \</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--partition=</a:t>
            </a:r>
            <a:r>
              <a:rPr lang="en-US" sz="2000" dirty="0" err="1">
                <a:latin typeface="Courier New" panose="02070309020205020404" pitchFamily="49" charset="0"/>
                <a:cs typeface="Courier New" panose="02070309020205020404" pitchFamily="49" charset="0"/>
              </a:rPr>
              <a:t>gpu</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gpus</a:t>
            </a:r>
            <a:r>
              <a:rPr lang="en-US" sz="2000" dirty="0">
                <a:latin typeface="Courier New" panose="02070309020205020404" pitchFamily="49" charset="0"/>
                <a:cs typeface="Courier New" panose="02070309020205020404" pitchFamily="49" charset="0"/>
              </a:rPr>
              <a:t>-per-node=1 --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br>
              <a:rPr lang="en-US" sz="2000" dirty="0">
                <a:latin typeface="Courier New" panose="02070309020205020404" pitchFamily="49" charset="0"/>
                <a:cs typeface="Courier New" panose="02070309020205020404" pitchFamily="49" charset="0"/>
              </a:rPr>
            </a:br>
            <a:endParaRPr lang="en-US" sz="2000" dirty="0">
              <a:latin typeface="Courier New" panose="02070309020205020404" pitchFamily="49" charset="0"/>
              <a:cs typeface="Courier New" panose="02070309020205020404" pitchFamily="49" charset="0"/>
            </a:endParaRPr>
          </a:p>
          <a:p>
            <a:pPr marL="342900" indent="-342900">
              <a:buBlip>
                <a:blip r:embed="rId2"/>
              </a:buBlip>
            </a:pPr>
            <a:r>
              <a:rPr lang="en-US" sz="2200" dirty="0">
                <a:cs typeface="Courier New" panose="02070309020205020404" pitchFamily="49" charset="0"/>
              </a:rPr>
              <a:t>To join one of your running jobs (connecting to the first compute node in the job’s allocation):</a:t>
            </a:r>
            <a:br>
              <a:rPr lang="en-US" sz="20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–M </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jobid</a:t>
            </a:r>
            <a:r>
              <a:rPr lang="en-US" sz="2000" dirty="0">
                <a:latin typeface="Courier New" panose="02070309020205020404" pitchFamily="49" charset="0"/>
                <a:cs typeface="Courier New" panose="02070309020205020404" pitchFamily="49" charset="0"/>
              </a:rPr>
              <a:t>=&lt;</a:t>
            </a:r>
            <a:r>
              <a:rPr lang="en-US" sz="2000" dirty="0" err="1">
                <a:latin typeface="Courier New" panose="02070309020205020404" pitchFamily="49" charset="0"/>
                <a:cs typeface="Courier New" panose="02070309020205020404" pitchFamily="49" charset="0"/>
              </a:rPr>
              <a:t>JobID</a:t>
            </a:r>
            <a:r>
              <a:rPr lang="en-US" sz="2000" dirty="0">
                <a:latin typeface="Courier New" panose="02070309020205020404" pitchFamily="49" charset="0"/>
                <a:cs typeface="Courier New" panose="02070309020205020404" pitchFamily="49" charset="0"/>
              </a:rPr>
              <a:t>&gt; --overlap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endParaRPr lang="en-US" sz="2000" dirty="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jobs</a:t>
            </a:r>
          </a:p>
        </p:txBody>
      </p:sp>
    </p:spTree>
    <p:extLst>
      <p:ext uri="{BB962C8B-B14F-4D97-AF65-F5344CB8AC3E}">
        <p14:creationId xmlns:p14="http://schemas.microsoft.com/office/powerpoint/2010/main" val="4245422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p:cNvGrpSpPr/>
          <p:nvPr/>
        </p:nvGrpSpPr>
        <p:grpSpPr>
          <a:xfrm>
            <a:off x="735586" y="971058"/>
            <a:ext cx="5772274" cy="5413288"/>
            <a:chOff x="2826025" y="3886638"/>
            <a:chExt cx="5772274" cy="5413288"/>
          </a:xfrm>
        </p:grpSpPr>
        <p:sp>
          <p:nvSpPr>
            <p:cNvPr id="34" name="TextBox 3"/>
            <p:cNvSpPr txBox="1">
              <a:spLocks noChangeArrowheads="1"/>
            </p:cNvSpPr>
            <p:nvPr/>
          </p:nvSpPr>
          <p:spPr bwMode="auto">
            <a:xfrm>
              <a:off x="2826025" y="4160057"/>
              <a:ext cx="5772274" cy="5139869"/>
            </a:xfrm>
            <a:prstGeom prst="rect">
              <a:avLst/>
            </a:prstGeom>
            <a:solidFill>
              <a:schemeClr val="bg1">
                <a:lumMod val="95000"/>
              </a:schemeClr>
            </a:solidFill>
            <a:ln w="9525">
              <a:solidFill>
                <a:schemeClr val="tx1"/>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=4</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--mem-per-</a:t>
              </a:r>
              <a:r>
                <a:rPr lang="nl-BE" sz="1600" dirty="0" err="1">
                  <a:solidFill>
                    <a:srgbClr val="4E5865"/>
                  </a:solidFill>
                  <a:latin typeface="Courier New" panose="02070309020205020404" pitchFamily="49" charset="0"/>
                  <a:ea typeface="新細明體"/>
                  <a:cs typeface="Courier New" panose="02070309020205020404" pitchFamily="49" charset="0"/>
                </a:rPr>
                <a:t>cpu</a:t>
              </a:r>
              <a:r>
                <a:rPr lang="nl-BE" sz="1600" dirty="0">
                  <a:solidFill>
                    <a:srgbClr val="4E5865"/>
                  </a:solidFill>
                  <a:latin typeface="Courier New" panose="02070309020205020404" pitchFamily="49" charset="0"/>
                  <a:ea typeface="新細明體"/>
                  <a:cs typeface="Courier New" panose="02070309020205020404" pitchFamily="49" charset="0"/>
                </a:rPr>
                <a:t>=3400M</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--job-name=</a:t>
              </a:r>
              <a:r>
                <a:rPr lang="nl-BE" sz="1600" dirty="0" err="1">
                  <a:solidFill>
                    <a:srgbClr val="4E5865"/>
                  </a:solidFill>
                  <a:latin typeface="Courier New" panose="02070309020205020404" pitchFamily="49" charset="0"/>
                  <a:ea typeface="新細明體"/>
                  <a:cs typeface="Courier New" panose="02070309020205020404" pitchFamily="49" charset="0"/>
                </a:rPr>
                <a:t>hpc_workflow</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--mail-type=BEGIN,END,FAIL</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--mail-user=my.name@kuleuven.be</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module load </a:t>
              </a:r>
              <a:r>
                <a:rPr lang="nl-BE" sz="1600" dirty="0" err="1">
                  <a:solidFill>
                    <a:srgbClr val="4E5865"/>
                  </a:solidFill>
                  <a:latin typeface="Courier New" panose="02070309020205020404" pitchFamily="49" charset="0"/>
                  <a:ea typeface="新細明體"/>
                  <a:cs typeface="Courier New" panose="02070309020205020404" pitchFamily="49" charset="0"/>
                </a:rPr>
                <a:t>intel</a:t>
              </a:r>
              <a:r>
                <a:rPr lang="nl-BE" sz="1600" dirty="0">
                  <a:solidFill>
                    <a:srgbClr val="4E5865"/>
                  </a:solidFill>
                  <a:latin typeface="Courier New" panose="02070309020205020404" pitchFamily="49" charset="0"/>
                  <a:ea typeface="新細明體"/>
                  <a:cs typeface="Courier New" panose="02070309020205020404" pitchFamily="49" charset="0"/>
                </a:rPr>
                <a:t>/2024a</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module load Python/3.12.3-GCCcore-13.3.0</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which</a:t>
              </a:r>
              <a:r>
                <a:rPr lang="nl-BE" sz="1600" dirty="0">
                  <a:solidFill>
                    <a:srgbClr val="4E5865"/>
                  </a:solidFill>
                  <a:latin typeface="Courier New" panose="02070309020205020404" pitchFamily="49" charset="0"/>
                  <a:ea typeface="新細明體"/>
                  <a:cs typeface="Courier New" panose="02070309020205020404" pitchFamily="49" charset="0"/>
                </a:rPr>
                <a:t> python</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cd $VSC_SCRATCH/</a:t>
              </a:r>
              <a:r>
                <a:rPr lang="nl-BE" sz="1600" dirty="0" err="1">
                  <a:solidFill>
                    <a:srgbClr val="4E5865"/>
                  </a:solidFill>
                  <a:latin typeface="Courier New" panose="02070309020205020404" pitchFamily="49" charset="0"/>
                  <a:ea typeface="新細明體"/>
                  <a:cs typeface="Courier New" panose="02070309020205020404" pitchFamily="49" charset="0"/>
                </a:rPr>
                <a:t>projects</a:t>
              </a:r>
              <a:r>
                <a:rPr lang="nl-BE" sz="1600" dirty="0">
                  <a:solidFill>
                    <a:srgbClr val="4E5865"/>
                  </a:solidFill>
                  <a:latin typeface="Courier New" panose="02070309020205020404" pitchFamily="49" charset="0"/>
                  <a:ea typeface="新細明體"/>
                  <a:cs typeface="Courier New" panose="02070309020205020404" pitchFamily="49" charset="0"/>
                </a:rPr>
                <a:t>/</a:t>
              </a:r>
              <a:r>
                <a:rPr lang="nl-BE" sz="1600" dirty="0" err="1">
                  <a:solidFill>
                    <a:srgbClr val="4E5865"/>
                  </a:solidFill>
                  <a:latin typeface="Courier New" panose="02070309020205020404" pitchFamily="49" charset="0"/>
                  <a:ea typeface="新細明體"/>
                  <a:cs typeface="Courier New" panose="02070309020205020404" pitchFamily="49" charset="0"/>
                </a:rPr>
                <a:t>simulations</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$VSC_DATA/</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python modelling.py</a:t>
              </a:r>
              <a:br>
                <a:rPr lang="nl-BE" sz="1600" dirty="0">
                  <a:solidFill>
                    <a:srgbClr val="4E5865"/>
                  </a:solidFill>
                  <a:latin typeface="Courier New" panose="02070309020205020404" pitchFamily="49" charset="0"/>
                  <a:ea typeface="新細明體"/>
                  <a:cs typeface="Courier New" panose="02070309020205020404" pitchFamily="49" charset="0"/>
                </a:rPr>
              </a:b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r>
                <a:rPr lang="nl-BE" sz="1600" dirty="0">
                  <a:solidFill>
                    <a:srgbClr val="4E5865"/>
                  </a:solidFill>
                  <a:latin typeface="Courier New" panose="02070309020205020404" pitchFamily="49" charset="0"/>
                  <a:ea typeface="新細明體"/>
                  <a:cs typeface="Courier New" panose="02070309020205020404" pitchFamily="49" charset="0"/>
                </a:rPr>
                <a:t> $VSC_DATA</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rm</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rf</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endParaRPr lang="nl-BE" sz="1600" dirty="0">
                <a:solidFill>
                  <a:srgbClr val="4E5865"/>
                </a:solidFill>
                <a:latin typeface="Courier New" panose="02070309020205020404" pitchFamily="49" charset="0"/>
                <a:ea typeface="新細明體"/>
                <a:cs typeface="Courier New" panose="02070309020205020404" pitchFamily="49" charset="0"/>
              </a:endParaRPr>
            </a:p>
          </p:txBody>
        </p:sp>
        <p:sp>
          <p:nvSpPr>
            <p:cNvPr id="36" name="TextBox 8"/>
            <p:cNvSpPr txBox="1">
              <a:spLocks noChangeArrowheads="1"/>
            </p:cNvSpPr>
            <p:nvPr/>
          </p:nvSpPr>
          <p:spPr bwMode="auto">
            <a:xfrm>
              <a:off x="7427245" y="3886638"/>
              <a:ext cx="1171054" cy="276999"/>
            </a:xfrm>
            <a:prstGeom prst="rect">
              <a:avLst/>
            </a:prstGeom>
            <a:solidFill>
              <a:srgbClr val="FFFFFF"/>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nl-BE" sz="1200" dirty="0" err="1">
                  <a:solidFill>
                    <a:srgbClr val="4E5865"/>
                  </a:solidFill>
                  <a:ea typeface="新細明體"/>
                </a:rPr>
                <a:t>jobscript.slurm</a:t>
              </a:r>
              <a:endParaRPr lang="nl-BE" sz="1200" b="1" dirty="0">
                <a:latin typeface="Courier New" panose="02070309020205020404" pitchFamily="49" charset="0"/>
                <a:cs typeface="Courier New" panose="02070309020205020404" pitchFamily="49" charset="0"/>
              </a:endParaRPr>
            </a:p>
          </p:txBody>
        </p:sp>
      </p:grpSp>
      <p:grpSp>
        <p:nvGrpSpPr>
          <p:cNvPr id="16" name="Group 15">
            <a:extLst>
              <a:ext uri="{FF2B5EF4-FFF2-40B4-BE49-F238E27FC236}">
                <a16:creationId xmlns:a16="http://schemas.microsoft.com/office/drawing/2014/main" id="{26455D99-3ED0-4159-83FF-402040CF9D73}"/>
              </a:ext>
            </a:extLst>
          </p:cNvPr>
          <p:cNvGrpSpPr/>
          <p:nvPr/>
        </p:nvGrpSpPr>
        <p:grpSpPr>
          <a:xfrm>
            <a:off x="2716796" y="1167623"/>
            <a:ext cx="5824135" cy="432048"/>
            <a:chOff x="3071667" y="908720"/>
            <a:chExt cx="5824135" cy="432048"/>
          </a:xfrm>
        </p:grpSpPr>
        <p:sp>
          <p:nvSpPr>
            <p:cNvPr id="4" name="Rectangle 3"/>
            <p:cNvSpPr/>
            <p:nvPr/>
          </p:nvSpPr>
          <p:spPr>
            <a:xfrm>
              <a:off x="7244323" y="908720"/>
              <a:ext cx="1651479" cy="4320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Shebang</a:t>
              </a:r>
              <a:endParaRPr lang="nl-BE" dirty="0"/>
            </a:p>
          </p:txBody>
        </p:sp>
        <p:cxnSp>
          <p:nvCxnSpPr>
            <p:cNvPr id="6" name="Straight Connector 5"/>
            <p:cNvCxnSpPr>
              <a:cxnSpLocks/>
              <a:stCxn id="4" idx="1"/>
            </p:cNvCxnSpPr>
            <p:nvPr/>
          </p:nvCxnSpPr>
          <p:spPr>
            <a:xfrm flipH="1">
              <a:off x="3071667" y="1124744"/>
              <a:ext cx="4172656"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AB20E209-848C-F4B3-EABF-B2326C994DDA}"/>
              </a:ext>
            </a:extLst>
          </p:cNvPr>
          <p:cNvGrpSpPr/>
          <p:nvPr/>
        </p:nvGrpSpPr>
        <p:grpSpPr>
          <a:xfrm>
            <a:off x="5652274" y="1689024"/>
            <a:ext cx="3180030" cy="1766967"/>
            <a:chOff x="5995232" y="1037954"/>
            <a:chExt cx="3197895" cy="1368151"/>
          </a:xfrm>
        </p:grpSpPr>
        <p:sp>
          <p:nvSpPr>
            <p:cNvPr id="7" name="Rectangle 6"/>
            <p:cNvSpPr/>
            <p:nvPr/>
          </p:nvSpPr>
          <p:spPr>
            <a:xfrm>
              <a:off x="7239360" y="1419794"/>
              <a:ext cx="1953767" cy="43129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Resource list</a:t>
              </a:r>
              <a:endParaRPr lang="nl-BE" dirty="0"/>
            </a:p>
          </p:txBody>
        </p:sp>
        <p:cxnSp>
          <p:nvCxnSpPr>
            <p:cNvPr id="9" name="Straight Connector 8"/>
            <p:cNvCxnSpPr>
              <a:cxnSpLocks/>
            </p:cNvCxnSpPr>
            <p:nvPr/>
          </p:nvCxnSpPr>
          <p:spPr>
            <a:xfrm>
              <a:off x="5995232" y="1037954"/>
              <a:ext cx="0" cy="1368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7" idx="1"/>
            </p:cNvCxnSpPr>
            <p:nvPr/>
          </p:nvCxnSpPr>
          <p:spPr>
            <a:xfrm>
              <a:off x="6011460" y="1635441"/>
              <a:ext cx="1227901"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B9FE203B-2811-4BC7-9FAE-B91D3495F4A3}"/>
              </a:ext>
            </a:extLst>
          </p:cNvPr>
          <p:cNvGrpSpPr/>
          <p:nvPr/>
        </p:nvGrpSpPr>
        <p:grpSpPr>
          <a:xfrm>
            <a:off x="6032521" y="3679729"/>
            <a:ext cx="3159824" cy="504056"/>
            <a:chOff x="4302963" y="3696255"/>
            <a:chExt cx="3077990" cy="504056"/>
          </a:xfrm>
        </p:grpSpPr>
        <p:cxnSp>
          <p:nvCxnSpPr>
            <p:cNvPr id="19" name="Straight Connector 18"/>
            <p:cNvCxnSpPr/>
            <p:nvPr/>
          </p:nvCxnSpPr>
          <p:spPr>
            <a:xfrm>
              <a:off x="4302963" y="3721888"/>
              <a:ext cx="0" cy="452789"/>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cxnSp>
          <p:nvCxnSpPr>
            <p:cNvPr id="21" name="Straight Connector 20"/>
            <p:cNvCxnSpPr>
              <a:cxnSpLocks/>
            </p:cNvCxnSpPr>
            <p:nvPr/>
          </p:nvCxnSpPr>
          <p:spPr>
            <a:xfrm>
              <a:off x="4306670" y="3948283"/>
              <a:ext cx="853226" cy="0"/>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5159896" y="3696255"/>
              <a:ext cx="2221057"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Loading modules</a:t>
              </a:r>
              <a:endParaRPr lang="nl-BE" dirty="0"/>
            </a:p>
          </p:txBody>
        </p:sp>
      </p:grpSp>
      <p:grpSp>
        <p:nvGrpSpPr>
          <p:cNvPr id="11" name="Group 10">
            <a:extLst>
              <a:ext uri="{FF2B5EF4-FFF2-40B4-BE49-F238E27FC236}">
                <a16:creationId xmlns:a16="http://schemas.microsoft.com/office/drawing/2014/main" id="{79C7A872-3221-4240-8D52-087810465AFE}"/>
              </a:ext>
            </a:extLst>
          </p:cNvPr>
          <p:cNvGrpSpPr/>
          <p:nvPr/>
        </p:nvGrpSpPr>
        <p:grpSpPr>
          <a:xfrm>
            <a:off x="6036226" y="4397972"/>
            <a:ext cx="2653425" cy="648072"/>
            <a:chOff x="7536161" y="4524347"/>
            <a:chExt cx="2653425" cy="648072"/>
          </a:xfrm>
        </p:grpSpPr>
        <p:cxnSp>
          <p:nvCxnSpPr>
            <p:cNvPr id="27" name="Straight Connector 26"/>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29" idx="1"/>
            </p:cNvCxnSpPr>
            <p:nvPr/>
          </p:nvCxnSpPr>
          <p:spPr>
            <a:xfrm>
              <a:off x="7536161" y="4848383"/>
              <a:ext cx="853226" cy="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8389387" y="4596355"/>
              <a:ext cx="1800199"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grpSp>
        <p:nvGrpSpPr>
          <p:cNvPr id="15" name="Group 14">
            <a:extLst>
              <a:ext uri="{FF2B5EF4-FFF2-40B4-BE49-F238E27FC236}">
                <a16:creationId xmlns:a16="http://schemas.microsoft.com/office/drawing/2014/main" id="{E987475C-5A38-5F51-35FE-A77E64FAFEF7}"/>
              </a:ext>
            </a:extLst>
          </p:cNvPr>
          <p:cNvGrpSpPr/>
          <p:nvPr/>
        </p:nvGrpSpPr>
        <p:grpSpPr>
          <a:xfrm>
            <a:off x="3292858" y="5064682"/>
            <a:ext cx="6187518" cy="504056"/>
            <a:chOff x="1332105" y="5280431"/>
            <a:chExt cx="6187518" cy="504056"/>
          </a:xfrm>
        </p:grpSpPr>
        <p:cxnSp>
          <p:nvCxnSpPr>
            <p:cNvPr id="20" name="Straight Connector 19">
              <a:extLst>
                <a:ext uri="{FF2B5EF4-FFF2-40B4-BE49-F238E27FC236}">
                  <a16:creationId xmlns:a16="http://schemas.microsoft.com/office/drawing/2014/main" id="{2FE23F1A-B0EA-BC60-137B-4E2AEA439CC3}"/>
                </a:ext>
              </a:extLst>
            </p:cNvPr>
            <p:cNvCxnSpPr>
              <a:cxnSpLocks/>
              <a:endCxn id="23" idx="1"/>
            </p:cNvCxnSpPr>
            <p:nvPr/>
          </p:nvCxnSpPr>
          <p:spPr>
            <a:xfrm>
              <a:off x="1332105" y="5532459"/>
              <a:ext cx="3596594" cy="0"/>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1348306C-09A3-674C-4941-56DCF0BFDE19}"/>
                </a:ext>
              </a:extLst>
            </p:cNvPr>
            <p:cNvSpPr/>
            <p:nvPr/>
          </p:nvSpPr>
          <p:spPr>
            <a:xfrm>
              <a:off x="4928699" y="5280431"/>
              <a:ext cx="259092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Execute commands</a:t>
              </a:r>
              <a:endParaRPr lang="nl-BE" dirty="0"/>
            </a:p>
          </p:txBody>
        </p:sp>
      </p:grpSp>
      <p:grpSp>
        <p:nvGrpSpPr>
          <p:cNvPr id="26" name="Group 25">
            <a:extLst>
              <a:ext uri="{FF2B5EF4-FFF2-40B4-BE49-F238E27FC236}">
                <a16:creationId xmlns:a16="http://schemas.microsoft.com/office/drawing/2014/main" id="{A0872BB1-D9DE-37D2-B146-3BDF0ED90136}"/>
              </a:ext>
            </a:extLst>
          </p:cNvPr>
          <p:cNvGrpSpPr/>
          <p:nvPr/>
        </p:nvGrpSpPr>
        <p:grpSpPr>
          <a:xfrm>
            <a:off x="6036228" y="5606771"/>
            <a:ext cx="2653423" cy="648072"/>
            <a:chOff x="7536161" y="4524347"/>
            <a:chExt cx="2005860" cy="648072"/>
          </a:xfrm>
        </p:grpSpPr>
        <p:cxnSp>
          <p:nvCxnSpPr>
            <p:cNvPr id="30" name="Straight Connector 29">
              <a:extLst>
                <a:ext uri="{FF2B5EF4-FFF2-40B4-BE49-F238E27FC236}">
                  <a16:creationId xmlns:a16="http://schemas.microsoft.com/office/drawing/2014/main" id="{48A8C6A8-0E11-A51F-F831-1D14683C0B15}"/>
                </a:ext>
              </a:extLst>
            </p:cNvPr>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39D1AA74-2631-7A4B-3901-20AF1F409283}"/>
                </a:ext>
              </a:extLst>
            </p:cNvPr>
            <p:cNvCxnSpPr>
              <a:endCxn id="35" idx="1"/>
            </p:cNvCxnSpPr>
            <p:nvPr/>
          </p:nvCxnSpPr>
          <p:spPr>
            <a:xfrm>
              <a:off x="7536161" y="4848383"/>
              <a:ext cx="644996" cy="0"/>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7DEA20D-362C-DCAE-7BA2-5738FC166BEE}"/>
                </a:ext>
              </a:extLst>
            </p:cNvPr>
            <p:cNvSpPr/>
            <p:nvPr/>
          </p:nvSpPr>
          <p:spPr>
            <a:xfrm>
              <a:off x="8181157" y="4596355"/>
              <a:ext cx="136086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sp>
        <p:nvSpPr>
          <p:cNvPr id="32"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86</a:t>
            </a:fld>
            <a:endParaRPr lang="nl-BE" sz="900" dirty="0">
              <a:solidFill>
                <a:schemeClr val="bg1"/>
              </a:solidFill>
            </a:endParaRPr>
          </a:p>
        </p:txBody>
      </p:sp>
      <p:sp>
        <p:nvSpPr>
          <p:cNvPr id="3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a:t>
            </a:r>
            <a:r>
              <a:rPr lang="en-US" altLang="en-US" sz="3200" dirty="0" err="1"/>
              <a:t>Slurm</a:t>
            </a:r>
            <a:r>
              <a:rPr lang="en-US" altLang="en-US" sz="3200" dirty="0"/>
              <a:t> job script</a:t>
            </a:r>
          </a:p>
        </p:txBody>
      </p:sp>
    </p:spTree>
    <p:extLst>
      <p:ext uri="{BB962C8B-B14F-4D97-AF65-F5344CB8AC3E}">
        <p14:creationId xmlns:p14="http://schemas.microsoft.com/office/powerpoint/2010/main" val="1951068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87</a:t>
            </a:fld>
            <a:endParaRPr lang="nl-BE" dirty="0"/>
          </a:p>
        </p:txBody>
      </p:sp>
      <p:sp>
        <p:nvSpPr>
          <p:cNvPr id="36867" name="Rectangle 3"/>
          <p:cNvSpPr>
            <a:spLocks noGrp="1" noChangeArrowheads="1"/>
          </p:cNvSpPr>
          <p:nvPr>
            <p:ph idx="1"/>
          </p:nvPr>
        </p:nvSpPr>
        <p:spPr>
          <a:xfrm>
            <a:off x="551384" y="1844824"/>
            <a:ext cx="4727928" cy="1448512"/>
          </a:xfrm>
          <a:ln w="19050">
            <a:noFill/>
          </a:ln>
        </p:spPr>
        <p:txBody>
          <a:bodyPr/>
          <a:lstStyle/>
          <a:p>
            <a:pPr marL="324000" indent="-324000" eaLnBrk="1" hangingPunct="1">
              <a:lnSpc>
                <a:spcPct val="150000"/>
              </a:lnSpc>
              <a:buClr>
                <a:srgbClr val="DB6C30"/>
              </a:buClr>
              <a:buBlip>
                <a:blip r:embed="rId2"/>
              </a:buBlip>
            </a:pPr>
            <a:r>
              <a:rPr lang="en-US" altLang="en-US" sz="2200" dirty="0"/>
              <a:t>Submit the job to the scheduler</a:t>
            </a:r>
          </a:p>
          <a:p>
            <a:pPr marL="324000" indent="-324000" eaLnBrk="1" hangingPunct="1">
              <a:buClr>
                <a:srgbClr val="DB6C30"/>
              </a:buClr>
              <a:buBlip>
                <a:blip r:embed="rId2"/>
              </a:buBlip>
            </a:pPr>
            <a:r>
              <a:rPr lang="en-US" altLang="en-US" sz="2200" dirty="0"/>
              <a:t>Receive a unique </a:t>
            </a:r>
            <a:r>
              <a:rPr lang="en-US" altLang="en-US" sz="2200" dirty="0" err="1"/>
              <a:t>JobID</a:t>
            </a:r>
            <a:endParaRPr lang="en-US" altLang="en-US" sz="2200" dirty="0"/>
          </a:p>
          <a:p>
            <a:pPr marL="324000" indent="-324000" eaLnBrk="1" hangingPunct="1">
              <a:buClr>
                <a:srgbClr val="DB6C30"/>
              </a:buClr>
              <a:buBlip>
                <a:blip r:embed="rId2"/>
              </a:buBlip>
            </a:pPr>
            <a:r>
              <a:rPr lang="en-US" altLang="en-US" sz="2200" dirty="0"/>
              <a:t>Error and output files</a:t>
            </a:r>
            <a:br>
              <a:rPr lang="en-US" altLang="en-US" sz="2200" dirty="0"/>
            </a:br>
            <a:endParaRPr lang="en-US" altLang="en-US" sz="2200" dirty="0"/>
          </a:p>
        </p:txBody>
      </p:sp>
      <p:grpSp>
        <p:nvGrpSpPr>
          <p:cNvPr id="6" name="Group 5"/>
          <p:cNvGrpSpPr/>
          <p:nvPr/>
        </p:nvGrpSpPr>
        <p:grpSpPr>
          <a:xfrm>
            <a:off x="5519937" y="332656"/>
            <a:ext cx="6336703" cy="1082859"/>
            <a:chOff x="5844851" y="836712"/>
            <a:chExt cx="6011789" cy="1082859"/>
          </a:xfrm>
        </p:grpSpPr>
        <p:sp>
          <p:nvSpPr>
            <p:cNvPr id="4" name="TextBox 3"/>
            <p:cNvSpPr txBox="1"/>
            <p:nvPr/>
          </p:nvSpPr>
          <p:spPr>
            <a:xfrm>
              <a:off x="5844851" y="1211685"/>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#!/bin/bash -l</a:t>
              </a:r>
            </a:p>
            <a:p>
              <a:r>
                <a:rPr lang="en-US" sz="2000" dirty="0">
                  <a:latin typeface="Courier New" panose="02070309020205020404" pitchFamily="49" charset="0"/>
                  <a:cs typeface="Courier New" panose="02070309020205020404" pitchFamily="49" charset="0"/>
                </a:rPr>
                <a:t>…</a:t>
              </a:r>
              <a:endParaRPr lang="nl-BE" sz="2000" dirty="0">
                <a:latin typeface="Courier New" panose="02070309020205020404" pitchFamily="49" charset="0"/>
                <a:cs typeface="Courier New" panose="02070309020205020404" pitchFamily="49" charset="0"/>
              </a:endParaRPr>
            </a:p>
          </p:txBody>
        </p:sp>
        <p:sp>
          <p:nvSpPr>
            <p:cNvPr id="5" name="Rectangle 4"/>
            <p:cNvSpPr/>
            <p:nvPr/>
          </p:nvSpPr>
          <p:spPr>
            <a:xfrm>
              <a:off x="10056439" y="836712"/>
              <a:ext cx="1800201"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Job script</a:t>
              </a:r>
              <a:endParaRPr lang="nl-BE" dirty="0"/>
            </a:p>
          </p:txBody>
        </p:sp>
      </p:grpSp>
      <p:grpSp>
        <p:nvGrpSpPr>
          <p:cNvPr id="8" name="Group 7"/>
          <p:cNvGrpSpPr/>
          <p:nvPr/>
        </p:nvGrpSpPr>
        <p:grpSpPr>
          <a:xfrm>
            <a:off x="5519937" y="1779397"/>
            <a:ext cx="6336704" cy="775083"/>
            <a:chOff x="5519937" y="2261939"/>
            <a:chExt cx="6336704" cy="775083"/>
          </a:xfrm>
        </p:grpSpPr>
        <p:sp>
          <p:nvSpPr>
            <p:cNvPr id="7" name="TextBox 6"/>
            <p:cNvSpPr txBox="1"/>
            <p:nvPr/>
          </p:nvSpPr>
          <p:spPr>
            <a:xfrm>
              <a:off x="5519937" y="2636912"/>
              <a:ext cx="6336704" cy="400110"/>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sbatch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simulation.slurm</a:t>
              </a:r>
              <a:endParaRPr lang="nl-BE" sz="2000" dirty="0">
                <a:latin typeface="Courier New" panose="02070309020205020404" pitchFamily="49" charset="0"/>
                <a:cs typeface="Courier New" panose="02070309020205020404" pitchFamily="49" charset="0"/>
              </a:endParaRPr>
            </a:p>
          </p:txBody>
        </p:sp>
        <p:sp>
          <p:nvSpPr>
            <p:cNvPr id="10" name="Rectangle 9"/>
            <p:cNvSpPr/>
            <p:nvPr/>
          </p:nvSpPr>
          <p:spPr>
            <a:xfrm>
              <a:off x="9959147" y="2261939"/>
              <a:ext cx="1897493"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Submit command</a:t>
              </a:r>
              <a:endParaRPr lang="nl-BE" dirty="0"/>
            </a:p>
          </p:txBody>
        </p:sp>
      </p:grpSp>
      <p:grpSp>
        <p:nvGrpSpPr>
          <p:cNvPr id="12" name="Group 11"/>
          <p:cNvGrpSpPr/>
          <p:nvPr/>
        </p:nvGrpSpPr>
        <p:grpSpPr>
          <a:xfrm>
            <a:off x="5519938" y="2918362"/>
            <a:ext cx="6336702" cy="1082859"/>
            <a:chOff x="5844851" y="2261939"/>
            <a:chExt cx="6011789" cy="1082859"/>
          </a:xfrm>
        </p:grpSpPr>
        <p:sp>
          <p:nvSpPr>
            <p:cNvPr id="13" name="TextBox 12"/>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b="1" dirty="0">
                  <a:latin typeface="Courier New" panose="02070309020205020404" pitchFamily="49" charset="0"/>
                  <a:cs typeface="Courier New" panose="02070309020205020404" pitchFamily="49" charset="0"/>
                </a:rPr>
                <a:t>Submitted batch job </a:t>
              </a:r>
              <a:r>
                <a:rPr lang="en-US" sz="2000" b="1" dirty="0">
                  <a:solidFill>
                    <a:srgbClr val="FF0000"/>
                  </a:solidFill>
                  <a:latin typeface="Courier New" panose="02070309020205020404" pitchFamily="49" charset="0"/>
                  <a:cs typeface="Courier New" panose="02070309020205020404" pitchFamily="49" charset="0"/>
                </a:rPr>
                <a:t>60042478 </a:t>
              </a:r>
              <a:r>
                <a:rPr lang="en-US" sz="2000" b="1" dirty="0">
                  <a:latin typeface="Courier New" panose="02070309020205020404" pitchFamily="49" charset="0"/>
                  <a:cs typeface="Courier New" panose="02070309020205020404" pitchFamily="49" charset="0"/>
                </a:rPr>
                <a:t>on cluster </a:t>
              </a:r>
              <a:r>
                <a:rPr lang="en-US" sz="2000" b="1" dirty="0" err="1">
                  <a:latin typeface="Courier New" panose="02070309020205020404" pitchFamily="49" charset="0"/>
                  <a:cs typeface="Courier New" panose="02070309020205020404" pitchFamily="49" charset="0"/>
                </a:rPr>
                <a:t>wice</a:t>
              </a:r>
              <a:endParaRPr lang="nl-BE" sz="2000" dirty="0">
                <a:latin typeface="Courier New" panose="02070309020205020404" pitchFamily="49" charset="0"/>
                <a:cs typeface="Courier New" panose="02070309020205020404" pitchFamily="49" charset="0"/>
              </a:endParaRPr>
            </a:p>
          </p:txBody>
        </p:sp>
        <p:sp>
          <p:nvSpPr>
            <p:cNvPr id="14" name="Rectangle 13"/>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JobID</a:t>
              </a:r>
              <a:endParaRPr lang="nl-BE"/>
            </a:p>
          </p:txBody>
        </p:sp>
      </p:grpSp>
      <p:grpSp>
        <p:nvGrpSpPr>
          <p:cNvPr id="15" name="Group 14"/>
          <p:cNvGrpSpPr/>
          <p:nvPr/>
        </p:nvGrpSpPr>
        <p:grpSpPr>
          <a:xfrm>
            <a:off x="5519939" y="4365104"/>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stderr, </a:t>
              </a:r>
              <a:r>
                <a:rPr lang="en-US" dirty="0" err="1"/>
                <a:t>stdout</a:t>
              </a:r>
              <a:endParaRPr lang="nl-BE" dirty="0"/>
            </a:p>
          </p:txBody>
        </p:sp>
      </p:gr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Batch job workflow</a:t>
            </a:r>
          </a:p>
        </p:txBody>
      </p:sp>
    </p:spTree>
    <p:extLst>
      <p:ext uri="{BB962C8B-B14F-4D97-AF65-F5344CB8AC3E}">
        <p14:creationId xmlns:p14="http://schemas.microsoft.com/office/powerpoint/2010/main" val="13182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867">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6867">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88</a:t>
            </a:fld>
            <a:endParaRPr lang="nl-BE" dirty="0"/>
          </a:p>
        </p:txBody>
      </p:sp>
      <p:sp>
        <p:nvSpPr>
          <p:cNvPr id="36867" name="Rectangle 3"/>
          <p:cNvSpPr>
            <a:spLocks noGrp="1" noChangeArrowheads="1"/>
          </p:cNvSpPr>
          <p:nvPr>
            <p:ph idx="1"/>
          </p:nvPr>
        </p:nvSpPr>
        <p:spPr>
          <a:xfrm>
            <a:off x="551384" y="1211685"/>
            <a:ext cx="4727928" cy="4521571"/>
          </a:xfrm>
          <a:ln w="19050">
            <a:noFill/>
          </a:ln>
        </p:spPr>
        <p:txBody>
          <a:bodyPr/>
          <a:lstStyle/>
          <a:p>
            <a:pPr marL="324000" indent="-324000">
              <a:lnSpc>
                <a:spcPct val="150000"/>
              </a:lnSpc>
              <a:buClr>
                <a:srgbClr val="DB6C30"/>
              </a:buClr>
              <a:buBlip>
                <a:blip r:embed="rId2"/>
              </a:buBlip>
            </a:pPr>
            <a:r>
              <a:rPr lang="en-US" altLang="en-US" sz="2200" dirty="0"/>
              <a:t>STDERR and STDOUT are by default redirected to a single file:</a:t>
            </a:r>
            <a:br>
              <a:rPr lang="en-US" altLang="en-US" sz="2200" dirty="0"/>
            </a:br>
            <a:r>
              <a:rPr lang="en-US" altLang="en-US" sz="2200" dirty="0" err="1">
                <a:latin typeface="Courier New" panose="02070309020205020404" pitchFamily="49" charset="0"/>
                <a:cs typeface="Courier New" panose="02070309020205020404" pitchFamily="49" charset="0"/>
              </a:rPr>
              <a:t>slurm</a:t>
            </a:r>
            <a:r>
              <a:rPr lang="en-US" altLang="en-US" sz="2200" dirty="0">
                <a:latin typeface="Courier New" panose="02070309020205020404" pitchFamily="49" charset="0"/>
                <a:cs typeface="Courier New" panose="02070309020205020404" pitchFamily="49" charset="0"/>
              </a:rPr>
              <a:t>-&lt;</a:t>
            </a:r>
            <a:r>
              <a:rPr lang="en-US" altLang="en-US" sz="2200" dirty="0" err="1">
                <a:latin typeface="Courier New" panose="02070309020205020404" pitchFamily="49" charset="0"/>
                <a:cs typeface="Courier New" panose="02070309020205020404" pitchFamily="49" charset="0"/>
              </a:rPr>
              <a:t>JobID</a:t>
            </a:r>
            <a:r>
              <a:rPr lang="en-US" altLang="en-US" sz="2200" dirty="0">
                <a:latin typeface="Courier New" panose="02070309020205020404" pitchFamily="49" charset="0"/>
                <a:cs typeface="Courier New" panose="02070309020205020404" pitchFamily="49" charset="0"/>
              </a:rPr>
              <a:t>&gt;.out</a:t>
            </a:r>
          </a:p>
          <a:p>
            <a:pPr marL="324000" indent="-324000" eaLnBrk="1" hangingPunct="1">
              <a:buClr>
                <a:srgbClr val="DB6C30"/>
              </a:buClr>
              <a:buBlip>
                <a:blip r:embed="rId2"/>
              </a:buBlip>
            </a:pPr>
            <a:r>
              <a:rPr lang="en-US" altLang="en-US" sz="2200" dirty="0"/>
              <a:t>Contains job info, all errors and warnings, and printouts</a:t>
            </a:r>
          </a:p>
          <a:p>
            <a:pPr marL="324000" indent="-324000" eaLnBrk="1" hangingPunct="1">
              <a:buClr>
                <a:srgbClr val="DB6C30"/>
              </a:buClr>
              <a:buBlip>
                <a:blip r:embed="rId2"/>
              </a:buBlip>
            </a:pPr>
            <a:r>
              <a:rPr lang="en-US" altLang="en-US" sz="2200" dirty="0"/>
              <a:t>Worth going through</a:t>
            </a:r>
            <a:br>
              <a:rPr lang="en-US" altLang="en-US" sz="2200" dirty="0"/>
            </a:br>
            <a:r>
              <a:rPr lang="en-US" altLang="en-US" sz="2200" dirty="0"/>
              <a:t>(especially if it’s a new kind of job)</a:t>
            </a:r>
          </a:p>
          <a:p>
            <a:pPr marL="324000" indent="-324000" eaLnBrk="1" hangingPunct="1">
              <a:buClr>
                <a:srgbClr val="DB6C30"/>
              </a:buClr>
              <a:buBlip>
                <a:blip r:embed="rId2"/>
              </a:buBlip>
            </a:pPr>
            <a:r>
              <a:rPr lang="en-US" altLang="en-US" sz="2200" dirty="0"/>
              <a:t>Address all warnings and errors</a:t>
            </a:r>
            <a:br>
              <a:rPr lang="en-US" altLang="en-US" sz="2200" dirty="0"/>
            </a:br>
            <a:r>
              <a:rPr lang="en-US" altLang="en-US" sz="2200" dirty="0"/>
              <a:t>(if you can)</a:t>
            </a:r>
          </a:p>
          <a:p>
            <a:pPr marL="324000" indent="-324000" eaLnBrk="1" hangingPunct="1">
              <a:buClr>
                <a:srgbClr val="DB6C30"/>
              </a:buClr>
              <a:buBlip>
                <a:blip r:embed="rId2"/>
              </a:buBlip>
            </a:pPr>
            <a:r>
              <a:rPr lang="en-US" altLang="en-US" sz="2200" dirty="0"/>
              <a:t>Typical error examples on the right</a:t>
            </a:r>
          </a:p>
        </p:txBody>
      </p:sp>
      <p:grpSp>
        <p:nvGrpSpPr>
          <p:cNvPr id="15" name="Group 14"/>
          <p:cNvGrpSpPr/>
          <p:nvPr/>
        </p:nvGrpSpPr>
        <p:grpSpPr>
          <a:xfrm>
            <a:off x="5519939" y="836712"/>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b="1" dirty="0">
                  <a:solidFill>
                    <a:srgbClr val="FF0000"/>
                  </a:solidFill>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9602217" y="2261939"/>
              <a:ext cx="2254423"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STDOUT + STDERR</a:t>
              </a:r>
              <a:endParaRPr lang="nl-BE" dirty="0"/>
            </a:p>
          </p:txBody>
        </p:sp>
      </p:grpSp>
      <p:grpSp>
        <p:nvGrpSpPr>
          <p:cNvPr id="18" name="Group 17"/>
          <p:cNvGrpSpPr/>
          <p:nvPr/>
        </p:nvGrpSpPr>
        <p:grpSpPr>
          <a:xfrm>
            <a:off x="5519939" y="2159417"/>
            <a:ext cx="6336702" cy="1205970"/>
            <a:chOff x="5844851" y="2261939"/>
            <a:chExt cx="6011789" cy="1205970"/>
          </a:xfrm>
        </p:grpSpPr>
        <p:sp>
          <p:nvSpPr>
            <p:cNvPr id="19" name="TextBox 18"/>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sz="1600" b="0" i="0" dirty="0" err="1">
                  <a:solidFill>
                    <a:srgbClr val="36464E"/>
                  </a:solidFill>
                  <a:effectLst/>
                  <a:latin typeface="Courier New" panose="02070309020205020404" pitchFamily="49" charset="0"/>
                  <a:cs typeface="Courier New" panose="02070309020205020404" pitchFamily="49" charset="0"/>
                </a:rPr>
                <a:t>slurmstepd</a:t>
              </a:r>
              <a:r>
                <a:rPr lang="en-US" sz="1600" b="0" i="0" dirty="0">
                  <a:solidFill>
                    <a:srgbClr val="36464E"/>
                  </a:solidFill>
                  <a:effectLst/>
                  <a:latin typeface="Courier New" panose="02070309020205020404" pitchFamily="49" charset="0"/>
                  <a:cs typeface="Courier New" panose="02070309020205020404" pitchFamily="49" charset="0"/>
                </a:rPr>
                <a:t>: error: Detected 1 </a:t>
              </a:r>
              <a:r>
                <a:rPr lang="en-US" sz="1600" b="0" i="0" dirty="0" err="1">
                  <a:solidFill>
                    <a:srgbClr val="36464E"/>
                  </a:solidFill>
                  <a:effectLst/>
                  <a:latin typeface="Courier New" panose="02070309020205020404" pitchFamily="49" charset="0"/>
                  <a:cs typeface="Courier New" panose="02070309020205020404" pitchFamily="49" charset="0"/>
                </a:rPr>
                <a:t>oom</a:t>
              </a:r>
              <a:r>
                <a:rPr lang="en-US" sz="1600" b="0" i="0" dirty="0">
                  <a:solidFill>
                    <a:srgbClr val="36464E"/>
                  </a:solidFill>
                  <a:effectLst/>
                  <a:latin typeface="Courier New" panose="02070309020205020404" pitchFamily="49" charset="0"/>
                  <a:cs typeface="Courier New" panose="02070309020205020404" pitchFamily="49" charset="0"/>
                </a:rPr>
                <a:t>-kill event(s). Some of your processes may have been killed by the </a:t>
              </a:r>
              <a:r>
                <a:rPr lang="en-US" sz="1600" b="0" i="0" dirty="0" err="1">
                  <a:solidFill>
                    <a:srgbClr val="36464E"/>
                  </a:solidFill>
                  <a:effectLst/>
                  <a:latin typeface="Courier New" panose="02070309020205020404" pitchFamily="49" charset="0"/>
                  <a:cs typeface="Courier New" panose="02070309020205020404" pitchFamily="49" charset="0"/>
                </a:rPr>
                <a:t>cgroup</a:t>
              </a:r>
              <a:r>
                <a:rPr lang="en-US" sz="1600" b="0" i="0" dirty="0">
                  <a:solidFill>
                    <a:srgbClr val="36464E"/>
                  </a:solidFill>
                  <a:effectLst/>
                  <a:latin typeface="Courier New" panose="02070309020205020404" pitchFamily="49" charset="0"/>
                  <a:cs typeface="Courier New" panose="02070309020205020404" pitchFamily="49" charset="0"/>
                </a:rPr>
                <a:t> </a:t>
              </a:r>
              <a:r>
                <a:rPr lang="en-US" sz="1600" b="0" i="0" dirty="0">
                  <a:solidFill>
                    <a:srgbClr val="FF0000"/>
                  </a:solidFill>
                  <a:effectLst/>
                  <a:latin typeface="Courier New" panose="02070309020205020404" pitchFamily="49" charset="0"/>
                  <a:cs typeface="Courier New" panose="02070309020205020404" pitchFamily="49" charset="0"/>
                </a:rPr>
                <a:t>out-of-memory</a:t>
              </a:r>
              <a:r>
                <a:rPr lang="en-US" sz="1600" b="0" i="0" dirty="0">
                  <a:solidFill>
                    <a:srgbClr val="36464E"/>
                  </a:solidFill>
                  <a:effectLst/>
                  <a:latin typeface="Courier New" panose="02070309020205020404" pitchFamily="49" charset="0"/>
                  <a:cs typeface="Courier New" panose="02070309020205020404" pitchFamily="49" charset="0"/>
                </a:rPr>
                <a:t> handler.</a:t>
              </a:r>
              <a:endParaRPr lang="nl-BE" sz="1600" dirty="0">
                <a:latin typeface="Courier New" panose="02070309020205020404" pitchFamily="49" charset="0"/>
                <a:cs typeface="Courier New" panose="02070309020205020404" pitchFamily="49" charset="0"/>
              </a:endParaRPr>
            </a:p>
          </p:txBody>
        </p:sp>
        <p:sp>
          <p:nvSpPr>
            <p:cNvPr id="20" name="Rectangle 19"/>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 of memory</a:t>
              </a:r>
              <a:endParaRPr lang="nl-BE" dirty="0"/>
            </a:p>
          </p:txBody>
        </p:sp>
      </p:grpSp>
      <p:grpSp>
        <p:nvGrpSpPr>
          <p:cNvPr id="21" name="Group 20"/>
          <p:cNvGrpSpPr/>
          <p:nvPr/>
        </p:nvGrpSpPr>
        <p:grpSpPr>
          <a:xfrm>
            <a:off x="5519939" y="3420567"/>
            <a:ext cx="6336702" cy="1205970"/>
            <a:chOff x="5844851" y="2261939"/>
            <a:chExt cx="6011789" cy="1205970"/>
          </a:xfrm>
        </p:grpSpPr>
        <p:sp>
          <p:nvSpPr>
            <p:cNvPr id="22" name="TextBox 21"/>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altLang="en-US" sz="1600" dirty="0" err="1">
                  <a:latin typeface="Courier New" panose="02070309020205020404" pitchFamily="49" charset="0"/>
                  <a:cs typeface="Courier New" panose="02070309020205020404" pitchFamily="49" charset="0"/>
                </a:rPr>
                <a:t>slurmstepd</a:t>
              </a:r>
              <a:r>
                <a:rPr lang="en-US" altLang="en-US" sz="1600" dirty="0">
                  <a:latin typeface="Courier New" panose="02070309020205020404" pitchFamily="49" charset="0"/>
                  <a:cs typeface="Courier New" panose="02070309020205020404" pitchFamily="49" charset="0"/>
                </a:rPr>
                <a:t>: error: *** JOB 60042478 ON s28c11n2 CANCELLED AT 2023-02-08T10:03:43 </a:t>
              </a:r>
              <a:r>
                <a:rPr lang="en-US" altLang="en-US" sz="1600" dirty="0">
                  <a:solidFill>
                    <a:srgbClr val="FF0000"/>
                  </a:solidFill>
                  <a:latin typeface="Courier New" panose="02070309020205020404" pitchFamily="49" charset="0"/>
                  <a:cs typeface="Courier New" panose="02070309020205020404" pitchFamily="49" charset="0"/>
                </a:rPr>
                <a:t>DUE TO TIME LIMIT </a:t>
              </a:r>
              <a:r>
                <a:rPr lang="en-US" altLang="en-US" sz="1600" dirty="0">
                  <a:latin typeface="Courier New" panose="02070309020205020404" pitchFamily="49" charset="0"/>
                  <a:cs typeface="Courier New" panose="02070309020205020404" pitchFamily="49" charset="0"/>
                </a:rPr>
                <a:t>***</a:t>
              </a:r>
            </a:p>
          </p:txBody>
        </p:sp>
        <p:sp>
          <p:nvSpPr>
            <p:cNvPr id="23" name="Rectangle 22"/>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Short </a:t>
              </a:r>
              <a:r>
                <a:rPr lang="en-US" dirty="0" err="1"/>
                <a:t>walltime</a:t>
              </a:r>
              <a:endParaRPr lang="nl-BE" dirty="0"/>
            </a:p>
          </p:txBody>
        </p:sp>
      </p:grpSp>
      <p:grpSp>
        <p:nvGrpSpPr>
          <p:cNvPr id="24" name="Group 23"/>
          <p:cNvGrpSpPr/>
          <p:nvPr/>
        </p:nvGrpSpPr>
        <p:grpSpPr>
          <a:xfrm>
            <a:off x="5519939" y="4684537"/>
            <a:ext cx="6336702" cy="744305"/>
            <a:chOff x="5844851" y="2261939"/>
            <a:chExt cx="6011789" cy="744305"/>
          </a:xfrm>
        </p:grpSpPr>
        <p:sp>
          <p:nvSpPr>
            <p:cNvPr id="25" name="TextBox 24"/>
            <p:cNvSpPr txBox="1"/>
            <p:nvPr/>
          </p:nvSpPr>
          <p:spPr>
            <a:xfrm>
              <a:off x="5844851" y="2636912"/>
              <a:ext cx="6011789" cy="369332"/>
            </a:xfrm>
            <a:prstGeom prst="rect">
              <a:avLst/>
            </a:prstGeom>
            <a:noFill/>
            <a:ln w="19050">
              <a:solidFill>
                <a:schemeClr val="accent5"/>
              </a:solidFill>
            </a:ln>
          </p:spPr>
          <p:txBody>
            <a:bodyPr wrap="square" rtlCol="0">
              <a:spAutoFit/>
            </a:bodyPr>
            <a:lstStyle/>
            <a:p>
              <a:r>
                <a:rPr lang="en-US" dirty="0" err="1">
                  <a:latin typeface="Courier New" panose="02070309020205020404" pitchFamily="49" charset="0"/>
                  <a:cs typeface="Courier New" panose="02070309020205020404" pitchFamily="49" charset="0"/>
                </a:rPr>
                <a:t>IOError</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Errno</a:t>
              </a:r>
              <a:r>
                <a:rPr lang="en-US" dirty="0">
                  <a:latin typeface="Courier New" panose="02070309020205020404" pitchFamily="49" charset="0"/>
                  <a:cs typeface="Courier New" panose="02070309020205020404" pitchFamily="49" charset="0"/>
                </a:rPr>
                <a:t> 122] Disk quota exceeded</a:t>
              </a:r>
            </a:p>
          </p:txBody>
        </p:sp>
        <p:sp>
          <p:nvSpPr>
            <p:cNvPr id="26" name="Rectangle 25"/>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Low disk space</a:t>
              </a:r>
              <a:endParaRPr lang="nl-BE" dirty="0"/>
            </a:p>
          </p:txBody>
        </p:sp>
      </p:grpSp>
      <p:sp>
        <p:nvSpPr>
          <p:cNvPr id="2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Tree>
    <p:extLst>
      <p:ext uri="{BB962C8B-B14F-4D97-AF65-F5344CB8AC3E}">
        <p14:creationId xmlns:p14="http://schemas.microsoft.com/office/powerpoint/2010/main" val="4162165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686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686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686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686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6867">
                                            <p:txEl>
                                              <p:pRg st="4" end="4"/>
                                            </p:txEl>
                                          </p:spTgt>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nodeType="after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51384" y="1348051"/>
            <a:ext cx="4727928" cy="3665125"/>
          </a:xfrm>
          <a:ln w="19050">
            <a:noFill/>
          </a:ln>
        </p:spPr>
        <p:txBody>
          <a:bodyPr/>
          <a:lstStyle/>
          <a:p>
            <a:pPr marL="324000" indent="-324000" eaLnBrk="1" hangingPunct="1">
              <a:buClr>
                <a:srgbClr val="DB6C30"/>
              </a:buClr>
              <a:buBlip>
                <a:blip r:embed="rId2"/>
              </a:buBlip>
            </a:pPr>
            <a:r>
              <a:rPr lang="en-US" altLang="en-US" sz="2200" dirty="0"/>
              <a:t>Standard output and error channels can be redirected to other files:</a:t>
            </a:r>
            <a:br>
              <a:rPr lang="en-US" altLang="en-US" sz="2200" dirty="0"/>
            </a:br>
            <a:r>
              <a:rPr lang="en-US" altLang="en-US" sz="2000" dirty="0">
                <a:latin typeface="Courier New" panose="02070309020205020404" pitchFamily="49" charset="0"/>
                <a:cs typeface="Courier New" panose="02070309020205020404" pitchFamily="49" charset="0"/>
              </a:rPr>
              <a:t>#SBATCH --output … </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--error …</a:t>
            </a:r>
          </a:p>
        </p:txBody>
      </p:sp>
      <p:grpSp>
        <p:nvGrpSpPr>
          <p:cNvPr id="15" name="Group 14"/>
          <p:cNvGrpSpPr/>
          <p:nvPr/>
        </p:nvGrpSpPr>
        <p:grpSpPr>
          <a:xfrm>
            <a:off x="557323" y="5056690"/>
            <a:ext cx="4721989"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a:t>
              </a:r>
              <a:r>
                <a:rPr lang="en-US" sz="2000" b="1" dirty="0">
                  <a:solidFill>
                    <a:srgbClr val="FF0000"/>
                  </a:solidFill>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a:t>
              </a:r>
              <a:r>
                <a:rPr lang="en-US" sz="2000" b="1" dirty="0">
                  <a:solidFill>
                    <a:srgbClr val="FF0000"/>
                  </a:solidFill>
                  <a:latin typeface="Courier New" panose="02070309020205020404" pitchFamily="49" charset="0"/>
                  <a:cs typeface="Courier New" panose="02070309020205020404" pitchFamily="49" charset="0"/>
                </a:rPr>
                <a:t>60041238</a:t>
              </a:r>
              <a:r>
                <a:rPr lang="en-US" sz="2000" dirty="0">
                  <a:latin typeface="Courier New" panose="02070309020205020404" pitchFamily="49" charset="0"/>
                  <a:cs typeface="Courier New" panose="02070309020205020404" pitchFamily="49" charset="0"/>
                </a:rPr>
                <a:t>.out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grpSp>
      <p:grpSp>
        <p:nvGrpSpPr>
          <p:cNvPr id="13" name="Group 12"/>
          <p:cNvGrpSpPr/>
          <p:nvPr/>
        </p:nvGrpSpPr>
        <p:grpSpPr>
          <a:xfrm>
            <a:off x="5663952" y="522117"/>
            <a:ext cx="6056986" cy="5637952"/>
            <a:chOff x="5511622" y="188640"/>
            <a:chExt cx="6056986" cy="5637952"/>
          </a:xfrm>
        </p:grpSpPr>
        <p:grpSp>
          <p:nvGrpSpPr>
            <p:cNvPr id="24" name="Group 23"/>
            <p:cNvGrpSpPr/>
            <p:nvPr/>
          </p:nvGrpSpPr>
          <p:grpSpPr>
            <a:xfrm>
              <a:off x="5511622" y="188640"/>
              <a:ext cx="4400802" cy="5637952"/>
              <a:chOff x="5844851" y="2261939"/>
              <a:chExt cx="4175152" cy="5637952"/>
            </a:xfrm>
          </p:grpSpPr>
          <p:sp>
            <p:nvSpPr>
              <p:cNvPr id="25" name="TextBox 24"/>
              <p:cNvSpPr txBox="1"/>
              <p:nvPr/>
            </p:nvSpPr>
            <p:spPr>
              <a:xfrm>
                <a:off x="5844851" y="2636912"/>
                <a:ext cx="4175152" cy="5262979"/>
              </a:xfrm>
              <a:prstGeom prst="rect">
                <a:avLst/>
              </a:prstGeom>
              <a:noFill/>
              <a:ln w="19050">
                <a:solidFill>
                  <a:schemeClr val="accent5"/>
                </a:solidFill>
              </a:ln>
            </p:spPr>
            <p:txBody>
              <a:bodyPr wrap="square" rtlCol="0">
                <a:spAutoFit/>
              </a:bodyPr>
              <a:lstStyle/>
              <a:p>
                <a:r>
                  <a:rPr lang="en-US" sz="1600" dirty="0">
                    <a:latin typeface="Courier New" panose="02070309020205020404" pitchFamily="49" charset="0"/>
                    <a:cs typeface="Courier New" panose="02070309020205020404" pitchFamily="49" charset="0"/>
                  </a:rPr>
                  <a:t>SLURM_JOB_ID: 60033947</a:t>
                </a:r>
              </a:p>
              <a:p>
                <a:r>
                  <a:rPr lang="en-US" sz="1600" dirty="0">
                    <a:latin typeface="Courier New" panose="02070309020205020404" pitchFamily="49" charset="0"/>
                    <a:cs typeface="Courier New" panose="02070309020205020404" pitchFamily="49" charset="0"/>
                  </a:rPr>
                  <a:t>SLURM_JOB_USER: </a:t>
                </a:r>
                <a:r>
                  <a:rPr lang="en-US" sz="1600" dirty="0" err="1">
                    <a:latin typeface="Courier New" panose="02070309020205020404" pitchFamily="49" charset="0"/>
                    <a:cs typeface="Courier New" panose="02070309020205020404" pitchFamily="49" charset="0"/>
                  </a:rPr>
                  <a:t>vscXXXXX</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SLURM_JOB_ACCOUNT: </a:t>
                </a:r>
                <a:r>
                  <a:rPr lang="en-US" sz="1600" dirty="0" err="1">
                    <a:latin typeface="Courier New" panose="02070309020205020404" pitchFamily="49" charset="0"/>
                    <a:cs typeface="Courier New" panose="02070309020205020404" pitchFamily="49" charset="0"/>
                  </a:rPr>
                  <a:t>lp_wice_pilot</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SLURM_JOB_NAME: </a:t>
                </a:r>
                <a:r>
                  <a:rPr lang="en-US" sz="1600" dirty="0" err="1">
                    <a:latin typeface="Courier New" panose="02070309020205020404" pitchFamily="49" charset="0"/>
                    <a:cs typeface="Courier New" panose="02070309020205020404" pitchFamily="49" charset="0"/>
                  </a:rPr>
                  <a:t>testjob</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SLURM_CLUSTER_NAME: </a:t>
                </a:r>
                <a:r>
                  <a:rPr lang="en-US" sz="1600" dirty="0" err="1">
                    <a:latin typeface="Courier New" panose="02070309020205020404" pitchFamily="49" charset="0"/>
                    <a:cs typeface="Courier New" panose="02070309020205020404" pitchFamily="49" charset="0"/>
                  </a:rPr>
                  <a:t>wice</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SLURM_JOB_PARTITION: batch</a:t>
                </a:r>
              </a:p>
              <a:p>
                <a:r>
                  <a:rPr lang="en-US" sz="1600" dirty="0">
                    <a:latin typeface="Courier New" panose="02070309020205020404" pitchFamily="49" charset="0"/>
                    <a:cs typeface="Courier New" panose="02070309020205020404" pitchFamily="49" charset="0"/>
                  </a:rPr>
                  <a:t>SLURM_NNODES: 1</a:t>
                </a:r>
              </a:p>
              <a:p>
                <a:r>
                  <a:rPr lang="en-US" sz="1600" dirty="0">
                    <a:latin typeface="Courier New" panose="02070309020205020404" pitchFamily="49" charset="0"/>
                    <a:cs typeface="Courier New" panose="02070309020205020404" pitchFamily="49" charset="0"/>
                  </a:rPr>
                  <a:t>SLURM_NODELIST: m28c30n4</a:t>
                </a:r>
              </a:p>
              <a:p>
                <a:r>
                  <a:rPr lang="en-US" sz="1600" dirty="0">
                    <a:latin typeface="Courier New" panose="02070309020205020404" pitchFamily="49" charset="0"/>
                    <a:cs typeface="Courier New" panose="02070309020205020404" pitchFamily="49" charset="0"/>
                  </a:rPr>
                  <a:t>SLURM_JOB_CPUS_PER_NODE: 72</a:t>
                </a:r>
              </a:p>
              <a:p>
                <a:r>
                  <a:rPr lang="en-US" sz="1600" dirty="0">
                    <a:latin typeface="Courier New" panose="02070309020205020404" pitchFamily="49" charset="0"/>
                    <a:cs typeface="Courier New" panose="02070309020205020404" pitchFamily="49" charset="0"/>
                  </a:rPr>
                  <a:t>Date: Tue Jan 10 17:02:04 CET 2023</a:t>
                </a:r>
              </a:p>
              <a:p>
                <a:r>
                  <a:rPr lang="en-US" sz="1600" dirty="0" err="1">
                    <a:latin typeface="Courier New" panose="02070309020205020404" pitchFamily="49" charset="0"/>
                    <a:cs typeface="Courier New" panose="02070309020205020404" pitchFamily="49" charset="0"/>
                  </a:rPr>
                  <a:t>Walltime</a:t>
                </a:r>
                <a:r>
                  <a:rPr lang="en-US" sz="1600" dirty="0">
                    <a:latin typeface="Courier New" panose="02070309020205020404" pitchFamily="49" charset="0"/>
                    <a:cs typeface="Courier New" panose="02070309020205020404" pitchFamily="49" charset="0"/>
                  </a:rPr>
                  <a:t>: 00-01:00:00</a:t>
                </a:r>
              </a:p>
              <a:p>
                <a:r>
                  <a:rPr lang="en-US" sz="1600" dirty="0">
                    <a:latin typeface="Courier New" panose="02070309020205020404" pitchFamily="49" charset="0"/>
                    <a:cs typeface="Courier New" panose="02070309020205020404" pitchFamily="49" charset="0"/>
                  </a:rPr>
                  <a:t>==================================</a:t>
                </a:r>
              </a:p>
              <a:p>
                <a:r>
                  <a:rPr lang="en-US" sz="1600" dirty="0">
                    <a:latin typeface="Courier New" panose="02070309020205020404" pitchFamily="49" charset="0"/>
                    <a:cs typeface="Courier New" panose="02070309020205020404" pitchFamily="49" charset="0"/>
                  </a:rPr>
                  <a:t>/apps/</a:t>
                </a:r>
                <a:r>
                  <a:rPr lang="en-US" sz="1600" dirty="0" err="1">
                    <a:latin typeface="Courier New" panose="02070309020205020404" pitchFamily="49" charset="0"/>
                    <a:cs typeface="Courier New" panose="02070309020205020404" pitchFamily="49" charset="0"/>
                  </a:rPr>
                  <a:t>leuven</a:t>
                </a:r>
                <a:r>
                  <a:rPr lang="en-US" sz="1600" dirty="0">
                    <a:latin typeface="Courier New" panose="02070309020205020404" pitchFamily="49" charset="0"/>
                    <a:cs typeface="Courier New" panose="02070309020205020404" pitchFamily="49" charset="0"/>
                  </a:rPr>
                  <a:t>/rocky8/</a:t>
                </a:r>
                <a:r>
                  <a:rPr lang="en-US" sz="1600" dirty="0" err="1">
                    <a:latin typeface="Courier New" panose="02070309020205020404" pitchFamily="49" charset="0"/>
                    <a:cs typeface="Courier New" panose="02070309020205020404" pitchFamily="49" charset="0"/>
                  </a:rPr>
                  <a:t>icelake</a:t>
                </a:r>
                <a:r>
                  <a:rPr lang="en-US" sz="1600" dirty="0">
                    <a:latin typeface="Courier New" panose="02070309020205020404" pitchFamily="49" charset="0"/>
                    <a:cs typeface="Courier New" panose="02070309020205020404" pitchFamily="49" charset="0"/>
                  </a:rPr>
                  <a:t>/2021a/</a:t>
                </a:r>
                <a:r>
                  <a:rPr lang="en-US" sz="1600" dirty="0" err="1">
                    <a:latin typeface="Courier New" panose="02070309020205020404" pitchFamily="49" charset="0"/>
                    <a:cs typeface="Courier New" panose="02070309020205020404" pitchFamily="49" charset="0"/>
                  </a:rPr>
                  <a:t>softwar</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e/intel-compilers/2021.2.0/compile</a:t>
                </a:r>
              </a:p>
              <a:p>
                <a:r>
                  <a:rPr lang="en-US" sz="1600" dirty="0">
                    <a:latin typeface="Courier New" panose="02070309020205020404" pitchFamily="49" charset="0"/>
                    <a:cs typeface="Courier New" panose="02070309020205020404" pitchFamily="49" charset="0"/>
                  </a:rPr>
                  <a:t>r/2021.2.0/</a:t>
                </a:r>
                <a:r>
                  <a:rPr lang="en-US" sz="1600" dirty="0" err="1">
                    <a:latin typeface="Courier New" panose="02070309020205020404" pitchFamily="49" charset="0"/>
                    <a:cs typeface="Courier New" panose="02070309020205020404" pitchFamily="49" charset="0"/>
                  </a:rPr>
                  <a:t>linux</a:t>
                </a:r>
                <a:r>
                  <a:rPr lang="en-US" sz="1600" dirty="0">
                    <a:latin typeface="Courier New" panose="02070309020205020404" pitchFamily="49" charset="0"/>
                    <a:cs typeface="Courier New" panose="02070309020205020404" pitchFamily="49" charset="0"/>
                  </a:rPr>
                  <a:t>/bin/intel64/</a:t>
                </a:r>
                <a:r>
                  <a:rPr lang="en-US" sz="1600" dirty="0" err="1">
                    <a:latin typeface="Courier New" panose="02070309020205020404" pitchFamily="49" charset="0"/>
                    <a:cs typeface="Courier New" panose="02070309020205020404" pitchFamily="49" charset="0"/>
                  </a:rPr>
                  <a:t>icc</a:t>
                </a:r>
                <a:endParaRPr lang="en-US" sz="1600" dirty="0">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cp</a:t>
                </a:r>
                <a:r>
                  <a:rPr lang="en-US" sz="1600" dirty="0">
                    <a:solidFill>
                      <a:srgbClr val="FF0000"/>
                    </a:solidFill>
                    <a:latin typeface="Courier New" panose="02070309020205020404" pitchFamily="49" charset="0"/>
                    <a:cs typeface="Courier New" panose="02070309020205020404" pitchFamily="49" charset="0"/>
                  </a:rPr>
                  <a:t>: cannot stat '/apps/</a:t>
                </a:r>
                <a:r>
                  <a:rPr lang="en-US" sz="1600" dirty="0" err="1">
                    <a:solidFill>
                      <a:srgbClr val="FF0000"/>
                    </a:solidFill>
                    <a:latin typeface="Courier New" panose="02070309020205020404" pitchFamily="49" charset="0"/>
                    <a:cs typeface="Courier New" panose="02070309020205020404" pitchFamily="49" charset="0"/>
                  </a:rPr>
                  <a:t>leuven</a:t>
                </a:r>
                <a:r>
                  <a:rPr lang="en-US" sz="1600" dirty="0">
                    <a:solidFill>
                      <a:srgbClr val="FF0000"/>
                    </a:solidFill>
                    <a:latin typeface="Courier New" panose="02070309020205020404" pitchFamily="49" charset="0"/>
                    <a:cs typeface="Courier New" panose="02070309020205020404" pitchFamily="49" charset="0"/>
                  </a:rPr>
                  <a:t>/</a:t>
                </a:r>
                <a:r>
                  <a:rPr lang="en-US" sz="1600" dirty="0" err="1">
                    <a:solidFill>
                      <a:srgbClr val="FF0000"/>
                    </a:solidFill>
                    <a:latin typeface="Courier New" panose="02070309020205020404" pitchFamily="49" charset="0"/>
                    <a:cs typeface="Courier New" panose="02070309020205020404" pitchFamily="49" charset="0"/>
                  </a:rPr>
                  <a:t>trai</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ning</a:t>
                </a:r>
                <a:r>
                  <a:rPr lang="en-US" sz="1600" dirty="0">
                    <a:solidFill>
                      <a:srgbClr val="FF0000"/>
                    </a:solidFill>
                    <a:latin typeface="Courier New" panose="02070309020205020404" pitchFamily="49" charset="0"/>
                    <a:cs typeface="Courier New" panose="02070309020205020404" pitchFamily="49" charset="0"/>
                  </a:rPr>
                  <a:t>/test': No such file </a:t>
                </a:r>
                <a:r>
                  <a:rPr lang="en-US" sz="1600" dirty="0" err="1">
                    <a:solidFill>
                      <a:srgbClr val="FF0000"/>
                    </a:solidFill>
                    <a:latin typeface="Courier New" panose="02070309020205020404" pitchFamily="49" charset="0"/>
                    <a:cs typeface="Courier New" panose="02070309020205020404" pitchFamily="49" charset="0"/>
                  </a:rPr>
                  <a:t>ordirecto</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ry</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Hello World</a:t>
                </a:r>
              </a:p>
              <a:p>
                <a:endParaRPr lang="en-US" sz="1600" dirty="0">
                  <a:latin typeface="Courier New" panose="02070309020205020404" pitchFamily="49" charset="0"/>
                  <a:cs typeface="Courier New" panose="02070309020205020404" pitchFamily="49" charset="0"/>
                </a:endParaRPr>
              </a:p>
            </p:txBody>
          </p:sp>
          <p:sp>
            <p:nvSpPr>
              <p:cNvPr id="26" name="Rectangle 25"/>
              <p:cNvSpPr/>
              <p:nvPr/>
            </p:nvSpPr>
            <p:spPr>
              <a:xfrm>
                <a:off x="8219802"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Output file</a:t>
                </a:r>
                <a:endParaRPr lang="nl-BE" dirty="0"/>
              </a:p>
            </p:txBody>
          </p:sp>
        </p:grpSp>
        <p:grpSp>
          <p:nvGrpSpPr>
            <p:cNvPr id="9" name="Group 8"/>
            <p:cNvGrpSpPr/>
            <p:nvPr/>
          </p:nvGrpSpPr>
          <p:grpSpPr>
            <a:xfrm>
              <a:off x="10056440" y="637500"/>
              <a:ext cx="1507802" cy="2658064"/>
              <a:chOff x="9765734" y="721629"/>
              <a:chExt cx="1514842" cy="720080"/>
            </a:xfrm>
          </p:grpSpPr>
          <p:sp>
            <p:nvSpPr>
              <p:cNvPr id="3" name="Rectangle 2"/>
              <p:cNvSpPr/>
              <p:nvPr/>
            </p:nvSpPr>
            <p:spPr>
              <a:xfrm>
                <a:off x="9984432" y="970669"/>
                <a:ext cx="1296144" cy="234087"/>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Resource summary</a:t>
                </a:r>
                <a:endParaRPr lang="nl-BE" dirty="0"/>
              </a:p>
            </p:txBody>
          </p:sp>
          <p:cxnSp>
            <p:nvCxnSpPr>
              <p:cNvPr id="5" name="Straight Connector 4"/>
              <p:cNvCxnSpPr>
                <a:stCxn id="3" idx="1"/>
              </p:cNvCxnSpPr>
              <p:nvPr/>
            </p:nvCxnSpPr>
            <p:spPr>
              <a:xfrm flipH="1">
                <a:off x="9772774" y="1087712"/>
                <a:ext cx="211658" cy="1028"/>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9765734" y="721629"/>
                <a:ext cx="0" cy="72008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27" name="Group 26"/>
            <p:cNvGrpSpPr/>
            <p:nvPr/>
          </p:nvGrpSpPr>
          <p:grpSpPr>
            <a:xfrm>
              <a:off x="10056440" y="3513111"/>
              <a:ext cx="1512168" cy="1788097"/>
              <a:chOff x="9768408" y="839388"/>
              <a:chExt cx="1512168" cy="548640"/>
            </a:xfrm>
          </p:grpSpPr>
          <p:sp>
            <p:nvSpPr>
              <p:cNvPr id="28" name="Rectangle 27"/>
              <p:cNvSpPr/>
              <p:nvPr/>
            </p:nvSpPr>
            <p:spPr>
              <a:xfrm>
                <a:off x="9984432" y="1021716"/>
                <a:ext cx="1296144" cy="133774"/>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cxnSp>
            <p:nvCxnSpPr>
              <p:cNvPr id="29" name="Straight Connector 28"/>
              <p:cNvCxnSpPr>
                <a:stCxn id="28" idx="1"/>
              </p:cNvCxnSpPr>
              <p:nvPr/>
            </p:nvCxnSpPr>
            <p:spPr>
              <a:xfrm flipH="1">
                <a:off x="9768408" y="1088603"/>
                <a:ext cx="216024" cy="137"/>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9772674" y="839388"/>
                <a:ext cx="0" cy="54864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7" name="Slide Number Placeholder 6"/>
          <p:cNvSpPr>
            <a:spLocks noGrp="1"/>
          </p:cNvSpPr>
          <p:nvPr>
            <p:ph type="sldNum" sz="quarter" idx="12"/>
          </p:nvPr>
        </p:nvSpPr>
        <p:spPr/>
        <p:txBody>
          <a:bodyPr/>
          <a:lstStyle/>
          <a:p>
            <a:fld id="{F35D8031-C8E5-48F8-A3B6-81643B27A3AF}" type="slidenum">
              <a:rPr lang="nl-BE" smtClean="0"/>
              <a:pPr/>
              <a:t>89</a:t>
            </a:fld>
            <a:endParaRPr lang="nl-BE" dirty="0"/>
          </a:p>
        </p:txBody>
      </p:sp>
      <p:sp>
        <p:nvSpPr>
          <p:cNvPr id="2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Tree>
    <p:extLst>
      <p:ext uri="{BB962C8B-B14F-4D97-AF65-F5344CB8AC3E}">
        <p14:creationId xmlns:p14="http://schemas.microsoft.com/office/powerpoint/2010/main" val="2123188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90</a:t>
            </a:fld>
            <a:endParaRPr lang="nl-BE" dirty="0"/>
          </a:p>
        </p:txBody>
      </p:sp>
      <p:sp>
        <p:nvSpPr>
          <p:cNvPr id="16" name="TextBox 15"/>
          <p:cNvSpPr txBox="1"/>
          <p:nvPr/>
        </p:nvSpPr>
        <p:spPr>
          <a:xfrm>
            <a:off x="623392" y="1211685"/>
            <a:ext cx="11233249" cy="3693319"/>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scontrol</a:t>
            </a:r>
            <a:r>
              <a:rPr lang="en-US" dirty="0">
                <a:latin typeface="Courier New" panose="02070309020205020404" pitchFamily="49" charset="0"/>
                <a:cs typeface="Courier New" panose="02070309020205020404" pitchFamily="49" charset="0"/>
              </a:rPr>
              <a:t> show job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60049330</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JobId</a:t>
            </a:r>
            <a:r>
              <a:rPr lang="en-US" dirty="0">
                <a:latin typeface="Courier New" panose="02070309020205020404" pitchFamily="49" charset="0"/>
                <a:cs typeface="Courier New" panose="02070309020205020404" pitchFamily="49" charset="0"/>
              </a:rPr>
              <a:t>=60049330 </a:t>
            </a:r>
            <a:r>
              <a:rPr lang="en-US" dirty="0" err="1">
                <a:latin typeface="Courier New" panose="02070309020205020404" pitchFamily="49" charset="0"/>
                <a:cs typeface="Courier New" panose="02070309020205020404" pitchFamily="49" charset="0"/>
              </a:rPr>
              <a:t>JobName</a:t>
            </a:r>
            <a:r>
              <a:rPr lang="en-US" dirty="0">
                <a:latin typeface="Courier New" panose="02070309020205020404" pitchFamily="49" charset="0"/>
                <a:cs typeface="Courier New" panose="02070309020205020404" pitchFamily="49" charset="0"/>
              </a:rPr>
              <a:t>=f70.slurm</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UserId</a:t>
            </a:r>
            <a:r>
              <a:rPr lang="en-US" dirty="0">
                <a:latin typeface="Courier New" panose="02070309020205020404" pitchFamily="49" charset="0"/>
                <a:cs typeface="Courier New" panose="02070309020205020404" pitchFamily="49" charset="0"/>
              </a:rPr>
              <a:t>=vsc3…(253…) </a:t>
            </a:r>
            <a:r>
              <a:rPr lang="en-US" dirty="0" err="1">
                <a:latin typeface="Courier New" panose="02070309020205020404" pitchFamily="49" charset="0"/>
                <a:cs typeface="Courier New" panose="02070309020205020404" pitchFamily="49" charset="0"/>
              </a:rPr>
              <a:t>GroupId</a:t>
            </a:r>
            <a:r>
              <a:rPr lang="en-US" dirty="0">
                <a:latin typeface="Courier New" panose="02070309020205020404" pitchFamily="49" charset="0"/>
                <a:cs typeface="Courier New" panose="02070309020205020404" pitchFamily="49" charset="0"/>
              </a:rPr>
              <a:t>=vsc3…(253…)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Account</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lp_my_project</a:t>
            </a:r>
            <a:r>
              <a:rPr lang="en-US" dirty="0">
                <a:latin typeface="Courier New" panose="02070309020205020404" pitchFamily="49" charset="0"/>
                <a:cs typeface="Courier New" panose="02070309020205020404" pitchFamily="49" charset="0"/>
              </a:rPr>
              <a:t> QOS=</a:t>
            </a:r>
            <a:r>
              <a:rPr lang="en-US" dirty="0" err="1">
                <a:latin typeface="Courier New" panose="02070309020205020404" pitchFamily="49" charset="0"/>
                <a:cs typeface="Courier New" panose="02070309020205020404" pitchFamily="49" charset="0"/>
              </a:rPr>
              <a:t>lp_my_project</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JobState</a:t>
            </a:r>
            <a:r>
              <a:rPr lang="en-US" dirty="0">
                <a:latin typeface="Courier New" panose="02070309020205020404" pitchFamily="49" charset="0"/>
                <a:cs typeface="Courier New" panose="02070309020205020404" pitchFamily="49" charset="0"/>
              </a:rPr>
              <a:t>=PENDING </a:t>
            </a:r>
            <a:r>
              <a:rPr lang="en-US" b="1" dirty="0">
                <a:latin typeface="Courier New" panose="02070309020205020404" pitchFamily="49" charset="0"/>
                <a:cs typeface="Courier New" panose="02070309020205020404" pitchFamily="49" charset="0"/>
              </a:rPr>
              <a:t>Reason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QOSGrpBillingMinutes</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SubmitTime</a:t>
            </a:r>
            <a:r>
              <a:rPr lang="en-US" dirty="0">
                <a:latin typeface="Courier New" panose="02070309020205020404" pitchFamily="49" charset="0"/>
                <a:cs typeface="Courier New" panose="02070309020205020404" pitchFamily="49" charset="0"/>
              </a:rPr>
              <a:t>=2023-02-16T00:24:58 </a:t>
            </a:r>
            <a:r>
              <a:rPr lang="en-US" dirty="0" err="1">
                <a:latin typeface="Courier New" panose="02070309020205020404" pitchFamily="49" charset="0"/>
                <a:cs typeface="Courier New" panose="02070309020205020404" pitchFamily="49" charset="0"/>
              </a:rPr>
              <a:t>EligibleTime</a:t>
            </a:r>
            <a:r>
              <a:rPr lang="en-US" dirty="0">
                <a:latin typeface="Courier New" panose="02070309020205020404" pitchFamily="49" charset="0"/>
                <a:cs typeface="Courier New" panose="02070309020205020404" pitchFamily="49" charset="0"/>
              </a:rPr>
              <a:t>=2023-02-16T00:24:58</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Partition=batch </a:t>
            </a:r>
            <a:r>
              <a:rPr lang="en-US" dirty="0" err="1">
                <a:latin typeface="Courier New" panose="02070309020205020404" pitchFamily="49" charset="0"/>
                <a:cs typeface="Courier New" panose="02070309020205020404" pitchFamily="49" charset="0"/>
              </a:rPr>
              <a:t>NodeList</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NumNodes</a:t>
            </a:r>
            <a:r>
              <a:rPr lang="en-US" dirty="0">
                <a:latin typeface="Courier New" panose="02070309020205020404" pitchFamily="49" charset="0"/>
                <a:cs typeface="Courier New" panose="02070309020205020404" pitchFamily="49" charset="0"/>
              </a:rPr>
              <a:t>=4-4 </a:t>
            </a:r>
            <a:r>
              <a:rPr lang="en-US" dirty="0" err="1">
                <a:latin typeface="Courier New" panose="02070309020205020404" pitchFamily="49" charset="0"/>
                <a:cs typeface="Courier New" panose="02070309020205020404" pitchFamily="49" charset="0"/>
              </a:rPr>
              <a:t>NumCPUs</a:t>
            </a:r>
            <a:r>
              <a:rPr lang="en-US" dirty="0">
                <a:latin typeface="Courier New" panose="02070309020205020404" pitchFamily="49" charset="0"/>
                <a:cs typeface="Courier New" panose="02070309020205020404" pitchFamily="49" charset="0"/>
              </a:rPr>
              <a:t>=288 </a:t>
            </a:r>
            <a:r>
              <a:rPr lang="en-US" dirty="0" err="1">
                <a:latin typeface="Courier New" panose="02070309020205020404" pitchFamily="49" charset="0"/>
                <a:cs typeface="Courier New" panose="02070309020205020404" pitchFamily="49" charset="0"/>
              </a:rPr>
              <a:t>NumTasks</a:t>
            </a:r>
            <a:r>
              <a:rPr lang="en-US" dirty="0">
                <a:latin typeface="Courier New" panose="02070309020205020404" pitchFamily="49" charset="0"/>
                <a:cs typeface="Courier New" panose="02070309020205020404" pitchFamily="49" charset="0"/>
              </a:rPr>
              <a:t>=288 CPUs/Task=1</a:t>
            </a:r>
          </a:p>
          <a:p>
            <a:r>
              <a:rPr lang="en-US" dirty="0">
                <a:latin typeface="Courier New" panose="02070309020205020404" pitchFamily="49" charset="0"/>
                <a:cs typeface="Courier New" panose="02070309020205020404" pitchFamily="49" charset="0"/>
              </a:rPr>
              <a:t>   TRES=</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=288,mem=979200M,node=4,billing=733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MinCPUsNode</a:t>
            </a:r>
            <a:r>
              <a:rPr lang="en-US" dirty="0">
                <a:latin typeface="Courier New" panose="02070309020205020404" pitchFamily="49" charset="0"/>
                <a:cs typeface="Courier New" panose="02070309020205020404" pitchFamily="49" charset="0"/>
              </a:rPr>
              <a:t>=72 </a:t>
            </a:r>
            <a:r>
              <a:rPr lang="en-US" dirty="0" err="1">
                <a:latin typeface="Courier New" panose="02070309020205020404" pitchFamily="49" charset="0"/>
                <a:cs typeface="Courier New" panose="02070309020205020404" pitchFamily="49" charset="0"/>
              </a:rPr>
              <a:t>MinMemoryCPU</a:t>
            </a:r>
            <a:r>
              <a:rPr lang="en-US" dirty="0">
                <a:latin typeface="Courier New" panose="02070309020205020404" pitchFamily="49" charset="0"/>
                <a:cs typeface="Courier New" panose="02070309020205020404" pitchFamily="49" charset="0"/>
              </a:rPr>
              <a:t>=3400M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WorkDir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StdErr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StdIn</a:t>
            </a:r>
            <a:r>
              <a:rPr lang="en-US" dirty="0">
                <a:latin typeface="Courier New" panose="02070309020205020404" pitchFamily="49" charset="0"/>
                <a:cs typeface="Courier New" panose="02070309020205020404" pitchFamily="49" charset="0"/>
              </a:rPr>
              <a:t>=/dev/null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StdOut</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p:txBody>
      </p:sp>
      <p:sp>
        <p:nvSpPr>
          <p:cNvPr id="17" name="Rectangle 16"/>
          <p:cNvSpPr/>
          <p:nvPr/>
        </p:nvSpPr>
        <p:spPr>
          <a:xfrm>
            <a:off x="9959147" y="836712"/>
            <a:ext cx="1897494"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nvGrpSpPr>
          <p:cNvPr id="5" name="Group 4">
            <a:extLst>
              <a:ext uri="{FF2B5EF4-FFF2-40B4-BE49-F238E27FC236}">
                <a16:creationId xmlns:a16="http://schemas.microsoft.com/office/drawing/2014/main" id="{C35AB45D-F61D-A5D4-2B22-B2B0B3BB633D}"/>
              </a:ext>
            </a:extLst>
          </p:cNvPr>
          <p:cNvGrpSpPr/>
          <p:nvPr/>
        </p:nvGrpSpPr>
        <p:grpSpPr>
          <a:xfrm>
            <a:off x="623392" y="5067857"/>
            <a:ext cx="11233249" cy="1025439"/>
            <a:chOff x="623392" y="5067857"/>
            <a:chExt cx="11233249" cy="1025439"/>
          </a:xfrm>
        </p:grpSpPr>
        <p:sp>
          <p:nvSpPr>
            <p:cNvPr id="3" name="TextBox 2">
              <a:extLst>
                <a:ext uri="{FF2B5EF4-FFF2-40B4-BE49-F238E27FC236}">
                  <a16:creationId xmlns:a16="http://schemas.microsoft.com/office/drawing/2014/main" id="{F55797C3-543B-EA74-F179-CA8D2B7E5997}"/>
                </a:ext>
              </a:extLst>
            </p:cNvPr>
            <p:cNvSpPr txBox="1"/>
            <p:nvPr/>
          </p:nvSpPr>
          <p:spPr>
            <a:xfrm>
              <a:off x="623392" y="5446965"/>
              <a:ext cx="11233249" cy="646331"/>
            </a:xfrm>
            <a:prstGeom prst="rect">
              <a:avLst/>
            </a:prstGeom>
            <a:noFill/>
            <a:ln w="19050">
              <a:solidFill>
                <a:schemeClr val="accent5"/>
              </a:solidFill>
            </a:ln>
          </p:spPr>
          <p:txBody>
            <a:bodyPr wrap="square" rtlCol="0">
              <a:spAutoFit/>
            </a:bodyPr>
            <a:lstStyle/>
            <a:p>
              <a:r>
                <a:rPr lang="en-US" dirty="0">
                  <a:cs typeface="Courier New" panose="02070309020205020404" pitchFamily="49" charset="0"/>
                </a:rPr>
                <a:t>Why does my job remain in a pending state?</a:t>
              </a:r>
              <a:br>
                <a:rPr lang="en-US" dirty="0">
                  <a:cs typeface="Courier New" panose="02070309020205020404" pitchFamily="49" charset="0"/>
                </a:rPr>
              </a:br>
              <a:r>
                <a:rPr lang="en-US" dirty="0">
                  <a:cs typeface="Courier New" panose="02070309020205020404" pitchFamily="49" charset="0"/>
                </a:rPr>
                <a:t>Check out the “Reason” on </a:t>
              </a:r>
              <a:r>
                <a:rPr lang="en-US" dirty="0" err="1">
                  <a:cs typeface="Courier New" panose="02070309020205020404" pitchFamily="49" charset="0"/>
                </a:rPr>
                <a:t>Slurm</a:t>
              </a:r>
              <a:r>
                <a:rPr lang="en-US" dirty="0">
                  <a:cs typeface="Courier New" panose="02070309020205020404" pitchFamily="49" charset="0"/>
                </a:rPr>
                <a:t> docs: </a:t>
              </a:r>
              <a:r>
                <a:rPr lang="en-US" dirty="0">
                  <a:cs typeface="Courier New" panose="02070309020205020404" pitchFamily="49" charset="0"/>
                  <a:hlinkClick r:id="rId2"/>
                </a:rPr>
                <a:t>https://slurm.schedmd.com/resource_limits.html</a:t>
              </a:r>
              <a:r>
                <a:rPr lang="en-US" dirty="0">
                  <a:cs typeface="Courier New" panose="02070309020205020404" pitchFamily="49" charset="0"/>
                </a:rPr>
                <a:t> </a:t>
              </a:r>
            </a:p>
          </p:txBody>
        </p:sp>
        <p:sp>
          <p:nvSpPr>
            <p:cNvPr id="4" name="Rectangle 3">
              <a:extLst>
                <a:ext uri="{FF2B5EF4-FFF2-40B4-BE49-F238E27FC236}">
                  <a16:creationId xmlns:a16="http://schemas.microsoft.com/office/drawing/2014/main" id="{80C3FBB1-3423-C5B6-83E6-09648264FF3A}"/>
                </a:ext>
              </a:extLst>
            </p:cNvPr>
            <p:cNvSpPr/>
            <p:nvPr/>
          </p:nvSpPr>
          <p:spPr>
            <a:xfrm>
              <a:off x="9959147" y="5067857"/>
              <a:ext cx="1897494"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Diagnosis</a:t>
              </a:r>
              <a:endParaRPr lang="nl-BE" dirty="0"/>
            </a:p>
          </p:txBody>
        </p:sp>
      </p:gr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Job monitoring</a:t>
            </a:r>
          </a:p>
        </p:txBody>
      </p:sp>
    </p:spTree>
    <p:extLst>
      <p:ext uri="{BB962C8B-B14F-4D97-AF65-F5344CB8AC3E}">
        <p14:creationId xmlns:p14="http://schemas.microsoft.com/office/powerpoint/2010/main" val="1335168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43493" y="1988840"/>
            <a:ext cx="5293467" cy="1281211"/>
          </a:xfrm>
          <a:ln w="19050">
            <a:solidFill>
              <a:schemeClr val="accent5"/>
            </a:solidFill>
          </a:ln>
        </p:spPr>
        <p:txBody>
          <a:bodyPr anchor="ctr"/>
          <a:lstStyle/>
          <a:p>
            <a:pPr marL="0" inden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gpu</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ntasks</a:t>
            </a:r>
            <a:r>
              <a:rPr lang="en-US" altLang="en-US" sz="2000" dirty="0">
                <a:latin typeface="Courier New" panose="02070309020205020404" pitchFamily="49" charset="0"/>
                <a:cs typeface="Courier New" panose="02070309020205020404" pitchFamily="49" charset="0"/>
              </a:rPr>
              <a:t>=18</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gpus</a:t>
            </a:r>
            <a:r>
              <a:rPr lang="en-US" altLang="en-US" sz="2000" dirty="0">
                <a:latin typeface="Courier New" panose="02070309020205020404" pitchFamily="49" charset="0"/>
                <a:cs typeface="Courier New" panose="02070309020205020404" pitchFamily="49" charset="0"/>
              </a:rPr>
              <a:t>-per-node=1</a:t>
            </a:r>
          </a:p>
        </p:txBody>
      </p:sp>
      <p:sp>
        <p:nvSpPr>
          <p:cNvPr id="4" name="Rectangle 3">
            <a:extLst>
              <a:ext uri="{FF2B5EF4-FFF2-40B4-BE49-F238E27FC236}">
                <a16:creationId xmlns:a16="http://schemas.microsoft.com/office/drawing/2014/main" id="{72381A4B-F932-412A-802A-C2C6BDA6B15E}"/>
              </a:ext>
            </a:extLst>
          </p:cNvPr>
          <p:cNvSpPr/>
          <p:nvPr/>
        </p:nvSpPr>
        <p:spPr>
          <a:xfrm>
            <a:off x="4008841" y="1685875"/>
            <a:ext cx="1826749" cy="3029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GPU</a:t>
            </a:r>
          </a:p>
        </p:txBody>
      </p:sp>
      <p:sp>
        <p:nvSpPr>
          <p:cNvPr id="41" name="Rectangle 3">
            <a:extLst>
              <a:ext uri="{FF2B5EF4-FFF2-40B4-BE49-F238E27FC236}">
                <a16:creationId xmlns:a16="http://schemas.microsoft.com/office/drawing/2014/main" id="{9FD2ED5F-EE6F-4CD2-8FC6-61DEBA3A9ECB}"/>
              </a:ext>
            </a:extLst>
          </p:cNvPr>
          <p:cNvSpPr txBox="1">
            <a:spLocks noChangeArrowheads="1"/>
          </p:cNvSpPr>
          <p:nvPr/>
        </p:nvSpPr>
        <p:spPr>
          <a:xfrm>
            <a:off x="6347151" y="1988840"/>
            <a:ext cx="5293467" cy="1281211"/>
          </a:xfrm>
          <a:prstGeom prst="rect">
            <a:avLst/>
          </a:prstGeom>
          <a:ln w="19050">
            <a:solidFill>
              <a:schemeClr val="accent5"/>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bigmem</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--tasks-per-node=72</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--mem-per-</a:t>
            </a:r>
            <a:r>
              <a:rPr lang="en-US" altLang="en-US" sz="2000" dirty="0" err="1">
                <a:latin typeface="Courier New" panose="02070309020205020404" pitchFamily="49" charset="0"/>
                <a:cs typeface="Courier New" panose="02070309020205020404" pitchFamily="49" charset="0"/>
              </a:rPr>
              <a:t>cpu</a:t>
            </a:r>
            <a:r>
              <a:rPr lang="en-US" altLang="en-US" sz="2000" dirty="0">
                <a:latin typeface="Courier New" panose="02070309020205020404" pitchFamily="49" charset="0"/>
                <a:cs typeface="Courier New" panose="02070309020205020404" pitchFamily="49" charset="0"/>
              </a:rPr>
              <a:t>=28000M</a:t>
            </a:r>
          </a:p>
        </p:txBody>
      </p:sp>
      <p:sp>
        <p:nvSpPr>
          <p:cNvPr id="42" name="Rectangle 41">
            <a:extLst>
              <a:ext uri="{FF2B5EF4-FFF2-40B4-BE49-F238E27FC236}">
                <a16:creationId xmlns:a16="http://schemas.microsoft.com/office/drawing/2014/main" id="{4E917B62-B733-4070-B91F-049293052A15}"/>
              </a:ext>
            </a:extLst>
          </p:cNvPr>
          <p:cNvSpPr/>
          <p:nvPr/>
        </p:nvSpPr>
        <p:spPr>
          <a:xfrm>
            <a:off x="9812499" y="1685875"/>
            <a:ext cx="1826749" cy="3029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Big memory</a:t>
            </a:r>
          </a:p>
        </p:txBody>
      </p:sp>
      <p:sp>
        <p:nvSpPr>
          <p:cNvPr id="6" name="Slide Number Placeholder 5"/>
          <p:cNvSpPr>
            <a:spLocks noGrp="1"/>
          </p:cNvSpPr>
          <p:nvPr>
            <p:ph type="sldNum" sz="quarter" idx="12"/>
          </p:nvPr>
        </p:nvSpPr>
        <p:spPr/>
        <p:txBody>
          <a:bodyPr/>
          <a:lstStyle/>
          <a:p>
            <a:fld id="{F35D8031-C8E5-48F8-A3B6-81643B27A3AF}" type="slidenum">
              <a:rPr lang="nl-BE" smtClean="0"/>
              <a:pPr/>
              <a:t>91</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Other </a:t>
            </a:r>
            <a:r>
              <a:rPr lang="en-US" altLang="en-US" sz="3200" dirty="0" err="1"/>
              <a:t>wICE</a:t>
            </a:r>
            <a:r>
              <a:rPr lang="en-US" altLang="en-US" sz="3200" dirty="0"/>
              <a:t> partitions</a:t>
            </a:r>
          </a:p>
        </p:txBody>
      </p:sp>
    </p:spTree>
    <p:extLst>
      <p:ext uri="{BB962C8B-B14F-4D97-AF65-F5344CB8AC3E}">
        <p14:creationId xmlns:p14="http://schemas.microsoft.com/office/powerpoint/2010/main" val="3833250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animBg="1"/>
      <p:bldP spid="4" grpId="0" animBg="1"/>
      <p:bldP spid="41" grpId="0" animBg="1"/>
      <p:bldP spid="42"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92</a:t>
            </a:fld>
            <a:endParaRPr lang="nl-BE" dirty="0"/>
          </a:p>
        </p:txBody>
      </p:sp>
      <p:sp>
        <p:nvSpPr>
          <p:cNvPr id="38915" name="Rectangle 3"/>
          <p:cNvSpPr>
            <a:spLocks noGrp="1" noChangeArrowheads="1"/>
          </p:cNvSpPr>
          <p:nvPr>
            <p:ph idx="1"/>
          </p:nvPr>
        </p:nvSpPr>
        <p:spPr>
          <a:xfrm>
            <a:off x="620704" y="4734517"/>
            <a:ext cx="10693036" cy="1224136"/>
          </a:xfrm>
          <a:ln w="25400">
            <a:solidFill>
              <a:schemeClr val="accent5"/>
            </a:solidFill>
          </a:ln>
        </p:spPr>
        <p:txBody>
          <a:bodyPr anchor="ctr"/>
          <a:lstStyle/>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srun</a:t>
            </a:r>
            <a:r>
              <a:rPr lang="en-US" dirty="0">
                <a:latin typeface="Courier New" panose="02070309020205020404" pitchFamily="49" charset="0"/>
                <a:cs typeface="Courier New" panose="02070309020205020404" pitchFamily="49" charset="0"/>
              </a:rPr>
              <a:t> --account=</a:t>
            </a:r>
            <a:r>
              <a:rPr lang="en-US" dirty="0" err="1">
                <a:latin typeface="Courier New" panose="02070309020205020404" pitchFamily="49" charset="0"/>
                <a:cs typeface="Courier New" panose="02070309020205020404" pitchFamily="49" charset="0"/>
              </a:rPr>
              <a:t>lp_myproject</a:t>
            </a:r>
            <a:r>
              <a:rPr lang="en-US" dirty="0">
                <a:latin typeface="Courier New" panose="02070309020205020404" pitchFamily="49" charset="0"/>
                <a:cs typeface="Courier New" panose="02070309020205020404" pitchFamily="49" charset="0"/>
              </a:rPr>
              <a:t>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a:t>
            </a:r>
          </a:p>
          <a:p>
            <a:pPr marL="0" indent="0">
              <a:buNone/>
            </a:pPr>
            <a:r>
              <a:rPr lang="en-US" dirty="0">
                <a:latin typeface="Courier New" panose="02070309020205020404" pitchFamily="49" charset="0"/>
                <a:cs typeface="Courier New" panose="02070309020205020404" pitchFamily="49" charset="0"/>
              </a:rPr>
              <a:t>       --partition=interactive --nodes=1 --time=16:00:00 \</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gpus</a:t>
            </a:r>
            <a:r>
              <a:rPr lang="en-US" dirty="0">
                <a:latin typeface="Courier New" panose="02070309020205020404" pitchFamily="49" charset="0"/>
                <a:cs typeface="Courier New" panose="02070309020205020404" pitchFamily="49" charset="0"/>
              </a:rPr>
              <a:t>-per-node=1  --</a:t>
            </a:r>
            <a:r>
              <a:rPr lang="en-US" dirty="0" err="1">
                <a:latin typeface="Courier New" panose="02070309020205020404" pitchFamily="49" charset="0"/>
                <a:cs typeface="Courier New" panose="02070309020205020404" pitchFamily="49" charset="0"/>
              </a:rPr>
              <a:t>pty</a:t>
            </a:r>
            <a:r>
              <a:rPr lang="en-US" dirty="0">
                <a:latin typeface="Courier New" panose="02070309020205020404" pitchFamily="49" charset="0"/>
                <a:cs typeface="Courier New" panose="02070309020205020404" pitchFamily="49" charset="0"/>
              </a:rPr>
              <a:t> bash -l</a:t>
            </a:r>
            <a:endParaRPr lang="nl-BE" dirty="0">
              <a:latin typeface="Courier New" panose="02070309020205020404" pitchFamily="49" charset="0"/>
              <a:cs typeface="Courier New" panose="02070309020205020404" pitchFamily="49" charset="0"/>
            </a:endParaRPr>
          </a:p>
        </p:txBody>
      </p:sp>
      <p:sp>
        <p:nvSpPr>
          <p:cNvPr id="5" name="TextBox 4"/>
          <p:cNvSpPr txBox="1"/>
          <p:nvPr/>
        </p:nvSpPr>
        <p:spPr>
          <a:xfrm>
            <a:off x="620704" y="1196752"/>
            <a:ext cx="10659872" cy="2800767"/>
          </a:xfrm>
          <a:prstGeom prst="rect">
            <a:avLst/>
          </a:prstGeom>
          <a:noFill/>
          <a:ln w="25400">
            <a:solidFill>
              <a:schemeClr val="accent5"/>
            </a:solid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To quickly compile, test, debug your (parallel) application</a:t>
            </a:r>
          </a:p>
          <a:p>
            <a:pPr marL="342900" indent="-342900">
              <a:buClr>
                <a:srgbClr val="DB6C30"/>
              </a:buClr>
              <a:buBlip>
                <a:blip r:embed="rId2"/>
              </a:buBlip>
            </a:pPr>
            <a:r>
              <a:rPr lang="en-US" sz="2200" dirty="0">
                <a:cs typeface="Courier New" panose="02070309020205020404" pitchFamily="49" charset="0"/>
              </a:rPr>
              <a:t>To pre- or postprocess your data (incl. visualizations)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12 nodes on Genius: 36 cores/node, 192 GB mem</a:t>
            </a:r>
          </a:p>
          <a:p>
            <a:pPr marL="342900" indent="-342900">
              <a:buClr>
                <a:srgbClr val="DB6C30"/>
              </a:buClr>
              <a:buBlip>
                <a:blip r:embed="rId2"/>
              </a:buBlip>
            </a:pPr>
            <a:r>
              <a:rPr lang="en-US" sz="2200" dirty="0">
                <a:cs typeface="Courier New" panose="02070309020205020404" pitchFamily="49" charset="0"/>
              </a:rPr>
              <a:t>4 nodes on </a:t>
            </a:r>
            <a:r>
              <a:rPr lang="en-US" sz="2200" dirty="0" err="1">
                <a:cs typeface="Courier New" panose="02070309020205020404" pitchFamily="49" charset="0"/>
              </a:rPr>
              <a:t>wICE</a:t>
            </a:r>
            <a:r>
              <a:rPr lang="en-US" sz="2200" dirty="0">
                <a:cs typeface="Courier New" panose="02070309020205020404" pitchFamily="49" charset="0"/>
              </a:rPr>
              <a:t>: 64 cores/node, 512 GB mem, 1 physical GPU (split in 7 instances)</a:t>
            </a:r>
          </a:p>
          <a:p>
            <a:pPr marL="342900" indent="-342900">
              <a:buClr>
                <a:srgbClr val="DB6C30"/>
              </a:buClr>
              <a:buBlip>
                <a:blip r:embed="rId2"/>
              </a:buBlip>
            </a:pPr>
            <a:r>
              <a:rPr lang="en-US" sz="2200" dirty="0">
                <a:cs typeface="Courier New" panose="02070309020205020404" pitchFamily="49" charset="0"/>
              </a:rPr>
              <a:t>Max resource per user: 8 cores, 1 GPU instance, 16 hour </a:t>
            </a:r>
            <a:r>
              <a:rPr lang="en-US" sz="2200" dirty="0" err="1">
                <a:cs typeface="Courier New" panose="02070309020205020404" pitchFamily="49" charset="0"/>
              </a:rPr>
              <a:t>walltime</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Free of charge</a:t>
            </a:r>
          </a:p>
        </p:txBody>
      </p:sp>
      <p:sp>
        <p:nvSpPr>
          <p:cNvPr id="13" name="Rounded Rectangle 12"/>
          <p:cNvSpPr/>
          <p:nvPr/>
        </p:nvSpPr>
        <p:spPr>
          <a:xfrm>
            <a:off x="8990556" y="4365104"/>
            <a:ext cx="2323184" cy="369413"/>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Interactive job</a:t>
            </a:r>
            <a:endParaRPr lang="nl-BE" sz="1600"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partitions</a:t>
            </a:r>
          </a:p>
        </p:txBody>
      </p:sp>
    </p:spTree>
    <p:extLst>
      <p:ext uri="{BB962C8B-B14F-4D97-AF65-F5344CB8AC3E}">
        <p14:creationId xmlns:p14="http://schemas.microsoft.com/office/powerpoint/2010/main" val="3847725081"/>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93</a:t>
            </a:fld>
            <a:endParaRPr lang="nl-BE" dirty="0"/>
          </a:p>
        </p:txBody>
      </p:sp>
      <p:sp>
        <p:nvSpPr>
          <p:cNvPr id="5" name="TextBox 4"/>
          <p:cNvSpPr txBox="1"/>
          <p:nvPr/>
        </p:nvSpPr>
        <p:spPr>
          <a:xfrm>
            <a:off x="620704" y="1196752"/>
            <a:ext cx="10659872" cy="1446550"/>
          </a:xfrm>
          <a:prstGeom prst="rect">
            <a:avLst/>
          </a:prstGeom>
          <a:noFill/>
          <a:ln w="25400">
            <a:solidFill>
              <a:schemeClr val="accent5"/>
            </a:solid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Quickly test if your (parallel) application works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Only one job at a time, max </a:t>
            </a:r>
            <a:r>
              <a:rPr lang="en-US" sz="2200" dirty="0" err="1">
                <a:cs typeface="Courier New" panose="02070309020205020404" pitchFamily="49" charset="0"/>
              </a:rPr>
              <a:t>walltime</a:t>
            </a:r>
            <a:r>
              <a:rPr lang="en-US" sz="2200" dirty="0">
                <a:cs typeface="Courier New" panose="02070309020205020404" pitchFamily="49" charset="0"/>
              </a:rPr>
              <a:t>: 1 </a:t>
            </a:r>
            <a:r>
              <a:rPr lang="en-US" sz="2200" dirty="0" err="1">
                <a:cs typeface="Courier New" panose="02070309020205020404" pitchFamily="49" charset="0"/>
              </a:rPr>
              <a:t>hr</a:t>
            </a:r>
            <a:endParaRPr lang="en-US" sz="2200" dirty="0">
              <a:cs typeface="Courier New" panose="02070309020205020404" pitchFamily="49" charset="0"/>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Debugging partitions</a:t>
            </a:r>
          </a:p>
        </p:txBody>
      </p:sp>
      <p:graphicFrame>
        <p:nvGraphicFramePr>
          <p:cNvPr id="6" name="Table 5">
            <a:extLst>
              <a:ext uri="{FF2B5EF4-FFF2-40B4-BE49-F238E27FC236}">
                <a16:creationId xmlns:a16="http://schemas.microsoft.com/office/drawing/2014/main" id="{490C51F8-CA08-5B75-8998-505936FC62EE}"/>
              </a:ext>
            </a:extLst>
          </p:cNvPr>
          <p:cNvGraphicFramePr>
            <a:graphicFrameLocks noGrp="1"/>
          </p:cNvGraphicFramePr>
          <p:nvPr>
            <p:extLst>
              <p:ext uri="{D42A27DB-BD31-4B8C-83A1-F6EECF244321}">
                <p14:modId xmlns:p14="http://schemas.microsoft.com/office/powerpoint/2010/main" val="3355072430"/>
              </p:ext>
            </p:extLst>
          </p:nvPr>
        </p:nvGraphicFramePr>
        <p:xfrm>
          <a:off x="620704" y="2996952"/>
          <a:ext cx="10731880" cy="1981200"/>
        </p:xfrm>
        <a:graphic>
          <a:graphicData uri="http://schemas.openxmlformats.org/drawingml/2006/table">
            <a:tbl>
              <a:tblPr firstRow="1" bandRow="1">
                <a:tableStyleId>{5C22544A-7EE6-4342-B048-85BDC9FD1C3A}</a:tableStyleId>
              </a:tblPr>
              <a:tblGrid>
                <a:gridCol w="1706626">
                  <a:extLst>
                    <a:ext uri="{9D8B030D-6E8A-4147-A177-3AD203B41FA5}">
                      <a16:colId xmlns:a16="http://schemas.microsoft.com/office/drawing/2014/main" val="2424890197"/>
                    </a:ext>
                  </a:extLst>
                </a:gridCol>
                <a:gridCol w="2832566">
                  <a:extLst>
                    <a:ext uri="{9D8B030D-6E8A-4147-A177-3AD203B41FA5}">
                      <a16:colId xmlns:a16="http://schemas.microsoft.com/office/drawing/2014/main" val="2380934881"/>
                    </a:ext>
                  </a:extLst>
                </a:gridCol>
                <a:gridCol w="6192688">
                  <a:extLst>
                    <a:ext uri="{9D8B030D-6E8A-4147-A177-3AD203B41FA5}">
                      <a16:colId xmlns:a16="http://schemas.microsoft.com/office/drawing/2014/main" val="2728731876"/>
                    </a:ext>
                  </a:extLst>
                </a:gridCol>
              </a:tblGrid>
              <a:tr h="370840">
                <a:tc>
                  <a:txBody>
                    <a:bodyPr/>
                    <a:lstStyle/>
                    <a:p>
                      <a:r>
                        <a:rPr lang="en-US" sz="2000" b="1" dirty="0"/>
                        <a:t>Cluster</a:t>
                      </a:r>
                      <a:endParaRPr lang="nl-BE" sz="2000" b="1" dirty="0"/>
                    </a:p>
                  </a:txBody>
                  <a:tcPr/>
                </a:tc>
                <a:tc>
                  <a:txBody>
                    <a:bodyPr/>
                    <a:lstStyle/>
                    <a:p>
                      <a:r>
                        <a:rPr lang="en-US" sz="2000" b="1" dirty="0"/>
                        <a:t>Partition</a:t>
                      </a:r>
                      <a:endParaRPr lang="nl-BE" sz="2000" b="1" dirty="0"/>
                    </a:p>
                  </a:txBody>
                  <a:tcPr/>
                </a:tc>
                <a:tc>
                  <a:txBody>
                    <a:bodyPr/>
                    <a:lstStyle/>
                    <a:p>
                      <a:r>
                        <a:rPr lang="en-US" sz="2000" b="1" dirty="0"/>
                        <a:t>Resources</a:t>
                      </a:r>
                      <a:endParaRPr lang="nl-BE" sz="2000" b="1" dirty="0"/>
                    </a:p>
                  </a:txBody>
                  <a:tcPr/>
                </a:tc>
                <a:extLst>
                  <a:ext uri="{0D108BD9-81ED-4DB2-BD59-A6C34878D82A}">
                    <a16:rowId xmlns:a16="http://schemas.microsoft.com/office/drawing/2014/main" val="1273100773"/>
                  </a:ext>
                </a:extLst>
              </a:tr>
              <a:tr h="370840">
                <a:tc rowSpan="2">
                  <a:txBody>
                    <a:bodyPr/>
                    <a:lstStyle/>
                    <a:p>
                      <a:r>
                        <a:rPr lang="en-US" sz="2000" dirty="0"/>
                        <a:t>Genius</a:t>
                      </a:r>
                      <a:endParaRPr lang="nl-BE" sz="2000" dirty="0"/>
                    </a:p>
                  </a:txBody>
                  <a:tcPr/>
                </a:tc>
                <a:tc>
                  <a:txBody>
                    <a:bodyPr/>
                    <a:lstStyle/>
                    <a:p>
                      <a:r>
                        <a:rPr lang="en-US" sz="2000" dirty="0" err="1"/>
                        <a:t>batch_debug</a:t>
                      </a:r>
                      <a:endParaRPr lang="nl-BE" sz="2000" dirty="0"/>
                    </a:p>
                  </a:txBody>
                  <a:tcPr/>
                </a:tc>
                <a:tc>
                  <a:txBody>
                    <a:bodyPr/>
                    <a:lstStyle/>
                    <a:p>
                      <a:r>
                        <a:rPr lang="en-US" sz="2000" dirty="0"/>
                        <a:t>2 </a:t>
                      </a:r>
                      <a:r>
                        <a:rPr lang="en-US" sz="2000" dirty="0" err="1"/>
                        <a:t>Cascadelake</a:t>
                      </a:r>
                      <a:r>
                        <a:rPr lang="en-US" sz="2000" dirty="0"/>
                        <a:t> nodes</a:t>
                      </a:r>
                      <a:endParaRPr lang="nl-BE" sz="2000" dirty="0"/>
                    </a:p>
                  </a:txBody>
                  <a:tcPr/>
                </a:tc>
                <a:extLst>
                  <a:ext uri="{0D108BD9-81ED-4DB2-BD59-A6C34878D82A}">
                    <a16:rowId xmlns:a16="http://schemas.microsoft.com/office/drawing/2014/main" val="1306486799"/>
                  </a:ext>
                </a:extLst>
              </a:tr>
              <a:tr h="370840">
                <a:tc vMerge="1">
                  <a:txBody>
                    <a:bodyPr/>
                    <a:lstStyle/>
                    <a:p>
                      <a:endParaRPr lang="nl-BE" dirty="0"/>
                    </a:p>
                  </a:txBody>
                  <a:tcPr/>
                </a:tc>
                <a:tc>
                  <a:txBody>
                    <a:bodyPr/>
                    <a:lstStyle/>
                    <a:p>
                      <a:r>
                        <a:rPr lang="en-US" sz="2000" dirty="0"/>
                        <a:t>gpu_p100_debug</a:t>
                      </a:r>
                      <a:endParaRPr lang="nl-BE" sz="2000" dirty="0"/>
                    </a:p>
                  </a:txBody>
                  <a:tcPr/>
                </a:tc>
                <a:tc>
                  <a:txBody>
                    <a:bodyPr/>
                    <a:lstStyle/>
                    <a:p>
                      <a:r>
                        <a:rPr lang="en-US" sz="2000" dirty="0"/>
                        <a:t>1 Skylake node with 4 P100 GPUs</a:t>
                      </a:r>
                      <a:endParaRPr lang="nl-BE" sz="2000" dirty="0"/>
                    </a:p>
                  </a:txBody>
                  <a:tcPr/>
                </a:tc>
                <a:extLst>
                  <a:ext uri="{0D108BD9-81ED-4DB2-BD59-A6C34878D82A}">
                    <a16:rowId xmlns:a16="http://schemas.microsoft.com/office/drawing/2014/main" val="2664344395"/>
                  </a:ext>
                </a:extLst>
              </a:tr>
              <a:tr h="370840">
                <a:tc rowSpan="2">
                  <a:txBody>
                    <a:bodyPr/>
                    <a:lstStyle/>
                    <a:p>
                      <a:r>
                        <a:rPr lang="en-US" sz="2000" dirty="0" err="1"/>
                        <a:t>wICE</a:t>
                      </a:r>
                      <a:endParaRPr lang="nl-BE" sz="2000" dirty="0"/>
                    </a:p>
                  </a:txBody>
                  <a:tcPr/>
                </a:tc>
                <a:tc>
                  <a:txBody>
                    <a:bodyPr/>
                    <a:lstStyle/>
                    <a:p>
                      <a:r>
                        <a:rPr lang="en-US" sz="2000" dirty="0"/>
                        <a:t>interactive</a:t>
                      </a:r>
                      <a:endParaRPr lang="nl-BE" sz="2000" dirty="0"/>
                    </a:p>
                  </a:txBody>
                  <a:tcPr/>
                </a:tc>
                <a:tc>
                  <a:txBody>
                    <a:bodyPr/>
                    <a:lstStyle/>
                    <a:p>
                      <a:r>
                        <a:rPr lang="en-US" sz="2000" dirty="0"/>
                        <a:t>4 </a:t>
                      </a:r>
                      <a:r>
                        <a:rPr lang="en-US" sz="2000" dirty="0" err="1"/>
                        <a:t>Icelake</a:t>
                      </a:r>
                      <a:r>
                        <a:rPr lang="en-US" sz="2000" dirty="0"/>
                        <a:t> nodes, each with 7 MIG instances of 1 A100 GPU</a:t>
                      </a:r>
                      <a:endParaRPr lang="nl-BE" sz="2000" dirty="0"/>
                    </a:p>
                  </a:txBody>
                  <a:tcPr/>
                </a:tc>
                <a:extLst>
                  <a:ext uri="{0D108BD9-81ED-4DB2-BD59-A6C34878D82A}">
                    <a16:rowId xmlns:a16="http://schemas.microsoft.com/office/drawing/2014/main" val="3270714814"/>
                  </a:ext>
                </a:extLst>
              </a:tr>
              <a:tr h="370840">
                <a:tc vMerge="1">
                  <a:txBody>
                    <a:bodyPr/>
                    <a:lstStyle/>
                    <a:p>
                      <a:endParaRPr lang="nl-BE" dirty="0"/>
                    </a:p>
                  </a:txBody>
                  <a:tcPr/>
                </a:tc>
                <a:tc>
                  <a:txBody>
                    <a:bodyPr/>
                    <a:lstStyle/>
                    <a:p>
                      <a:r>
                        <a:rPr lang="en-US" sz="2000" dirty="0"/>
                        <a:t>gpu_a100_debug</a:t>
                      </a:r>
                      <a:endParaRPr lang="nl-BE" sz="2000" dirty="0"/>
                    </a:p>
                  </a:txBody>
                  <a:tcPr/>
                </a:tc>
                <a:tc>
                  <a:txBody>
                    <a:bodyPr/>
                    <a:lstStyle/>
                    <a:p>
                      <a:r>
                        <a:rPr lang="en-US" sz="2000" dirty="0"/>
                        <a:t>1 </a:t>
                      </a:r>
                      <a:r>
                        <a:rPr lang="en-US" sz="2000" dirty="0" err="1"/>
                        <a:t>Icelake</a:t>
                      </a:r>
                      <a:r>
                        <a:rPr lang="en-US" sz="2000" dirty="0"/>
                        <a:t> node with 1 A100 GPU</a:t>
                      </a:r>
                      <a:endParaRPr lang="nl-BE" sz="2000" dirty="0"/>
                    </a:p>
                  </a:txBody>
                  <a:tcPr/>
                </a:tc>
                <a:extLst>
                  <a:ext uri="{0D108BD9-81ED-4DB2-BD59-A6C34878D82A}">
                    <a16:rowId xmlns:a16="http://schemas.microsoft.com/office/drawing/2014/main" val="3599529090"/>
                  </a:ext>
                </a:extLst>
              </a:tr>
            </a:tbl>
          </a:graphicData>
        </a:graphic>
      </p:graphicFrame>
    </p:spTree>
    <p:extLst>
      <p:ext uri="{BB962C8B-B14F-4D97-AF65-F5344CB8AC3E}">
        <p14:creationId xmlns:p14="http://schemas.microsoft.com/office/powerpoint/2010/main" val="3431858730"/>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94</a:t>
            </a:fld>
            <a:endParaRPr lang="nl-BE" dirty="0"/>
          </a:p>
        </p:txBody>
      </p:sp>
      <p:sp>
        <p:nvSpPr>
          <p:cNvPr id="5" name="TextBox 4"/>
          <p:cNvSpPr txBox="1"/>
          <p:nvPr/>
        </p:nvSpPr>
        <p:spPr>
          <a:xfrm>
            <a:off x="719999" y="1156676"/>
            <a:ext cx="5736041" cy="3416320"/>
          </a:xfrm>
          <a:prstGeom prst="rect">
            <a:avLst/>
          </a:prstGeom>
          <a:noFill/>
          <a:ln w="19050">
            <a:noFill/>
          </a:ln>
        </p:spPr>
        <p:txBody>
          <a:bodyPr wrap="square" rtlCol="0">
            <a:spAutoFit/>
          </a:bodyPr>
          <a:lstStyle/>
          <a:p>
            <a:pPr marL="285750" indent="-324000">
              <a:buClr>
                <a:srgbClr val="DB6C30"/>
              </a:buClr>
              <a:buBlip>
                <a:blip r:embed="rId2"/>
              </a:buBlip>
            </a:pPr>
            <a:r>
              <a:rPr lang="en-US" dirty="0"/>
              <a:t>What? </a:t>
            </a:r>
          </a:p>
          <a:p>
            <a:pPr marL="742950" lvl="1" indent="-324000">
              <a:buClr>
                <a:srgbClr val="DB6C30"/>
              </a:buClr>
              <a:buFont typeface="Arial" panose="020B0604020202020204" pitchFamily="34" charset="0"/>
              <a:buChar char="•"/>
            </a:pPr>
            <a:r>
              <a:rPr lang="en-US" dirty="0"/>
              <a:t>Self-contained OS image</a:t>
            </a:r>
            <a:br>
              <a:rPr lang="en-US" dirty="0"/>
            </a:br>
            <a:r>
              <a:rPr lang="en-US" dirty="0"/>
              <a:t>in which you can install software and include data</a:t>
            </a:r>
          </a:p>
          <a:p>
            <a:pPr marL="285750" indent="-324000">
              <a:buClr>
                <a:srgbClr val="DB6C30"/>
              </a:buClr>
              <a:buBlip>
                <a:blip r:embed="rId2"/>
              </a:buBlip>
            </a:pPr>
            <a:r>
              <a:rPr lang="en-US" dirty="0"/>
              <a:t>Why? </a:t>
            </a:r>
          </a:p>
          <a:p>
            <a:pPr marL="742950" lvl="1" indent="-324000">
              <a:buClr>
                <a:srgbClr val="DB6C30"/>
              </a:buClr>
              <a:buFont typeface="Arial" panose="020B0604020202020204" pitchFamily="34" charset="0"/>
              <a:buChar char="•"/>
            </a:pPr>
            <a:r>
              <a:rPr lang="en-US" dirty="0"/>
              <a:t>Package managers like </a:t>
            </a:r>
            <a:r>
              <a:rPr lang="en-US" sz="1400" dirty="0">
                <a:latin typeface="72 Monospace" panose="020B0509030603020204" pitchFamily="49" charset="0"/>
                <a:cs typeface="72 Monospace" panose="020B0509030603020204" pitchFamily="49" charset="0"/>
              </a:rPr>
              <a:t>apt</a:t>
            </a:r>
            <a:r>
              <a:rPr lang="en-US" dirty="0"/>
              <a:t> can be convenient</a:t>
            </a:r>
          </a:p>
          <a:p>
            <a:pPr marL="742950" lvl="1" indent="-324000">
              <a:buClr>
                <a:srgbClr val="DB6C30"/>
              </a:buClr>
              <a:buFont typeface="Arial" panose="020B0604020202020204" pitchFamily="34" charset="0"/>
              <a:buChar char="•"/>
            </a:pPr>
            <a:r>
              <a:rPr lang="en-US" dirty="0"/>
              <a:t>Portability: images can be used on various hardware (but performance may be sub-par)</a:t>
            </a:r>
          </a:p>
          <a:p>
            <a:pPr marL="285750" indent="-324000">
              <a:buClr>
                <a:srgbClr val="DB6C30"/>
              </a:buClr>
              <a:buBlip>
                <a:blip r:embed="rId2"/>
              </a:buBlip>
            </a:pPr>
            <a:r>
              <a:rPr lang="en-US" dirty="0"/>
              <a:t>How?</a:t>
            </a:r>
          </a:p>
          <a:p>
            <a:pPr marL="742950" lvl="1" indent="-324000">
              <a:buClr>
                <a:srgbClr val="DB6C30"/>
              </a:buClr>
              <a:buFont typeface="Arial" panose="020B0604020202020204" pitchFamily="34" charset="0"/>
              <a:buChar char="•"/>
            </a:pPr>
            <a:r>
              <a:rPr lang="en-US" dirty="0"/>
              <a:t>Create the image</a:t>
            </a:r>
          </a:p>
          <a:p>
            <a:pPr marL="742950" lvl="1" indent="-324000">
              <a:buClr>
                <a:srgbClr val="DB6C30"/>
              </a:buClr>
              <a:buFont typeface="Arial" panose="020B0604020202020204" pitchFamily="34" charset="0"/>
              <a:buChar char="•"/>
            </a:pPr>
            <a:r>
              <a:rPr lang="en-US" dirty="0"/>
              <a:t>Run it on </a:t>
            </a:r>
            <a:r>
              <a:rPr lang="en-US" dirty="0" err="1"/>
              <a:t>wICE</a:t>
            </a:r>
            <a:r>
              <a:rPr lang="en-US" dirty="0"/>
              <a:t> or Genius</a:t>
            </a:r>
          </a:p>
          <a:p>
            <a:pPr marL="742950" lvl="1" indent="-324000">
              <a:buClr>
                <a:srgbClr val="DB6C30"/>
              </a:buClr>
              <a:buFont typeface="Arial" panose="020B0604020202020204" pitchFamily="34" charset="0"/>
              <a:buChar char="•"/>
            </a:pPr>
            <a:r>
              <a:rPr lang="en-US" dirty="0"/>
              <a:t>Parallelization should work</a:t>
            </a:r>
            <a:br>
              <a:rPr lang="en-US" dirty="0"/>
            </a:br>
            <a:r>
              <a:rPr lang="en-US" dirty="0"/>
              <a:t>(multi-node MPI runs may require some care)</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53265" y="1124744"/>
            <a:ext cx="5448013" cy="4966772"/>
          </a:xfrm>
          <a:prstGeom prst="rect">
            <a:avLst/>
          </a:prstGeom>
        </p:spPr>
      </p:pic>
      <p:sp>
        <p:nvSpPr>
          <p:cNvPr id="9" name="Rectangle 2"/>
          <p:cNvSpPr txBox="1">
            <a:spLocks noChangeArrowheads="1"/>
          </p:cNvSpPr>
          <p:nvPr/>
        </p:nvSpPr>
        <p:spPr>
          <a:xfrm>
            <a:off x="720000" y="332657"/>
            <a:ext cx="5923875" cy="792088"/>
          </a:xfrm>
          <a:prstGeom prst="rect">
            <a:avLst/>
          </a:prstGeom>
        </p:spPr>
        <p:txBody>
          <a:bodyPr vert="horz" lIns="91440" tIns="45720" rIns="91440" bIns="45720" rtlCol="0" anchor="ctr">
            <a:normAutofit fontScale="92500" lnSpcReduction="2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Containers: </a:t>
            </a:r>
            <a:r>
              <a:rPr lang="en-US" altLang="en-US" sz="3200" dirty="0" err="1"/>
              <a:t>Apptainer</a:t>
            </a:r>
            <a:r>
              <a:rPr lang="en-US" altLang="en-US" sz="3200" dirty="0"/>
              <a:t> (Singularity)</a:t>
            </a:r>
          </a:p>
        </p:txBody>
      </p:sp>
      <p:grpSp>
        <p:nvGrpSpPr>
          <p:cNvPr id="11" name="Group 10"/>
          <p:cNvGrpSpPr/>
          <p:nvPr/>
        </p:nvGrpSpPr>
        <p:grpSpPr>
          <a:xfrm>
            <a:off x="729464" y="4638035"/>
            <a:ext cx="5294528" cy="2031325"/>
            <a:chOff x="2826024" y="5024153"/>
            <a:chExt cx="4622022" cy="2031325"/>
          </a:xfrm>
        </p:grpSpPr>
        <p:sp>
          <p:nvSpPr>
            <p:cNvPr id="12" name="TextBox 3"/>
            <p:cNvSpPr txBox="1">
              <a:spLocks noChangeArrowheads="1"/>
            </p:cNvSpPr>
            <p:nvPr/>
          </p:nvSpPr>
          <p:spPr bwMode="auto">
            <a:xfrm>
              <a:off x="2826024" y="5024153"/>
              <a:ext cx="4622019" cy="2031325"/>
            </a:xfrm>
            <a:prstGeom prst="rect">
              <a:avLst/>
            </a:prstGeom>
            <a:solidFill>
              <a:schemeClr val="bg1">
                <a:lumMod val="95000"/>
              </a:schemeClr>
            </a:solidFill>
            <a:ln w="25400">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dirty="0">
                  <a:solidFill>
                    <a:srgbClr val="4E5865"/>
                  </a:solidFill>
                  <a:latin typeface="Courier New" panose="02070309020205020404" pitchFamily="49" charset="0"/>
                  <a:ea typeface="新細明體"/>
                  <a:cs typeface="Courier New" panose="02070309020205020404" pitchFamily="49" charset="0"/>
                </a:rPr>
                <a:t>#!/bin/</a:t>
              </a:r>
              <a:r>
                <a:rPr lang="nl-BE" dirty="0" err="1">
                  <a:solidFill>
                    <a:srgbClr val="4E5865"/>
                  </a:solidFill>
                  <a:latin typeface="Courier New" panose="02070309020205020404" pitchFamily="49" charset="0"/>
                  <a:ea typeface="新細明體"/>
                  <a:cs typeface="Courier New" panose="02070309020205020404" pitchFamily="49" charset="0"/>
                </a:rPr>
                <a:t>bash</a:t>
              </a:r>
              <a:r>
                <a:rPr lang="nl-BE"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dirty="0">
                  <a:solidFill>
                    <a:srgbClr val="4E5865"/>
                  </a:solidFill>
                  <a:latin typeface="Courier New" panose="02070309020205020404" pitchFamily="49" charset="0"/>
                  <a:ea typeface="新細明體"/>
                  <a:cs typeface="Courier New" panose="02070309020205020404" pitchFamily="49" charset="0"/>
                </a:rPr>
                <a:t>#SBATCH --time=30:00</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t>
              </a:r>
              <a:r>
                <a:rPr lang="nl-BE" dirty="0" err="1">
                  <a:solidFill>
                    <a:srgbClr val="4E5865"/>
                  </a:solidFill>
                  <a:latin typeface="Courier New" panose="02070309020205020404" pitchFamily="49" charset="0"/>
                  <a:ea typeface="新細明體"/>
                  <a:cs typeface="Courier New" panose="02070309020205020404" pitchFamily="49" charset="0"/>
                </a:rPr>
                <a:t>nodes</a:t>
              </a:r>
              <a:r>
                <a:rPr lang="nl-BE" dirty="0">
                  <a:solidFill>
                    <a:srgbClr val="4E5865"/>
                  </a:solidFill>
                  <a:latin typeface="Courier New" panose="02070309020205020404" pitchFamily="49" charset="0"/>
                  <a:ea typeface="新細明體"/>
                  <a:cs typeface="Courier New" panose="02070309020205020404" pitchFamily="49" charset="0"/>
                </a:rPr>
                <a:t>=1</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t>
              </a:r>
              <a:r>
                <a:rPr lang="nl-BE" dirty="0" err="1">
                  <a:solidFill>
                    <a:srgbClr val="4E5865"/>
                  </a:solidFill>
                  <a:latin typeface="Courier New" panose="02070309020205020404" pitchFamily="49" charset="0"/>
                  <a:ea typeface="新細明體"/>
                  <a:cs typeface="Courier New" panose="02070309020205020404" pitchFamily="49" charset="0"/>
                </a:rPr>
                <a:t>ntasks</a:t>
              </a:r>
              <a:r>
                <a:rPr lang="nl-BE" dirty="0">
                  <a:solidFill>
                    <a:srgbClr val="4E5865"/>
                  </a:solidFill>
                  <a:latin typeface="Courier New" panose="02070309020205020404" pitchFamily="49" charset="0"/>
                  <a:ea typeface="新細明體"/>
                  <a:cs typeface="Courier New" panose="02070309020205020404" pitchFamily="49" charset="0"/>
                </a:rPr>
                <a:t>=72</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--clusters=</a:t>
              </a:r>
              <a:r>
                <a:rPr lang="nl-BE" dirty="0" err="1">
                  <a:solidFill>
                    <a:srgbClr val="4E5865"/>
                  </a:solidFill>
                  <a:latin typeface="Courier New" panose="02070309020205020404" pitchFamily="49" charset="0"/>
                  <a:ea typeface="新細明體"/>
                  <a:cs typeface="Courier New" panose="02070309020205020404" pitchFamily="49" charset="0"/>
                </a:rPr>
                <a:t>wice</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--account=</a:t>
              </a:r>
              <a:r>
                <a:rPr lang="nl-BE" dirty="0" err="1">
                  <a:solidFill>
                    <a:srgbClr val="4E5865"/>
                  </a:solidFill>
                  <a:latin typeface="Courier New" panose="02070309020205020404" pitchFamily="49" charset="0"/>
                  <a:ea typeface="新細明體"/>
                  <a:cs typeface="Courier New" panose="02070309020205020404" pitchFamily="49" charset="0"/>
                </a:rPr>
                <a:t>lp_hpcinfo</a:t>
              </a:r>
              <a:endParaRPr lang="nl-BE"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dirty="0" err="1">
                  <a:solidFill>
                    <a:srgbClr val="4E5865"/>
                  </a:solidFill>
                  <a:latin typeface="Courier New" panose="02070309020205020404" pitchFamily="49" charset="0"/>
                  <a:ea typeface="新細明體"/>
                  <a:cs typeface="Courier New" panose="02070309020205020404" pitchFamily="49" charset="0"/>
                </a:rPr>
                <a:t>apptainer</a:t>
              </a:r>
              <a:r>
                <a:rPr lang="nl-BE" dirty="0">
                  <a:solidFill>
                    <a:srgbClr val="4E5865"/>
                  </a:solidFill>
                  <a:latin typeface="Courier New" panose="02070309020205020404" pitchFamily="49" charset="0"/>
                  <a:ea typeface="新細明體"/>
                  <a:cs typeface="Courier New" panose="02070309020205020404" pitchFamily="49" charset="0"/>
                </a:rPr>
                <a:t> run </a:t>
              </a:r>
              <a:r>
                <a:rPr lang="nl-BE" dirty="0" err="1">
                  <a:solidFill>
                    <a:srgbClr val="4E5865"/>
                  </a:solidFill>
                  <a:latin typeface="Courier New" panose="02070309020205020404" pitchFamily="49" charset="0"/>
                  <a:ea typeface="新細明體"/>
                  <a:cs typeface="Courier New" panose="02070309020205020404" pitchFamily="49" charset="0"/>
                </a:rPr>
                <a:t>Project.sif</a:t>
              </a:r>
              <a:r>
                <a:rPr lang="nl-BE" dirty="0">
                  <a:solidFill>
                    <a:srgbClr val="4E5865"/>
                  </a:solidFill>
                  <a:latin typeface="Courier New" panose="02070309020205020404" pitchFamily="49" charset="0"/>
                  <a:ea typeface="新細明體"/>
                  <a:cs typeface="Courier New" panose="02070309020205020404" pitchFamily="49" charset="0"/>
                </a:rPr>
                <a:t> ./model.exe</a:t>
              </a:r>
            </a:p>
          </p:txBody>
        </p:sp>
        <p:sp>
          <p:nvSpPr>
            <p:cNvPr id="14" name="TextBox 8"/>
            <p:cNvSpPr txBox="1">
              <a:spLocks noChangeArrowheads="1"/>
            </p:cNvSpPr>
            <p:nvPr/>
          </p:nvSpPr>
          <p:spPr bwMode="auto">
            <a:xfrm>
              <a:off x="6294414" y="5039254"/>
              <a:ext cx="1153632" cy="276999"/>
            </a:xfrm>
            <a:prstGeom prst="rect">
              <a:avLst/>
            </a:prstGeom>
            <a:solidFill>
              <a:srgbClr val="DB6C30"/>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nl-BE" sz="1200" dirty="0" err="1">
                  <a:solidFill>
                    <a:srgbClr val="FFFFFF"/>
                  </a:solidFill>
                  <a:ea typeface="新細明體"/>
                </a:rPr>
                <a:t>script.slurm</a:t>
              </a:r>
              <a:endParaRPr lang="nl-BE" sz="1200" b="1" dirty="0">
                <a:solidFill>
                  <a:srgbClr val="FFFFFF"/>
                </a:solidFill>
                <a:latin typeface="Courier New" panose="02070309020205020404" pitchFamily="49" charset="0"/>
                <a:cs typeface="Courier New" panose="02070309020205020404" pitchFamily="49" charset="0"/>
              </a:endParaRPr>
            </a:p>
          </p:txBody>
        </p:sp>
      </p:grpSp>
    </p:spTree>
    <p:extLst>
      <p:ext uri="{BB962C8B-B14F-4D97-AF65-F5344CB8AC3E}">
        <p14:creationId xmlns:p14="http://schemas.microsoft.com/office/powerpoint/2010/main" val="319386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95</a:t>
            </a:fld>
            <a:endParaRPr lang="en-US" dirty="0"/>
          </a:p>
        </p:txBody>
      </p:sp>
      <p:sp>
        <p:nvSpPr>
          <p:cNvPr id="12" name="Freeform 88">
            <a:extLst>
              <a:ext uri="{FF2B5EF4-FFF2-40B4-BE49-F238E27FC236}">
                <a16:creationId xmlns:a16="http://schemas.microsoft.com/office/drawing/2014/main" id="{DCB5B946-C08C-4907-9BAB-0A4CAB5A6075}"/>
              </a:ext>
            </a:extLst>
          </p:cNvPr>
          <p:cNvSpPr>
            <a:spLocks noEditPoints="1"/>
          </p:cNvSpPr>
          <p:nvPr/>
        </p:nvSpPr>
        <p:spPr bwMode="auto">
          <a:xfrm>
            <a:off x="316477" y="6445690"/>
            <a:ext cx="214397" cy="216632"/>
          </a:xfrm>
          <a:custGeom>
            <a:avLst/>
            <a:gdLst>
              <a:gd name="T0" fmla="*/ 135 w 145"/>
              <a:gd name="T1" fmla="*/ 37 h 146"/>
              <a:gd name="T2" fmla="*/ 145 w 145"/>
              <a:gd name="T3" fmla="*/ 73 h 146"/>
              <a:gd name="T4" fmla="*/ 135 w 145"/>
              <a:gd name="T5" fmla="*/ 109 h 146"/>
              <a:gd name="T6" fmla="*/ 109 w 145"/>
              <a:gd name="T7" fmla="*/ 136 h 146"/>
              <a:gd name="T8" fmla="*/ 72 w 145"/>
              <a:gd name="T9" fmla="*/ 146 h 146"/>
              <a:gd name="T10" fmla="*/ 36 w 145"/>
              <a:gd name="T11" fmla="*/ 136 h 146"/>
              <a:gd name="T12" fmla="*/ 9 w 145"/>
              <a:gd name="T13" fmla="*/ 109 h 146"/>
              <a:gd name="T14" fmla="*/ 0 w 145"/>
              <a:gd name="T15" fmla="*/ 73 h 146"/>
              <a:gd name="T16" fmla="*/ 9 w 145"/>
              <a:gd name="T17" fmla="*/ 37 h 146"/>
              <a:gd name="T18" fmla="*/ 36 w 145"/>
              <a:gd name="T19" fmla="*/ 10 h 146"/>
              <a:gd name="T20" fmla="*/ 72 w 145"/>
              <a:gd name="T21" fmla="*/ 0 h 146"/>
              <a:gd name="T22" fmla="*/ 109 w 145"/>
              <a:gd name="T23" fmla="*/ 10 h 146"/>
              <a:gd name="T24" fmla="*/ 135 w 145"/>
              <a:gd name="T25" fmla="*/ 37 h 146"/>
              <a:gd name="T26" fmla="*/ 121 w 145"/>
              <a:gd name="T27" fmla="*/ 58 h 146"/>
              <a:gd name="T28" fmla="*/ 119 w 145"/>
              <a:gd name="T29" fmla="*/ 53 h 146"/>
              <a:gd name="T30" fmla="*/ 111 w 145"/>
              <a:gd name="T31" fmla="*/ 45 h 146"/>
              <a:gd name="T32" fmla="*/ 107 w 145"/>
              <a:gd name="T33" fmla="*/ 43 h 146"/>
              <a:gd name="T34" fmla="*/ 102 w 145"/>
              <a:gd name="T35" fmla="*/ 45 h 146"/>
              <a:gd name="T36" fmla="*/ 64 w 145"/>
              <a:gd name="T37" fmla="*/ 83 h 146"/>
              <a:gd name="T38" fmla="*/ 42 w 145"/>
              <a:gd name="T39" fmla="*/ 62 h 146"/>
              <a:gd name="T40" fmla="*/ 38 w 145"/>
              <a:gd name="T41" fmla="*/ 60 h 146"/>
              <a:gd name="T42" fmla="*/ 34 w 145"/>
              <a:gd name="T43" fmla="*/ 62 h 146"/>
              <a:gd name="T44" fmla="*/ 25 w 145"/>
              <a:gd name="T45" fmla="*/ 70 h 146"/>
              <a:gd name="T46" fmla="*/ 24 w 145"/>
              <a:gd name="T47" fmla="*/ 75 h 146"/>
              <a:gd name="T48" fmla="*/ 25 w 145"/>
              <a:gd name="T49" fmla="*/ 79 h 146"/>
              <a:gd name="T50" fmla="*/ 59 w 145"/>
              <a:gd name="T51" fmla="*/ 113 h 146"/>
              <a:gd name="T52" fmla="*/ 64 w 145"/>
              <a:gd name="T53" fmla="*/ 115 h 146"/>
              <a:gd name="T54" fmla="*/ 68 w 145"/>
              <a:gd name="T55" fmla="*/ 113 h 146"/>
              <a:gd name="T56" fmla="*/ 119 w 145"/>
              <a:gd name="T57" fmla="*/ 62 h 146"/>
              <a:gd name="T58" fmla="*/ 121 w 145"/>
              <a:gd name="T59" fmla="*/ 58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45" h="146">
                <a:moveTo>
                  <a:pt x="135" y="37"/>
                </a:moveTo>
                <a:cubicBezTo>
                  <a:pt x="142" y="48"/>
                  <a:pt x="145" y="60"/>
                  <a:pt x="145" y="73"/>
                </a:cubicBezTo>
                <a:cubicBezTo>
                  <a:pt x="145" y="86"/>
                  <a:pt x="142" y="98"/>
                  <a:pt x="135" y="109"/>
                </a:cubicBezTo>
                <a:cubicBezTo>
                  <a:pt x="129" y="121"/>
                  <a:pt x="120" y="129"/>
                  <a:pt x="109" y="136"/>
                </a:cubicBezTo>
                <a:cubicBezTo>
                  <a:pt x="98" y="142"/>
                  <a:pt x="85" y="146"/>
                  <a:pt x="72" y="146"/>
                </a:cubicBezTo>
                <a:cubicBezTo>
                  <a:pt x="59" y="146"/>
                  <a:pt x="47" y="142"/>
                  <a:pt x="36" y="136"/>
                </a:cubicBezTo>
                <a:cubicBezTo>
                  <a:pt x="25" y="129"/>
                  <a:pt x="16" y="121"/>
                  <a:pt x="9" y="109"/>
                </a:cubicBezTo>
                <a:cubicBezTo>
                  <a:pt x="3" y="98"/>
                  <a:pt x="0" y="86"/>
                  <a:pt x="0" y="73"/>
                </a:cubicBezTo>
                <a:cubicBezTo>
                  <a:pt x="0" y="60"/>
                  <a:pt x="3" y="48"/>
                  <a:pt x="9" y="37"/>
                </a:cubicBezTo>
                <a:cubicBezTo>
                  <a:pt x="16" y="25"/>
                  <a:pt x="25" y="17"/>
                  <a:pt x="36" y="10"/>
                </a:cubicBezTo>
                <a:cubicBezTo>
                  <a:pt x="47" y="4"/>
                  <a:pt x="59" y="0"/>
                  <a:pt x="72" y="0"/>
                </a:cubicBezTo>
                <a:cubicBezTo>
                  <a:pt x="85" y="0"/>
                  <a:pt x="98" y="4"/>
                  <a:pt x="109" y="10"/>
                </a:cubicBezTo>
                <a:cubicBezTo>
                  <a:pt x="120" y="17"/>
                  <a:pt x="129" y="25"/>
                  <a:pt x="135" y="37"/>
                </a:cubicBezTo>
                <a:close/>
                <a:moveTo>
                  <a:pt x="121" y="58"/>
                </a:moveTo>
                <a:cubicBezTo>
                  <a:pt x="121" y="56"/>
                  <a:pt x="121" y="54"/>
                  <a:pt x="119" y="53"/>
                </a:cubicBezTo>
                <a:cubicBezTo>
                  <a:pt x="111" y="45"/>
                  <a:pt x="111" y="45"/>
                  <a:pt x="111" y="45"/>
                </a:cubicBezTo>
                <a:cubicBezTo>
                  <a:pt x="110" y="44"/>
                  <a:pt x="108" y="43"/>
                  <a:pt x="107" y="43"/>
                </a:cubicBezTo>
                <a:cubicBezTo>
                  <a:pt x="105" y="43"/>
                  <a:pt x="103" y="44"/>
                  <a:pt x="102" y="45"/>
                </a:cubicBezTo>
                <a:cubicBezTo>
                  <a:pt x="64" y="83"/>
                  <a:pt x="64" y="83"/>
                  <a:pt x="64" y="83"/>
                </a:cubicBezTo>
                <a:cubicBezTo>
                  <a:pt x="42" y="62"/>
                  <a:pt x="42" y="62"/>
                  <a:pt x="42" y="62"/>
                </a:cubicBezTo>
                <a:cubicBezTo>
                  <a:pt x="41" y="61"/>
                  <a:pt x="40" y="60"/>
                  <a:pt x="38" y="60"/>
                </a:cubicBezTo>
                <a:cubicBezTo>
                  <a:pt x="36" y="60"/>
                  <a:pt x="35" y="61"/>
                  <a:pt x="34" y="62"/>
                </a:cubicBezTo>
                <a:cubicBezTo>
                  <a:pt x="25" y="70"/>
                  <a:pt x="25" y="70"/>
                  <a:pt x="25" y="70"/>
                </a:cubicBezTo>
                <a:cubicBezTo>
                  <a:pt x="24" y="72"/>
                  <a:pt x="24" y="73"/>
                  <a:pt x="24" y="75"/>
                </a:cubicBezTo>
                <a:cubicBezTo>
                  <a:pt x="24" y="76"/>
                  <a:pt x="24" y="78"/>
                  <a:pt x="25" y="79"/>
                </a:cubicBezTo>
                <a:cubicBezTo>
                  <a:pt x="59" y="113"/>
                  <a:pt x="59" y="113"/>
                  <a:pt x="59" y="113"/>
                </a:cubicBezTo>
                <a:cubicBezTo>
                  <a:pt x="61" y="114"/>
                  <a:pt x="62" y="115"/>
                  <a:pt x="64" y="115"/>
                </a:cubicBezTo>
                <a:cubicBezTo>
                  <a:pt x="65" y="115"/>
                  <a:pt x="67" y="114"/>
                  <a:pt x="68" y="113"/>
                </a:cubicBezTo>
                <a:cubicBezTo>
                  <a:pt x="119" y="62"/>
                  <a:pt x="119" y="62"/>
                  <a:pt x="119" y="62"/>
                </a:cubicBezTo>
                <a:cubicBezTo>
                  <a:pt x="121" y="61"/>
                  <a:pt x="121" y="59"/>
                  <a:pt x="121" y="58"/>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9" name="Tijdelijke aanduiding voor inhoud 2"/>
          <p:cNvSpPr>
            <a:spLocks noGrp="1"/>
          </p:cNvSpPr>
          <p:nvPr>
            <p:ph idx="1"/>
          </p:nvPr>
        </p:nvSpPr>
        <p:spPr>
          <a:xfrm>
            <a:off x="524690" y="1620000"/>
            <a:ext cx="11112000" cy="2313056"/>
          </a:xfrm>
          <a:ln w="25400">
            <a:solidFill>
              <a:schemeClr val="accent1"/>
            </a:solidFill>
          </a:ln>
        </p:spPr>
        <p:txBody>
          <a:bodyPr anchor="ctr"/>
          <a:lstStyle/>
          <a:p>
            <a:pPr marL="172800" lvl="2" indent="-324000">
              <a:buBlip>
                <a:blip r:embed="rId3"/>
              </a:buBlip>
            </a:pPr>
            <a:r>
              <a:rPr lang="en-US" altLang="zh-TW" sz="2200" dirty="0">
                <a:ea typeface="新細明體" panose="02020500000000000000" pitchFamily="18" charset="-120"/>
              </a:rPr>
              <a:t>You can use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atools</a:t>
            </a:r>
            <a:r>
              <a:rPr lang="en-US" altLang="zh-TW" sz="2200" dirty="0">
                <a:ea typeface="新細明體" panose="02020500000000000000" pitchFamily="18" charset="-120"/>
              </a:rPr>
              <a:t> to handle high-throughput computing workloads</a:t>
            </a:r>
          </a:p>
          <a:p>
            <a:pPr marL="172800" lvl="2" indent="-324000">
              <a:buBlip>
                <a:blip r:embed="rId3"/>
              </a:buBlip>
            </a:pP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module load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atools</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/&lt;version&gt;</a:t>
            </a:r>
          </a:p>
          <a:p>
            <a:pPr marL="172800" lvl="2" indent="-324000">
              <a:buBlip>
                <a:blip r:embed="rId3"/>
              </a:buBlip>
            </a:pPr>
            <a:r>
              <a:rPr lang="en-US" altLang="zh-TW" sz="2200" dirty="0">
                <a:ea typeface="新細明體" panose="02020500000000000000" pitchFamily="18" charset="-120"/>
              </a:rPr>
              <a:t>VSC training: Workflows for Data Science</a:t>
            </a:r>
          </a:p>
          <a:p>
            <a:pPr marL="172800" lvl="2" indent="-324000">
              <a:buBlip>
                <a:blip r:embed="rId3"/>
              </a:buBlip>
            </a:pPr>
            <a:r>
              <a:rPr lang="en-US" altLang="zh-TW" sz="2200" dirty="0">
                <a:ea typeface="新細明體" panose="02020500000000000000" pitchFamily="18" charset="-120"/>
              </a:rPr>
              <a:t>Training material: </a:t>
            </a:r>
            <a:r>
              <a:rPr lang="en-US" altLang="zh-TW" sz="2200" dirty="0">
                <a:ea typeface="新細明體" panose="02020500000000000000" pitchFamily="18" charset="-120"/>
                <a:hlinkClick r:id="rId4"/>
              </a:rPr>
              <a:t>https://github.com/gjbex/Workflows-for-HPC</a:t>
            </a:r>
            <a:r>
              <a:rPr lang="en-US" altLang="zh-TW" sz="2200" dirty="0">
                <a:ea typeface="新細明體" panose="02020500000000000000" pitchFamily="18" charset="-120"/>
              </a:rPr>
              <a:t> </a:t>
            </a:r>
          </a:p>
          <a:p>
            <a:pPr marL="172800" lvl="2" indent="-324000">
              <a:buBlip>
                <a:blip r:embed="rId3"/>
              </a:buBlip>
            </a:pPr>
            <a:r>
              <a:rPr lang="en-US" altLang="zh-TW" sz="2200" dirty="0">
                <a:ea typeface="新細明體" panose="02020500000000000000" pitchFamily="18" charset="-120"/>
              </a:rPr>
              <a:t>Recording: </a:t>
            </a:r>
            <a:r>
              <a:rPr lang="en-US" altLang="zh-TW" sz="2200" dirty="0">
                <a:ea typeface="新細明體" panose="02020500000000000000" pitchFamily="18" charset="-120"/>
                <a:hlinkClick r:id="rId5"/>
              </a:rPr>
              <a:t>https://www.youtube.com/watch?v=GlwaRyi1LVA</a:t>
            </a:r>
            <a:endParaRPr lang="en-US" altLang="zh-TW" sz="2200" dirty="0">
              <a:ea typeface="新細明體" panose="02020500000000000000" pitchFamily="18" charset="-120"/>
            </a:endParaRPr>
          </a:p>
          <a:p>
            <a:pPr marL="172800" lvl="2" indent="-324000">
              <a:buBlip>
                <a:blip r:embed="rId3"/>
              </a:buBlip>
            </a:pPr>
            <a:r>
              <a:rPr lang="en-US" altLang="zh-TW" sz="2200" dirty="0">
                <a:ea typeface="新細明體" panose="02020500000000000000" pitchFamily="18" charset="-120"/>
              </a:rPr>
              <a:t>User documentation: </a:t>
            </a:r>
            <a:r>
              <a:rPr lang="en-US" altLang="zh-TW" sz="2200" dirty="0">
                <a:ea typeface="新細明體" panose="02020500000000000000" pitchFamily="18" charset="-120"/>
                <a:hlinkClick r:id="rId6"/>
              </a:rPr>
              <a:t>https://atools.readthedocs.io/en/latest/</a:t>
            </a:r>
            <a:r>
              <a:rPr lang="en-US" altLang="zh-TW" sz="2200" dirty="0">
                <a:ea typeface="新細明體" panose="02020500000000000000" pitchFamily="18" charset="-120"/>
              </a:rPr>
              <a:t> </a:t>
            </a:r>
          </a:p>
        </p:txBody>
      </p:sp>
      <p:sp>
        <p:nvSpPr>
          <p:cNvPr id="2" name="Rectangle 2">
            <a:extLst>
              <a:ext uri="{FF2B5EF4-FFF2-40B4-BE49-F238E27FC236}">
                <a16:creationId xmlns:a16="http://schemas.microsoft.com/office/drawing/2014/main" id="{6D64BFD5-FB8B-C54B-EA13-B82BA7C03638}"/>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High-throughput computing with </a:t>
            </a:r>
            <a:r>
              <a:rPr lang="en-US" sz="3200" i="1" dirty="0" err="1"/>
              <a:t>atools</a:t>
            </a:r>
            <a:endParaRPr lang="en-US" altLang="en-US" sz="3200" i="1"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146967788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23392" y="4077072"/>
            <a:ext cx="4493924" cy="584775"/>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Demo: try things yourself</a:t>
            </a:r>
          </a:p>
        </p:txBody>
      </p:sp>
      <p:sp>
        <p:nvSpPr>
          <p:cNvPr id="6" name="Slide Number Placeholder 5"/>
          <p:cNvSpPr>
            <a:spLocks noGrp="1"/>
          </p:cNvSpPr>
          <p:nvPr>
            <p:ph type="sldNum" sz="quarter" idx="12"/>
          </p:nvPr>
        </p:nvSpPr>
        <p:spPr/>
        <p:txBody>
          <a:bodyPr/>
          <a:lstStyle/>
          <a:p>
            <a:fld id="{A2912448-FEEC-49E8-9588-2DF1F90D57C2}" type="slidenum">
              <a:rPr lang="en-US" smtClean="0"/>
              <a:t>96</a:t>
            </a:fld>
            <a:endParaRPr lang="en-US"/>
          </a:p>
        </p:txBody>
      </p:sp>
    </p:spTree>
    <p:extLst>
      <p:ext uri="{BB962C8B-B14F-4D97-AF65-F5344CB8AC3E}">
        <p14:creationId xmlns:p14="http://schemas.microsoft.com/office/powerpoint/2010/main" val="354225173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p:cNvSpPr>
            <a:spLocks noGrp="1"/>
          </p:cNvSpPr>
          <p:nvPr>
            <p:ph idx="1"/>
          </p:nvPr>
        </p:nvSpPr>
        <p:spPr>
          <a:xfrm>
            <a:off x="524691" y="1620000"/>
            <a:ext cx="10107813" cy="2745104"/>
          </a:xfrm>
          <a:ln w="25400">
            <a:solidFill>
              <a:schemeClr val="accent1"/>
            </a:solidFill>
          </a:ln>
        </p:spPr>
        <p:txBody>
          <a:bodyPr anchor="ctr"/>
          <a:lstStyle/>
          <a:p>
            <a:pPr indent="-324000">
              <a:buBlip>
                <a:blip r:embed="rId3"/>
              </a:buBlip>
            </a:pPr>
            <a:r>
              <a:rPr lang="en-US" altLang="zh-TW" sz="2200" dirty="0">
                <a:ea typeface="新細明體" panose="02020500000000000000" pitchFamily="18" charset="-120"/>
              </a:rPr>
              <a:t>Request to become a member of the </a:t>
            </a:r>
            <a:r>
              <a:rPr lang="en-US" altLang="zh-TW" sz="2200" i="1" dirty="0" err="1">
                <a:ea typeface="新細明體" panose="02020500000000000000" pitchFamily="18" charset="-120"/>
              </a:rPr>
              <a:t>lp_hpcinfo</a:t>
            </a:r>
            <a:r>
              <a:rPr lang="en-US" altLang="zh-TW" sz="2200" dirty="0">
                <a:ea typeface="新細明體" panose="02020500000000000000" pitchFamily="18" charset="-120"/>
              </a:rPr>
              <a:t> group via </a:t>
            </a:r>
            <a:r>
              <a:rPr lang="en-US" altLang="zh-TW" sz="2200" dirty="0">
                <a:ea typeface="新細明體" panose="02020500000000000000" pitchFamily="18" charset="-120"/>
                <a:hlinkClick r:id="rId4"/>
              </a:rPr>
              <a:t>account.vscentrum.be</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Transfer a file with FileZilla</a:t>
            </a:r>
          </a:p>
          <a:p>
            <a:pPr indent="-324000">
              <a:buBlip>
                <a:blip r:embed="rId3"/>
              </a:buBlip>
            </a:pPr>
            <a:r>
              <a:rPr lang="en-US" altLang="zh-TW" sz="2200" dirty="0">
                <a:ea typeface="新細明體" panose="02020500000000000000" pitchFamily="18" charset="-120"/>
              </a:rPr>
              <a:t>Check your disk quota</a:t>
            </a:r>
          </a:p>
          <a:p>
            <a:pPr indent="-324000">
              <a:buBlip>
                <a:blip r:embed="rId3"/>
              </a:buBlip>
            </a:pPr>
            <a:r>
              <a:rPr lang="en-US" altLang="zh-TW" sz="2200" dirty="0">
                <a:ea typeface="新細明體" panose="02020500000000000000" pitchFamily="18" charset="-120"/>
              </a:rPr>
              <a:t>Check your available credits</a:t>
            </a:r>
          </a:p>
          <a:p>
            <a:pPr indent="-324000">
              <a:buBlip>
                <a:blip r:embed="rId3"/>
              </a:buBlip>
            </a:pPr>
            <a:r>
              <a:rPr lang="en-US" altLang="zh-TW" sz="2200" dirty="0">
                <a:ea typeface="新細明體" panose="02020500000000000000" pitchFamily="18" charset="-120"/>
              </a:rPr>
              <a:t>Check/load/list/unload/purge module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97</a:t>
            </a:fld>
            <a:endParaRPr lang="en-US"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things yourself</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368278730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p:cNvSpPr>
            <a:spLocks noGrp="1"/>
          </p:cNvSpPr>
          <p:nvPr>
            <p:ph idx="1"/>
          </p:nvPr>
        </p:nvSpPr>
        <p:spPr>
          <a:xfrm>
            <a:off x="551385" y="1620000"/>
            <a:ext cx="10945216" cy="2817112"/>
          </a:xfrm>
          <a:ln w="25400">
            <a:solidFill>
              <a:schemeClr val="accent1"/>
            </a:solidFill>
          </a:ln>
        </p:spPr>
        <p:txBody>
          <a:bodyPr anchor="ctr"/>
          <a:lstStyle/>
          <a:p>
            <a:pPr indent="-324000">
              <a:buBlip>
                <a:blip r:embed="rId3"/>
              </a:buBlip>
            </a:pPr>
            <a:r>
              <a:rPr lang="en-US" altLang="zh-TW" sz="2200" dirty="0">
                <a:ea typeface="新細明體" panose="02020500000000000000" pitchFamily="18" charset="-120"/>
              </a:rPr>
              <a:t>Copy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/apps/</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leuven</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/training/</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HPC_intro</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a:t>
            </a:r>
            <a:r>
              <a:rPr lang="en-US" altLang="zh-TW" sz="2200" dirty="0">
                <a:ea typeface="新細明體" panose="02020500000000000000" pitchFamily="18" charset="-120"/>
              </a:rPr>
              <a:t> to your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$VSC_DATA</a:t>
            </a:r>
          </a:p>
          <a:p>
            <a:pPr indent="-324000">
              <a:buBlip>
                <a:blip r:embed="rId3"/>
              </a:buBlip>
            </a:pPr>
            <a:r>
              <a:rPr lang="en-US" altLang="zh-TW" sz="2200" dirty="0">
                <a:ea typeface="新細明體" panose="02020500000000000000" pitchFamily="18" charset="-120"/>
              </a:rPr>
              <a:t>Submit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cpujob.slurm</a:t>
            </a:r>
            <a:r>
              <a:rPr lang="en-US" altLang="zh-TW" sz="2200" dirty="0">
                <a:ea typeface="新細明體" panose="02020500000000000000" pitchFamily="18" charset="-120"/>
              </a:rPr>
              <a:t> to the cluster</a:t>
            </a:r>
          </a:p>
          <a:p>
            <a:pPr indent="-324000">
              <a:buBlip>
                <a:blip r:embed="rId3"/>
              </a:buBlip>
            </a:pPr>
            <a:r>
              <a:rPr lang="en-US" altLang="zh-TW" sz="2200" dirty="0">
                <a:ea typeface="新細明體" panose="02020500000000000000" pitchFamily="18" charset="-120"/>
              </a:rPr>
              <a:t>List all your jobs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squeue</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-M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wice</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Check the information about the job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slurm_jobinfo</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-M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wice</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&lt;</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job_ID</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&gt;</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Modify the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mpi.slurm</a:t>
            </a:r>
            <a:r>
              <a:rPr lang="en-US" altLang="zh-TW" sz="2200" dirty="0">
                <a:ea typeface="新細明體" panose="02020500000000000000" pitchFamily="18" charset="-120"/>
              </a:rPr>
              <a:t> script to request 1 node, 72 cores for 30 minutes,</a:t>
            </a:r>
            <a:br>
              <a:rPr lang="en-US" altLang="zh-TW" sz="2200" dirty="0">
                <a:ea typeface="新細明體" panose="02020500000000000000" pitchFamily="18" charset="-120"/>
              </a:rPr>
            </a:br>
            <a:r>
              <a:rPr lang="en-US" altLang="zh-TW" sz="2200" dirty="0">
                <a:ea typeface="新細明體" panose="02020500000000000000" pitchFamily="18" charset="-120"/>
              </a:rPr>
              <a:t>  with job start/end e-mail notifications</a:t>
            </a:r>
          </a:p>
          <a:p>
            <a:pPr indent="-324000">
              <a:buBlip>
                <a:blip r:embed="rId3"/>
              </a:buBlip>
            </a:pPr>
            <a:r>
              <a:rPr lang="en-US" altLang="zh-TW" sz="2200" dirty="0">
                <a:ea typeface="新細明體" panose="02020500000000000000" pitchFamily="18" charset="-120"/>
              </a:rPr>
              <a:t>Check the status of all the jobs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98</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things yourself</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216970980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99</a:t>
            </a:fld>
            <a:endParaRPr lang="en-US" dirty="0"/>
          </a:p>
        </p:txBody>
      </p:sp>
      <p:sp>
        <p:nvSpPr>
          <p:cNvPr id="5" name="Tijdelijke aanduiding voor inhoud 2"/>
          <p:cNvSpPr txBox="1">
            <a:spLocks/>
          </p:cNvSpPr>
          <p:nvPr/>
        </p:nvSpPr>
        <p:spPr>
          <a:xfrm>
            <a:off x="549371" y="1614400"/>
            <a:ext cx="11667309" cy="2966728"/>
          </a:xfrm>
          <a:prstGeom prst="rect">
            <a:avLst/>
          </a:prstGeom>
          <a:ln w="25400">
            <a:solidFill>
              <a:schemeClr val="accent1"/>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172800" lvl="2" indent="-324000">
              <a:buBlip>
                <a:blip r:embed="rId3"/>
              </a:buBlip>
            </a:pPr>
            <a:r>
              <a:rPr lang="en-US" altLang="zh-TW" sz="2200" dirty="0">
                <a:ea typeface="新細明體" panose="02020500000000000000" pitchFamily="18" charset="-120"/>
              </a:rPr>
              <a:t>Submit an interactive job</a:t>
            </a:r>
          </a:p>
          <a:p>
            <a:pPr marL="357188" lvl="2" indent="0">
              <a:buNone/>
            </a:pPr>
            <a:r>
              <a:rPr lang="en-US" altLang="zh-TW" sz="2200" dirty="0">
                <a:ea typeface="新細明體" panose="02020500000000000000" pitchFamily="18" charset="-120"/>
              </a:rPr>
              <a:t>	Run your program on a compute node</a:t>
            </a:r>
          </a:p>
          <a:p>
            <a:pPr marL="357188" lvl="2" indent="0">
              <a:buNone/>
            </a:pPr>
            <a:r>
              <a:rPr lang="en-US" altLang="zh-TW" sz="2200" dirty="0">
                <a:ea typeface="新細明體" panose="02020500000000000000" pitchFamily="18" charset="-120"/>
              </a:rPr>
              <a:t>	Open a new terminal and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ssh</a:t>
            </a:r>
            <a:r>
              <a:rPr lang="en-US" altLang="zh-TW" sz="2200" dirty="0">
                <a:ea typeface="新細明體" panose="02020500000000000000" pitchFamily="18" charset="-120"/>
              </a:rPr>
              <a:t> to the allocated compute node </a:t>
            </a:r>
          </a:p>
          <a:p>
            <a:pPr marL="357188" lvl="2" indent="0">
              <a:buNone/>
            </a:pPr>
            <a:r>
              <a:rPr lang="en-US" altLang="zh-TW" sz="2200" dirty="0">
                <a:ea typeface="新細明體" panose="02020500000000000000" pitchFamily="18" charset="-120"/>
              </a:rPr>
              <a:t>	Check the resources usage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htop</a:t>
            </a:r>
            <a:endParaRPr lang="en-US" altLang="zh-TW" sz="2200" dirty="0">
              <a:ea typeface="新細明體" panose="02020500000000000000" pitchFamily="18" charset="-120"/>
            </a:endParaRPr>
          </a:p>
          <a:p>
            <a:pPr marL="357188" lvl="2" indent="0">
              <a:buNone/>
            </a:pPr>
            <a:endParaRPr lang="en-US" altLang="zh-TW" sz="2200" dirty="0">
              <a:ea typeface="新細明體" panose="02020500000000000000" pitchFamily="18" charset="-120"/>
            </a:endParaRPr>
          </a:p>
          <a:p>
            <a:pPr marL="172800" lvl="2" indent="-324000">
              <a:buBlip>
                <a:blip r:embed="rId3"/>
              </a:buBlip>
            </a:pPr>
            <a:r>
              <a:rPr lang="en-US" altLang="zh-TW" sz="2200" dirty="0">
                <a:ea typeface="新細明體" panose="02020500000000000000" pitchFamily="18" charset="-120"/>
              </a:rPr>
              <a:t>Submit a GPU batch job </a:t>
            </a:r>
          </a:p>
          <a:p>
            <a:pPr marL="357188" lvl="2" indent="0">
              <a:buNone/>
              <a:tabLst>
                <a:tab pos="1076325" algn="l"/>
              </a:tabLst>
            </a:pPr>
            <a:r>
              <a:rPr lang="en-US" altLang="zh-TW" sz="2200" dirty="0">
                <a:ea typeface="新細明體" panose="02020500000000000000" pitchFamily="18" charset="-120"/>
              </a:rPr>
              <a:t>     While the job is running, check its details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slurm_jobinfo</a:t>
            </a:r>
            <a:endParaRPr lang="en-US" altLang="zh-TW" sz="2200" dirty="0">
              <a:ea typeface="新細明體" panose="02020500000000000000" pitchFamily="18" charset="-120"/>
            </a:endParaRPr>
          </a:p>
          <a:p>
            <a:pPr marL="357188" lvl="2" indent="0">
              <a:buNone/>
              <a:tabLst>
                <a:tab pos="1076325" algn="l"/>
              </a:tabLst>
            </a:pPr>
            <a:r>
              <a:rPr lang="en-US" altLang="zh-TW" sz="2200" dirty="0">
                <a:ea typeface="新細明體" panose="02020500000000000000" pitchFamily="18" charset="-120"/>
              </a:rPr>
              <a:t>     and check resource on the compute node using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ssh</a:t>
            </a:r>
            <a:r>
              <a:rPr lang="en-US" altLang="zh-TW" sz="2200" dirty="0">
                <a:ea typeface="新細明體" panose="02020500000000000000" pitchFamily="18" charset="-120"/>
              </a:rPr>
              <a:t>,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htop</a:t>
            </a:r>
            <a:r>
              <a:rPr lang="en-US" altLang="zh-TW" sz="2200" dirty="0">
                <a:ea typeface="新細明體" panose="02020500000000000000" pitchFamily="18" charset="-120"/>
              </a:rPr>
              <a:t> and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nvidia-smi</a:t>
            </a:r>
            <a:endParaRPr lang="en-US" altLang="zh-TW" sz="2200" dirty="0">
              <a:latin typeface="Courier New" panose="02070309020205020404" pitchFamily="49" charset="0"/>
              <a:ea typeface="新細明體" panose="02020500000000000000" pitchFamily="18" charset="-12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job monitoring</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266245073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540469" y="1197620"/>
            <a:ext cx="10937067" cy="3785652"/>
          </a:xfrm>
          <a:prstGeom prst="rect">
            <a:avLst/>
          </a:prstGeom>
          <a:ln w="25400">
            <a:solidFill>
              <a:srgbClr val="DB6C30"/>
            </a:solidFill>
          </a:ln>
        </p:spPr>
        <p:txBody>
          <a:bodyPr wrap="square" anchor="ctr">
            <a:spAutoFit/>
          </a:bodyPr>
          <a:lstStyle/>
          <a:p>
            <a:r>
              <a:rPr lang="nl-NL" altLang="en-US" sz="2200" dirty="0"/>
              <a:t>Helpdesk (email): </a:t>
            </a:r>
            <a:r>
              <a:rPr lang="nl-NL" altLang="en-US" sz="2200" dirty="0">
                <a:hlinkClick r:id="rId2"/>
              </a:rPr>
              <a:t>hpcinfo@kuleuven.be</a:t>
            </a:r>
            <a:endParaRPr lang="nl-NL" altLang="en-US" sz="2200" dirty="0"/>
          </a:p>
          <a:p>
            <a:endParaRPr lang="en-US" altLang="en-US" sz="2200" dirty="0"/>
          </a:p>
          <a:p>
            <a:r>
              <a:rPr lang="en-US" altLang="en-US" sz="2200" dirty="0"/>
              <a:t>Helpdesk (online form): </a:t>
            </a:r>
            <a:r>
              <a:rPr lang="en-US" altLang="en-US" sz="2200" dirty="0">
                <a:hlinkClick r:id="rId3"/>
              </a:rPr>
              <a:t>https://admin.kuleuven.be/icts/HPCinfo_form/HPC-info-formulier</a:t>
            </a:r>
            <a:br>
              <a:rPr lang="en-US" altLang="en-US" sz="2200" dirty="0"/>
            </a:br>
            <a:endParaRPr lang="nl-NL" altLang="en-US" sz="2200" dirty="0">
              <a:solidFill>
                <a:srgbClr val="DB6C30"/>
              </a:solidFill>
            </a:endParaRPr>
          </a:p>
          <a:p>
            <a:r>
              <a:rPr lang="nl-NL" altLang="en-US" sz="2200" dirty="0"/>
              <a:t>VSC website: </a:t>
            </a:r>
            <a:r>
              <a:rPr lang="nl-BE" altLang="en-US" sz="2200" dirty="0">
                <a:solidFill>
                  <a:srgbClr val="DB6C30"/>
                </a:solidFill>
                <a:hlinkClick r:id="rId4"/>
              </a:rPr>
              <a:t>https://www.vscentrum.be</a:t>
            </a:r>
            <a:endParaRPr lang="nl-BE" altLang="en-US" sz="2200" dirty="0">
              <a:solidFill>
                <a:srgbClr val="DB6C30"/>
              </a:solidFill>
            </a:endParaRPr>
          </a:p>
          <a:p>
            <a:endParaRPr lang="en-US" altLang="en-US" sz="2200" dirty="0"/>
          </a:p>
          <a:p>
            <a:r>
              <a:rPr lang="en-US" altLang="en-US" sz="2200" dirty="0"/>
              <a:t>VSC documentation: </a:t>
            </a:r>
            <a:r>
              <a:rPr lang="nl-BE" sz="2200" dirty="0">
                <a:solidFill>
                  <a:srgbClr val="DB6C30"/>
                </a:solidFill>
                <a:hlinkClick r:id="rId5"/>
              </a:rPr>
              <a:t>https://docs.vscentrum.be</a:t>
            </a:r>
            <a:br>
              <a:rPr lang="nl-BE" sz="2000" dirty="0"/>
            </a:br>
            <a:endParaRPr lang="nl-BE" sz="2000" dirty="0"/>
          </a:p>
          <a:p>
            <a:r>
              <a:rPr lang="en-US" altLang="en-US" sz="2200" dirty="0"/>
              <a:t>VSC agenda, training sessions, events (User Day): </a:t>
            </a:r>
            <a:r>
              <a:rPr lang="en-US" altLang="en-US" sz="2200" dirty="0">
                <a:hlinkClick r:id="rId6"/>
              </a:rPr>
              <a:t>https://www.vscentrum.be/vsctraining</a:t>
            </a:r>
            <a:endParaRPr lang="en-US" altLang="en-US" sz="2200" dirty="0">
              <a:solidFill>
                <a:srgbClr val="DB6C30"/>
              </a:solidFill>
            </a:endParaRPr>
          </a:p>
          <a:p>
            <a:endParaRPr lang="en-US" altLang="en-US" sz="2200" dirty="0"/>
          </a:p>
          <a:p>
            <a:r>
              <a:rPr lang="en-US" altLang="en-US" sz="2200" dirty="0"/>
              <a:t>System status page: </a:t>
            </a:r>
            <a:r>
              <a:rPr lang="en-US" altLang="en-US" sz="2200" dirty="0">
                <a:hlinkClick r:id="rId7"/>
              </a:rPr>
              <a:t>https://status.vscentrum.be</a:t>
            </a:r>
            <a:endParaRPr lang="en-US" altLang="en-US" sz="2200" dirty="0"/>
          </a:p>
        </p:txBody>
      </p:sp>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100</a:t>
            </a:fld>
            <a:endParaRPr lang="en-US" dirty="0"/>
          </a:p>
        </p:txBody>
      </p:sp>
      <p:sp>
        <p:nvSpPr>
          <p:cNvPr id="3" name="Rectangle 2">
            <a:extLst>
              <a:ext uri="{FF2B5EF4-FFF2-40B4-BE49-F238E27FC236}">
                <a16:creationId xmlns:a16="http://schemas.microsoft.com/office/drawing/2014/main" id="{08DA97A7-3B39-DA75-E4D4-12EC92592B0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Useful links</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13009178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72504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1.1"/>
</p:tagLst>
</file>

<file path=ppt/tags/tag2.xml><?xml version="1.0" encoding="utf-8"?>
<p:tagLst xmlns:a="http://schemas.openxmlformats.org/drawingml/2006/main" xmlns:r="http://schemas.openxmlformats.org/officeDocument/2006/relationships" xmlns:p="http://schemas.openxmlformats.org/presentationml/2006/main">
  <p:tag name="TIMING" val="|13.6|17.7|94.8"/>
</p:tagLst>
</file>

<file path=ppt/tags/tag3.xml><?xml version="1.0" encoding="utf-8"?>
<p:tagLst xmlns:a="http://schemas.openxmlformats.org/drawingml/2006/main" xmlns:r="http://schemas.openxmlformats.org/officeDocument/2006/relationships" xmlns:p="http://schemas.openxmlformats.org/presentationml/2006/main">
  <p:tag name="TIMING" val="|24.7|7.5|43.4"/>
</p:tagLst>
</file>

<file path=ppt/tags/tag4.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5.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6.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7.xml><?xml version="1.0" encoding="utf-8"?>
<p:tagLst xmlns:a="http://schemas.openxmlformats.org/drawingml/2006/main" xmlns:r="http://schemas.openxmlformats.org/officeDocument/2006/relationships" xmlns:p="http://schemas.openxmlformats.org/presentationml/2006/main">
  <p:tag name="TIMING" val="|5.7|1.3|11.4|10.6|1|6.3|5.8"/>
</p:tagLst>
</file>

<file path=ppt/theme/theme1.xml><?xml version="1.0" encoding="utf-8"?>
<a:theme xmlns:a="http://schemas.openxmlformats.org/drawingml/2006/main" name="VSC_Orang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2.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5" ma:contentTypeDescription="" ma:contentTypeScope="" ma:versionID="5769886903b322e9e2d7b560afab2036">
  <xsd:schema xmlns:xsd="http://www.w3.org/2001/XMLSchema" xmlns:xs="http://www.w3.org/2001/XMLSchema" xmlns:p="http://schemas.microsoft.com/office/2006/metadata/properties" xmlns:ns2="aff7d12c-bb71-4270-bd29-9c4d45ff3327" xmlns:ns3="http://schemas.microsoft.com/sharepoint/v4" xmlns:ns4="dba8b794-bc45-41c8-a8ad-34f212f94003" targetNamespace="http://schemas.microsoft.com/office/2006/metadata/properties" ma:root="true" ma:fieldsID="80dbcb32ab13b1d3cdf967041326e545" ns2:_="" ns3:_="" ns4:_="">
    <xsd:import namespace="aff7d12c-bb71-4270-bd29-9c4d45ff3327"/>
    <xsd:import namespace="http://schemas.microsoft.com/sharepoint/v4"/>
    <xsd:import namespace="dba8b794-bc45-41c8-a8ad-34f212f94003"/>
    <xsd:element name="properties">
      <xsd:complexType>
        <xsd:sequence>
          <xsd:element name="documentManagement">
            <xsd:complexType>
              <xsd:all>
                <xsd:element ref="ns2:_dlc_DocId" minOccurs="0"/>
                <xsd:element ref="ns2:_dlc_DocIdUrl" minOccurs="0"/>
                <xsd:element ref="ns2:_dlc_DocIdPersistId" minOccurs="0"/>
                <xsd:element ref="ns3:IconOverlay" minOccurs="0"/>
                <xsd:element ref="ns4: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1" nillable="true" ma:displayName="IconOverlay" ma:hidden="true" ma:internalName="IconOverlay">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ba8b794-bc45-41c8-a8ad-34f212f9400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dlc_DocId xmlns="aff7d12c-bb71-4270-bd29-9c4d45ff3327">3e54aba6-b3d4-4471-8fc4-2b3d036c3ef1</_dlc_DocId>
    <_dlc_DocIdUrl xmlns="aff7d12c-bb71-4270-bd29-9c4d45ff3327">
      <Url>https://www.groupware.kuleuven.be/sites/hpc/_layouts/15/DocIdRedir.aspx?ID=3e54aba6-b3d4-4471-8fc4-2b3d036c3ef1</Url>
      <Description>3e54aba6-b3d4-4471-8fc4-2b3d036c3ef1</Description>
    </_dlc_DocIdUrl>
    <IconOverlay xmlns="http://schemas.microsoft.com/sharepoint/v4" xsi:nil="true"/>
  </documentManagement>
</p:properties>
</file>

<file path=customXml/item3.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4.xml><?xml version="1.0" encoding="utf-8"?>
<?mso-contentType ?>
<customXsn xmlns="http://schemas.microsoft.com/office/2006/metadata/customXsn">
  <xsnLocation/>
  <cached>True</cached>
  <openByDefault>True</openByDefault>
  <xsnScope>/sites/hpc</xsnScope>
</customXsn>
</file>

<file path=customXml/item5.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E6BA311-CDC5-4CF6-912C-6C2E72E27A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sharepoint/v4"/>
    <ds:schemaRef ds:uri="dba8b794-bc45-41c8-a8ad-34f212f940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8D2AE0C-6D0B-4263-B7C4-F46CAED039CD}">
  <ds:schemaRefs>
    <ds:schemaRef ds:uri="http://purl.org/dc/terms/"/>
    <ds:schemaRef ds:uri="http://schemas.microsoft.com/office/2006/metadata/properties"/>
    <ds:schemaRef ds:uri="http://schemas.microsoft.com/sharepoint/v4"/>
    <ds:schemaRef ds:uri="http://schemas.microsoft.com/office/infopath/2007/PartnerControls"/>
    <ds:schemaRef ds:uri="http://schemas.microsoft.com/office/2006/documentManagement/types"/>
    <ds:schemaRef ds:uri="aff7d12c-bb71-4270-bd29-9c4d45ff3327"/>
    <ds:schemaRef ds:uri="http://purl.org/dc/elements/1.1/"/>
    <ds:schemaRef ds:uri="http://purl.org/dc/dcmitype/"/>
    <ds:schemaRef ds:uri="http://schemas.openxmlformats.org/package/2006/metadata/core-properties"/>
    <ds:schemaRef ds:uri="dba8b794-bc45-41c8-a8ad-34f212f94003"/>
    <ds:schemaRef ds:uri="http://www.w3.org/XML/1998/namespace"/>
  </ds:schemaRefs>
</ds:datastoreItem>
</file>

<file path=customXml/itemProps3.xml><?xml version="1.0" encoding="utf-8"?>
<ds:datastoreItem xmlns:ds="http://schemas.openxmlformats.org/officeDocument/2006/customXml" ds:itemID="{0D3AD3C2-D335-4A82-9852-0B836D73C1B0}">
  <ds:schemaRefs>
    <ds:schemaRef ds:uri="http://schemas.microsoft.com/sharepoint/events"/>
  </ds:schemaRefs>
</ds:datastoreItem>
</file>

<file path=customXml/itemProps4.xml><?xml version="1.0" encoding="utf-8"?>
<ds:datastoreItem xmlns:ds="http://schemas.openxmlformats.org/officeDocument/2006/customXml" ds:itemID="{02525BB1-CEF5-4AD3-B27C-BACD2BC0D2B2}">
  <ds:schemaRefs>
    <ds:schemaRef ds:uri="http://schemas.microsoft.com/office/2006/metadata/customXsn"/>
  </ds:schemaRefs>
</ds:datastoreItem>
</file>

<file path=customXml/itemProps5.xml><?xml version="1.0" encoding="utf-8"?>
<ds:datastoreItem xmlns:ds="http://schemas.openxmlformats.org/officeDocument/2006/customXml" ds:itemID="{8B7C5771-2E3B-4E9C-8DA9-F557198FE92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corporate-KULeuven</Template>
  <TotalTime>0</TotalTime>
  <Words>8777</Words>
  <Application>Microsoft Office PowerPoint</Application>
  <PresentationFormat>Widescreen</PresentationFormat>
  <Paragraphs>1347</Paragraphs>
  <Slides>101</Slides>
  <Notes>40</Notes>
  <HiddenSlides>1</HiddenSlides>
  <MMClips>0</MMClips>
  <ScaleCrop>false</ScaleCrop>
  <HeadingPairs>
    <vt:vector size="6" baseType="variant">
      <vt:variant>
        <vt:lpstr>Fonts Used</vt:lpstr>
      </vt:variant>
      <vt:variant>
        <vt:i4>15</vt:i4>
      </vt:variant>
      <vt:variant>
        <vt:lpstr>Theme</vt:lpstr>
      </vt:variant>
      <vt:variant>
        <vt:i4>3</vt:i4>
      </vt:variant>
      <vt:variant>
        <vt:lpstr>Slide Titles</vt:lpstr>
      </vt:variant>
      <vt:variant>
        <vt:i4>101</vt:i4>
      </vt:variant>
    </vt:vector>
  </HeadingPairs>
  <TitlesOfParts>
    <vt:vector size="119" baseType="lpstr">
      <vt:lpstr>新細明體</vt:lpstr>
      <vt:lpstr>72 Monospace</vt:lpstr>
      <vt:lpstr>Arial</vt:lpstr>
      <vt:lpstr>Calibri</vt:lpstr>
      <vt:lpstr>Calibri Light</vt:lpstr>
      <vt:lpstr>Consolas</vt:lpstr>
      <vt:lpstr>Courier New</vt:lpstr>
      <vt:lpstr>FlandersArtSans-Bold</vt:lpstr>
      <vt:lpstr>FlandersArtSans-Medium</vt:lpstr>
      <vt:lpstr>FlandersArtSans-Regular</vt:lpstr>
      <vt:lpstr>Open Sans Extrabold</vt:lpstr>
      <vt:lpstr>Roboto</vt:lpstr>
      <vt:lpstr>Times New Roman</vt:lpstr>
      <vt:lpstr>Trebuchet MS</vt:lpstr>
      <vt:lpstr>Wingdings</vt:lpstr>
      <vt:lpstr>VSC_Orange</vt:lpstr>
      <vt:lpstr>Office Theme</vt:lpstr>
      <vt:lpstr>1_Office Theme</vt:lpstr>
      <vt:lpstr>VSC HPC introduction course</vt:lpstr>
      <vt:lpstr>PowerPoint Presentation</vt:lpstr>
      <vt:lpstr>What is High Performance Computing?</vt:lpstr>
      <vt:lpstr>PowerPoint Presentation</vt:lpstr>
      <vt:lpstr>PowerPoint Presentation</vt:lpstr>
      <vt:lpstr>PowerPoint Presentation</vt:lpstr>
      <vt:lpstr>VSC PARTNERSHIP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Extra (KU Leuven) storage locations</vt:lpstr>
      <vt:lpstr>ManGO</vt:lpstr>
      <vt:lpstr>PowerPoint Presentation</vt:lpstr>
      <vt:lpstr>Tier-2 credit system</vt:lpstr>
      <vt:lpstr>Tier-2 credit system – how to request credits</vt:lpstr>
      <vt:lpstr>Tier-2 credit system – how</vt:lpstr>
      <vt:lpstr>Tier-2 credit system – manage your credits</vt:lpstr>
      <vt:lpstr>Tier-2 credit system – manage your credits</vt:lpstr>
      <vt:lpstr>Tier-2 credit system – manage your credits</vt:lpstr>
      <vt:lpstr>Tier-2 credit system – manage your credits</vt:lpstr>
      <vt:lpstr>Tier-2 credit system – manage your credits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Serial application 1 process on 1 core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KULeuven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ICTS | Communicatie, Servicepunt en Opleiding</dc:creator>
  <dc:description>Huisstijl KU Leuven - versie 24 juli 2012</dc:description>
  <cp:lastModifiedBy>Wouter Van Assche</cp:lastModifiedBy>
  <cp:revision>1798</cp:revision>
  <dcterms:created xsi:type="dcterms:W3CDTF">2012-07-10T07:57:57Z</dcterms:created>
  <dcterms:modified xsi:type="dcterms:W3CDTF">2026-03-19T10:29:38Z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0x010100317C36A1CAF973428CFB8DC9B5B73D030400A741C9874CC89F4CB7C7A5AE62CBCD36</vt:lpwstr>
  </property>
  <property fmtid="{D5CDD505-2E9C-101B-9397-08002B2CF9AE}" pid="3" name="_dlc_DocIdItemGuid">
    <vt:lpwstr>3e54aba6-b3d4-4471-8fc4-2b3d036c3ef1</vt:lpwstr>
  </property>
</Properties>
</file>