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8.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2296F0"/>
    <a:srgbClr val="F1E0DD"/>
    <a:srgbClr val="F1C4AC"/>
    <a:srgbClr val="BB4B02"/>
    <a:srgbClr val="333639"/>
    <a:srgbClr val="F4F5FC"/>
    <a:srgbClr val="282828"/>
    <a:srgbClr val="4E586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60" autoAdjust="0"/>
    <p:restoredTop sz="89781" autoAdjust="0"/>
  </p:normalViewPr>
  <p:slideViewPr>
    <p:cSldViewPr snapToObjects="1" showGuides="1">
      <p:cViewPr varScale="1">
        <p:scale>
          <a:sx n="99" d="100"/>
          <a:sy n="99" d="100"/>
        </p:scale>
        <p:origin x="1188" y="90"/>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10" custLinFactNeighborY="485"/>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a:solidFill>
          <a:srgbClr val="F1C4AC"/>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rgbClr val="DB6C30"/>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5903"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199B590F-E666-4806-8F10-BF2385A38700}" type="presOf" srcId="{47ED5E86-6683-4B94-9D77-315F5598C765}" destId="{AD753434-8F18-4EC6-B4A4-C297E31D2F02}" srcOrd="0" destOrd="0" presId="urn:microsoft.com/office/officeart/2005/8/layout/chart3"/>
    <dgm:cxn modelId="{62A9E73A-6FF7-4065-BE38-49467F73C673}" type="presOf" srcId="{58439C99-298E-4A78-907C-5716723AA190}" destId="{111B4636-A456-4308-9E63-E95537971891}" srcOrd="0" destOrd="0" presId="urn:microsoft.com/office/officeart/2005/8/layout/chart3"/>
    <dgm:cxn modelId="{807F8440-2D7C-4890-BF3C-051076464470}" type="presOf" srcId="{413FA03B-A9AF-48BD-9886-F39DE0D946BB}" destId="{CA6ADB7F-7DDB-4265-9F1B-63697782A96C}" srcOrd="1" destOrd="0" presId="urn:microsoft.com/office/officeart/2005/8/layout/chart3"/>
    <dgm:cxn modelId="{420BEA5E-0046-4546-822E-948BE93CDEDD}" type="presOf" srcId="{B95125EF-84B5-4BCF-9C6E-068AD55408E0}" destId="{E764B439-29EF-48FB-AD55-5DE0421120A2}" srcOrd="1" destOrd="0" presId="urn:microsoft.com/office/officeart/2005/8/layout/chart3"/>
    <dgm:cxn modelId="{9CC3AE68-E186-4110-A7A9-D98209D55FA0}" type="presOf" srcId="{15CC3DC5-A122-4FF6-A8C3-1F74A7D26318}" destId="{0C388C87-16DF-4F7F-82C7-4444B2D331E1}" srcOrd="0" destOrd="0" presId="urn:microsoft.com/office/officeart/2005/8/layout/chart3"/>
    <dgm:cxn modelId="{937CB66A-3200-4452-A419-D47955E38986}" type="presOf" srcId="{B95125EF-84B5-4BCF-9C6E-068AD55408E0}" destId="{833D8A65-B827-49CF-A8B4-E49007100291}" srcOrd="0" destOrd="0" presId="urn:microsoft.com/office/officeart/2005/8/layout/chart3"/>
    <dgm:cxn modelId="{39102A70-A92E-44A9-8B6C-55868613DCB8}" type="presOf" srcId="{47ED5E86-6683-4B94-9D77-315F5598C765}" destId="{DD700F7E-99AA-444B-A831-7A1EF158665F}" srcOrd="1"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D3569D89-4AF4-4979-B945-B82248F9FD94}" type="presOf" srcId="{58439C99-298E-4A78-907C-5716723AA190}" destId="{4B2B4DF4-56ED-4BD7-A2F6-0D76705CE16B}" srcOrd="1" destOrd="0" presId="urn:microsoft.com/office/officeart/2005/8/layout/chart3"/>
    <dgm:cxn modelId="{67CD138C-600A-47D9-B0E3-ACE0E842F3D0}" srcId="{35DA2133-A040-49BC-BFEA-638D4283A477}" destId="{58439C99-298E-4A78-907C-5716723AA190}" srcOrd="3" destOrd="0" parTransId="{B70224A7-0663-4DC3-9659-725BA53132FD}" sibTransId="{5350564E-9CD9-4FDA-B9FE-E52E16EC5A21}"/>
    <dgm:cxn modelId="{88CB09A2-823B-496A-82D3-4B6FDE560949}" type="presOf" srcId="{16092C35-7FCB-4936-8386-1AEE78242DC3}" destId="{F2C2304E-EBDD-4BFD-856A-0BF7A53E74DD}" srcOrd="0" destOrd="0" presId="urn:microsoft.com/office/officeart/2005/8/layout/chart3"/>
    <dgm:cxn modelId="{D47773A7-6030-436C-834E-0F84E0913CD5}" type="presOf" srcId="{16092C35-7FCB-4936-8386-1AEE78242DC3}" destId="{89FD3735-FBF2-4668-95D8-7E180CF77867}" srcOrd="1" destOrd="0" presId="urn:microsoft.com/office/officeart/2005/8/layout/chart3"/>
    <dgm:cxn modelId="{8B550AAE-F354-41DB-AA18-A3C2170251AF}" type="presOf" srcId="{413FA03B-A9AF-48BD-9886-F39DE0D946BB}" destId="{D898F928-3286-4862-93BB-BD4E620472C6}"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CFC1AE9-ED51-480C-BB26-E029750388A5}" type="presOf" srcId="{15CC3DC5-A122-4FF6-A8C3-1F74A7D26318}" destId="{711CB24B-49A2-4004-9220-C2D98837F761}" srcOrd="1" destOrd="0" presId="urn:microsoft.com/office/officeart/2005/8/layout/chart3"/>
    <dgm:cxn modelId="{CA072EA2-B456-4877-A4FB-79AAE51FC78E}" type="presParOf" srcId="{FAB8AA3E-2E93-4523-A257-8E1565815C0B}" destId="{D898F928-3286-4862-93BB-BD4E620472C6}" srcOrd="0" destOrd="0" presId="urn:microsoft.com/office/officeart/2005/8/layout/chart3"/>
    <dgm:cxn modelId="{F6948638-625E-4821-B2E0-C9FBCA17F2BF}" type="presParOf" srcId="{FAB8AA3E-2E93-4523-A257-8E1565815C0B}" destId="{CA6ADB7F-7DDB-4265-9F1B-63697782A96C}" srcOrd="1" destOrd="0" presId="urn:microsoft.com/office/officeart/2005/8/layout/chart3"/>
    <dgm:cxn modelId="{59A36E2C-96DF-438B-825C-06B0BE621CBC}" type="presParOf" srcId="{FAB8AA3E-2E93-4523-A257-8E1565815C0B}" destId="{F2C2304E-EBDD-4BFD-856A-0BF7A53E74DD}" srcOrd="2" destOrd="0" presId="urn:microsoft.com/office/officeart/2005/8/layout/chart3"/>
    <dgm:cxn modelId="{72E64AEC-8C1A-43A0-95A3-1A5FC018EAA2}" type="presParOf" srcId="{FAB8AA3E-2E93-4523-A257-8E1565815C0B}" destId="{89FD3735-FBF2-4668-95D8-7E180CF77867}" srcOrd="3" destOrd="0" presId="urn:microsoft.com/office/officeart/2005/8/layout/chart3"/>
    <dgm:cxn modelId="{19697827-4D50-44AD-B145-6098C4A5EEB0}" type="presParOf" srcId="{FAB8AA3E-2E93-4523-A257-8E1565815C0B}" destId="{AD753434-8F18-4EC6-B4A4-C297E31D2F02}" srcOrd="4" destOrd="0" presId="urn:microsoft.com/office/officeart/2005/8/layout/chart3"/>
    <dgm:cxn modelId="{2EE932CE-883F-42BF-937C-B00088C03C88}" type="presParOf" srcId="{FAB8AA3E-2E93-4523-A257-8E1565815C0B}" destId="{DD700F7E-99AA-444B-A831-7A1EF158665F}" srcOrd="5" destOrd="0" presId="urn:microsoft.com/office/officeart/2005/8/layout/chart3"/>
    <dgm:cxn modelId="{DCC501D7-3125-40A0-A627-81DDD69F951E}" type="presParOf" srcId="{FAB8AA3E-2E93-4523-A257-8E1565815C0B}" destId="{111B4636-A456-4308-9E63-E95537971891}" srcOrd="6" destOrd="0" presId="urn:microsoft.com/office/officeart/2005/8/layout/chart3"/>
    <dgm:cxn modelId="{167C2498-5256-452D-ADD9-0A3E9B9F7BF4}" type="presParOf" srcId="{FAB8AA3E-2E93-4523-A257-8E1565815C0B}" destId="{4B2B4DF4-56ED-4BD7-A2F6-0D76705CE16B}" srcOrd="7" destOrd="0" presId="urn:microsoft.com/office/officeart/2005/8/layout/chart3"/>
    <dgm:cxn modelId="{F6C316B6-33D5-4220-817F-A5B4EE56A141}" type="presParOf" srcId="{FAB8AA3E-2E93-4523-A257-8E1565815C0B}" destId="{0C388C87-16DF-4F7F-82C7-4444B2D331E1}" srcOrd="8" destOrd="0" presId="urn:microsoft.com/office/officeart/2005/8/layout/chart3"/>
    <dgm:cxn modelId="{8054ECE3-BAB9-42EB-BBB8-65BD594C4F88}" type="presParOf" srcId="{FAB8AA3E-2E93-4523-A257-8E1565815C0B}" destId="{711CB24B-49A2-4004-9220-C2D98837F761}" srcOrd="9" destOrd="0" presId="urn:microsoft.com/office/officeart/2005/8/layout/chart3"/>
    <dgm:cxn modelId="{D6A6B62F-3C3F-40A6-85FA-06234B6A6CFD}" type="presParOf" srcId="{FAB8AA3E-2E93-4523-A257-8E1565815C0B}" destId="{833D8A65-B827-49CF-A8B4-E49007100291}" srcOrd="10" destOrd="0" presId="urn:microsoft.com/office/officeart/2005/8/layout/chart3"/>
    <dgm:cxn modelId="{B06C035A-0CC7-434C-9027-4501673F60F9}"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766" custLinFactNeighborY="4908"/>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2519" custLinFactNeighborY="4908"/>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5656"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rgbClr val="F1C4AC"/>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rgbClr val="DB6C30"/>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2519" custLinFactNeighborY="-4670"/>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2010" y="162009"/>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5396" y="395586"/>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590394" y="266407"/>
          <a:ext cx="2180057" cy="2180057"/>
        </a:xfrm>
        <a:prstGeom prst="pie">
          <a:avLst>
            <a:gd name="adj1" fmla="val 19800000"/>
            <a:gd name="adj2" fmla="val 18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82695"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522006" y="370810"/>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35392" y="1850134"/>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06790" y="370810"/>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37611" y="1850134"/>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338402" y="266407"/>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372141"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06790" y="162004"/>
          <a:ext cx="2180057" cy="2180057"/>
        </a:xfrm>
        <a:prstGeom prst="pie">
          <a:avLst>
            <a:gd name="adj1" fmla="val 12600000"/>
            <a:gd name="adj2" fmla="val 162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37611" y="395581"/>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6.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29/09/2026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29/09/2026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txBody>
          <a:bodyPr/>
          <a:lstStyle/>
          <a:p>
            <a:endParaRPr lang="nl-BE"/>
          </a:p>
        </p:txBody>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32</a:t>
            </a:fld>
            <a:endParaRPr lang="nl-BE"/>
          </a:p>
        </p:txBody>
      </p:sp>
    </p:spTree>
    <p:extLst>
      <p:ext uri="{BB962C8B-B14F-4D97-AF65-F5344CB8AC3E}">
        <p14:creationId xmlns:p14="http://schemas.microsoft.com/office/powerpoint/2010/main" val="42382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nl-BE"/>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57</a:t>
            </a:fld>
            <a:endParaRPr lang="nl-BE"/>
          </a:p>
        </p:txBody>
      </p:sp>
    </p:spTree>
    <p:extLst>
      <p:ext uri="{BB962C8B-B14F-4D97-AF65-F5344CB8AC3E}">
        <p14:creationId xmlns:p14="http://schemas.microsoft.com/office/powerpoint/2010/main" val="61619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81</a:t>
            </a:fld>
            <a:endParaRPr lang="nl-BE"/>
          </a:p>
        </p:txBody>
      </p:sp>
    </p:spTree>
    <p:extLst>
      <p:ext uri="{BB962C8B-B14F-4D97-AF65-F5344CB8AC3E}">
        <p14:creationId xmlns:p14="http://schemas.microsoft.com/office/powerpoint/2010/main" val="24861939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9/29/2026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9/29/2026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github.com/gjbex/Training-sessions?tab=coc-ov-file" TargetMode="Externa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forms/Aanvraagformulier_HPC_Credits" TargetMode="External"/><Relationship Id="rId13" Type="http://schemas.openxmlformats.org/officeDocument/2006/relationships/hyperlink" Target="https://icts.kuleuven.be/sc/onderzoeksgegevens/english-version/hpc_vsc_page" TargetMode="External"/><Relationship Id="rId3" Type="http://schemas.openxmlformats.org/officeDocument/2006/relationships/image" Target="../media/image36.png"/><Relationship Id="rId7" Type="http://schemas.openxmlformats.org/officeDocument/2006/relationships/hyperlink" Target="https://admin.kuleuven.be/icts/onderzoek/hpc/request-introduction-credits" TargetMode="External"/><Relationship Id="rId12" Type="http://schemas.openxmlformats.org/officeDocument/2006/relationships/hyperlink" Target="https://icts.kuleuven.be/sc"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vlaams-supercomputing-centrum-vscdocumentation.readthedocs-hosted.com/en/latest/access/getting_access.html#users-from-the-ku-leuven-and-uhasselt-association" TargetMode="External"/><Relationship Id="rId11" Type="http://schemas.openxmlformats.org/officeDocument/2006/relationships/hyperlink" Target="https://icts.kuleuven.be/sc/onderzoeksgegevens/HPC-storage" TargetMode="External"/><Relationship Id="rId5" Type="http://schemas.openxmlformats.org/officeDocument/2006/relationships/image" Target="../media/image8.png"/><Relationship Id="rId10" Type="http://schemas.openxmlformats.org/officeDocument/2006/relationships/hyperlink" Target="https://admin.kuleuven.be/icts/onderzoek/hpc/request-project-credits" TargetMode="External"/><Relationship Id="rId4" Type="http://schemas.openxmlformats.org/officeDocument/2006/relationships/image" Target="../media/image37.png"/><Relationship Id="rId9" Type="http://schemas.openxmlformats.org/officeDocument/2006/relationships/hyperlink" Target="https://docs.vscentrum.be/accounts/vsc_user_groups.html"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png"/><Relationship Id="rId18" Type="http://schemas.openxmlformats.org/officeDocument/2006/relationships/image" Target="../media/image53.pn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17" Type="http://schemas.openxmlformats.org/officeDocument/2006/relationships/image" Target="../media/image52.jpeg"/><Relationship Id="rId2" Type="http://schemas.openxmlformats.org/officeDocument/2006/relationships/notesSlide" Target="../notesSlides/notesSlide13.xml"/><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8.xml"/><Relationship Id="rId6" Type="http://schemas.openxmlformats.org/officeDocument/2006/relationships/image" Target="../media/image41.jpeg"/><Relationship Id="rId11" Type="http://schemas.openxmlformats.org/officeDocument/2006/relationships/image" Target="../media/image46.png"/><Relationship Id="rId5" Type="http://schemas.openxmlformats.org/officeDocument/2006/relationships/image" Target="../media/image40.jpeg"/><Relationship Id="rId15" Type="http://schemas.openxmlformats.org/officeDocument/2006/relationships/image" Target="../media/image50.jpe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jpeg"/></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7.jpeg"/></Relationships>
</file>

<file path=ppt/slides/_rels/slide1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notesSlide" Target="../notesSlides/notesSlide14.xml"/><Relationship Id="rId7" Type="http://schemas.openxmlformats.org/officeDocument/2006/relationships/image" Target="../media/image60.png"/><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8.png"/><Relationship Id="rId9" Type="http://schemas.openxmlformats.org/officeDocument/2006/relationships/image" Target="../media/image62.jpeg"/></Relationships>
</file>

<file path=ppt/slides/_rels/slide2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62.jpeg"/><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8.png"/><Relationship Id="rId1" Type="http://schemas.openxmlformats.org/officeDocument/2006/relationships/slideLayout" Target="../slideLayouts/slideLayout6.xml"/><Relationship Id="rId5" Type="http://schemas.openxmlformats.org/officeDocument/2006/relationships/hyperlink" Target="https://icts.kuleuven.be/sc/onderzoeksgegevens/HPC" TargetMode="External"/><Relationship Id="rId4" Type="http://schemas.openxmlformats.org/officeDocument/2006/relationships/hyperlink" Target="https://icts.kuleuven.be/sc/onderzoeksgegevens/HPC-storag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6.pn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openxmlformats.org/officeDocument/2006/relationships/hyperlink" Target="https://docs.vscentrum.be/leuven/tier2_hardware/parallel_filesystems.html" TargetMode="External"/><Relationship Id="rId3" Type="http://schemas.openxmlformats.org/officeDocument/2006/relationships/diagramLayout" Target="../diagrams/layout5.xml"/><Relationship Id="rId7" Type="http://schemas.openxmlformats.org/officeDocument/2006/relationships/hyperlink" Target="https://icts.kuleuven.be/sc/onderzoeksgegevens/HPC-storage"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66.png"/></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hyperlink" Target="https://www.vscentrum.be/data" TargetMode="Externa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5.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svg"/><Relationship Id="rId10" Type="http://schemas.openxmlformats.org/officeDocument/2006/relationships/image" Target="../media/image8.png"/><Relationship Id="rId4" Type="http://schemas.openxmlformats.org/officeDocument/2006/relationships/image" Target="../media/image69.svg"/><Relationship Id="rId9" Type="http://schemas.openxmlformats.org/officeDocument/2006/relationships/hyperlink" Target="https://icts.kuleuven.be/wijzers-beheer/en/Storagewijzer"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4.svg"/><Relationship Id="rId7" Type="http://schemas.openxmlformats.org/officeDocument/2006/relationships/image" Target="../media/image70.sv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5.svg"/></Relationships>
</file>

<file path=ppt/slides/_rels/slide3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hyperlink" Target="https://icts.kuleuven.be/sc/english/research/HPC" TargetMode="External"/><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8" Type="http://schemas.openxmlformats.org/officeDocument/2006/relationships/hyperlink" Target="https://admin.kuleuven.be/icts/onderzoek/hpc/request-project-credits" TargetMode="External"/><Relationship Id="rId3" Type="http://schemas.openxmlformats.org/officeDocument/2006/relationships/notesSlide" Target="../notesSlides/notesSlide27.xml"/><Relationship Id="rId7" Type="http://schemas.openxmlformats.org/officeDocument/2006/relationships/hyperlink" Target="https://admin.kuleuven.be/icts/onderzoek/hpc/request-introduction-credits"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8.png"/><Relationship Id="rId5" Type="http://schemas.openxmlformats.org/officeDocument/2006/relationships/image" Target="../media/image79.png"/><Relationship Id="rId4" Type="http://schemas.openxmlformats.org/officeDocument/2006/relationships/image" Target="../media/image78.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notesSlide" Target="../notesSlides/notesSlide35.xml"/><Relationship Id="rId7" Type="http://schemas.openxmlformats.org/officeDocument/2006/relationships/image" Target="../media/image58.png"/><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62.jpeg"/><Relationship Id="rId5" Type="http://schemas.openxmlformats.org/officeDocument/2006/relationships/image" Target="../media/image61.png"/><Relationship Id="rId10" Type="http://schemas.openxmlformats.org/officeDocument/2006/relationships/image" Target="../media/image63.png"/><Relationship Id="rId4" Type="http://schemas.openxmlformats.org/officeDocument/2006/relationships/image" Target="../media/image84.png"/><Relationship Id="rId9" Type="http://schemas.openxmlformats.org/officeDocument/2006/relationships/image" Target="../media/image60.png"/></Relationships>
</file>

<file path=ppt/slides/_rels/slide48.xml.rels><?xml version="1.0" encoding="UTF-8" standalone="yes"?>
<Relationships xmlns="http://schemas.openxmlformats.org/package/2006/relationships"><Relationship Id="rId8" Type="http://schemas.openxmlformats.org/officeDocument/2006/relationships/hyperlink" Target="https://docs.vscentrum.be/access/generating_keys.html" TargetMode="External"/><Relationship Id="rId3" Type="http://schemas.openxmlformats.org/officeDocument/2006/relationships/image" Target="../media/image8.png"/><Relationship Id="rId7" Type="http://schemas.openxmlformats.org/officeDocument/2006/relationships/hyperlink" Target="https://docs.vscentrum.be/access/using_ssh_agent.html"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mobaxterm.mobatek.net/" TargetMode="External"/><Relationship Id="rId5" Type="http://schemas.openxmlformats.org/officeDocument/2006/relationships/hyperlink" Target="https://docs.vscentrum.be/access/text_mode_access_using_putty.html" TargetMode="External"/><Relationship Id="rId4" Type="http://schemas.openxmlformats.org/officeDocument/2006/relationships/hyperlink" Target="https://ondemand.hpc.kuleuven.be/"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9.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8.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1.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99.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8.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hyperlink" Target="https://docs.vscentrum.be/compute/portal/ondemand/jupyterlab.html#jupyterlab" TargetMode="External"/><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6.jp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2.png"/><Relationship Id="rId4" Type="http://schemas.openxmlformats.org/officeDocument/2006/relationships/image" Target="../media/image111.png"/></Relationships>
</file>

<file path=ppt/slides/_rels/slide7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6.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8" Type="http://schemas.openxmlformats.org/officeDocument/2006/relationships/hyperlink" Target="https://docs.vscentrum.be/compute/software/installing_software/compiling_software.html" TargetMode="External"/><Relationship Id="rId3" Type="http://schemas.openxmlformats.org/officeDocument/2006/relationships/hyperlink" Target="https://docs.vscentrum.be/compute/software/using_software/using_software.html" TargetMode="External"/><Relationship Id="rId7" Type="http://schemas.openxmlformats.org/officeDocument/2006/relationships/hyperlink" Target="https://set.kuleuven.be/set-it" TargetMode="External"/><Relationship Id="rId2"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hyperlink" Target="https://vlaams-supercomputing-centrum-vscdocumentation.readthedocs-hosted.com/en/latest/software/r_package_management.html?highlight=conda" TargetMode="External"/><Relationship Id="rId5" Type="http://schemas.openxmlformats.org/officeDocument/2006/relationships/hyperlink" Target="https://vlaams-supercomputing-centrum-vscdocumentation.readthedocs-hosted.com/en/latest/software/python_package_management.html?highlight=conda" TargetMode="External"/><Relationship Id="rId4" Type="http://schemas.openxmlformats.org/officeDocument/2006/relationships/hyperlink" Target="https://docs.vscentrum.be/contact_vsc.html"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11" Type="http://schemas.openxmlformats.org/officeDocument/2006/relationships/hyperlink" Target="https://docs.vscentrum.be/leuven/tier2_hardware/mindwell_hardware.html" TargetMode="External"/><Relationship Id="rId5" Type="http://schemas.openxmlformats.org/officeDocument/2006/relationships/image" Target="../media/image117.png"/><Relationship Id="rId10" Type="http://schemas.openxmlformats.org/officeDocument/2006/relationships/hyperlink" Target="https://docs.vscentrum.be/leuven/tier2_hardware/wice_hardware.html" TargetMode="External"/><Relationship Id="rId4" Type="http://schemas.openxmlformats.org/officeDocument/2006/relationships/image" Target="../media/image116.png"/><Relationship Id="rId9" Type="http://schemas.openxmlformats.org/officeDocument/2006/relationships/image" Target="../media/image8.png"/></Relationships>
</file>

<file path=ppt/slides/_rels/slide77.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21.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4.png"/><Relationship Id="rId1" Type="http://schemas.openxmlformats.org/officeDocument/2006/relationships/slideLayout" Target="../slideLayouts/slideLayout6.xml"/><Relationship Id="rId6" Type="http://schemas.openxmlformats.org/officeDocument/2006/relationships/image" Target="../media/image98.png"/><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8" Type="http://schemas.openxmlformats.org/officeDocument/2006/relationships/hyperlink" Target="https://www.vscentrum.be/vsctraining" TargetMode="External"/><Relationship Id="rId3" Type="http://schemas.openxmlformats.org/officeDocument/2006/relationships/hyperlink" Target="mailto:hpcinfo@kuleuven.be" TargetMode="External"/><Relationship Id="rId7" Type="http://schemas.openxmlformats.org/officeDocument/2006/relationships/hyperlink" Target="https://docs.vscentrum.be/" TargetMode="External"/><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hyperlink" Target="https://www.vscentrum.be/" TargetMode="External"/><Relationship Id="rId5" Type="http://schemas.openxmlformats.org/officeDocument/2006/relationships/hyperlink" Target="https://docs.vscentrum.be/contact_vsc.html" TargetMode="External"/><Relationship Id="rId4" Type="http://schemas.openxmlformats.org/officeDocument/2006/relationships/hyperlink" Target="https://admin.kuleuven.be/icts/HPCinfo_form/HPC-info-formulier" TargetMode="External"/><Relationship Id="rId9" Type="http://schemas.openxmlformats.org/officeDocument/2006/relationships/hyperlink" Target="https://status.vscentrum.be/"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07368" y="1315443"/>
            <a:ext cx="7920880" cy="2387600"/>
          </a:xfrm>
        </p:spPr>
        <p:txBody>
          <a:bodyPr>
            <a:normAutofit/>
          </a:bodyPr>
          <a:lstStyle/>
          <a:p>
            <a:pPr algn="l"/>
            <a:r>
              <a:rPr lang="en-US" sz="6000" dirty="0">
                <a:solidFill>
                  <a:srgbClr val="4E5865"/>
                </a:solidFill>
              </a:rPr>
              <a:t>Introduction to High Performance Computing</a:t>
            </a:r>
          </a:p>
        </p:txBody>
      </p:sp>
      <p:sp>
        <p:nvSpPr>
          <p:cNvPr id="7" name="Rectangle 6">
            <a:extLst>
              <a:ext uri="{FF2B5EF4-FFF2-40B4-BE49-F238E27FC236}">
                <a16:creationId xmlns:a16="http://schemas.microsoft.com/office/drawing/2014/main" id="{E7C86E5E-9A10-867B-17CA-F9902B9425BB}"/>
              </a:ext>
            </a:extLst>
          </p:cNvPr>
          <p:cNvSpPr/>
          <p:nvPr/>
        </p:nvSpPr>
        <p:spPr>
          <a:xfrm>
            <a:off x="413278" y="3621033"/>
            <a:ext cx="6539611" cy="523220"/>
          </a:xfrm>
          <a:prstGeom prst="rect">
            <a:avLst/>
          </a:prstGeom>
        </p:spPr>
        <p:txBody>
          <a:bodyPr wrap="none">
            <a:spAutoFit/>
          </a:bodyPr>
          <a:lstStyle/>
          <a:p>
            <a:r>
              <a:rPr lang="en-US" sz="2800" dirty="0">
                <a:solidFill>
                  <a:srgbClr val="4E5865"/>
                </a:solidFill>
                <a:latin typeface="+mj-lt"/>
              </a:rPr>
              <a:t>By: VSC HPC Support Staff at KU Leuven site</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3">
            <a:extLst>
              <a:ext uri="{28A0092B-C50C-407E-A947-70E740481C1C}">
                <a14:useLocalDpi xmlns:a14="http://schemas.microsoft.com/office/drawing/2010/main" val="0"/>
              </a:ext>
            </a:extLst>
          </a:blip>
          <a:srcRect l="10687" t="11172" r="11763" b="11280"/>
          <a:stretch/>
        </p:blipFill>
        <p:spPr>
          <a:xfrm>
            <a:off x="8654219" y="1268760"/>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material</a:t>
            </a:r>
            <a:endParaRPr lang="en-US" altLang="en-US" sz="3200" dirty="0"/>
          </a:p>
        </p:txBody>
      </p:sp>
      <p:sp>
        <p:nvSpPr>
          <p:cNvPr id="15" name="Content Placeholder 3">
            <a:extLst>
              <a:ext uri="{FF2B5EF4-FFF2-40B4-BE49-F238E27FC236}">
                <a16:creationId xmlns:a16="http://schemas.microsoft.com/office/drawing/2014/main" id="{5020F560-F0C3-C849-853F-A606119D6839}"/>
              </a:ext>
            </a:extLst>
          </p:cNvPr>
          <p:cNvSpPr txBox="1">
            <a:spLocks/>
          </p:cNvSpPr>
          <p:nvPr/>
        </p:nvSpPr>
        <p:spPr>
          <a:xfrm>
            <a:off x="720000" y="1349999"/>
            <a:ext cx="515876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Course material is available on </a:t>
            </a:r>
            <a:r>
              <a:rPr lang="en-US" sz="2200" dirty="0" err="1"/>
              <a:t>Github</a:t>
            </a:r>
            <a:r>
              <a:rPr lang="en-US" sz="2200" dirty="0"/>
              <a:t>:</a:t>
            </a:r>
            <a:br>
              <a:rPr lang="en-US" sz="2200" dirty="0"/>
            </a:br>
            <a:r>
              <a:rPr lang="en-US" sz="2200" dirty="0">
                <a:hlinkClick r:id="rId3"/>
              </a:rPr>
              <a:t>https://hpcleuven.github.io/HPC-intro/</a:t>
            </a:r>
            <a:endParaRPr lang="en-US" sz="2200" dirty="0"/>
          </a:p>
          <a:p>
            <a:pPr marL="0" indent="0">
              <a:buNone/>
            </a:pPr>
            <a:endParaRPr lang="en-US" sz="2200" dirty="0"/>
          </a:p>
          <a:p>
            <a:pPr marL="0" indent="0">
              <a:buNone/>
            </a:pPr>
            <a:r>
              <a:rPr lang="en-US" sz="2200" dirty="0"/>
              <a:t>Video recordings </a:t>
            </a:r>
          </a:p>
          <a:p>
            <a:pPr marL="324000" indent="-324000">
              <a:buBlip>
                <a:blip r:embed="rId4"/>
              </a:buBlip>
            </a:pPr>
            <a:r>
              <a:rPr lang="en-US" sz="2200" dirty="0"/>
              <a:t>Recommended videos: ~2 </a:t>
            </a:r>
            <a:r>
              <a:rPr lang="en-US" sz="2200" dirty="0" err="1"/>
              <a:t>hrs</a:t>
            </a:r>
            <a:endParaRPr lang="en-US" sz="2200" dirty="0"/>
          </a:p>
          <a:p>
            <a:pPr marL="324000" indent="-324000">
              <a:buBlip>
                <a:blip r:embed="rId4"/>
              </a:buBlip>
            </a:pPr>
            <a:r>
              <a:rPr lang="en-US" sz="2200" dirty="0"/>
              <a:t>Optional videos: ~1 </a:t>
            </a:r>
            <a:r>
              <a:rPr lang="en-US" sz="2200" dirty="0" err="1"/>
              <a:t>hrs</a:t>
            </a:r>
            <a:endParaRPr lang="en-US" sz="2200" dirty="0"/>
          </a:p>
        </p:txBody>
      </p:sp>
      <p:sp>
        <p:nvSpPr>
          <p:cNvPr id="19" name="TextBox 18">
            <a:extLst>
              <a:ext uri="{FF2B5EF4-FFF2-40B4-BE49-F238E27FC236}">
                <a16:creationId xmlns:a16="http://schemas.microsoft.com/office/drawing/2014/main" id="{1B3154AC-161C-540F-17F6-356563FEAEE9}"/>
              </a:ext>
            </a:extLst>
          </p:cNvPr>
          <p:cNvSpPr txBox="1"/>
          <p:nvPr/>
        </p:nvSpPr>
        <p:spPr>
          <a:xfrm>
            <a:off x="719999" y="4671541"/>
            <a:ext cx="4936773" cy="1107996"/>
          </a:xfrm>
          <a:prstGeom prst="rect">
            <a:avLst/>
          </a:prstGeom>
          <a:noFill/>
          <a:ln w="38100">
            <a:solidFill>
              <a:srgbClr val="DB6C30"/>
            </a:solidFill>
          </a:ln>
        </p:spPr>
        <p:txBody>
          <a:bodyPr wrap="square" rtlCol="0">
            <a:spAutoFit/>
          </a:bodyPr>
          <a:lstStyle/>
          <a:p>
            <a:pPr>
              <a:buClr>
                <a:srgbClr val="DB6C30"/>
              </a:buClr>
            </a:pPr>
            <a:r>
              <a:rPr lang="en-US" sz="2200" dirty="0"/>
              <a:t>B</a:t>
            </a:r>
            <a:r>
              <a:rPr lang="nl-BE" sz="2200" dirty="0"/>
              <a:t>y </a:t>
            </a:r>
            <a:r>
              <a:rPr lang="nl-BE" sz="2200" dirty="0" err="1"/>
              <a:t>registering</a:t>
            </a:r>
            <a:r>
              <a:rPr lang="nl-BE" sz="2200" dirty="0"/>
              <a:t> </a:t>
            </a:r>
            <a:r>
              <a:rPr lang="nl-BE" sz="2200" dirty="0" err="1"/>
              <a:t>and</a:t>
            </a:r>
            <a:r>
              <a:rPr lang="nl-BE" sz="2200" dirty="0"/>
              <a:t> </a:t>
            </a:r>
            <a:r>
              <a:rPr lang="nl-BE" sz="2200" dirty="0" err="1"/>
              <a:t>participating</a:t>
            </a:r>
            <a:r>
              <a:rPr lang="nl-BE" sz="2200" dirty="0"/>
              <a:t> in VSC </a:t>
            </a:r>
            <a:r>
              <a:rPr lang="nl-BE" sz="2200" dirty="0" err="1"/>
              <a:t>trainings</a:t>
            </a:r>
            <a:r>
              <a:rPr lang="nl-BE" sz="2200" dirty="0"/>
              <a:t>, </a:t>
            </a:r>
            <a:r>
              <a:rPr lang="nl-BE" sz="2200" dirty="0" err="1"/>
              <a:t>you</a:t>
            </a:r>
            <a:r>
              <a:rPr lang="nl-BE" sz="2200" dirty="0"/>
              <a:t> accept </a:t>
            </a:r>
            <a:r>
              <a:rPr lang="nl-BE" sz="2200" dirty="0" err="1"/>
              <a:t>to</a:t>
            </a:r>
            <a:r>
              <a:rPr lang="nl-BE" sz="2200" dirty="0"/>
              <a:t> </a:t>
            </a:r>
            <a:r>
              <a:rPr lang="nl-BE" sz="2200" dirty="0" err="1"/>
              <a:t>abide</a:t>
            </a:r>
            <a:r>
              <a:rPr lang="nl-BE" sz="2200" dirty="0"/>
              <a:t> </a:t>
            </a:r>
            <a:r>
              <a:rPr lang="nl-BE" sz="2200" dirty="0" err="1"/>
              <a:t>by</a:t>
            </a:r>
            <a:r>
              <a:rPr lang="nl-BE" sz="2200" dirty="0"/>
              <a:t> </a:t>
            </a:r>
            <a:r>
              <a:rPr lang="nl-BE" sz="2200" dirty="0" err="1"/>
              <a:t>the</a:t>
            </a:r>
            <a:br>
              <a:rPr lang="nl-BE" sz="2200" dirty="0"/>
            </a:br>
            <a:r>
              <a:rPr lang="nl-BE" sz="2200" dirty="0">
                <a:hlinkClick r:id="rId5"/>
              </a:rPr>
              <a:t>VSC training Code of </a:t>
            </a:r>
            <a:r>
              <a:rPr lang="nl-BE" sz="2200" dirty="0" err="1">
                <a:hlinkClick r:id="rId5"/>
              </a:rPr>
              <a:t>Conduct</a:t>
            </a:r>
            <a:endParaRPr lang="en-US" sz="2200" dirty="0"/>
          </a:p>
        </p:txBody>
      </p:sp>
      <p:sp>
        <p:nvSpPr>
          <p:cNvPr id="22" name="TextBox 2">
            <a:extLst>
              <a:ext uri="{FF2B5EF4-FFF2-40B4-BE49-F238E27FC236}">
                <a16:creationId xmlns:a16="http://schemas.microsoft.com/office/drawing/2014/main" id="{00AF4164-30AD-2F98-B332-C3E05604CF90}"/>
              </a:ext>
            </a:extLst>
          </p:cNvPr>
          <p:cNvSpPr txBox="1"/>
          <p:nvPr/>
        </p:nvSpPr>
        <p:spPr>
          <a:xfrm>
            <a:off x="4439816" y="4302209"/>
            <a:ext cx="1216956" cy="369332"/>
          </a:xfrm>
          <a:prstGeom prst="rect">
            <a:avLst/>
          </a:prstGeom>
          <a:solidFill>
            <a:schemeClr val="accent2"/>
          </a:solidFill>
          <a:ln w="381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spTree>
    <p:extLst>
      <p:ext uri="{BB962C8B-B14F-4D97-AF65-F5344CB8AC3E}">
        <p14:creationId xmlns:p14="http://schemas.microsoft.com/office/powerpoint/2010/main" val="290359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9"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normAutofit/>
          </a:bodyPr>
          <a:lstStyle/>
          <a:p>
            <a:r>
              <a:rPr lang="nl-BE" sz="3200" dirty="0" err="1"/>
              <a:t>What</a:t>
            </a:r>
            <a:r>
              <a:rPr lang="nl-BE" sz="3200" dirty="0"/>
              <a:t> is High Performance Computing</a:t>
            </a:r>
            <a:r>
              <a:rPr lang="en-US" sz="3200" dirty="0"/>
              <a:t>?</a:t>
            </a:r>
            <a:endParaRPr lang="en-US" altLang="en-US" sz="3200" dirty="0"/>
          </a:p>
        </p:txBody>
      </p:sp>
      <p:grpSp>
        <p:nvGrpSpPr>
          <p:cNvPr id="37" name="Group 36">
            <a:extLst>
              <a:ext uri="{FF2B5EF4-FFF2-40B4-BE49-F238E27FC236}">
                <a16:creationId xmlns:a16="http://schemas.microsoft.com/office/drawing/2014/main" id="{1B5B01CF-45A0-F2E3-F8DF-517320E888AC}"/>
              </a:ext>
            </a:extLst>
          </p:cNvPr>
          <p:cNvGrpSpPr/>
          <p:nvPr/>
        </p:nvGrpSpPr>
        <p:grpSpPr>
          <a:xfrm>
            <a:off x="720000" y="1290665"/>
            <a:ext cx="4079856" cy="1814020"/>
            <a:chOff x="720000" y="1290665"/>
            <a:chExt cx="4079856" cy="1814020"/>
          </a:xfrm>
        </p:grpSpPr>
        <p:sp>
          <p:nvSpPr>
            <p:cNvPr id="16" name="Rectangle 15">
              <a:extLst>
                <a:ext uri="{FF2B5EF4-FFF2-40B4-BE49-F238E27FC236}">
                  <a16:creationId xmlns:a16="http://schemas.microsoft.com/office/drawing/2014/main" id="{52CB63FE-71E5-8306-37DB-F4EA7F95A848}"/>
                </a:ext>
              </a:extLst>
            </p:cNvPr>
            <p:cNvSpPr/>
            <p:nvPr/>
          </p:nvSpPr>
          <p:spPr>
            <a:xfrm>
              <a:off x="720000" y="1700808"/>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Using many computers together to </a:t>
              </a:r>
            </a:p>
            <a:p>
              <a:r>
                <a:rPr lang="en-US" dirty="0">
                  <a:solidFill>
                    <a:schemeClr val="tx1"/>
                  </a:solidFill>
                </a:rPr>
                <a:t>solve large-scale, complex </a:t>
              </a:r>
            </a:p>
            <a:p>
              <a:r>
                <a:rPr lang="en-US" dirty="0">
                  <a:solidFill>
                    <a:schemeClr val="tx1"/>
                  </a:solidFill>
                </a:rPr>
                <a:t>problems faster than one </a:t>
              </a:r>
            </a:p>
            <a:p>
              <a:r>
                <a:rPr lang="en-US" dirty="0">
                  <a:solidFill>
                    <a:schemeClr val="tx1"/>
                  </a:solidFill>
                </a:rPr>
                <a:t>computer can (parallelism)</a:t>
              </a:r>
              <a:r>
                <a:rPr lang="nl-BE" dirty="0">
                  <a:solidFill>
                    <a:schemeClr val="tx1"/>
                  </a:solidFill>
                </a:rPr>
                <a:t>.</a:t>
              </a:r>
              <a:endParaRPr lang="en-US" dirty="0">
                <a:solidFill>
                  <a:schemeClr val="tx1"/>
                </a:solidFill>
              </a:endParaRPr>
            </a:p>
          </p:txBody>
        </p:sp>
        <p:sp>
          <p:nvSpPr>
            <p:cNvPr id="26" name="TextBox 25">
              <a:extLst>
                <a:ext uri="{FF2B5EF4-FFF2-40B4-BE49-F238E27FC236}">
                  <a16:creationId xmlns:a16="http://schemas.microsoft.com/office/drawing/2014/main" id="{8EB3BE21-2524-D01A-BABA-1C39D778E611}"/>
                </a:ext>
              </a:extLst>
            </p:cNvPr>
            <p:cNvSpPr txBox="1"/>
            <p:nvPr/>
          </p:nvSpPr>
          <p:spPr>
            <a:xfrm>
              <a:off x="720000" y="1290665"/>
              <a:ext cx="1092111"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39" name="Group 38">
            <a:extLst>
              <a:ext uri="{FF2B5EF4-FFF2-40B4-BE49-F238E27FC236}">
                <a16:creationId xmlns:a16="http://schemas.microsoft.com/office/drawing/2014/main" id="{6FF8C0B4-D7E1-8FED-22E0-C4BB473CFED8}"/>
              </a:ext>
            </a:extLst>
          </p:cNvPr>
          <p:cNvGrpSpPr/>
          <p:nvPr/>
        </p:nvGrpSpPr>
        <p:grpSpPr>
          <a:xfrm>
            <a:off x="7907903" y="1290665"/>
            <a:ext cx="4079856" cy="1814019"/>
            <a:chOff x="7907903" y="1290665"/>
            <a:chExt cx="4079856" cy="1814019"/>
          </a:xfrm>
        </p:grpSpPr>
        <p:sp>
          <p:nvSpPr>
            <p:cNvPr id="18" name="Rectangle 17">
              <a:extLst>
                <a:ext uri="{FF2B5EF4-FFF2-40B4-BE49-F238E27FC236}">
                  <a16:creationId xmlns:a16="http://schemas.microsoft.com/office/drawing/2014/main" id="{A9F2C29F-AB1B-79FD-0B5F-D72E9B340F9B}"/>
                </a:ext>
              </a:extLst>
            </p:cNvPr>
            <p:cNvSpPr/>
            <p:nvPr/>
          </p:nvSpPr>
          <p:spPr>
            <a:xfrm>
              <a:off x="7907903" y="1700807"/>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kumimoji="0" lang="en-US" b="0" i="0" u="none" strike="noStrike" kern="1200" cap="none" spc="0" normalizeH="0" baseline="0" noProof="0" dirty="0">
                <a:ln>
                  <a:noFill/>
                </a:ln>
                <a:solidFill>
                  <a:srgbClr val="333639"/>
                </a:solidFill>
                <a:effectLst/>
                <a:uLnTx/>
                <a:uFillTx/>
                <a:latin typeface="FlandersArtSans-Regular"/>
                <a:ea typeface="+mn-ea"/>
                <a:cs typeface="+mn-cs"/>
              </a:endParaRPr>
            </a:p>
            <a:p>
              <a:pPr algn="r"/>
              <a:r>
                <a:rPr kumimoji="0" lang="en-US" b="0" i="0" u="none" strike="noStrike" kern="1200" cap="none" spc="0" normalizeH="0" baseline="0" noProof="0" dirty="0">
                  <a:ln>
                    <a:noFill/>
                  </a:ln>
                  <a:solidFill>
                    <a:srgbClr val="333639"/>
                  </a:solidFill>
                  <a:effectLst/>
                  <a:uLnTx/>
                  <a:uFillTx/>
                  <a:latin typeface="FlandersArtSans-Regular"/>
                  <a:ea typeface="+mn-ea"/>
                  <a:cs typeface="+mn-cs"/>
                </a:rPr>
                <a:t>Numerical (CFD) simulations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Molecular dynamics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Long-term weather predictions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Machine learning and AI</a:t>
              </a:r>
            </a:p>
            <a:p>
              <a:pPr algn="r"/>
              <a:r>
                <a:rPr lang="en-US" dirty="0">
                  <a:solidFill>
                    <a:srgbClr val="333639"/>
                  </a:solidFill>
                  <a:latin typeface="FlandersArtSans-Regular"/>
                </a:rPr>
                <a:t>Genomics</a:t>
              </a:r>
              <a:br>
                <a:rPr lang="en-US" dirty="0">
                  <a:solidFill>
                    <a:srgbClr val="333639"/>
                  </a:solidFill>
                </a:rPr>
              </a:br>
              <a:endParaRPr lang="nl-BE" dirty="0">
                <a:solidFill>
                  <a:schemeClr val="tx1"/>
                </a:solidFill>
              </a:endParaRPr>
            </a:p>
          </p:txBody>
        </p:sp>
        <p:sp>
          <p:nvSpPr>
            <p:cNvPr id="30" name="TextBox 29">
              <a:extLst>
                <a:ext uri="{FF2B5EF4-FFF2-40B4-BE49-F238E27FC236}">
                  <a16:creationId xmlns:a16="http://schemas.microsoft.com/office/drawing/2014/main" id="{BCAF780A-25DE-2145-BFA9-C7F45059513F}"/>
                </a:ext>
              </a:extLst>
            </p:cNvPr>
            <p:cNvSpPr txBox="1"/>
            <p:nvPr/>
          </p:nvSpPr>
          <p:spPr>
            <a:xfrm>
              <a:off x="10200456" y="1290665"/>
              <a:ext cx="1787303"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grpSp>
        <p:nvGrpSpPr>
          <p:cNvPr id="40" name="Group 39">
            <a:extLst>
              <a:ext uri="{FF2B5EF4-FFF2-40B4-BE49-F238E27FC236}">
                <a16:creationId xmlns:a16="http://schemas.microsoft.com/office/drawing/2014/main" id="{1EDD873B-C49F-34CA-541F-D02284A6CFE8}"/>
              </a:ext>
            </a:extLst>
          </p:cNvPr>
          <p:cNvGrpSpPr/>
          <p:nvPr/>
        </p:nvGrpSpPr>
        <p:grpSpPr>
          <a:xfrm>
            <a:off x="7873201" y="3788515"/>
            <a:ext cx="4079856" cy="1803987"/>
            <a:chOff x="7873201" y="3788515"/>
            <a:chExt cx="4079856" cy="1803987"/>
          </a:xfrm>
        </p:grpSpPr>
        <p:sp>
          <p:nvSpPr>
            <p:cNvPr id="23" name="Rectangle 22">
              <a:extLst>
                <a:ext uri="{FF2B5EF4-FFF2-40B4-BE49-F238E27FC236}">
                  <a16:creationId xmlns:a16="http://schemas.microsoft.com/office/drawing/2014/main" id="{6E996942-1D80-B177-BB41-590155C1E28C}"/>
                </a:ext>
              </a:extLst>
            </p:cNvPr>
            <p:cNvSpPr/>
            <p:nvPr/>
          </p:nvSpPr>
          <p:spPr>
            <a:xfrm>
              <a:off x="7873201" y="4188625"/>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dirty="0">
                  <a:solidFill>
                    <a:schemeClr val="tx1"/>
                  </a:solidFill>
                </a:rPr>
                <a:t>Linux OS + system libraries </a:t>
              </a:r>
            </a:p>
            <a:p>
              <a:pPr algn="r"/>
              <a:r>
                <a:rPr lang="en-US" dirty="0">
                  <a:solidFill>
                    <a:schemeClr val="tx1"/>
                  </a:solidFill>
                </a:rPr>
                <a:t>(GCC) Compilers</a:t>
              </a:r>
            </a:p>
            <a:p>
              <a:pPr algn="r"/>
              <a:r>
                <a:rPr lang="en-US" dirty="0">
                  <a:solidFill>
                    <a:schemeClr val="tx1"/>
                  </a:solidFill>
                </a:rPr>
                <a:t>Parallel libraries (OpenMP, MPI, …)</a:t>
              </a:r>
              <a:br>
                <a:rPr lang="en-US" dirty="0">
                  <a:solidFill>
                    <a:schemeClr val="tx1"/>
                  </a:solidFill>
                </a:rPr>
              </a:br>
              <a:r>
                <a:rPr lang="en-US" dirty="0">
                  <a:solidFill>
                    <a:schemeClr val="tx1"/>
                  </a:solidFill>
                </a:rPr>
                <a:t>Parallelized software</a:t>
              </a:r>
              <a:endParaRPr lang="nl-BE" dirty="0">
                <a:solidFill>
                  <a:schemeClr val="tx1"/>
                </a:solidFill>
              </a:endParaRPr>
            </a:p>
          </p:txBody>
        </p:sp>
        <p:sp>
          <p:nvSpPr>
            <p:cNvPr id="32" name="TextBox 31">
              <a:extLst>
                <a:ext uri="{FF2B5EF4-FFF2-40B4-BE49-F238E27FC236}">
                  <a16:creationId xmlns:a16="http://schemas.microsoft.com/office/drawing/2014/main" id="{08BBF213-B9C5-F9F1-07C3-6779349428ED}"/>
                </a:ext>
              </a:extLst>
            </p:cNvPr>
            <p:cNvSpPr txBox="1"/>
            <p:nvPr/>
          </p:nvSpPr>
          <p:spPr>
            <a:xfrm>
              <a:off x="10128448" y="3788515"/>
              <a:ext cx="1824609"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grpSp>
      <p:grpSp>
        <p:nvGrpSpPr>
          <p:cNvPr id="36" name="Group 35">
            <a:extLst>
              <a:ext uri="{FF2B5EF4-FFF2-40B4-BE49-F238E27FC236}">
                <a16:creationId xmlns:a16="http://schemas.microsoft.com/office/drawing/2014/main" id="{EA122A37-C636-AC33-2AB8-344B66DCC105}"/>
              </a:ext>
            </a:extLst>
          </p:cNvPr>
          <p:cNvGrpSpPr/>
          <p:nvPr/>
        </p:nvGrpSpPr>
        <p:grpSpPr>
          <a:xfrm>
            <a:off x="685298" y="3788515"/>
            <a:ext cx="4079856" cy="1803988"/>
            <a:chOff x="685298" y="3788515"/>
            <a:chExt cx="4079856" cy="1803988"/>
          </a:xfrm>
        </p:grpSpPr>
        <p:sp>
          <p:nvSpPr>
            <p:cNvPr id="21" name="Rectangle 20">
              <a:extLst>
                <a:ext uri="{FF2B5EF4-FFF2-40B4-BE49-F238E27FC236}">
                  <a16:creationId xmlns:a16="http://schemas.microsoft.com/office/drawing/2014/main" id="{649E7CD3-431E-E0B4-D7BA-2822A8EFFF2D}"/>
                </a:ext>
              </a:extLst>
            </p:cNvPr>
            <p:cNvSpPr/>
            <p:nvPr/>
          </p:nvSpPr>
          <p:spPr>
            <a:xfrm>
              <a:off x="685298" y="4188626"/>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Hundreds of nodes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Tens of cores per node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Large memory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Fast interconnect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GPUs and Network filesystem</a:t>
              </a:r>
              <a:endParaRPr kumimoji="0" lang="nl-BE"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35" name="TextBox 34">
              <a:extLst>
                <a:ext uri="{FF2B5EF4-FFF2-40B4-BE49-F238E27FC236}">
                  <a16:creationId xmlns:a16="http://schemas.microsoft.com/office/drawing/2014/main" id="{3137B43A-CFD9-3CBB-79B1-4163D885D239}"/>
                </a:ext>
              </a:extLst>
            </p:cNvPr>
            <p:cNvSpPr txBox="1"/>
            <p:nvPr/>
          </p:nvSpPr>
          <p:spPr>
            <a:xfrm>
              <a:off x="685298" y="3788515"/>
              <a:ext cx="1880556"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Hardware Layer</a:t>
              </a:r>
              <a:endParaRPr lang="nl-BE" sz="2000" b="1" dirty="0">
                <a:solidFill>
                  <a:schemeClr val="bg1"/>
                </a:solidFill>
              </a:endParaRPr>
            </a:p>
          </p:txBody>
        </p:sp>
      </p:grpSp>
      <p:grpSp>
        <p:nvGrpSpPr>
          <p:cNvPr id="9" name="Group 8">
            <a:extLst>
              <a:ext uri="{FF2B5EF4-FFF2-40B4-BE49-F238E27FC236}">
                <a16:creationId xmlns:a16="http://schemas.microsoft.com/office/drawing/2014/main" id="{1F00446F-5078-47CE-A99E-811B98CB415A}"/>
              </a:ext>
            </a:extLst>
          </p:cNvPr>
          <p:cNvGrpSpPr/>
          <p:nvPr/>
        </p:nvGrpSpPr>
        <p:grpSpPr>
          <a:xfrm>
            <a:off x="3827151" y="1124745"/>
            <a:ext cx="5040000" cy="5040000"/>
            <a:chOff x="3827151" y="1124745"/>
            <a:chExt cx="5040000" cy="5040000"/>
          </a:xfrm>
        </p:grpSpPr>
        <p:sp>
          <p:nvSpPr>
            <p:cNvPr id="3" name="Oval 2">
              <a:extLst>
                <a:ext uri="{FF2B5EF4-FFF2-40B4-BE49-F238E27FC236}">
                  <a16:creationId xmlns:a16="http://schemas.microsoft.com/office/drawing/2014/main" id="{A5F6F089-3EBD-3BA8-50EA-A76D17504E21}"/>
                </a:ext>
              </a:extLst>
            </p:cNvPr>
            <p:cNvSpPr/>
            <p:nvPr/>
          </p:nvSpPr>
          <p:spPr>
            <a:xfrm>
              <a:off x="3827151" y="1124745"/>
              <a:ext cx="5040000" cy="5040000"/>
            </a:xfrm>
            <a:prstGeom prst="ellipse">
              <a:avLst/>
            </a:prstGeom>
            <a:solidFill>
              <a:srgbClr val="F1E0DD"/>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6" name="Picture 2">
              <a:extLst>
                <a:ext uri="{FF2B5EF4-FFF2-40B4-BE49-F238E27FC236}">
                  <a16:creationId xmlns:a16="http://schemas.microsoft.com/office/drawing/2014/main" id="{7C9F0388-A9BB-F026-DAA7-840227D3A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027" t="-342" r="15002" b="332"/>
            <a:stretch>
              <a:fillRect/>
            </a:stretch>
          </p:blipFill>
          <p:spPr bwMode="auto">
            <a:xfrm>
              <a:off x="4107800" y="1458266"/>
              <a:ext cx="4478702" cy="4372959"/>
            </a:xfrm>
            <a:prstGeom prst="rect">
              <a:avLst/>
            </a:prstGeom>
            <a:noFill/>
          </p:spPr>
        </p:pic>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sz="3200" dirty="0" err="1"/>
              <a:t>What</a:t>
            </a:r>
            <a:r>
              <a:rPr lang="nl-BE" sz="3200" dirty="0"/>
              <a:t> is High Performance Computing</a:t>
            </a:r>
            <a:r>
              <a:rPr lang="en-US" sz="3200" dirty="0"/>
              <a:t>?</a:t>
            </a:r>
            <a:endParaRPr lang="en-US" altLang="en-US" sz="3200"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sp>
        <p:nvSpPr>
          <p:cNvPr id="3" name="TextBox 2"/>
          <p:cNvSpPr txBox="1"/>
          <p:nvPr/>
        </p:nvSpPr>
        <p:spPr>
          <a:xfrm>
            <a:off x="720000" y="1350000"/>
            <a:ext cx="5326809" cy="3359551"/>
          </a:xfrm>
          <a:prstGeom prst="rect">
            <a:avLst/>
          </a:prstGeom>
          <a:noFill/>
          <a:ln w="25400">
            <a:noFill/>
          </a:ln>
        </p:spPr>
        <p:txBody>
          <a:bodyPr wrap="square" lIns="180000" tIns="90000" rIns="90000" bIns="90000" rtlCol="0">
            <a:spAutoFit/>
          </a:bodyPr>
          <a:lstStyle/>
          <a:p>
            <a:pPr>
              <a:spcAft>
                <a:spcPts val="1500"/>
              </a:spcAft>
            </a:pPr>
            <a:r>
              <a:rPr lang="en-US" sz="2200" b="1" dirty="0"/>
              <a:t>Part 1: Basics</a:t>
            </a:r>
            <a:endParaRPr lang="en-US" sz="2200" dirty="0"/>
          </a:p>
          <a:p>
            <a:pPr marL="324000" indent="-324000">
              <a:spcBef>
                <a:spcPts val="750"/>
              </a:spcBef>
              <a:buBlip>
                <a:blip r:embed="rId3"/>
              </a:buBlip>
            </a:pPr>
            <a:r>
              <a:rPr lang="en-US" sz="2200" dirty="0"/>
              <a:t>About VSC</a:t>
            </a:r>
          </a:p>
          <a:p>
            <a:pPr marL="324000" indent="-324000">
              <a:spcBef>
                <a:spcPts val="750"/>
              </a:spcBef>
              <a:buBlip>
                <a:blip r:embed="rId3"/>
              </a:buBlip>
            </a:pPr>
            <a:r>
              <a:rPr lang="en-US" sz="2200" dirty="0"/>
              <a:t>Tier-2 clusters</a:t>
            </a:r>
          </a:p>
          <a:p>
            <a:pPr marL="324000" indent="-324000">
              <a:spcBef>
                <a:spcPts val="750"/>
              </a:spcBef>
              <a:buBlip>
                <a:blip r:embed="rId3"/>
              </a:buBlip>
            </a:pPr>
            <a:r>
              <a:rPr lang="en-US" sz="2200" dirty="0"/>
              <a:t>Storage</a:t>
            </a:r>
          </a:p>
          <a:p>
            <a:pPr marL="324000" indent="-324000">
              <a:spcBef>
                <a:spcPts val="750"/>
              </a:spcBef>
              <a:buBlip>
                <a:blip r:embed="rId3"/>
              </a:buBlip>
            </a:pPr>
            <a:r>
              <a:rPr lang="en-US" sz="2200" dirty="0"/>
              <a:t>Compute credits</a:t>
            </a:r>
          </a:p>
          <a:p>
            <a:pPr marL="324000" indent="-324000">
              <a:spcBef>
                <a:spcPts val="750"/>
              </a:spcBef>
              <a:buBlip>
                <a:blip r:embed="rId3"/>
              </a:buBlip>
            </a:pPr>
            <a:r>
              <a:rPr lang="en-US" sz="2200" dirty="0"/>
              <a:t>Connecting to a login node</a:t>
            </a:r>
          </a:p>
          <a:p>
            <a:pPr marL="324000" marR="0" lvl="0" indent="-324000" algn="l" defTabSz="914400" rtl="0" eaLnBrk="1" fontAlgn="auto" latinLnBrk="0" hangingPunct="1">
              <a:lnSpc>
                <a:spcPct val="100000"/>
              </a:lnSpc>
              <a:spcBef>
                <a:spcPts val="750"/>
              </a:spcBef>
              <a:buClrTx/>
              <a:buSzTx/>
              <a:buFontTx/>
              <a:buBlip>
                <a:blip r:embed="rId3"/>
              </a:buBlip>
              <a:tabLst/>
              <a:defRPr/>
            </a:pPr>
            <a:r>
              <a:rPr lang="en-US" sz="2200" dirty="0">
                <a:solidFill>
                  <a:srgbClr val="333639"/>
                </a:solidFill>
              </a:rPr>
              <a:t>D</a:t>
            </a:r>
            <a:r>
              <a:rPr kumimoji="0" lang="en-US" sz="2200" b="0" i="0" u="none" strike="noStrike" kern="1200" cap="none" spc="0" normalizeH="0" baseline="0" noProof="0" dirty="0" err="1">
                <a:ln>
                  <a:noFill/>
                </a:ln>
                <a:solidFill>
                  <a:srgbClr val="333639"/>
                </a:solidFill>
                <a:effectLst/>
                <a:uLnTx/>
                <a:uFillTx/>
                <a:ea typeface="+mn-ea"/>
                <a:cs typeface="+mn-cs"/>
              </a:rPr>
              <a:t>ata</a:t>
            </a:r>
            <a:r>
              <a:rPr kumimoji="0" lang="en-US" sz="2200" b="0" i="0" u="none" strike="noStrike" kern="1200" cap="none" spc="0" normalizeH="0" baseline="0" noProof="0" dirty="0">
                <a:ln>
                  <a:noFill/>
                </a:ln>
                <a:solidFill>
                  <a:srgbClr val="333639"/>
                </a:solidFill>
                <a:effectLst/>
                <a:uLnTx/>
                <a:uFillTx/>
                <a:ea typeface="+mn-ea"/>
                <a:cs typeface="+mn-cs"/>
              </a:rPr>
              <a:t> transfer</a:t>
            </a:r>
          </a:p>
        </p:txBody>
      </p:sp>
      <p:sp>
        <p:nvSpPr>
          <p:cNvPr id="12" name="TextBox 11">
            <a:extLst>
              <a:ext uri="{FF2B5EF4-FFF2-40B4-BE49-F238E27FC236}">
                <a16:creationId xmlns:a16="http://schemas.microsoft.com/office/drawing/2014/main" id="{1CA2BB6B-6046-2458-A97D-9D240453F2CA}"/>
              </a:ext>
            </a:extLst>
          </p:cNvPr>
          <p:cNvSpPr txBox="1"/>
          <p:nvPr/>
        </p:nvSpPr>
        <p:spPr>
          <a:xfrm>
            <a:off x="5950800" y="1350000"/>
            <a:ext cx="5326809" cy="2413138"/>
          </a:xfrm>
          <a:prstGeom prst="rect">
            <a:avLst/>
          </a:prstGeom>
          <a:noFill/>
          <a:ln w="25400">
            <a:noFill/>
          </a:ln>
        </p:spPr>
        <p:txBody>
          <a:bodyPr wrap="square" lIns="180000" tIns="90000" bIns="90000" rtlCol="0">
            <a:spAutoFit/>
          </a:bodyPr>
          <a:lstStyle/>
          <a:p>
            <a:pPr>
              <a:spcAft>
                <a:spcPts val="1000"/>
              </a:spcAft>
            </a:pPr>
            <a:r>
              <a:rPr lang="en-US" sz="2200" b="1" dirty="0"/>
              <a:t>Part 2: Hands-on</a:t>
            </a:r>
          </a:p>
          <a:p>
            <a:pPr marL="324000" indent="-324000">
              <a:spcBef>
                <a:spcPts val="750"/>
              </a:spcBef>
              <a:buBlip>
                <a:blip r:embed="rId3"/>
              </a:buBlip>
            </a:pPr>
            <a:r>
              <a:rPr lang="en-US" sz="2200" dirty="0"/>
              <a:t>Using Open OnDemand</a:t>
            </a:r>
          </a:p>
          <a:p>
            <a:pPr marL="324000" indent="-324000">
              <a:spcBef>
                <a:spcPts val="750"/>
              </a:spcBef>
              <a:buBlip>
                <a:blip r:embed="rId3"/>
              </a:buBlip>
            </a:pPr>
            <a:r>
              <a:rPr lang="en-US" sz="2200" dirty="0"/>
              <a:t>Software</a:t>
            </a:r>
          </a:p>
          <a:p>
            <a:pPr marL="324000" indent="-324000">
              <a:spcBef>
                <a:spcPts val="750"/>
              </a:spcBef>
              <a:buBlip>
                <a:blip r:embed="rId3"/>
              </a:buBlip>
            </a:pPr>
            <a:r>
              <a:rPr lang="en-US" sz="2200" dirty="0"/>
              <a:t>Starting to compute</a:t>
            </a:r>
          </a:p>
          <a:p>
            <a:pPr marL="324000" indent="-324000">
              <a:spcBef>
                <a:spcPts val="750"/>
              </a:spcBef>
              <a:buBlip>
                <a:blip r:embed="rId3"/>
              </a:buBlip>
            </a:pPr>
            <a:r>
              <a:rPr lang="en-US" sz="2200" dirty="0"/>
              <a:t>Demo</a:t>
            </a:r>
          </a:p>
        </p:txBody>
      </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solidFill>
              </a:rPr>
              <a:t>Visit </a:t>
            </a:r>
            <a:r>
              <a:rPr lang="en-US" sz="2000" b="1" dirty="0">
                <a:solidFill>
                  <a:schemeClr val="bg2"/>
                </a:solidFill>
                <a:hlinkClick r:id="rId4">
                  <a:extLst>
                    <a:ext uri="{A12FA001-AC4F-418D-AE19-62706E023703}">
                      <ahyp:hlinkClr xmlns:ahyp="http://schemas.microsoft.com/office/drawing/2018/hyperlinkcolor" val="tx"/>
                    </a:ext>
                  </a:extLst>
                </a:hlinkClick>
              </a:rPr>
              <a:t>https://vscentrum.be</a:t>
            </a:r>
            <a:endParaRPr lang="nl-BE" sz="2000" b="1" dirty="0">
              <a:solidFill>
                <a:schemeClr val="bg2"/>
              </a:solidFill>
            </a:endParaRPr>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bg2"/>
                  </a:solidFill>
                </a:rPr>
                <a:t>Manage your VSC account at</a:t>
              </a:r>
              <a:br>
                <a:rPr lang="en-US" sz="2000" dirty="0">
                  <a:solidFill>
                    <a:schemeClr val="bg2"/>
                  </a:solidFill>
                </a:rPr>
              </a:br>
              <a:r>
                <a:rPr lang="en-US" sz="2000" b="1" dirty="0">
                  <a:solidFill>
                    <a:schemeClr val="bg2"/>
                  </a:solidFill>
                  <a:hlinkClick r:id="rId3">
                    <a:extLst>
                      <a:ext uri="{A12FA001-AC4F-418D-AE19-62706E023703}">
                        <ahyp:hlinkClr xmlns:ahyp="http://schemas.microsoft.com/office/drawing/2018/hyperlinkcolor" val="tx"/>
                      </a:ext>
                    </a:extLst>
                  </a:hlinkClick>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8400256" y="3589751"/>
            <a:ext cx="3546352" cy="2417409"/>
          </a:xfrm>
          <a:prstGeom prst="rect">
            <a:avLst/>
          </a:prstGeom>
        </p:spPr>
      </p:pic>
      <p:pic>
        <p:nvPicPr>
          <p:cNvPr id="6" name="Picture 5"/>
          <p:cNvPicPr>
            <a:picLocks noChangeAspect="1"/>
          </p:cNvPicPr>
          <p:nvPr/>
        </p:nvPicPr>
        <p:blipFill>
          <a:blip r:embed="rId4"/>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Join VSC: become a user</a:t>
            </a:r>
          </a:p>
        </p:txBody>
      </p:sp>
      <p:sp>
        <p:nvSpPr>
          <p:cNvPr id="2" name="Content Placeholder 3">
            <a:extLst>
              <a:ext uri="{FF2B5EF4-FFF2-40B4-BE49-F238E27FC236}">
                <a16:creationId xmlns:a16="http://schemas.microsoft.com/office/drawing/2014/main" id="{9237CD09-0DA3-DBE7-790F-EB63A660919E}"/>
              </a:ext>
            </a:extLst>
          </p:cNvPr>
          <p:cNvSpPr txBox="1">
            <a:spLocks/>
          </p:cNvSpPr>
          <p:nvPr/>
        </p:nvSpPr>
        <p:spPr>
          <a:xfrm>
            <a:off x="720000" y="1349999"/>
            <a:ext cx="11112000" cy="465716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t>Request a </a:t>
            </a:r>
            <a:r>
              <a:rPr lang="en-US" sz="2200" dirty="0">
                <a:hlinkClick r:id="rId6"/>
              </a:rPr>
              <a:t>VSC account</a:t>
            </a:r>
            <a:r>
              <a:rPr lang="en-US" sz="2200" dirty="0"/>
              <a:t> </a:t>
            </a:r>
          </a:p>
          <a:p>
            <a:pPr marL="324000" indent="-324000">
              <a:buBlip>
                <a:blip r:embed="rId5"/>
              </a:buBlip>
            </a:pPr>
            <a:r>
              <a:rPr lang="en-US" sz="2200" dirty="0"/>
              <a:t>Request </a:t>
            </a:r>
            <a:r>
              <a:rPr lang="en-US" sz="2200" dirty="0">
                <a:hlinkClick r:id="rId7"/>
              </a:rPr>
              <a:t>introductory credits</a:t>
            </a:r>
            <a:r>
              <a:rPr lang="en-US" sz="2200" dirty="0"/>
              <a:t> (2M free credits for 6 months)</a:t>
            </a:r>
          </a:p>
          <a:p>
            <a:pPr marL="324000" indent="-324000">
              <a:buBlip>
                <a:blip r:embed="rId5"/>
              </a:buBlip>
            </a:pPr>
            <a:r>
              <a:rPr lang="en-US" sz="2200" dirty="0"/>
              <a:t>Request </a:t>
            </a:r>
            <a:r>
              <a:rPr lang="en-US" sz="2200" dirty="0">
                <a:hlinkClick r:id="rId8"/>
              </a:rPr>
              <a:t>project credits</a:t>
            </a:r>
            <a:r>
              <a:rPr lang="en-US" sz="2200" dirty="0"/>
              <a:t> (for supervisors and project leaders)</a:t>
            </a:r>
          </a:p>
          <a:p>
            <a:pPr lvl="1">
              <a:buClr>
                <a:srgbClr val="DB6C30"/>
              </a:buClr>
            </a:pPr>
            <a:r>
              <a:rPr lang="en-US" sz="1900" dirty="0"/>
              <a:t>create a </a:t>
            </a:r>
            <a:r>
              <a:rPr lang="en-US" sz="1900" dirty="0">
                <a:hlinkClick r:id="rId9"/>
              </a:rPr>
              <a:t>VSC group</a:t>
            </a:r>
            <a:endParaRPr lang="en-US" sz="1900" dirty="0"/>
          </a:p>
          <a:p>
            <a:pPr lvl="1">
              <a:buClr>
                <a:srgbClr val="DB6C30"/>
              </a:buClr>
            </a:pPr>
            <a:r>
              <a:rPr lang="en-US" sz="1900" dirty="0"/>
              <a:t>Add users to the group to give them access to use credits</a:t>
            </a:r>
          </a:p>
          <a:p>
            <a:pPr lvl="1">
              <a:buClr>
                <a:srgbClr val="DB6C30"/>
              </a:buClr>
            </a:pPr>
            <a:r>
              <a:rPr lang="en-US" sz="1900" dirty="0"/>
              <a:t>Fill out the </a:t>
            </a:r>
            <a:r>
              <a:rPr lang="en-US" sz="1900" dirty="0">
                <a:hlinkClick r:id="rId10"/>
              </a:rPr>
              <a:t>request form</a:t>
            </a:r>
            <a:endParaRPr lang="en-US" sz="1900" dirty="0"/>
          </a:p>
          <a:p>
            <a:pPr marL="324000" indent="-324000">
              <a:buBlip>
                <a:blip r:embed="rId5"/>
              </a:buBlip>
            </a:pPr>
            <a:r>
              <a:rPr lang="en-US" sz="2200" dirty="0"/>
              <a:t>Extra </a:t>
            </a:r>
            <a:r>
              <a:rPr lang="en-US" sz="2200" dirty="0">
                <a:hlinkClick r:id="rId11"/>
              </a:rPr>
              <a:t>storage</a:t>
            </a:r>
            <a:r>
              <a:rPr lang="en-US" sz="2200" dirty="0"/>
              <a:t> requests</a:t>
            </a:r>
          </a:p>
          <a:p>
            <a:pPr lvl="1">
              <a:buClr>
                <a:srgbClr val="DB6C30"/>
              </a:buClr>
            </a:pPr>
            <a:r>
              <a:rPr lang="en-US" sz="1900" dirty="0"/>
              <a:t>Scratch extension: free of charge</a:t>
            </a:r>
          </a:p>
          <a:p>
            <a:pPr lvl="1">
              <a:buClr>
                <a:srgbClr val="DB6C30"/>
              </a:buClr>
            </a:pPr>
            <a:r>
              <a:rPr lang="en-US" sz="1900" dirty="0"/>
              <a:t>Project storage: 20 € per TB per year</a:t>
            </a:r>
          </a:p>
          <a:p>
            <a:pPr marL="324000" indent="-324000">
              <a:buBlip>
                <a:blip r:embed="rId5"/>
              </a:buBlip>
            </a:pPr>
            <a:r>
              <a:rPr lang="en-US" sz="2200" dirty="0"/>
              <a:t>All service costs (compute and storage) are described </a:t>
            </a:r>
            <a:br>
              <a:rPr lang="en-US" sz="2200" dirty="0"/>
            </a:br>
            <a:r>
              <a:rPr lang="en-US" sz="2200" dirty="0"/>
              <a:t>in the ICTS service catalog: </a:t>
            </a:r>
            <a:r>
              <a:rPr lang="en-US" sz="2200" dirty="0">
                <a:hlinkClick r:id="rId12"/>
              </a:rPr>
              <a:t>https://icts.kuleuven.be/sc</a:t>
            </a:r>
            <a:br>
              <a:rPr lang="en-US" sz="2200" dirty="0"/>
            </a:br>
            <a:r>
              <a:rPr lang="en-US" sz="2200" dirty="0"/>
              <a:t>Click on </a:t>
            </a:r>
            <a:r>
              <a:rPr lang="nl-BE" sz="2200" dirty="0">
                <a:hlinkClick r:id="rId13"/>
              </a:rPr>
              <a:t>High Performance Computing</a:t>
            </a:r>
            <a:r>
              <a:rPr lang="nl-BE" sz="2200" dirty="0"/>
              <a:t> </a:t>
            </a:r>
            <a:r>
              <a:rPr lang="en-US" sz="2200" dirty="0"/>
              <a:t>(NL/EN)</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grpSp>
        <p:nvGrpSpPr>
          <p:cNvPr id="4" name="Group 3"/>
          <p:cNvGrpSpPr/>
          <p:nvPr/>
        </p:nvGrpSpPr>
        <p:grpSpPr>
          <a:xfrm>
            <a:off x="5951983" y="3501008"/>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grpSp>
        <p:nvGrpSpPr>
          <p:cNvPr id="7" name="Group 6"/>
          <p:cNvGrpSpPr/>
          <p:nvPr/>
        </p:nvGrpSpPr>
        <p:grpSpPr>
          <a:xfrm>
            <a:off x="624532" y="3501008"/>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
        <p:nvSpPr>
          <p:cNvPr id="14" name="TextBox 13">
            <a:extLst>
              <a:ext uri="{FF2B5EF4-FFF2-40B4-BE49-F238E27FC236}">
                <a16:creationId xmlns:a16="http://schemas.microsoft.com/office/drawing/2014/main" id="{BA0028D0-F003-A86E-65A0-17887C5BAB40}"/>
              </a:ext>
            </a:extLst>
          </p:cNvPr>
          <p:cNvSpPr txBox="1"/>
          <p:nvPr/>
        </p:nvSpPr>
        <p:spPr>
          <a:xfrm>
            <a:off x="720000" y="1350000"/>
            <a:ext cx="5326809" cy="1869399"/>
          </a:xfrm>
          <a:prstGeom prst="rect">
            <a:avLst/>
          </a:prstGeom>
          <a:noFill/>
          <a:ln w="25400">
            <a:noFill/>
          </a:ln>
        </p:spPr>
        <p:txBody>
          <a:bodyPr wrap="square" lIns="180000" tIns="90000" rIns="90000" bIns="90000" rtlCol="0">
            <a:spAutoFit/>
          </a:bodyPr>
          <a:lstStyle/>
          <a:p>
            <a:pPr>
              <a:spcAft>
                <a:spcPts val="1000"/>
              </a:spcAft>
            </a:pPr>
            <a:r>
              <a:rPr lang="en-US" sz="2200" b="1" dirty="0"/>
              <a:t>Why?</a:t>
            </a:r>
            <a:endParaRPr lang="en-US" sz="2200" dirty="0"/>
          </a:p>
          <a:p>
            <a:pPr marL="324000" indent="-324000">
              <a:spcAft>
                <a:spcPts val="750"/>
              </a:spcAft>
              <a:buBlip>
                <a:blip r:embed="rId3"/>
              </a:buBlip>
            </a:pPr>
            <a:r>
              <a:rPr lang="en-US" sz="2200" dirty="0"/>
              <a:t>a contractual obligation for the VSC</a:t>
            </a:r>
          </a:p>
          <a:p>
            <a:pPr marL="324000" indent="-324000">
              <a:spcAft>
                <a:spcPts val="750"/>
              </a:spcAft>
              <a:buBlip>
                <a:blip r:embed="rId3"/>
              </a:buBlip>
            </a:pPr>
            <a:r>
              <a:rPr lang="en-US" sz="2200" dirty="0"/>
              <a:t>helps VSC to secure funding</a:t>
            </a:r>
          </a:p>
          <a:p>
            <a:pPr marL="324000" indent="-324000">
              <a:spcAft>
                <a:spcPts val="750"/>
              </a:spcAft>
              <a:buBlip>
                <a:blip r:embed="rId3"/>
              </a:buBlip>
            </a:pPr>
            <a:r>
              <a:rPr lang="en-US" sz="2200" dirty="0"/>
              <a:t>you will benefit from it in the long run</a:t>
            </a:r>
          </a:p>
        </p:txBody>
      </p:sp>
      <p:sp>
        <p:nvSpPr>
          <p:cNvPr id="18" name="TextBox 17">
            <a:extLst>
              <a:ext uri="{FF2B5EF4-FFF2-40B4-BE49-F238E27FC236}">
                <a16:creationId xmlns:a16="http://schemas.microsoft.com/office/drawing/2014/main" id="{898A5653-FDBD-79A5-F698-D8C412D78E38}"/>
              </a:ext>
            </a:extLst>
          </p:cNvPr>
          <p:cNvSpPr txBox="1"/>
          <p:nvPr/>
        </p:nvSpPr>
        <p:spPr>
          <a:xfrm>
            <a:off x="5951983" y="1350000"/>
            <a:ext cx="5326809" cy="1325661"/>
          </a:xfrm>
          <a:prstGeom prst="rect">
            <a:avLst/>
          </a:prstGeom>
          <a:noFill/>
          <a:ln w="25400">
            <a:noFill/>
          </a:ln>
        </p:spPr>
        <p:txBody>
          <a:bodyPr wrap="square" lIns="180000" tIns="90000" bIns="90000" rtlCol="0">
            <a:spAutoFit/>
          </a:bodyPr>
          <a:lstStyle/>
          <a:p>
            <a:pPr>
              <a:spcAft>
                <a:spcPts val="1000"/>
              </a:spcAft>
            </a:pPr>
            <a:r>
              <a:rPr lang="en-US" sz="2200" b="1" dirty="0"/>
              <a:t>For KU </a:t>
            </a:r>
            <a:r>
              <a:rPr lang="en-US" sz="2200" b="1" dirty="0" err="1"/>
              <a:t>Leauven</a:t>
            </a:r>
            <a:r>
              <a:rPr lang="en-US" sz="2200" b="1" dirty="0"/>
              <a:t> users</a:t>
            </a:r>
            <a:endParaRPr lang="en-US" sz="2200" dirty="0"/>
          </a:p>
          <a:p>
            <a:pPr marL="324000" indent="-324000">
              <a:spcAft>
                <a:spcPts val="750"/>
              </a:spcAft>
              <a:buBlip>
                <a:blip r:embed="rId3"/>
              </a:buBlip>
            </a:pPr>
            <a:r>
              <a:rPr lang="en-US" sz="2200" dirty="0"/>
              <a:t>add the relevant papers to the “KUL-HPC” virtual collection in Lirias</a:t>
            </a:r>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688011"/>
            <a:ext cx="3286477" cy="83099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sp>
        <p:nvSpPr>
          <p:cNvPr id="2" name="Content Placeholder 3">
            <a:extLst>
              <a:ext uri="{FF2B5EF4-FFF2-40B4-BE49-F238E27FC236}">
                <a16:creationId xmlns:a16="http://schemas.microsoft.com/office/drawing/2014/main" id="{D93C9092-8408-2A80-9F12-FCEF0933AEC7}"/>
              </a:ext>
            </a:extLst>
          </p:cNvPr>
          <p:cNvSpPr txBox="1">
            <a:spLocks/>
          </p:cNvSpPr>
          <p:nvPr/>
        </p:nvSpPr>
        <p:spPr>
          <a:xfrm>
            <a:off x="720000" y="1349999"/>
            <a:ext cx="381032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Font typeface="Arial" panose="020B0604020202020204" pitchFamily="34" charset="0"/>
              <a:buBlip>
                <a:blip r:embed="rId4"/>
              </a:buBlip>
            </a:pPr>
            <a:r>
              <a:rPr lang="en-US" sz="2200" dirty="0"/>
              <a:t>Login nodes</a:t>
            </a:r>
          </a:p>
          <a:p>
            <a:pPr marL="324000" indent="-324000">
              <a:buFont typeface="Arial" panose="020B0604020202020204" pitchFamily="34" charset="0"/>
              <a:buBlip>
                <a:blip r:embed="rId4"/>
              </a:buBlip>
            </a:pPr>
            <a:r>
              <a:rPr lang="en-US" sz="2200" dirty="0"/>
              <a:t>Storage servers</a:t>
            </a:r>
          </a:p>
          <a:p>
            <a:pPr marL="324000" indent="-324000">
              <a:buFont typeface="Arial" panose="020B0604020202020204" pitchFamily="34" charset="0"/>
              <a:buBlip>
                <a:blip r:embed="rId4"/>
              </a:buBlip>
            </a:pPr>
            <a:r>
              <a:rPr lang="en-US" sz="2200" dirty="0"/>
              <a:t>Service nodes</a:t>
            </a:r>
          </a:p>
          <a:p>
            <a:pPr marL="324000" indent="-324000">
              <a:buBlip>
                <a:blip r:embed="rId4"/>
              </a:buBlip>
            </a:pPr>
            <a:r>
              <a:rPr lang="en-US" sz="2200" dirty="0"/>
              <a:t>Compute nodes</a:t>
            </a:r>
          </a:p>
          <a:p>
            <a:pPr marL="324000" indent="-324000">
              <a:buBlip>
                <a:blip r:embed="rId4"/>
              </a:buBlip>
            </a:pPr>
            <a:r>
              <a:rPr lang="en-US" sz="2200" dirty="0"/>
              <a:t>Interconnect network</a:t>
            </a:r>
          </a:p>
          <a:p>
            <a:pPr marL="324000" indent="-324000">
              <a:buFont typeface="Arial" panose="020B0604020202020204" pitchFamily="34" charset="0"/>
              <a:buBlip>
                <a:blip r:embed="rId4"/>
              </a:buBlip>
            </a:pPr>
            <a:endParaRPr lang="en-US" sz="2200" dirty="0"/>
          </a:p>
        </p:txBody>
      </p:sp>
      <p:cxnSp>
        <p:nvCxnSpPr>
          <p:cNvPr id="126" name="Straight Connector 6">
            <a:extLst>
              <a:ext uri="{FF2B5EF4-FFF2-40B4-BE49-F238E27FC236}">
                <a16:creationId xmlns:a16="http://schemas.microsoft.com/office/drawing/2014/main" id="{12C8264D-5954-AFDA-7D39-E011523374B9}"/>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EB8606D-C351-DB5E-B013-45D3693F830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5" name="Group 4">
            <a:extLst>
              <a:ext uri="{FF2B5EF4-FFF2-40B4-BE49-F238E27FC236}">
                <a16:creationId xmlns:a16="http://schemas.microsoft.com/office/drawing/2014/main" id="{B60739C3-CAD8-72E6-70B5-27E9F431E5D0}"/>
              </a:ext>
            </a:extLst>
          </p:cNvPr>
          <p:cNvGrpSpPr/>
          <p:nvPr/>
        </p:nvGrpSpPr>
        <p:grpSpPr>
          <a:xfrm>
            <a:off x="8760807" y="3711681"/>
            <a:ext cx="2608252" cy="2381615"/>
            <a:chOff x="8760807" y="3711681"/>
            <a:chExt cx="2608252" cy="2381615"/>
          </a:xfrm>
        </p:grpSpPr>
        <p:sp>
          <p:nvSpPr>
            <p:cNvPr id="99" name="Up-Down Arrow 20">
              <a:extLst>
                <a:ext uri="{FF2B5EF4-FFF2-40B4-BE49-F238E27FC236}">
                  <a16:creationId xmlns:a16="http://schemas.microsoft.com/office/drawing/2014/main" id="{2D72D7AA-597D-5827-5788-E0AC683C8D92}"/>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9" name="Group 88">
              <a:extLst>
                <a:ext uri="{FF2B5EF4-FFF2-40B4-BE49-F238E27FC236}">
                  <a16:creationId xmlns:a16="http://schemas.microsoft.com/office/drawing/2014/main" id="{5E7F9B23-FAAF-7BB4-B070-F831D4CBDAF4}"/>
                </a:ext>
              </a:extLst>
            </p:cNvPr>
            <p:cNvGrpSpPr/>
            <p:nvPr/>
          </p:nvGrpSpPr>
          <p:grpSpPr>
            <a:xfrm>
              <a:off x="8760807" y="4194921"/>
              <a:ext cx="2608252" cy="1898375"/>
              <a:chOff x="8760807" y="4194921"/>
              <a:chExt cx="2608252" cy="189837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2" name="Picture 71">
                <a:extLst>
                  <a:ext uri="{FF2B5EF4-FFF2-40B4-BE49-F238E27FC236}">
                    <a16:creationId xmlns:a16="http://schemas.microsoft.com/office/drawing/2014/main" id="{9A454E0B-2882-823D-FF20-45E15285360D}"/>
                  </a:ext>
                </a:extLst>
              </p:cNvPr>
              <p:cNvPicPr>
                <a:picLocks noChangeAspect="1"/>
              </p:cNvPicPr>
              <p:nvPr/>
            </p:nvPicPr>
            <p:blipFill>
              <a:blip r:embed="rId5"/>
              <a:stretch>
                <a:fillRect/>
              </a:stretch>
            </p:blipFill>
            <p:spPr>
              <a:xfrm>
                <a:off x="8832304" y="4579525"/>
                <a:ext cx="853601" cy="853601"/>
              </a:xfrm>
              <a:prstGeom prst="rect">
                <a:avLst/>
              </a:prstGeom>
            </p:spPr>
          </p:pic>
          <p:sp>
            <p:nvSpPr>
              <p:cNvPr id="74" name="TextBox 73">
                <a:extLst>
                  <a:ext uri="{FF2B5EF4-FFF2-40B4-BE49-F238E27FC236}">
                    <a16:creationId xmlns:a16="http://schemas.microsoft.com/office/drawing/2014/main" id="{914842C4-097C-1854-56BC-19EEA0D1BE9C}"/>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76" name="Picture 75">
                <a:extLst>
                  <a:ext uri="{FF2B5EF4-FFF2-40B4-BE49-F238E27FC236}">
                    <a16:creationId xmlns:a16="http://schemas.microsoft.com/office/drawing/2014/main" id="{49303C9E-9299-F3BD-E03C-B8094BA035FD}"/>
                  </a:ext>
                </a:extLst>
              </p:cNvPr>
              <p:cNvPicPr>
                <a:picLocks noChangeAspect="1"/>
              </p:cNvPicPr>
              <p:nvPr/>
            </p:nvPicPr>
            <p:blipFill>
              <a:blip r:embed="rId5"/>
              <a:stretch>
                <a:fillRect/>
              </a:stretch>
            </p:blipFill>
            <p:spPr>
              <a:xfrm>
                <a:off x="9408368" y="4579525"/>
                <a:ext cx="853601" cy="853601"/>
              </a:xfrm>
              <a:prstGeom prst="rect">
                <a:avLst/>
              </a:prstGeom>
            </p:spPr>
          </p:pic>
        </p:grpSp>
      </p:grpSp>
      <p:grpSp>
        <p:nvGrpSpPr>
          <p:cNvPr id="3" name="Group 2">
            <a:extLst>
              <a:ext uri="{FF2B5EF4-FFF2-40B4-BE49-F238E27FC236}">
                <a16:creationId xmlns:a16="http://schemas.microsoft.com/office/drawing/2014/main" id="{4BC98718-DDF3-8857-D522-E0D5AD648F73}"/>
              </a:ext>
            </a:extLst>
          </p:cNvPr>
          <p:cNvGrpSpPr/>
          <p:nvPr/>
        </p:nvGrpSpPr>
        <p:grpSpPr>
          <a:xfrm>
            <a:off x="4806138" y="3711681"/>
            <a:ext cx="1413711" cy="1732102"/>
            <a:chOff x="4806138" y="3711681"/>
            <a:chExt cx="1413711" cy="1732102"/>
          </a:xfrm>
        </p:grpSpPr>
        <p:sp>
          <p:nvSpPr>
            <p:cNvPr id="231" name="Up-Down Arrow 20">
              <a:extLst>
                <a:ext uri="{FF2B5EF4-FFF2-40B4-BE49-F238E27FC236}">
                  <a16:creationId xmlns:a16="http://schemas.microsoft.com/office/drawing/2014/main" id="{57B959F5-E3FC-EAF2-6DFA-DF07B7C514CC}"/>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7" name="Group 86">
              <a:extLst>
                <a:ext uri="{FF2B5EF4-FFF2-40B4-BE49-F238E27FC236}">
                  <a16:creationId xmlns:a16="http://schemas.microsoft.com/office/drawing/2014/main" id="{BB6310BC-A6E5-DEDD-78DA-67067CF1825D}"/>
                </a:ext>
              </a:extLst>
            </p:cNvPr>
            <p:cNvGrpSpPr/>
            <p:nvPr/>
          </p:nvGrpSpPr>
          <p:grpSpPr>
            <a:xfrm>
              <a:off x="4806138" y="4205637"/>
              <a:ext cx="1413711" cy="1238146"/>
              <a:chOff x="4806138" y="4205637"/>
              <a:chExt cx="1413711" cy="1238146"/>
            </a:xfrm>
          </p:grpSpPr>
          <p:sp>
            <p:nvSpPr>
              <p:cNvPr id="42" name="TextBox 41">
                <a:extLst>
                  <a:ext uri="{FF2B5EF4-FFF2-40B4-BE49-F238E27FC236}">
                    <a16:creationId xmlns:a16="http://schemas.microsoft.com/office/drawing/2014/main" id="{D373BB16-4CDC-FF60-FF40-A2BA0E93EEB4}"/>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69" name="Picture 68">
                <a:extLst>
                  <a:ext uri="{FF2B5EF4-FFF2-40B4-BE49-F238E27FC236}">
                    <a16:creationId xmlns:a16="http://schemas.microsoft.com/office/drawing/2014/main" id="{DDCC16B0-ECA0-B874-E55E-530CE38FC5B7}"/>
                  </a:ext>
                </a:extLst>
              </p:cNvPr>
              <p:cNvPicPr>
                <a:picLocks noChangeAspect="1"/>
              </p:cNvPicPr>
              <p:nvPr/>
            </p:nvPicPr>
            <p:blipFill>
              <a:blip r:embed="rId6"/>
              <a:stretch>
                <a:fillRect/>
              </a:stretch>
            </p:blipFill>
            <p:spPr>
              <a:xfrm>
                <a:off x="4806138" y="4591317"/>
                <a:ext cx="852466" cy="852466"/>
              </a:xfrm>
              <a:prstGeom prst="rect">
                <a:avLst/>
              </a:prstGeom>
            </p:spPr>
          </p:pic>
          <p:pic>
            <p:nvPicPr>
              <p:cNvPr id="78" name="Picture 77">
                <a:extLst>
                  <a:ext uri="{FF2B5EF4-FFF2-40B4-BE49-F238E27FC236}">
                    <a16:creationId xmlns:a16="http://schemas.microsoft.com/office/drawing/2014/main" id="{8855FD5D-B8CC-E300-FC2A-FC8BA9005FFD}"/>
                  </a:ext>
                </a:extLst>
              </p:cNvPr>
              <p:cNvPicPr>
                <a:picLocks noChangeAspect="1"/>
              </p:cNvPicPr>
              <p:nvPr/>
            </p:nvPicPr>
            <p:blipFill>
              <a:blip r:embed="rId6"/>
              <a:stretch>
                <a:fillRect/>
              </a:stretch>
            </p:blipFill>
            <p:spPr>
              <a:xfrm>
                <a:off x="5365721" y="4591317"/>
                <a:ext cx="852466" cy="852466"/>
              </a:xfrm>
              <a:prstGeom prst="rect">
                <a:avLst/>
              </a:prstGeom>
            </p:spPr>
          </p:pic>
        </p:grpSp>
      </p:grpSp>
      <p:grpSp>
        <p:nvGrpSpPr>
          <p:cNvPr id="4" name="Group 3">
            <a:extLst>
              <a:ext uri="{FF2B5EF4-FFF2-40B4-BE49-F238E27FC236}">
                <a16:creationId xmlns:a16="http://schemas.microsoft.com/office/drawing/2014/main" id="{66182C19-8369-71C5-0A81-A309209F967A}"/>
              </a:ext>
            </a:extLst>
          </p:cNvPr>
          <p:cNvGrpSpPr/>
          <p:nvPr/>
        </p:nvGrpSpPr>
        <p:grpSpPr>
          <a:xfrm>
            <a:off x="6668856" y="3703306"/>
            <a:ext cx="1632422" cy="1729820"/>
            <a:chOff x="6668856" y="3703306"/>
            <a:chExt cx="1632422" cy="1729820"/>
          </a:xfrm>
        </p:grpSpPr>
        <p:sp>
          <p:nvSpPr>
            <p:cNvPr id="53" name="Up-Down Arrow 20">
              <a:extLst>
                <a:ext uri="{FF2B5EF4-FFF2-40B4-BE49-F238E27FC236}">
                  <a16:creationId xmlns:a16="http://schemas.microsoft.com/office/drawing/2014/main" id="{F523BEC2-0B4C-8BF6-6B25-914384DB941E}"/>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8" name="Group 87">
              <a:extLst>
                <a:ext uri="{FF2B5EF4-FFF2-40B4-BE49-F238E27FC236}">
                  <a16:creationId xmlns:a16="http://schemas.microsoft.com/office/drawing/2014/main" id="{F1CD9B02-9D78-D58E-FE06-C55C3017ACEB}"/>
                </a:ext>
              </a:extLst>
            </p:cNvPr>
            <p:cNvGrpSpPr/>
            <p:nvPr/>
          </p:nvGrpSpPr>
          <p:grpSpPr>
            <a:xfrm>
              <a:off x="6668856" y="4205993"/>
              <a:ext cx="1632422" cy="1227133"/>
              <a:chOff x="6668856" y="4205993"/>
              <a:chExt cx="1632422" cy="1227133"/>
            </a:xfrm>
          </p:grpSpPr>
          <p:sp>
            <p:nvSpPr>
              <p:cNvPr id="51" name="TextBox 50">
                <a:extLst>
                  <a:ext uri="{FF2B5EF4-FFF2-40B4-BE49-F238E27FC236}">
                    <a16:creationId xmlns:a16="http://schemas.microsoft.com/office/drawing/2014/main" id="{86D78E9F-4A9E-C14A-C950-591DB0E0B0D5}"/>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84" name="Picture 83">
                <a:extLst>
                  <a:ext uri="{FF2B5EF4-FFF2-40B4-BE49-F238E27FC236}">
                    <a16:creationId xmlns:a16="http://schemas.microsoft.com/office/drawing/2014/main" id="{CE467AA3-A41E-AB6D-7F8D-8AD4D76248FC}"/>
                  </a:ext>
                </a:extLst>
              </p:cNvPr>
              <p:cNvPicPr>
                <a:picLocks noChangeAspect="1"/>
              </p:cNvPicPr>
              <p:nvPr/>
            </p:nvPicPr>
            <p:blipFill>
              <a:blip r:embed="rId7"/>
              <a:stretch>
                <a:fillRect/>
              </a:stretch>
            </p:blipFill>
            <p:spPr>
              <a:xfrm>
                <a:off x="6668856" y="4580660"/>
                <a:ext cx="852466" cy="852466"/>
              </a:xfrm>
              <a:prstGeom prst="rect">
                <a:avLst/>
              </a:prstGeom>
            </p:spPr>
          </p:pic>
          <p:pic>
            <p:nvPicPr>
              <p:cNvPr id="86" name="Picture 85">
                <a:extLst>
                  <a:ext uri="{FF2B5EF4-FFF2-40B4-BE49-F238E27FC236}">
                    <a16:creationId xmlns:a16="http://schemas.microsoft.com/office/drawing/2014/main" id="{12F79A8A-CC61-352C-575A-00C4E9C2B859}"/>
                  </a:ext>
                </a:extLst>
              </p:cNvPr>
              <p:cNvPicPr>
                <a:picLocks noChangeAspect="1"/>
              </p:cNvPicPr>
              <p:nvPr/>
            </p:nvPicPr>
            <p:blipFill>
              <a:blip r:embed="rId7"/>
              <a:stretch>
                <a:fillRect/>
              </a:stretch>
            </p:blipFill>
            <p:spPr>
              <a:xfrm>
                <a:off x="7281430" y="4579525"/>
                <a:ext cx="852466" cy="852466"/>
              </a:xfrm>
              <a:prstGeom prst="rect">
                <a:avLst/>
              </a:prstGeom>
            </p:spPr>
          </p:pic>
        </p:grpSp>
      </p:grpSp>
      <p:grpSp>
        <p:nvGrpSpPr>
          <p:cNvPr id="6" name="Group 5">
            <a:extLst>
              <a:ext uri="{FF2B5EF4-FFF2-40B4-BE49-F238E27FC236}">
                <a16:creationId xmlns:a16="http://schemas.microsoft.com/office/drawing/2014/main" id="{59C20A03-73F9-FE17-E952-531098A1E4FB}"/>
              </a:ext>
            </a:extLst>
          </p:cNvPr>
          <p:cNvGrpSpPr/>
          <p:nvPr/>
        </p:nvGrpSpPr>
        <p:grpSpPr>
          <a:xfrm>
            <a:off x="5212863" y="521917"/>
            <a:ext cx="5672636" cy="2811452"/>
            <a:chOff x="5212863" y="521917"/>
            <a:chExt cx="5672636" cy="2811452"/>
          </a:xfrm>
        </p:grpSpPr>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9"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sp>
          <p:nvSpPr>
            <p:cNvPr id="128" name="Up-Down Arrow 115">
              <a:extLst>
                <a:ext uri="{FF2B5EF4-FFF2-40B4-BE49-F238E27FC236}">
                  <a16:creationId xmlns:a16="http://schemas.microsoft.com/office/drawing/2014/main" id="{9A907052-8FE1-6B69-79CB-7E0C87921C64}"/>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pic>
          <p:nvPicPr>
            <p:cNvPr id="93" name="Picture 92">
              <a:extLst>
                <a:ext uri="{FF2B5EF4-FFF2-40B4-BE49-F238E27FC236}">
                  <a16:creationId xmlns:a16="http://schemas.microsoft.com/office/drawing/2014/main" id="{4A20DF7B-0A4D-DD24-8060-3D543BD06BF2}"/>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95" name="Picture 94">
              <a:extLst>
                <a:ext uri="{FF2B5EF4-FFF2-40B4-BE49-F238E27FC236}">
                  <a16:creationId xmlns:a16="http://schemas.microsoft.com/office/drawing/2014/main" id="{E4E18A6C-9F31-C442-8552-8EC8A5938038}"/>
                </a:ext>
              </a:extLst>
            </p:cNvPr>
            <p:cNvPicPr>
              <a:picLocks noChangeAspect="1"/>
            </p:cNvPicPr>
            <p:nvPr/>
          </p:nvPicPr>
          <p:blipFill>
            <a:blip r:embed="rId10"/>
            <a:stretch>
              <a:fillRect/>
            </a:stretch>
          </p:blipFill>
          <p:spPr>
            <a:xfrm>
              <a:off x="8101397" y="893908"/>
              <a:ext cx="1733771" cy="1733771"/>
            </a:xfrm>
            <a:prstGeom prst="rect">
              <a:avLst/>
            </a:prstGeom>
          </p:spPr>
        </p:pic>
      </p:grpSp>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66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3" name="Picture 2" descr="Text&#10;&#10;Description automatically generated">
            <a:extLst>
              <a:ext uri="{FF2B5EF4-FFF2-40B4-BE49-F238E27FC236}">
                <a16:creationId xmlns:a16="http://schemas.microsoft.com/office/drawing/2014/main" id="{B6DB37A2-BA60-2553-F437-55CE2E8901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95702" y="130680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768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192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grpSp>
        <p:nvGrpSpPr>
          <p:cNvPr id="55" name="Group 54">
            <a:extLst>
              <a:ext uri="{FF2B5EF4-FFF2-40B4-BE49-F238E27FC236}">
                <a16:creationId xmlns:a16="http://schemas.microsoft.com/office/drawing/2014/main" id="{3916AC77-335C-90DA-E413-17F2EE5826CC}"/>
              </a:ext>
            </a:extLst>
          </p:cNvPr>
          <p:cNvGrpSpPr/>
          <p:nvPr/>
        </p:nvGrpSpPr>
        <p:grpSpPr>
          <a:xfrm>
            <a:off x="3431704" y="3826760"/>
            <a:ext cx="3168352" cy="2050512"/>
            <a:chOff x="3863752" y="3826760"/>
            <a:chExt cx="3168352"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3949883" y="4317598"/>
              <a:ext cx="3082221"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3863752" y="3826760"/>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3949883" y="5354052"/>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54" name="Group 53">
              <a:extLst>
                <a:ext uri="{FF2B5EF4-FFF2-40B4-BE49-F238E27FC236}">
                  <a16:creationId xmlns:a16="http://schemas.microsoft.com/office/drawing/2014/main" id="{22A75335-C098-C8A1-F7CF-75494DF485E9}"/>
                </a:ext>
              </a:extLst>
            </p:cNvPr>
            <p:cNvGrpSpPr/>
            <p:nvPr/>
          </p:nvGrpSpPr>
          <p:grpSpPr>
            <a:xfrm>
              <a:off x="4237942" y="4608866"/>
              <a:ext cx="2518608" cy="386708"/>
              <a:chOff x="4237942" y="4608866"/>
              <a:chExt cx="2518608" cy="386708"/>
            </a:xfrm>
          </p:grpSpPr>
          <p:grpSp>
            <p:nvGrpSpPr>
              <p:cNvPr id="9" name="Group 8">
                <a:extLst>
                  <a:ext uri="{FF2B5EF4-FFF2-40B4-BE49-F238E27FC236}">
                    <a16:creationId xmlns:a16="http://schemas.microsoft.com/office/drawing/2014/main" id="{3578663D-F250-030C-64E0-A7F1EA959167}"/>
                  </a:ext>
                </a:extLst>
              </p:cNvPr>
              <p:cNvGrpSpPr/>
              <p:nvPr/>
            </p:nvGrpSpPr>
            <p:grpSpPr>
              <a:xfrm>
                <a:off x="4237942" y="4612131"/>
                <a:ext cx="445236" cy="383443"/>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4755073" y="4612131"/>
                <a:ext cx="445236" cy="383443"/>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5272204" y="4608866"/>
                <a:ext cx="445236" cy="383443"/>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5789335" y="4608866"/>
                <a:ext cx="445236" cy="383443"/>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3" name="Group 52">
                <a:extLst>
                  <a:ext uri="{FF2B5EF4-FFF2-40B4-BE49-F238E27FC236}">
                    <a16:creationId xmlns:a16="http://schemas.microsoft.com/office/drawing/2014/main" id="{29F52161-BBB7-B380-9898-A6019E484F73}"/>
                  </a:ext>
                </a:extLst>
              </p:cNvPr>
              <p:cNvGrpSpPr/>
              <p:nvPr/>
            </p:nvGrpSpPr>
            <p:grpSpPr>
              <a:xfrm>
                <a:off x="6311314" y="4611842"/>
                <a:ext cx="445236" cy="383443"/>
                <a:chOff x="6311314" y="4611842"/>
                <a:chExt cx="445236" cy="383443"/>
              </a:xfrm>
            </p:grpSpPr>
            <p:pic>
              <p:nvPicPr>
                <p:cNvPr id="11" name="Picture 2" descr="iOS icon">
                  <a:extLst>
                    <a:ext uri="{FF2B5EF4-FFF2-40B4-BE49-F238E27FC236}">
                      <a16:creationId xmlns:a16="http://schemas.microsoft.com/office/drawing/2014/main" id="{2F15E85C-570B-87F2-B1A7-D7BBD2E0F9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8" y="4621488"/>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OS icon">
                  <a:extLst>
                    <a:ext uri="{FF2B5EF4-FFF2-40B4-BE49-F238E27FC236}">
                      <a16:creationId xmlns:a16="http://schemas.microsoft.com/office/drawing/2014/main" id="{0059C6CA-9896-51EF-B458-642B4BEBBA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3" y="4618537"/>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OS icon">
                  <a:extLst>
                    <a:ext uri="{FF2B5EF4-FFF2-40B4-BE49-F238E27FC236}">
                      <a16:creationId xmlns:a16="http://schemas.microsoft.com/office/drawing/2014/main" id="{432B2C51-EEF6-ED12-4088-D28BAC2DE5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7" y="4814304"/>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iOS icon">
                  <a:extLst>
                    <a:ext uri="{FF2B5EF4-FFF2-40B4-BE49-F238E27FC236}">
                      <a16:creationId xmlns:a16="http://schemas.microsoft.com/office/drawing/2014/main" id="{54C372D1-3D5F-5DB4-2A2E-87886CB802E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1" y="4809135"/>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52" name="Rectangle 51">
                  <a:extLst>
                    <a:ext uri="{FF2B5EF4-FFF2-40B4-BE49-F238E27FC236}">
                      <a16:creationId xmlns:a16="http://schemas.microsoft.com/office/drawing/2014/main" id="{FEAF54C6-6A7A-F78A-0D9D-3B921E3A8161}"/>
                    </a:ext>
                  </a:extLst>
                </p:cNvPr>
                <p:cNvSpPr/>
                <p:nvPr/>
              </p:nvSpPr>
              <p:spPr>
                <a:xfrm>
                  <a:off x="6311314" y="4611842"/>
                  <a:ext cx="445236" cy="380450"/>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pic>
        <p:nvPicPr>
          <p:cNvPr id="7" name="Picture 6" descr="Text&#10;&#10;Description automatically generated">
            <a:extLst>
              <a:ext uri="{FF2B5EF4-FFF2-40B4-BE49-F238E27FC236}">
                <a16:creationId xmlns:a16="http://schemas.microsoft.com/office/drawing/2014/main" id="{40D816D5-1FDD-1EE1-78AB-F23D7B4A8EA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575003"/>
            <a:chOff x="9243692" y="1306800"/>
            <a:chExt cx="2131116" cy="1575003"/>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723540" y="1614597"/>
              <a:ext cx="1267206" cy="1267206"/>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dirty="0"/>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pic>
        <p:nvPicPr>
          <p:cNvPr id="4" name="Picture 3">
            <a:extLst>
              <a:ext uri="{FF2B5EF4-FFF2-40B4-BE49-F238E27FC236}">
                <a16:creationId xmlns:a16="http://schemas.microsoft.com/office/drawing/2014/main" id="{ED3083D7-FFEA-6FB9-F381-894E2A4E333B}"/>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D358B03B-13C4-128C-1434-B23881569D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80E421A5-5941-6C0F-0148-DCFE36A05B81}"/>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CPU</a:t>
            </a:r>
          </a:p>
        </p:txBody>
      </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9E62A91E-3847-CF1D-C505-15E5AE3A2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7C30E114-F0BC-2D66-4751-B053A96E303C}"/>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GPU</a:t>
            </a:r>
          </a:p>
        </p:txBody>
      </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9" name="Picture 8">
            <a:extLst>
              <a:ext uri="{FF2B5EF4-FFF2-40B4-BE49-F238E27FC236}">
                <a16:creationId xmlns:a16="http://schemas.microsoft.com/office/drawing/2014/main" id="{E8630626-930F-9834-800E-6A8AE02101AC}"/>
              </a:ext>
            </a:extLst>
          </p:cNvPr>
          <p:cNvPicPr>
            <a:picLocks noChangeAspect="1"/>
          </p:cNvPicPr>
          <p:nvPr/>
        </p:nvPicPr>
        <p:blipFill>
          <a:blip r:embed="rId3"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
        <p:nvSpPr>
          <p:cNvPr id="11" name="Rectangle 2">
            <a:extLst>
              <a:ext uri="{FF2B5EF4-FFF2-40B4-BE49-F238E27FC236}">
                <a16:creationId xmlns:a16="http://schemas.microsoft.com/office/drawing/2014/main" id="{3788FFB3-B2C4-EA4F-251C-F20DE5F1322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Mindwell</a:t>
            </a:r>
            <a:endParaRPr lang="en-US" altLang="en-US" sz="3200" dirty="0">
              <a:solidFill>
                <a:srgbClr val="333639"/>
              </a:solidFill>
            </a:endParaRPr>
          </a:p>
        </p:txBody>
      </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a:t>
            </a:r>
            <a:r>
              <a:rPr lang="en-US" sz="2200" dirty="0">
                <a:hlinkClick r:id="rId4"/>
              </a:rPr>
              <a:t>request project storage</a:t>
            </a:r>
            <a:endParaRPr lang="en-US" sz="2200" dirty="0"/>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5"/>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511904" cy="769441"/>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Content Placeholder 3">
            <a:extLst>
              <a:ext uri="{FF2B5EF4-FFF2-40B4-BE49-F238E27FC236}">
                <a16:creationId xmlns:a16="http://schemas.microsoft.com/office/drawing/2014/main" id="{3DB9876C-DC93-C8C9-0AF1-913FF3A547C3}"/>
              </a:ext>
            </a:extLst>
          </p:cNvPr>
          <p:cNvSpPr txBox="1">
            <a:spLocks/>
          </p:cNvSpPr>
          <p:nvPr/>
        </p:nvSpPr>
        <p:spPr>
          <a:xfrm>
            <a:off x="720000" y="1349999"/>
            <a:ext cx="11112000" cy="4428000"/>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t> (</a:t>
            </a:r>
            <a:r>
              <a:rPr lang="en-US" sz="2200" b="1" dirty="0">
                <a:latin typeface="Courier New" panose="02070309020205020404" pitchFamily="49" charset="0"/>
                <a:cs typeface="Courier New" panose="02070309020205020404" pitchFamily="49" charset="0"/>
              </a:rPr>
              <a:t>$TMPDIR</a:t>
            </a:r>
            <a:r>
              <a:rPr lang="en-US" sz="2200" b="1" dirty="0"/>
              <a:t>) 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Blip>
                <a:blip r:embed="rId2"/>
              </a:buBlip>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 </a:t>
            </a:r>
            <a:r>
              <a:rPr lang="en-US" sz="2200" dirty="0">
                <a:latin typeface="Courier New" panose="02070309020205020404" pitchFamily="49" charset="0"/>
                <a:cs typeface="Courier New" panose="02070309020205020404" pitchFamily="49" charset="0"/>
              </a:rPr>
              <a:t>cd $VSC_DATA</a:t>
            </a:r>
          </a:p>
          <a:p>
            <a:pPr marL="324000" indent="-324000">
              <a:buBlip>
                <a:blip r:embed="rId2"/>
              </a:buBlip>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p>
        </p:txBody>
      </p:sp>
      <p:grpSp>
        <p:nvGrpSpPr>
          <p:cNvPr id="14" name="Group 13">
            <a:extLst>
              <a:ext uri="{FF2B5EF4-FFF2-40B4-BE49-F238E27FC236}">
                <a16:creationId xmlns:a16="http://schemas.microsoft.com/office/drawing/2014/main" id="{2A90258A-A047-5311-597E-50074A36723F}"/>
              </a:ext>
            </a:extLst>
          </p:cNvPr>
          <p:cNvGrpSpPr/>
          <p:nvPr/>
        </p:nvGrpSpPr>
        <p:grpSpPr>
          <a:xfrm>
            <a:off x="630164" y="4540875"/>
            <a:ext cx="6545956" cy="1270779"/>
            <a:chOff x="630164" y="4540875"/>
            <a:chExt cx="6545956" cy="1270779"/>
          </a:xfrm>
        </p:grpSpPr>
        <p:sp>
          <p:nvSpPr>
            <p:cNvPr id="7" name="Content Placeholder 2">
              <a:extLst>
                <a:ext uri="{FF2B5EF4-FFF2-40B4-BE49-F238E27FC236}">
                  <a16:creationId xmlns:a16="http://schemas.microsoft.com/office/drawing/2014/main" id="{B41328AA-EC74-9E6E-17B5-4423B029224F}"/>
                </a:ext>
              </a:extLst>
            </p:cNvPr>
            <p:cNvSpPr txBox="1">
              <a:spLocks/>
            </p:cNvSpPr>
            <p:nvPr/>
          </p:nvSpPr>
          <p:spPr>
            <a:xfrm>
              <a:off x="630164" y="4907880"/>
              <a:ext cx="6545956" cy="903774"/>
            </a:xfrm>
            <a:prstGeom prst="rect">
              <a:avLst/>
            </a:prstGeom>
            <a:ln w="19050">
              <a:solidFill>
                <a:schemeClr val="accent5"/>
              </a:solidFill>
            </a:ln>
          </p:spPr>
          <p:txBody>
            <a:bodyPr vert="horz" lIns="90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en-US" sz="2000" dirty="0"/>
            </a:p>
            <a:p>
              <a:pPr marL="0" indent="0">
                <a:buClr>
                  <a:srgbClr val="DB6C30"/>
                </a:buClr>
                <a:buNone/>
              </a:pPr>
              <a:r>
                <a:rPr lang="en-US" sz="2000" dirty="0"/>
                <a:t>Consider using </a:t>
              </a:r>
              <a:r>
                <a:rPr lang="en-US" sz="2000" dirty="0">
                  <a:latin typeface="Courier New" panose="02070309020205020404" pitchFamily="49" charset="0"/>
                  <a:cs typeface="Courier New" panose="02070309020205020404" pitchFamily="49" charset="0"/>
                </a:rPr>
                <a:t>/dev/</a:t>
              </a:r>
              <a:r>
                <a:rPr lang="en-US" sz="2000" dirty="0" err="1">
                  <a:latin typeface="Courier New" panose="02070309020205020404" pitchFamily="49" charset="0"/>
                  <a:cs typeface="Courier New" panose="02070309020205020404" pitchFamily="49" charset="0"/>
                </a:rPr>
                <a:t>shm</a:t>
              </a:r>
              <a:r>
                <a:rPr lang="en-US" sz="2000" dirty="0"/>
                <a:t> for file operations in memory in your compute jobs</a:t>
              </a:r>
              <a:endParaRPr lang="nl-BE" sz="2000" dirty="0"/>
            </a:p>
            <a:p>
              <a:pPr marL="324000" lvl="0" indent="-324000">
                <a:buClr>
                  <a:srgbClr val="DB6C30"/>
                </a:buClr>
                <a:buFont typeface="Wingdings" panose="05000000000000000000" pitchFamily="2" charset="2"/>
                <a:buChar char="q"/>
              </a:pPr>
              <a:endParaRPr lang="en-US" sz="2000" dirty="0">
                <a:solidFill>
                  <a:srgbClr val="333639"/>
                </a:solidFill>
                <a:cs typeface="Courier New" panose="02070309020205020404" pitchFamily="49" charset="0"/>
              </a:endParaRPr>
            </a:p>
          </p:txBody>
        </p:sp>
        <p:sp>
          <p:nvSpPr>
            <p:cNvPr id="13" name="Rectangle 12">
              <a:extLst>
                <a:ext uri="{FF2B5EF4-FFF2-40B4-BE49-F238E27FC236}">
                  <a16:creationId xmlns:a16="http://schemas.microsoft.com/office/drawing/2014/main" id="{7A20D924-ABE7-E154-780C-8B4D4C56198A}"/>
                </a:ext>
              </a:extLst>
            </p:cNvPr>
            <p:cNvSpPr/>
            <p:nvPr/>
          </p:nvSpPr>
          <p:spPr>
            <a:xfrm>
              <a:off x="5591944" y="4540875"/>
              <a:ext cx="1584176"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Advanced Tip</a:t>
              </a:r>
              <a:endParaRPr lang="nl-BE" dirty="0"/>
            </a:p>
          </p:txBody>
        </p:sp>
      </p:gr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873582049"/>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77687444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468301827"/>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3" name="Diagram 2">
            <a:extLst>
              <a:ext uri="{FF2B5EF4-FFF2-40B4-BE49-F238E27FC236}">
                <a16:creationId xmlns:a16="http://schemas.microsoft.com/office/drawing/2014/main" id="{77B73B74-9720-08FF-CFB9-AAA1964F2F3D}"/>
              </a:ext>
            </a:extLst>
          </p:cNvPr>
          <p:cNvGraphicFramePr/>
          <p:nvPr>
            <p:extLst>
              <p:ext uri="{D42A27DB-BD31-4B8C-83A1-F6EECF244321}">
                <p14:modId xmlns:p14="http://schemas.microsoft.com/office/powerpoint/2010/main" val="104567205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68248673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018755045"/>
              </p:ext>
            </p:extLst>
          </p:nvPr>
        </p:nvGraphicFramePr>
        <p:xfrm>
          <a:off x="5150096" y="188909"/>
          <a:ext cx="6480000" cy="59135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Data Protection</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quota</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a:t>Quota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0" name="Group 19">
            <a:extLst>
              <a:ext uri="{FF2B5EF4-FFF2-40B4-BE49-F238E27FC236}">
                <a16:creationId xmlns:a16="http://schemas.microsoft.com/office/drawing/2014/main" id="{1D5F8357-47D6-8A21-945C-73ABC8C1FC9E}"/>
              </a:ext>
            </a:extLst>
          </p:cNvPr>
          <p:cNvGrpSpPr/>
          <p:nvPr/>
        </p:nvGrpSpPr>
        <p:grpSpPr>
          <a:xfrm>
            <a:off x="176674" y="4587018"/>
            <a:ext cx="4481864" cy="1434270"/>
            <a:chOff x="176674" y="5062676"/>
            <a:chExt cx="4481864" cy="1434270"/>
          </a:xfrm>
        </p:grpSpPr>
        <p:sp>
          <p:nvSpPr>
            <p:cNvPr id="21" name="TextBox 20">
              <a:extLst>
                <a:ext uri="{FF2B5EF4-FFF2-40B4-BE49-F238E27FC236}">
                  <a16:creationId xmlns:a16="http://schemas.microsoft.com/office/drawing/2014/main" id="{9066D103-2305-F375-49B9-DEAA3A483608}"/>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22" name="Picture 21">
              <a:extLst>
                <a:ext uri="{FF2B5EF4-FFF2-40B4-BE49-F238E27FC236}">
                  <a16:creationId xmlns:a16="http://schemas.microsoft.com/office/drawing/2014/main" id="{D3EB5122-E2DD-A5B8-BACD-B8EE27DF484E}"/>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43787479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338981651"/>
              </p:ext>
            </p:extLst>
          </p:nvPr>
        </p:nvGraphicFramePr>
        <p:xfrm>
          <a:off x="5150096" y="188909"/>
          <a:ext cx="6480000" cy="5112299"/>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256146">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72086373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884430382"/>
              </p:ext>
            </p:extLst>
          </p:nvPr>
        </p:nvGraphicFramePr>
        <p:xfrm>
          <a:off x="5150096" y="188909"/>
          <a:ext cx="6480000" cy="56163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en-US" sz="1800" baseline="0" dirty="0">
                          <a:hlinkClick r:id="rId7"/>
                        </a:rPr>
                        <a:t>ICTS Service Catalog</a:t>
                      </a:r>
                      <a:endParaRPr lang="en-US" sz="1800" baseline="0" dirty="0"/>
                    </a:p>
                    <a:p>
                      <a:pPr marL="285750" indent="-285750" rtl="0">
                        <a:buFontTx/>
                        <a:buChar char="-"/>
                      </a:pPr>
                      <a:r>
                        <a:rPr lang="en-US" sz="1800" baseline="0" dirty="0"/>
                        <a:t>More info on </a:t>
                      </a:r>
                      <a:r>
                        <a:rPr lang="en-US" sz="1800" baseline="0" dirty="0">
                          <a:hlinkClick r:id="rId8"/>
                        </a:rPr>
                        <a:t>VSC docs</a:t>
                      </a:r>
                      <a:endParaRPr lang="nl-BE" sz="1800" dirty="0"/>
                    </a:p>
                  </a:txBody>
                  <a:tcPr/>
                </a:tc>
                <a:extLst>
                  <a:ext uri="{0D108BD9-81ED-4DB2-BD59-A6C34878D82A}">
                    <a16:rowId xmlns:a16="http://schemas.microsoft.com/office/drawing/2014/main" val="2372642805"/>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030921">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5" name="Diagram 4">
            <a:extLst>
              <a:ext uri="{FF2B5EF4-FFF2-40B4-BE49-F238E27FC236}">
                <a16:creationId xmlns:a16="http://schemas.microsoft.com/office/drawing/2014/main" id="{A0446480-D5F0-37F3-ED38-8744C9CFDE10}"/>
              </a:ext>
            </a:extLst>
          </p:cNvPr>
          <p:cNvGraphicFramePr/>
          <p:nvPr>
            <p:extLst>
              <p:ext uri="{D42A27DB-BD31-4B8C-83A1-F6EECF244321}">
                <p14:modId xmlns:p14="http://schemas.microsoft.com/office/powerpoint/2010/main" val="192306796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Content Placeholder 4">
            <a:extLst>
              <a:ext uri="{FF2B5EF4-FFF2-40B4-BE49-F238E27FC236}">
                <a16:creationId xmlns:a16="http://schemas.microsoft.com/office/drawing/2014/main" id="{169EF6DA-4960-5062-EA45-35EEDBB83555}"/>
              </a:ext>
            </a:extLst>
          </p:cNvPr>
          <p:cNvGraphicFramePr>
            <a:graphicFrameLocks noGrp="1"/>
          </p:cNvGraphicFramePr>
          <p:nvPr>
            <p:ph idx="1"/>
            <p:extLst>
              <p:ext uri="{D42A27DB-BD31-4B8C-83A1-F6EECF244321}">
                <p14:modId xmlns:p14="http://schemas.microsoft.com/office/powerpoint/2010/main" val="4178427056"/>
              </p:ext>
            </p:extLst>
          </p:nvPr>
        </p:nvGraphicFramePr>
        <p:xfrm>
          <a:off x="5150096" y="188909"/>
          <a:ext cx="6480000" cy="453623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dirty="0"/>
                        <a:t>Purpose</a:t>
                      </a:r>
                      <a:endParaRPr lang="nl-BE" sz="1800" b="1" dirty="0"/>
                    </a:p>
                  </a:txBody>
                  <a:tcPr/>
                </a:tc>
                <a:tc>
                  <a:txBody>
                    <a:bodyPr/>
                    <a:lstStyle/>
                    <a:p>
                      <a:r>
                        <a:rPr lang="en-US" sz="1800" dirty="0"/>
                        <a:t>Large storage service for active research data</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Stage-in/stage-out </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snapshots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5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kumimoji="0" lang="en-US" sz="1800" b="0" i="0" u="none" strike="noStrike" kern="1200" cap="none" spc="0" normalizeH="0" baseline="0" noProof="0" dirty="0">
                          <a:ln>
                            <a:noFill/>
                          </a:ln>
                          <a:solidFill>
                            <a:srgbClr val="333639"/>
                          </a:solidFill>
                          <a:effectLst/>
                          <a:uLnTx/>
                          <a:uFillTx/>
                          <a:latin typeface="+mn-lt"/>
                          <a:ea typeface="+mn-ea"/>
                          <a:cs typeface="+mn-cs"/>
                        </a:rPr>
                        <a:t>Free of charge for academic use</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a:t>Proposal submission</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nl-BE" sz="1800" dirty="0">
                          <a:hlinkClick r:id="rId7"/>
                        </a:rPr>
                        <a:t>DATA | Vlaams Supercomputer Centrum</a:t>
                      </a:r>
                      <a:endParaRPr lang="en-US" sz="1800" baseline="0" dirty="0"/>
                    </a:p>
                  </a:txBody>
                  <a:tcPr/>
                </a:tc>
                <a:extLst>
                  <a:ext uri="{0D108BD9-81ED-4DB2-BD59-A6C34878D82A}">
                    <a16:rowId xmlns:a16="http://schemas.microsoft.com/office/drawing/2014/main" val="126406400"/>
                  </a:ext>
                </a:extLst>
              </a:tr>
              <a:tr h="503919">
                <a:tc>
                  <a:txBody>
                    <a:bodyPr/>
                    <a:lstStyle/>
                    <a:p>
                      <a:r>
                        <a:rPr lang="en-US" sz="1800" b="1" dirty="0"/>
                        <a:t>Remarks</a:t>
                      </a:r>
                      <a:endParaRPr lang="nl-BE" sz="1800" b="1" dirty="0"/>
                    </a:p>
                  </a:txBody>
                  <a:tcPr/>
                </a:tc>
                <a:tc>
                  <a:txBody>
                    <a:bodyPr/>
                    <a:lstStyle/>
                    <a:p>
                      <a:pPr marL="285750" indent="-285750" rtl="0">
                        <a:buFontTx/>
                        <a:buChar char="-"/>
                      </a:pPr>
                      <a:r>
                        <a:rPr lang="en-US" sz="1800" dirty="0"/>
                        <a:t>Supports metadata </a:t>
                      </a:r>
                    </a:p>
                  </a:txBody>
                  <a:tcPr/>
                </a:tc>
                <a:extLst>
                  <a:ext uri="{0D108BD9-81ED-4DB2-BD59-A6C34878D82A}">
                    <a16:rowId xmlns:a16="http://schemas.microsoft.com/office/drawing/2014/main" val="2783662681"/>
                  </a:ext>
                </a:extLst>
              </a:tr>
            </a:tbl>
          </a:graphicData>
        </a:graphic>
      </p:graphicFrame>
    </p:spTree>
    <p:extLst>
      <p:ext uri="{BB962C8B-B14F-4D97-AF65-F5344CB8AC3E}">
        <p14:creationId xmlns:p14="http://schemas.microsoft.com/office/powerpoint/2010/main" val="35562832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7" name="TextBox 6">
            <a:extLst>
              <a:ext uri="{FF2B5EF4-FFF2-40B4-BE49-F238E27FC236}">
                <a16:creationId xmlns:a16="http://schemas.microsoft.com/office/drawing/2014/main" id="{96B94783-4253-B494-6997-AE3ED6B54281}"/>
              </a:ext>
            </a:extLst>
          </p:cNvPr>
          <p:cNvSpPr txBox="1"/>
          <p:nvPr/>
        </p:nvSpPr>
        <p:spPr>
          <a:xfrm>
            <a:off x="795978" y="5698803"/>
            <a:ext cx="9649072" cy="369332"/>
          </a:xfrm>
          <a:prstGeom prst="rect">
            <a:avLst/>
          </a:prstGeom>
          <a:noFill/>
        </p:spPr>
        <p:txBody>
          <a:bodyPr wrap="square" rtlCol="0">
            <a:spAutoFit/>
          </a:bodyPr>
          <a:lstStyle/>
          <a:p>
            <a:r>
              <a:rPr lang="en-US" dirty="0"/>
              <a:t>Also see the </a:t>
            </a:r>
            <a:r>
              <a:rPr lang="en-US" dirty="0">
                <a:hlinkClick r:id="rId9"/>
              </a:rPr>
              <a:t>KU Leuven storage guide</a:t>
            </a:r>
            <a:r>
              <a:rPr lang="en-US" dirty="0"/>
              <a:t> for even more storage possibilities</a:t>
            </a:r>
            <a:endParaRPr lang="nl-BE" dirty="0"/>
          </a:p>
        </p:txBody>
      </p:sp>
      <p:sp>
        <p:nvSpPr>
          <p:cNvPr id="9" name="TextBox 8">
            <a:extLst>
              <a:ext uri="{FF2B5EF4-FFF2-40B4-BE49-F238E27FC236}">
                <a16:creationId xmlns:a16="http://schemas.microsoft.com/office/drawing/2014/main" id="{9CCE37FD-A037-582A-23D6-BA2FBCD8F608}"/>
              </a:ext>
            </a:extLst>
          </p:cNvPr>
          <p:cNvSpPr txBox="1"/>
          <p:nvPr/>
        </p:nvSpPr>
        <p:spPr>
          <a:xfrm>
            <a:off x="720000" y="4114627"/>
            <a:ext cx="5326809" cy="1402605"/>
          </a:xfrm>
          <a:prstGeom prst="rect">
            <a:avLst/>
          </a:prstGeom>
          <a:noFill/>
          <a:ln w="25400">
            <a:noFill/>
          </a:ln>
        </p:spPr>
        <p:txBody>
          <a:bodyPr wrap="square" lIns="180000" tIns="90000" rIns="90000" bIns="90000" rtlCol="0">
            <a:spAutoFit/>
          </a:bodyPr>
          <a:lstStyle/>
          <a:p>
            <a:pPr marL="324000" indent="-324000">
              <a:spcBef>
                <a:spcPts val="750"/>
              </a:spcBef>
              <a:buBlip>
                <a:blip r:embed="rId10"/>
              </a:buBlip>
            </a:pPr>
            <a:r>
              <a:rPr lang="en-US" sz="2200" dirty="0"/>
              <a:t>For active data</a:t>
            </a:r>
          </a:p>
          <a:p>
            <a:pPr marL="324000" indent="-324000">
              <a:spcBef>
                <a:spcPts val="750"/>
              </a:spcBef>
              <a:buBlip>
                <a:blip r:embed="rId10"/>
              </a:buBlip>
            </a:pPr>
            <a:r>
              <a:rPr lang="en-US" sz="2200" dirty="0"/>
              <a:t>Data should stage in/out</a:t>
            </a:r>
          </a:p>
          <a:p>
            <a:pPr marL="324000" indent="-324000">
              <a:spcBef>
                <a:spcPts val="750"/>
              </a:spcBef>
              <a:buBlip>
                <a:blip r:embed="rId10"/>
              </a:buBlip>
            </a:pPr>
            <a:r>
              <a:rPr lang="en-US" sz="2200" dirty="0"/>
              <a:t>Has backup</a:t>
            </a:r>
          </a:p>
        </p:txBody>
      </p:sp>
      <p:sp>
        <p:nvSpPr>
          <p:cNvPr id="18" name="TextBox 17">
            <a:extLst>
              <a:ext uri="{FF2B5EF4-FFF2-40B4-BE49-F238E27FC236}">
                <a16:creationId xmlns:a16="http://schemas.microsoft.com/office/drawing/2014/main" id="{40D0B75F-792C-E85F-4AC7-7057705AF909}"/>
              </a:ext>
            </a:extLst>
          </p:cNvPr>
          <p:cNvSpPr txBox="1"/>
          <p:nvPr/>
        </p:nvSpPr>
        <p:spPr>
          <a:xfrm>
            <a:off x="5950800" y="4114627"/>
            <a:ext cx="5326809" cy="1402605"/>
          </a:xfrm>
          <a:prstGeom prst="rect">
            <a:avLst/>
          </a:prstGeom>
          <a:noFill/>
          <a:ln w="25400">
            <a:noFill/>
          </a:ln>
        </p:spPr>
        <p:txBody>
          <a:bodyPr wrap="square" lIns="180000" tIns="90000" bIns="90000" rtlCol="0">
            <a:spAutoFit/>
          </a:bodyPr>
          <a:lstStyle/>
          <a:p>
            <a:pPr marL="324000" indent="-324000">
              <a:spcBef>
                <a:spcPts val="750"/>
              </a:spcBef>
              <a:buBlip>
                <a:blip r:embed="rId10"/>
              </a:buBlip>
            </a:pPr>
            <a:r>
              <a:rPr lang="en-US" sz="2200" dirty="0"/>
              <a:t>For </a:t>
            </a:r>
            <a:r>
              <a:rPr lang="en-US" sz="2200" b="1" dirty="0"/>
              <a:t>inactive </a:t>
            </a:r>
            <a:r>
              <a:rPr lang="en-US" sz="2200" dirty="0"/>
              <a:t>data</a:t>
            </a:r>
          </a:p>
          <a:p>
            <a:pPr marL="324000" indent="-324000">
              <a:spcBef>
                <a:spcPts val="750"/>
              </a:spcBef>
              <a:buBlip>
                <a:blip r:embed="rId10"/>
              </a:buBlip>
            </a:pPr>
            <a:r>
              <a:rPr lang="en-US" sz="2200" dirty="0"/>
              <a:t>Storage until 10 years</a:t>
            </a:r>
          </a:p>
          <a:p>
            <a:pPr marL="324000" indent="-324000">
              <a:spcBef>
                <a:spcPts val="750"/>
              </a:spcBef>
              <a:buBlip>
                <a:blip r:embed="rId10"/>
              </a:buBlip>
            </a:pPr>
            <a:r>
              <a:rPr lang="en-US" sz="2200" dirty="0"/>
              <a:t>Has backup</a:t>
            </a:r>
          </a:p>
        </p:txBody>
      </p:sp>
      <p:sp>
        <p:nvSpPr>
          <p:cNvPr id="6" name="Rectangle 2">
            <a:extLst>
              <a:ext uri="{FF2B5EF4-FFF2-40B4-BE49-F238E27FC236}">
                <a16:creationId xmlns:a16="http://schemas.microsoft.com/office/drawing/2014/main" id="{E986BAB7-E5CC-000E-3BB0-7ED0EB06741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Extra (KU Leuven) storage locations</a:t>
            </a:r>
            <a:endParaRPr lang="en-US" altLang="en-US" sz="3200"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18" name="Rectangle 2">
            <a:extLst>
              <a:ext uri="{FF2B5EF4-FFF2-40B4-BE49-F238E27FC236}">
                <a16:creationId xmlns:a16="http://schemas.microsoft.com/office/drawing/2014/main" id="{F2F95D11-DCB3-CB6C-1DEA-A27DAF97D31F}"/>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err="1"/>
              <a:t>ManGO</a:t>
            </a:r>
            <a:endParaRPr lang="en-US" altLang="en-US" sz="3200"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90821353"/>
              </p:ext>
            </p:extLst>
          </p:nvPr>
        </p:nvGraphicFramePr>
        <p:xfrm>
          <a:off x="7176120" y="251706"/>
          <a:ext cx="4787612" cy="5851960"/>
        </p:xfrm>
        <a:graphic>
          <a:graphicData uri="http://schemas.openxmlformats.org/drawingml/2006/table">
            <a:tbl>
              <a:tblPr firstRow="1" bandRow="1">
                <a:tableStyleId>{5C22544A-7EE6-4342-B048-85BDC9FD1C3A}</a:tableStyleId>
              </a:tblPr>
              <a:tblGrid>
                <a:gridCol w="1164721">
                  <a:extLst>
                    <a:ext uri="{9D8B030D-6E8A-4147-A177-3AD203B41FA5}">
                      <a16:colId xmlns:a16="http://schemas.microsoft.com/office/drawing/2014/main" val="2516611192"/>
                    </a:ext>
                  </a:extLst>
                </a:gridCol>
                <a:gridCol w="2407090">
                  <a:extLst>
                    <a:ext uri="{9D8B030D-6E8A-4147-A177-3AD203B41FA5}">
                      <a16:colId xmlns:a16="http://schemas.microsoft.com/office/drawing/2014/main" val="346114"/>
                    </a:ext>
                  </a:extLst>
                </a:gridCol>
                <a:gridCol w="1215801">
                  <a:extLst>
                    <a:ext uri="{9D8B030D-6E8A-4147-A177-3AD203B41FA5}">
                      <a16:colId xmlns:a16="http://schemas.microsoft.com/office/drawing/2014/main" val="1760943923"/>
                    </a:ext>
                  </a:extLst>
                </a:gridCol>
              </a:tblGrid>
              <a:tr h="744710">
                <a:tc>
                  <a:txBody>
                    <a:bodyPr/>
                    <a:lstStyle/>
                    <a:p>
                      <a:r>
                        <a:rPr lang="en-US" sz="1800" dirty="0"/>
                        <a:t>Cluster</a:t>
                      </a:r>
                      <a:endParaRPr lang="nl-BE" sz="1800" dirty="0"/>
                    </a:p>
                  </a:txBody>
                  <a:tcPr/>
                </a:tc>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IceLake</a:t>
                      </a:r>
                      <a:r>
                        <a:rPr lang="nl-BE" sz="1800" dirty="0"/>
                        <a:t> </a:t>
                      </a:r>
                      <a:r>
                        <a:rPr lang="nl-BE" sz="1800" dirty="0" err="1"/>
                        <a:t>Thin</a:t>
                      </a:r>
                      <a:endParaRPr lang="nl-BE" sz="1800" dirty="0"/>
                    </a:p>
                  </a:txBody>
                  <a:tcPr/>
                </a:tc>
                <a:tc>
                  <a:txBody>
                    <a:bodyPr/>
                    <a:lstStyle/>
                    <a:p>
                      <a:r>
                        <a:rPr lang="nl-BE" sz="1800" dirty="0"/>
                        <a:t>11 000</a:t>
                      </a:r>
                    </a:p>
                  </a:txBody>
                  <a:tcPr/>
                </a:tc>
                <a:extLst>
                  <a:ext uri="{0D108BD9-81ED-4DB2-BD59-A6C34878D82A}">
                    <a16:rowId xmlns:a16="http://schemas.microsoft.com/office/drawing/2014/main" val="227663860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Sapphire Rapids Thin</a:t>
                      </a:r>
                      <a:endParaRPr lang="nl-BE" sz="1800" dirty="0"/>
                    </a:p>
                  </a:txBody>
                  <a:tcPr/>
                </a:tc>
                <a:tc>
                  <a:txBody>
                    <a:bodyPr/>
                    <a:lstStyle/>
                    <a:p>
                      <a:r>
                        <a:rPr lang="en-US" sz="1800" dirty="0"/>
                        <a:t>20 000</a:t>
                      </a:r>
                    </a:p>
                  </a:txBody>
                  <a:tcPr/>
                </a:tc>
                <a:extLst>
                  <a:ext uri="{0D108BD9-81ED-4DB2-BD59-A6C34878D82A}">
                    <a16:rowId xmlns:a16="http://schemas.microsoft.com/office/drawing/2014/main" val="14661221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Hugemem</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1671456618"/>
                  </a:ext>
                </a:extLst>
              </a:tr>
              <a:tr h="400997">
                <a:tc>
                  <a:txBody>
                    <a:bodyPr/>
                    <a:lstStyle/>
                    <a:p>
                      <a:r>
                        <a:rPr lang="nl-BE" sz="1800" dirty="0" err="1"/>
                        <a:t>wICE</a:t>
                      </a:r>
                      <a:endParaRPr lang="nl-BE" sz="1800" dirty="0"/>
                    </a:p>
                  </a:txBody>
                  <a:tcPr/>
                </a:tc>
                <a:tc>
                  <a:txBody>
                    <a:bodyPr/>
                    <a:lstStyle/>
                    <a:p>
                      <a:r>
                        <a:rPr lang="en-US" sz="1800" dirty="0"/>
                        <a:t>GPU P100 </a:t>
                      </a:r>
                      <a:r>
                        <a:rPr lang="nl-BE" sz="1800" dirty="0"/>
                        <a:t>– </a:t>
                      </a:r>
                      <a:r>
                        <a:rPr lang="en-US" sz="1800" dirty="0"/>
                        <a:t>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121717055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V100 </a:t>
                      </a:r>
                      <a:r>
                        <a:rPr lang="nl-BE" sz="1800" dirty="0"/>
                        <a:t>– </a:t>
                      </a:r>
                      <a:r>
                        <a:rPr lang="en-US" sz="1800" dirty="0"/>
                        <a:t>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93455930"/>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GPU A100 – 4 </a:t>
                      </a:r>
                      <a:r>
                        <a:rPr lang="nl-BE" sz="1800" dirty="0" err="1"/>
                        <a:t>GPUs</a:t>
                      </a:r>
                      <a:endParaRPr lang="nl-BE" sz="1800" dirty="0"/>
                    </a:p>
                  </a:txBody>
                  <a:tcPr/>
                </a:tc>
                <a:tc>
                  <a:txBody>
                    <a:bodyPr/>
                    <a:lstStyle/>
                    <a:p>
                      <a:r>
                        <a:rPr lang="nl-BE" sz="1800" dirty="0"/>
                        <a:t>45 000</a:t>
                      </a:r>
                    </a:p>
                  </a:txBody>
                  <a:tcPr/>
                </a:tc>
                <a:extLst>
                  <a:ext uri="{0D108BD9-81ED-4DB2-BD59-A6C34878D82A}">
                    <a16:rowId xmlns:a16="http://schemas.microsoft.com/office/drawing/2014/main" val="3918925419"/>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H100 </a:t>
                      </a:r>
                      <a:r>
                        <a:rPr lang="nl-BE" sz="1800" dirty="0"/>
                        <a:t>–</a:t>
                      </a:r>
                      <a:r>
                        <a:rPr lang="en-US" sz="1800" dirty="0"/>
                        <a:t>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1042127395"/>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Interactive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Granite</a:t>
                      </a:r>
                      <a:r>
                        <a:rPr lang="nl-BE" sz="1800" dirty="0">
                          <a:solidFill>
                            <a:srgbClr val="333639"/>
                          </a:solidFill>
                        </a:rPr>
                        <a:t> Rapids </a:t>
                      </a:r>
                      <a:r>
                        <a:rPr lang="nl-BE" sz="1800" dirty="0" err="1">
                          <a:solidFill>
                            <a:srgbClr val="333639"/>
                          </a:solidFill>
                        </a:rPr>
                        <a:t>Thin</a:t>
                      </a:r>
                      <a:endParaRPr lang="nl-BE" sz="1800" dirty="0">
                        <a:solidFill>
                          <a:srgbClr val="333639"/>
                        </a:solidFill>
                      </a:endParaRPr>
                    </a:p>
                  </a:txBody>
                  <a:tcPr/>
                </a:tc>
                <a:tc>
                  <a:txBody>
                    <a:bodyPr/>
                    <a:lstStyle/>
                    <a:p>
                      <a:r>
                        <a:rPr lang="en-US" sz="1800" dirty="0"/>
                        <a:t>30 000</a:t>
                      </a:r>
                    </a:p>
                  </a:txBody>
                  <a:tcPr/>
                </a:tc>
                <a:extLst>
                  <a:ext uri="{0D108BD9-81ED-4DB2-BD59-A6C34878D82A}">
                    <a16:rowId xmlns:a16="http://schemas.microsoft.com/office/drawing/2014/main" val="4029070984"/>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Large Memory</a:t>
                      </a:r>
                      <a:endParaRPr lang="nl-BE" sz="1800" dirty="0">
                        <a:solidFill>
                          <a:srgbClr val="333639"/>
                        </a:solidFill>
                      </a:endParaRPr>
                    </a:p>
                  </a:txBody>
                  <a:tcPr/>
                </a:tc>
                <a:tc>
                  <a:txBody>
                    <a:bodyPr/>
                    <a:lstStyle/>
                    <a:p>
                      <a:r>
                        <a:rPr lang="en-US" sz="1800" dirty="0"/>
                        <a:t>35 000</a:t>
                      </a:r>
                    </a:p>
                  </a:txBody>
                  <a:tcPr/>
                </a:tc>
                <a:extLst>
                  <a:ext uri="{0D108BD9-81ED-4DB2-BD59-A6C34878D82A}">
                    <a16:rowId xmlns:a16="http://schemas.microsoft.com/office/drawing/2014/main" val="848576521"/>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GPU B200 </a:t>
                      </a:r>
                      <a:r>
                        <a:rPr lang="nl-BE" sz="1800" dirty="0"/>
                        <a:t>–</a:t>
                      </a:r>
                      <a:r>
                        <a:rPr lang="en-US" sz="1800" dirty="0">
                          <a:solidFill>
                            <a:srgbClr val="333639"/>
                          </a:solidFill>
                        </a:rPr>
                        <a:t> 8 GPUs</a:t>
                      </a:r>
                      <a:endParaRPr lang="nl-BE" sz="1800" dirty="0">
                        <a:solidFill>
                          <a:srgbClr val="333639"/>
                        </a:solidFill>
                      </a:endParaRPr>
                    </a:p>
                  </a:txBody>
                  <a:tcPr/>
                </a:tc>
                <a:tc>
                  <a:txBody>
                    <a:bodyPr/>
                    <a:lstStyle/>
                    <a:p>
                      <a:r>
                        <a:rPr lang="en-US" sz="1800" dirty="0"/>
                        <a:t>245 000</a:t>
                      </a:r>
                    </a:p>
                  </a:txBody>
                  <a:tcPr/>
                </a:tc>
                <a:extLst>
                  <a:ext uri="{0D108BD9-81ED-4DB2-BD59-A6C34878D82A}">
                    <a16:rowId xmlns:a16="http://schemas.microsoft.com/office/drawing/2014/main" val="3858482306"/>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Interactive</a:t>
                      </a:r>
                      <a:endParaRPr lang="nl-BE" sz="1800" dirty="0">
                        <a:solidFill>
                          <a:srgbClr val="333639"/>
                        </a:solidFill>
                      </a:endParaRPr>
                    </a:p>
                  </a:txBody>
                  <a:tcPr/>
                </a:tc>
                <a:tc>
                  <a:txBody>
                    <a:bodyPr/>
                    <a:lstStyle/>
                    <a:p>
                      <a:r>
                        <a:rPr lang="en-US" sz="1800" dirty="0"/>
                        <a:t>Free</a:t>
                      </a:r>
                    </a:p>
                  </a:txBody>
                  <a:tcPr/>
                </a:tc>
                <a:extLst>
                  <a:ext uri="{0D108BD9-81ED-4DB2-BD59-A6C34878D82A}">
                    <a16:rowId xmlns:a16="http://schemas.microsoft.com/office/drawing/2014/main" val="1786065120"/>
                  </a:ext>
                </a:extLst>
              </a:tr>
            </a:tbl>
          </a:graphicData>
        </a:graphic>
      </p:graphicFrame>
      <p:sp>
        <p:nvSpPr>
          <p:cNvPr id="3" name="Content Placeholder 3">
            <a:extLst>
              <a:ext uri="{FF2B5EF4-FFF2-40B4-BE49-F238E27FC236}">
                <a16:creationId xmlns:a16="http://schemas.microsoft.com/office/drawing/2014/main" id="{BC057CA6-6D7A-045A-1D51-FF5EF3A6CCA7}"/>
              </a:ext>
            </a:extLst>
          </p:cNvPr>
          <p:cNvSpPr txBox="1">
            <a:spLocks/>
          </p:cNvSpPr>
          <p:nvPr/>
        </p:nvSpPr>
        <p:spPr>
          <a:xfrm>
            <a:off x="720000" y="1349998"/>
            <a:ext cx="6240096"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What?</a:t>
            </a:r>
          </a:p>
          <a:p>
            <a:pPr marL="324000" indent="-324000">
              <a:buBlip>
                <a:blip r:embed="rId4"/>
              </a:buBlip>
            </a:pPr>
            <a:r>
              <a:rPr lang="en-US" sz="2200" dirty="0"/>
              <a:t>Credits are a measure for compute resources</a:t>
            </a:r>
          </a:p>
          <a:p>
            <a:pPr marL="324000" indent="-324000">
              <a:buBlip>
                <a:blip r:embed="rId4"/>
              </a:buBlip>
            </a:pPr>
            <a:r>
              <a:rPr lang="en-US" sz="2200" dirty="0"/>
              <a:t>Mandatory for accessing these resources</a:t>
            </a:r>
          </a:p>
          <a:p>
            <a:pPr marL="324000" indent="-324000">
              <a:buBlip>
                <a:blip r:embed="rId4"/>
              </a:buBlip>
            </a:pPr>
            <a:r>
              <a:rPr lang="en-US" sz="2200" dirty="0"/>
              <a:t>Traceability and accountability</a:t>
            </a:r>
          </a:p>
          <a:p>
            <a:pPr marL="0" indent="0">
              <a:buNone/>
            </a:pPr>
            <a:r>
              <a:rPr lang="en-US" sz="2200" b="1" dirty="0"/>
              <a:t>Why?</a:t>
            </a:r>
          </a:p>
          <a:p>
            <a:pPr marL="324000" indent="-324000">
              <a:buBlip>
                <a:blip r:embed="rId4"/>
              </a:buBlip>
            </a:pPr>
            <a:r>
              <a:rPr lang="en-US" sz="2200" dirty="0"/>
              <a:t>Incentive to optimize your code and workflow</a:t>
            </a:r>
          </a:p>
          <a:p>
            <a:pPr marL="0" indent="0">
              <a:buNone/>
            </a:pPr>
            <a:r>
              <a:rPr lang="en-US" sz="2200" b="1" dirty="0"/>
              <a:t>How?</a:t>
            </a:r>
          </a:p>
          <a:p>
            <a:pPr marL="324000" indent="-324000">
              <a:buBlip>
                <a:blip r:embed="rId4"/>
              </a:buBlip>
            </a:pPr>
            <a:r>
              <a:rPr lang="en-US" sz="2200" dirty="0"/>
              <a:t>1 million credits = 3.5 EUR</a:t>
            </a:r>
          </a:p>
          <a:p>
            <a:pPr marL="324000" indent="-324000">
              <a:buBlip>
                <a:blip r:embed="rId4"/>
              </a:buBlip>
            </a:pPr>
            <a:r>
              <a:rPr lang="en-US" sz="2200" dirty="0"/>
              <a:t>Pay-as-you-go model</a:t>
            </a:r>
          </a:p>
          <a:p>
            <a:pPr marL="324000" indent="-324000">
              <a:buBlip>
                <a:blip r:embed="rId4"/>
              </a:buBlip>
            </a:pPr>
            <a:r>
              <a:rPr lang="en-US" sz="2200" dirty="0"/>
              <a:t>Credit rates on the right = for fully allocated nodes</a:t>
            </a:r>
            <a:br>
              <a:rPr lang="en-US" sz="2200" dirty="0"/>
            </a:br>
            <a:r>
              <a:rPr lang="en-US" sz="2200" dirty="0"/>
              <a:t>(if you request less cores, you also get billed less)</a:t>
            </a:r>
          </a:p>
          <a:p>
            <a:pPr marL="324000" indent="-324000">
              <a:buBlip>
                <a:blip r:embed="rId4"/>
              </a:buBlip>
            </a:pPr>
            <a:r>
              <a:rPr lang="en-US" sz="2200" dirty="0"/>
              <a:t>See the </a:t>
            </a:r>
            <a:r>
              <a:rPr lang="en-US" sz="2200" dirty="0">
                <a:hlinkClick r:id="rId5"/>
              </a:rPr>
              <a:t>ICTS service catalog</a:t>
            </a:r>
            <a:r>
              <a:rPr lang="en-US" sz="2200" dirty="0"/>
              <a:t> for more info</a:t>
            </a:r>
          </a:p>
        </p:txBody>
      </p:sp>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grpSp>
        <p:nvGrpSpPr>
          <p:cNvPr id="13" name="Group 12">
            <a:extLst>
              <a:ext uri="{FF2B5EF4-FFF2-40B4-BE49-F238E27FC236}">
                <a16:creationId xmlns:a16="http://schemas.microsoft.com/office/drawing/2014/main" id="{F4D88D23-7956-0865-B469-86B40A43E70F}"/>
              </a:ext>
            </a:extLst>
          </p:cNvPr>
          <p:cNvGrpSpPr/>
          <p:nvPr/>
        </p:nvGrpSpPr>
        <p:grpSpPr>
          <a:xfrm>
            <a:off x="6750478" y="1256838"/>
            <a:ext cx="4788874" cy="1429498"/>
            <a:chOff x="6750478" y="1256838"/>
            <a:chExt cx="4788874" cy="1429498"/>
          </a:xfrm>
        </p:grpSpPr>
        <p:pic>
          <p:nvPicPr>
            <p:cNvPr id="3" name="Picture 2"/>
            <p:cNvPicPr>
              <a:picLocks noChangeAspect="1"/>
            </p:cNvPicPr>
            <p:nvPr/>
          </p:nvPicPr>
          <p:blipFill>
            <a:blip r:embed="rId4"/>
            <a:srcRect l="18990" t="17595"/>
            <a:stretch>
              <a:fillRect/>
            </a:stretch>
          </p:blipFill>
          <p:spPr>
            <a:xfrm>
              <a:off x="6750478" y="1256838"/>
              <a:ext cx="4788874" cy="1429498"/>
            </a:xfrm>
            <a:prstGeom prst="rect">
              <a:avLst/>
            </a:prstGeom>
            <a:effectLst>
              <a:outerShdw blurRad="50800" dist="38100" dir="2700000" algn="tl" rotWithShape="0">
                <a:prstClr val="black">
                  <a:alpha val="40000"/>
                </a:prstClr>
              </a:outerShdw>
            </a:effectLst>
          </p:spPr>
        </p:pic>
        <p:sp>
          <p:nvSpPr>
            <p:cNvPr id="4" name="Oval 3"/>
            <p:cNvSpPr/>
            <p:nvPr/>
          </p:nvSpPr>
          <p:spPr>
            <a:xfrm>
              <a:off x="8381847" y="1447591"/>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8" name="Picture 7"/>
          <p:cNvPicPr>
            <a:picLocks noChangeAspect="1"/>
          </p:cNvPicPr>
          <p:nvPr/>
        </p:nvPicPr>
        <p:blipFill>
          <a:blip r:embed="rId5"/>
          <a:stretch>
            <a:fillRect/>
          </a:stretch>
        </p:blipFill>
        <p:spPr>
          <a:xfrm>
            <a:off x="6750478" y="2994965"/>
            <a:ext cx="3308886" cy="1421507"/>
          </a:xfrm>
          <a:prstGeom prst="rect">
            <a:avLst/>
          </a:prstGeom>
          <a:effectLst>
            <a:outerShdw blurRad="50800" dist="38100" dir="2700000" algn="tl" rotWithShape="0">
              <a:prstClr val="black">
                <a:alpha val="40000"/>
              </a:prstClr>
            </a:outerShdw>
          </a:effectLst>
        </p:spPr>
      </p:pic>
      <p:sp>
        <p:nvSpPr>
          <p:cNvPr id="5" name="Content Placeholder 3">
            <a:extLst>
              <a:ext uri="{FF2B5EF4-FFF2-40B4-BE49-F238E27FC236}">
                <a16:creationId xmlns:a16="http://schemas.microsoft.com/office/drawing/2014/main" id="{7B5AA276-FCAD-6A58-9B13-18A0489CA99C}"/>
              </a:ext>
            </a:extLst>
          </p:cNvPr>
          <p:cNvSpPr txBox="1">
            <a:spLocks/>
          </p:cNvSpPr>
          <p:nvPr/>
        </p:nvSpPr>
        <p:spPr>
          <a:xfrm>
            <a:off x="720000" y="1349998"/>
            <a:ext cx="5627151"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6"/>
              </a:buBlip>
            </a:pPr>
            <a:r>
              <a:rPr lang="en-US" sz="2200" dirty="0"/>
              <a:t>Request your </a:t>
            </a:r>
            <a:r>
              <a:rPr lang="en-US" sz="2200" dirty="0">
                <a:hlinkClick r:id="rId7"/>
              </a:rPr>
              <a:t>introduction credits</a:t>
            </a:r>
            <a:endParaRPr lang="en-US" sz="2200" dirty="0"/>
          </a:p>
          <a:p>
            <a:pPr lvl="1">
              <a:buClr>
                <a:srgbClr val="DB6C30"/>
              </a:buClr>
            </a:pPr>
            <a:r>
              <a:rPr lang="en-US" sz="1900" dirty="0"/>
              <a:t>Every new user can request them once</a:t>
            </a:r>
          </a:p>
          <a:p>
            <a:pPr lvl="1">
              <a:buClr>
                <a:srgbClr val="DB6C30"/>
              </a:buClr>
            </a:pPr>
            <a:r>
              <a:rPr lang="en-US" sz="1900" dirty="0"/>
              <a:t>Free of charge</a:t>
            </a:r>
          </a:p>
          <a:p>
            <a:pPr lvl="1">
              <a:buClr>
                <a:srgbClr val="DB6C30"/>
              </a:buClr>
            </a:pPr>
            <a:r>
              <a:rPr lang="en-US" sz="1900" dirty="0"/>
              <a:t>6 months</a:t>
            </a:r>
          </a:p>
          <a:p>
            <a:pPr marL="324000" indent="-324000">
              <a:buBlip>
                <a:blip r:embed="rId6"/>
              </a:buBlip>
            </a:pPr>
            <a:r>
              <a:rPr lang="en-US" sz="2200" dirty="0"/>
              <a:t>Request permission to join a group</a:t>
            </a:r>
          </a:p>
          <a:p>
            <a:pPr marL="324000" indent="-324000">
              <a:buBlip>
                <a:blip r:embed="rId6"/>
              </a:buBlip>
            </a:pPr>
            <a:r>
              <a:rPr lang="en-US" sz="2200" dirty="0"/>
              <a:t>Request </a:t>
            </a:r>
            <a:r>
              <a:rPr lang="en-US" sz="2200" dirty="0">
                <a:hlinkClick r:id="rId8"/>
              </a:rPr>
              <a:t>project credits</a:t>
            </a:r>
            <a:endParaRPr lang="en-US" sz="2200" dirty="0"/>
          </a:p>
          <a:p>
            <a:pPr lvl="1">
              <a:buClr>
                <a:srgbClr val="DB6C30"/>
              </a:buClr>
            </a:pPr>
            <a:r>
              <a:rPr lang="en-US" sz="1900" dirty="0"/>
              <a:t>Create group on the VSC account page</a:t>
            </a:r>
          </a:p>
          <a:p>
            <a:pPr lvl="1">
              <a:buClr>
                <a:srgbClr val="DB6C30"/>
              </a:buClr>
            </a:pPr>
            <a:r>
              <a:rPr lang="en-US" sz="1900" dirty="0"/>
              <a:t>Start the name with </a:t>
            </a:r>
            <a:r>
              <a:rPr lang="en-US" sz="1900" b="1" dirty="0"/>
              <a:t>p_</a:t>
            </a:r>
          </a:p>
          <a:p>
            <a:pPr lvl="1">
              <a:buClr>
                <a:srgbClr val="DB6C30"/>
              </a:buClr>
            </a:pPr>
            <a:r>
              <a:rPr lang="en-US" sz="1900" dirty="0"/>
              <a:t>Creator of the group can add and remove users</a:t>
            </a:r>
          </a:p>
          <a:p>
            <a:pPr marL="324000" indent="-324000">
              <a:buBlip>
                <a:blip r:embed="rId6"/>
              </a:buBlip>
            </a:pPr>
            <a:r>
              <a:rPr lang="en-US" sz="2200" dirty="0"/>
              <a:t>Compute credits can be used on all </a:t>
            </a:r>
            <a:br>
              <a:rPr lang="en-US" sz="2200" dirty="0"/>
            </a:br>
            <a:r>
              <a:rPr lang="en-US" sz="2200" dirty="0"/>
              <a:t>KU Leuven Tier-2 clusters</a:t>
            </a:r>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8" name="Rectangle 2"/>
          <p:cNvSpPr>
            <a:spLocks noGrp="1" noChangeArrowheads="1"/>
          </p:cNvSpPr>
          <p:nvPr>
            <p:ph type="title"/>
          </p:nvPr>
        </p:nvSpPr>
        <p:spPr/>
        <p:txBody>
          <a:bodyPr/>
          <a:lstStyle/>
          <a:p>
            <a:r>
              <a:rPr lang="en-US" altLang="en-US" dirty="0"/>
              <a:t>Tier-2 credit system – how</a:t>
            </a:r>
          </a:p>
        </p:txBody>
      </p:sp>
      <p:sp>
        <p:nvSpPr>
          <p:cNvPr id="3" name="Content Placeholder 3">
            <a:extLst>
              <a:ext uri="{FF2B5EF4-FFF2-40B4-BE49-F238E27FC236}">
                <a16:creationId xmlns:a16="http://schemas.microsoft.com/office/drawing/2014/main" id="{993B481F-72F1-86F5-8DCA-C5DEC17809FF}"/>
              </a:ext>
            </a:extLst>
          </p:cNvPr>
          <p:cNvSpPr txBox="1">
            <a:spLocks/>
          </p:cNvSpPr>
          <p:nvPr/>
        </p:nvSpPr>
        <p:spPr>
          <a:xfrm>
            <a:off x="720000" y="1349998"/>
            <a:ext cx="10632584"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Submit your jobs with a suitable credit account</a:t>
            </a:r>
          </a:p>
          <a:p>
            <a:pPr marL="0" indent="0">
              <a:buNone/>
            </a:pPr>
            <a:r>
              <a:rPr lang="en-US" sz="2200" dirty="0">
                <a:latin typeface="Courier New" panose="02070309020205020404" pitchFamily="49" charset="0"/>
                <a:cs typeface="Courier New" panose="02070309020205020404" pitchFamily="49" charset="0"/>
              </a:rPr>
              <a:t>	</a:t>
            </a:r>
          </a:p>
          <a:p>
            <a:pPr marL="0" indent="0">
              <a:buNone/>
            </a:pPr>
            <a:r>
              <a:rPr lang="en-US" sz="2200" dirty="0">
                <a:latin typeface="Courier New" panose="02070309020205020404" pitchFamily="49" charset="0"/>
                <a:cs typeface="Courier New" panose="02070309020205020404" pitchFamily="49" charset="0"/>
              </a:rPr>
              <a:t>	$ </a:t>
            </a:r>
            <a:r>
              <a:rPr lang="en-US" sz="2200" dirty="0" err="1">
                <a:latin typeface="Courier New" panose="02070309020205020404" pitchFamily="49" charset="0"/>
                <a:cs typeface="Courier New" panose="02070309020205020404" pitchFamily="49" charset="0"/>
              </a:rPr>
              <a:t>sbatch</a:t>
            </a:r>
            <a:r>
              <a:rPr lang="en-US" sz="2200" dirty="0">
                <a:latin typeface="Courier New" panose="02070309020205020404" pitchFamily="49" charset="0"/>
                <a:cs typeface="Courier New" panose="02070309020205020404" pitchFamily="49" charset="0"/>
              </a:rPr>
              <a:t> </a:t>
            </a:r>
            <a:r>
              <a:rPr lang="en-US" sz="2200" b="1" dirty="0">
                <a:latin typeface="Courier New" panose="02070309020205020404" pitchFamily="49" charset="0"/>
                <a:cs typeface="Courier New" panose="02070309020205020404" pitchFamily="49" charset="0"/>
              </a:rPr>
              <a:t>--account=</a:t>
            </a:r>
            <a:r>
              <a:rPr lang="en-US" sz="2200" b="1" dirty="0" err="1">
                <a:latin typeface="Courier New" panose="02070309020205020404" pitchFamily="49" charset="0"/>
                <a:cs typeface="Courier New" panose="02070309020205020404" pitchFamily="49" charset="0"/>
              </a:rPr>
              <a:t>lp_myproject</a:t>
            </a:r>
            <a:r>
              <a:rPr lang="en-US" sz="2200" b="1"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myjob.slurm</a:t>
            </a:r>
            <a:endParaRPr lang="en-US" sz="2200" dirty="0">
              <a:latin typeface="Courier New" panose="02070309020205020404" pitchFamily="49" charset="0"/>
              <a:cs typeface="Courier New" panose="02070309020205020404" pitchFamily="49" charset="0"/>
            </a:endParaRPr>
          </a:p>
          <a:p>
            <a:pPr marL="0" indent="0">
              <a:buNone/>
            </a:pPr>
            <a:endParaRPr lang="en-US" sz="2200" dirty="0">
              <a:latin typeface="Courier New" panose="02070309020205020404" pitchFamily="49" charset="0"/>
              <a:cs typeface="Courier New" panose="02070309020205020404" pitchFamily="49" charset="0"/>
            </a:endParaRPr>
          </a:p>
          <a:p>
            <a:pPr marL="324000" indent="-324000">
              <a:buBlip>
                <a:blip r:embed="rId3"/>
              </a:buBlip>
            </a:pPr>
            <a:r>
              <a:rPr lang="en-US" altLang="en-US" sz="2200" dirty="0" err="1">
                <a:ea typeface="Open Sans Extrabold"/>
                <a:cs typeface="Open Sans Extrabold"/>
              </a:rPr>
              <a:t>Slurm</a:t>
            </a:r>
            <a:r>
              <a:rPr lang="en-US" altLang="en-US" sz="2200" dirty="0">
                <a:ea typeface="Open Sans Extrabold"/>
                <a:cs typeface="Open Sans Extrabold"/>
              </a:rPr>
              <a:t> checks if the account has sufficient credits available to complete your job</a:t>
            </a:r>
            <a:endParaRPr lang="en-US" altLang="en-US" sz="2200" dirty="0"/>
          </a:p>
          <a:p>
            <a:pPr marL="324000" indent="-324000">
              <a:buBlip>
                <a:blip r:embed="rId3"/>
              </a:buBlip>
            </a:pPr>
            <a:r>
              <a:rPr lang="en-US" sz="2200" dirty="0"/>
              <a:t>Once a job start running, it starts consuming credits from the account</a:t>
            </a:r>
          </a:p>
        </p:txBody>
      </p:sp>
    </p:spTree>
    <p:extLst>
      <p:ext uri="{BB962C8B-B14F-4D97-AF65-F5344CB8AC3E}">
        <p14:creationId xmlns:p14="http://schemas.microsoft.com/office/powerpoint/2010/main" val="26808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720000"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092426753"/>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
        <p:nvSpPr>
          <p:cNvPr id="3" name="Content Placeholder 3">
            <a:extLst>
              <a:ext uri="{FF2B5EF4-FFF2-40B4-BE49-F238E27FC236}">
                <a16:creationId xmlns:a16="http://schemas.microsoft.com/office/drawing/2014/main" id="{70B775E9-6B8D-F5B7-4689-3A283F8EFF7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
        <p:nvSpPr>
          <p:cNvPr id="6" name="TextBox 5">
            <a:extLst>
              <a:ext uri="{FF2B5EF4-FFF2-40B4-BE49-F238E27FC236}">
                <a16:creationId xmlns:a16="http://schemas.microsoft.com/office/drawing/2014/main" id="{BEAF8AA0-85DD-1519-179E-6FA9538E33E2}"/>
              </a:ext>
            </a:extLst>
          </p:cNvPr>
          <p:cNvSpPr txBox="1"/>
          <p:nvPr/>
        </p:nvSpPr>
        <p:spPr>
          <a:xfrm>
            <a:off x="694340" y="4244188"/>
            <a:ext cx="7992888" cy="369332"/>
          </a:xfrm>
          <a:prstGeom prst="rect">
            <a:avLst/>
          </a:prstGeom>
          <a:noFill/>
        </p:spPr>
        <p:txBody>
          <a:bodyPr wrap="square" rtlCol="0">
            <a:spAutoFit/>
          </a:bodyPr>
          <a:lstStyle/>
          <a:p>
            <a:r>
              <a:rPr lang="en-US" dirty="0"/>
              <a:t>And if you wonder, ‘</a:t>
            </a:r>
            <a:r>
              <a:rPr lang="en-US" dirty="0" err="1"/>
              <a:t>sam</a:t>
            </a:r>
            <a:r>
              <a:rPr lang="en-US" dirty="0"/>
              <a:t>’ stands for </a:t>
            </a:r>
            <a:r>
              <a:rPr lang="en-US" dirty="0" err="1"/>
              <a:t>Slurm</a:t>
            </a:r>
            <a:r>
              <a:rPr lang="en-US" dirty="0"/>
              <a:t> Account Manager.</a:t>
            </a:r>
            <a:endParaRPr lang="nl-BE" dirty="0"/>
          </a:p>
        </p:txBody>
      </p:sp>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720000"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660492255"/>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
        <p:nvSpPr>
          <p:cNvPr id="8" name="Content Placeholder 3">
            <a:extLst>
              <a:ext uri="{FF2B5EF4-FFF2-40B4-BE49-F238E27FC236}">
                <a16:creationId xmlns:a16="http://schemas.microsoft.com/office/drawing/2014/main" id="{2B07EAC7-28ED-BAEF-42D9-20664852A3B6}"/>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413883241"/>
              </p:ext>
            </p:extLst>
          </p:nvPr>
        </p:nvGraphicFramePr>
        <p:xfrm>
          <a:off x="720000"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720000" y="3215787"/>
            <a:ext cx="10821600" cy="1003428"/>
          </a:xfrm>
          <a:prstGeom prst="rect">
            <a:avLst/>
          </a:prstGeom>
        </p:spPr>
      </p:pic>
      <p:sp>
        <p:nvSpPr>
          <p:cNvPr id="8" name="Content Placeholder 3">
            <a:extLst>
              <a:ext uri="{FF2B5EF4-FFF2-40B4-BE49-F238E27FC236}">
                <a16:creationId xmlns:a16="http://schemas.microsoft.com/office/drawing/2014/main" id="{3A84A468-1CD1-7EAD-16C7-5508A4BF2DC9}"/>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13000"/>
          <a:stretch>
            <a:fillRect/>
          </a:stretch>
        </p:blipFill>
        <p:spPr>
          <a:xfrm>
            <a:off x="720000" y="3417801"/>
            <a:ext cx="5688632" cy="2891520"/>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888038239"/>
              </p:ext>
            </p:extLst>
          </p:nvPr>
        </p:nvGraphicFramePr>
        <p:xfrm>
          <a:off x="720000"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
        <p:nvSpPr>
          <p:cNvPr id="8" name="Content Placeholder 3">
            <a:extLst>
              <a:ext uri="{FF2B5EF4-FFF2-40B4-BE49-F238E27FC236}">
                <a16:creationId xmlns:a16="http://schemas.microsoft.com/office/drawing/2014/main" id="{CD7281CE-5FBF-CFCA-850A-D23959DDC45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025560571"/>
              </p:ext>
            </p:extLst>
          </p:nvPr>
        </p:nvGraphicFramePr>
        <p:xfrm>
          <a:off x="720000"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
        <p:nvSpPr>
          <p:cNvPr id="7" name="Content Placeholder 3">
            <a:extLst>
              <a:ext uri="{FF2B5EF4-FFF2-40B4-BE49-F238E27FC236}">
                <a16:creationId xmlns:a16="http://schemas.microsoft.com/office/drawing/2014/main" id="{3221E30B-CED3-1DA5-D0A4-6F9D9AF00F2C}"/>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eft-Right Arrow Callout 10"/>
          <p:cNvSpPr/>
          <p:nvPr/>
        </p:nvSpPr>
        <p:spPr>
          <a:xfrm>
            <a:off x="1515196" y="4433821"/>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332657"/>
            <a:ext cx="2488718" cy="6275165"/>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4145789"/>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pic>
        <p:nvPicPr>
          <p:cNvPr id="52" name="Picture 51" descr="Text&#10;&#10;Description automatically generated">
            <a:extLst>
              <a:ext uri="{FF2B5EF4-FFF2-40B4-BE49-F238E27FC236}">
                <a16:creationId xmlns:a16="http://schemas.microsoft.com/office/drawing/2014/main" id="{63A62C3F-FC23-56F2-8204-43DD1FFAC8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53" name="Picture 52">
            <a:extLst>
              <a:ext uri="{FF2B5EF4-FFF2-40B4-BE49-F238E27FC236}">
                <a16:creationId xmlns:a16="http://schemas.microsoft.com/office/drawing/2014/main" id="{2641E7AC-335F-F136-F455-BC2F0A58989C}"/>
              </a:ext>
            </a:extLst>
          </p:cNvPr>
          <p:cNvPicPr>
            <a:picLocks noChangeAspect="1"/>
          </p:cNvPicPr>
          <p:nvPr/>
        </p:nvPicPr>
        <p:blipFill>
          <a:blip r:embed="rId6"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grpSp>
        <p:nvGrpSpPr>
          <p:cNvPr id="54" name="Group 53">
            <a:extLst>
              <a:ext uri="{FF2B5EF4-FFF2-40B4-BE49-F238E27FC236}">
                <a16:creationId xmlns:a16="http://schemas.microsoft.com/office/drawing/2014/main" id="{36E9BED3-BE45-32D3-AE33-64ABDD6F9A35}"/>
              </a:ext>
            </a:extLst>
          </p:cNvPr>
          <p:cNvGrpSpPr/>
          <p:nvPr/>
        </p:nvGrpSpPr>
        <p:grpSpPr>
          <a:xfrm>
            <a:off x="4806138" y="2511541"/>
            <a:ext cx="6980268" cy="3581755"/>
            <a:chOff x="4806138" y="2511541"/>
            <a:chExt cx="6980268" cy="3581755"/>
          </a:xfrm>
        </p:grpSpPr>
        <p:sp>
          <p:nvSpPr>
            <p:cNvPr id="55" name="Up-Down Arrow 115">
              <a:extLst>
                <a:ext uri="{FF2B5EF4-FFF2-40B4-BE49-F238E27FC236}">
                  <a16:creationId xmlns:a16="http://schemas.microsoft.com/office/drawing/2014/main" id="{9919C072-F171-A62D-7AA1-5E13447E290A}"/>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56" name="Rounded Rectangle 48">
              <a:extLst>
                <a:ext uri="{FF2B5EF4-FFF2-40B4-BE49-F238E27FC236}">
                  <a16:creationId xmlns:a16="http://schemas.microsoft.com/office/drawing/2014/main" id="{A435DC9A-5794-99DB-19B8-24D2DD97E83E}"/>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sp>
          <p:nvSpPr>
            <p:cNvPr id="57" name="Up-Down Arrow 20">
              <a:extLst>
                <a:ext uri="{FF2B5EF4-FFF2-40B4-BE49-F238E27FC236}">
                  <a16:creationId xmlns:a16="http://schemas.microsoft.com/office/drawing/2014/main" id="{7D95B767-DB77-51A0-2ABC-4126D68D9E07}"/>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58" name="Straight Connector 6">
              <a:extLst>
                <a:ext uri="{FF2B5EF4-FFF2-40B4-BE49-F238E27FC236}">
                  <a16:creationId xmlns:a16="http://schemas.microsoft.com/office/drawing/2014/main" id="{C5AFE8C1-6597-13E0-6F38-B1CB4ABBF0C2}"/>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59" name="Up-Down Arrow 20">
              <a:extLst>
                <a:ext uri="{FF2B5EF4-FFF2-40B4-BE49-F238E27FC236}">
                  <a16:creationId xmlns:a16="http://schemas.microsoft.com/office/drawing/2014/main" id="{A1060766-24E4-D1EB-AEA9-0136EE867C91}"/>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0" name="TextBox 59">
              <a:extLst>
                <a:ext uri="{FF2B5EF4-FFF2-40B4-BE49-F238E27FC236}">
                  <a16:creationId xmlns:a16="http://schemas.microsoft.com/office/drawing/2014/main" id="{C09CB7E1-92A5-B6A0-CFFE-ADD6B27D00A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61" name="Oval 60">
              <a:extLst>
                <a:ext uri="{FF2B5EF4-FFF2-40B4-BE49-F238E27FC236}">
                  <a16:creationId xmlns:a16="http://schemas.microsoft.com/office/drawing/2014/main" id="{75A09A59-7062-7F09-1A21-194AA0F9AE6D}"/>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2" name="Oval 61">
              <a:extLst>
                <a:ext uri="{FF2B5EF4-FFF2-40B4-BE49-F238E27FC236}">
                  <a16:creationId xmlns:a16="http://schemas.microsoft.com/office/drawing/2014/main" id="{31218936-7F16-9345-0B53-BFB1FEB29389}"/>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3" name="Oval 62">
              <a:extLst>
                <a:ext uri="{FF2B5EF4-FFF2-40B4-BE49-F238E27FC236}">
                  <a16:creationId xmlns:a16="http://schemas.microsoft.com/office/drawing/2014/main" id="{D16A43BE-4B1F-7842-A5C7-73DEB2CAE023}"/>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4" name="Right Arrow 23">
              <a:extLst>
                <a:ext uri="{FF2B5EF4-FFF2-40B4-BE49-F238E27FC236}">
                  <a16:creationId xmlns:a16="http://schemas.microsoft.com/office/drawing/2014/main" id="{3E108B8F-388D-25AA-02D8-E7558F792D55}"/>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5" name="Up-Down Arrow 20">
              <a:extLst>
                <a:ext uri="{FF2B5EF4-FFF2-40B4-BE49-F238E27FC236}">
                  <a16:creationId xmlns:a16="http://schemas.microsoft.com/office/drawing/2014/main" id="{3C6CC089-9946-1AE1-6D3A-5BB1DD54BF0A}"/>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66" name="Group 65">
              <a:extLst>
                <a:ext uri="{FF2B5EF4-FFF2-40B4-BE49-F238E27FC236}">
                  <a16:creationId xmlns:a16="http://schemas.microsoft.com/office/drawing/2014/main" id="{BC66497C-C1B0-9398-3AA7-A38D84C09CC2}"/>
                </a:ext>
              </a:extLst>
            </p:cNvPr>
            <p:cNvGrpSpPr/>
            <p:nvPr/>
          </p:nvGrpSpPr>
          <p:grpSpPr>
            <a:xfrm>
              <a:off x="8760807" y="4194921"/>
              <a:ext cx="2608252" cy="1898375"/>
              <a:chOff x="8760807" y="4194921"/>
              <a:chExt cx="2608252" cy="1898375"/>
            </a:xfrm>
          </p:grpSpPr>
          <p:sp>
            <p:nvSpPr>
              <p:cNvPr id="76" name="Rectangle 3">
                <a:extLst>
                  <a:ext uri="{FF2B5EF4-FFF2-40B4-BE49-F238E27FC236}">
                    <a16:creationId xmlns:a16="http://schemas.microsoft.com/office/drawing/2014/main" id="{EC1BE67B-997C-5CDE-0306-0AADEC710DB5}"/>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7" name="Picture 76">
                <a:extLst>
                  <a:ext uri="{FF2B5EF4-FFF2-40B4-BE49-F238E27FC236}">
                    <a16:creationId xmlns:a16="http://schemas.microsoft.com/office/drawing/2014/main" id="{3BF4E866-CB69-5A55-6836-96D75924A763}"/>
                  </a:ext>
                </a:extLst>
              </p:cNvPr>
              <p:cNvPicPr>
                <a:picLocks noChangeAspect="1"/>
              </p:cNvPicPr>
              <p:nvPr/>
            </p:nvPicPr>
            <p:blipFill>
              <a:blip r:embed="rId7"/>
              <a:stretch>
                <a:fillRect/>
              </a:stretch>
            </p:blipFill>
            <p:spPr>
              <a:xfrm>
                <a:off x="8832304" y="4579525"/>
                <a:ext cx="853601" cy="853601"/>
              </a:xfrm>
              <a:prstGeom prst="rect">
                <a:avLst/>
              </a:prstGeom>
            </p:spPr>
          </p:pic>
          <p:sp>
            <p:nvSpPr>
              <p:cNvPr id="78" name="TextBox 77">
                <a:extLst>
                  <a:ext uri="{FF2B5EF4-FFF2-40B4-BE49-F238E27FC236}">
                    <a16:creationId xmlns:a16="http://schemas.microsoft.com/office/drawing/2014/main" id="{EF9648AC-7605-8925-6138-08F22B22933A}"/>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83" name="Picture 82">
                <a:extLst>
                  <a:ext uri="{FF2B5EF4-FFF2-40B4-BE49-F238E27FC236}">
                    <a16:creationId xmlns:a16="http://schemas.microsoft.com/office/drawing/2014/main" id="{575E6EBE-3842-08D4-B4ED-0EEAD3CE362F}"/>
                  </a:ext>
                </a:extLst>
              </p:cNvPr>
              <p:cNvPicPr>
                <a:picLocks noChangeAspect="1"/>
              </p:cNvPicPr>
              <p:nvPr/>
            </p:nvPicPr>
            <p:blipFill>
              <a:blip r:embed="rId7"/>
              <a:stretch>
                <a:fillRect/>
              </a:stretch>
            </p:blipFill>
            <p:spPr>
              <a:xfrm>
                <a:off x="9408368" y="4579525"/>
                <a:ext cx="853601" cy="853601"/>
              </a:xfrm>
              <a:prstGeom prst="rect">
                <a:avLst/>
              </a:prstGeom>
            </p:spPr>
          </p:pic>
        </p:grpSp>
        <p:grpSp>
          <p:nvGrpSpPr>
            <p:cNvPr id="67" name="Group 66">
              <a:extLst>
                <a:ext uri="{FF2B5EF4-FFF2-40B4-BE49-F238E27FC236}">
                  <a16:creationId xmlns:a16="http://schemas.microsoft.com/office/drawing/2014/main" id="{4AB3CB21-0080-CEB6-ADCB-AB2D3DB70B2E}"/>
                </a:ext>
              </a:extLst>
            </p:cNvPr>
            <p:cNvGrpSpPr/>
            <p:nvPr/>
          </p:nvGrpSpPr>
          <p:grpSpPr>
            <a:xfrm>
              <a:off x="4806138" y="4205637"/>
              <a:ext cx="1413711" cy="1238146"/>
              <a:chOff x="4806138" y="4205637"/>
              <a:chExt cx="1413711" cy="1238146"/>
            </a:xfrm>
          </p:grpSpPr>
          <p:sp>
            <p:nvSpPr>
              <p:cNvPr id="73" name="TextBox 72">
                <a:extLst>
                  <a:ext uri="{FF2B5EF4-FFF2-40B4-BE49-F238E27FC236}">
                    <a16:creationId xmlns:a16="http://schemas.microsoft.com/office/drawing/2014/main" id="{9870EEBF-EFC5-E9D1-9931-2954E89352F0}"/>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74" name="Picture 73">
                <a:extLst>
                  <a:ext uri="{FF2B5EF4-FFF2-40B4-BE49-F238E27FC236}">
                    <a16:creationId xmlns:a16="http://schemas.microsoft.com/office/drawing/2014/main" id="{5D5CA46A-712E-E0E8-373F-F05559DAC722}"/>
                  </a:ext>
                </a:extLst>
              </p:cNvPr>
              <p:cNvPicPr>
                <a:picLocks noChangeAspect="1"/>
              </p:cNvPicPr>
              <p:nvPr/>
            </p:nvPicPr>
            <p:blipFill>
              <a:blip r:embed="rId8"/>
              <a:stretch>
                <a:fillRect/>
              </a:stretch>
            </p:blipFill>
            <p:spPr>
              <a:xfrm>
                <a:off x="4806138" y="4591317"/>
                <a:ext cx="852466" cy="852466"/>
              </a:xfrm>
              <a:prstGeom prst="rect">
                <a:avLst/>
              </a:prstGeom>
            </p:spPr>
          </p:pic>
          <p:pic>
            <p:nvPicPr>
              <p:cNvPr id="75" name="Picture 74">
                <a:extLst>
                  <a:ext uri="{FF2B5EF4-FFF2-40B4-BE49-F238E27FC236}">
                    <a16:creationId xmlns:a16="http://schemas.microsoft.com/office/drawing/2014/main" id="{73478794-7B57-F6DC-084D-5247F76BEF8B}"/>
                  </a:ext>
                </a:extLst>
              </p:cNvPr>
              <p:cNvPicPr>
                <a:picLocks noChangeAspect="1"/>
              </p:cNvPicPr>
              <p:nvPr/>
            </p:nvPicPr>
            <p:blipFill>
              <a:blip r:embed="rId8"/>
              <a:stretch>
                <a:fillRect/>
              </a:stretch>
            </p:blipFill>
            <p:spPr>
              <a:xfrm>
                <a:off x="5365721" y="4591317"/>
                <a:ext cx="852466" cy="852466"/>
              </a:xfrm>
              <a:prstGeom prst="rect">
                <a:avLst/>
              </a:prstGeom>
            </p:spPr>
          </p:pic>
        </p:grpSp>
        <p:grpSp>
          <p:nvGrpSpPr>
            <p:cNvPr id="68" name="Group 67">
              <a:extLst>
                <a:ext uri="{FF2B5EF4-FFF2-40B4-BE49-F238E27FC236}">
                  <a16:creationId xmlns:a16="http://schemas.microsoft.com/office/drawing/2014/main" id="{C3D920A6-8D07-7438-5B2E-EBAD2FEEFE79}"/>
                </a:ext>
              </a:extLst>
            </p:cNvPr>
            <p:cNvGrpSpPr/>
            <p:nvPr/>
          </p:nvGrpSpPr>
          <p:grpSpPr>
            <a:xfrm>
              <a:off x="6668856" y="4205993"/>
              <a:ext cx="1632422" cy="1227133"/>
              <a:chOff x="6668856" y="4205993"/>
              <a:chExt cx="1632422" cy="1227133"/>
            </a:xfrm>
          </p:grpSpPr>
          <p:sp>
            <p:nvSpPr>
              <p:cNvPr id="69" name="TextBox 68">
                <a:extLst>
                  <a:ext uri="{FF2B5EF4-FFF2-40B4-BE49-F238E27FC236}">
                    <a16:creationId xmlns:a16="http://schemas.microsoft.com/office/drawing/2014/main" id="{AF204832-9B9C-DD3D-AA80-A5C47C6C646C}"/>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71" name="Picture 70">
                <a:extLst>
                  <a:ext uri="{FF2B5EF4-FFF2-40B4-BE49-F238E27FC236}">
                    <a16:creationId xmlns:a16="http://schemas.microsoft.com/office/drawing/2014/main" id="{2541E6A4-E555-FF9C-408F-7C80D1933E4D}"/>
                  </a:ext>
                </a:extLst>
              </p:cNvPr>
              <p:cNvPicPr>
                <a:picLocks noChangeAspect="1"/>
              </p:cNvPicPr>
              <p:nvPr/>
            </p:nvPicPr>
            <p:blipFill>
              <a:blip r:embed="rId9"/>
              <a:stretch>
                <a:fillRect/>
              </a:stretch>
            </p:blipFill>
            <p:spPr>
              <a:xfrm>
                <a:off x="6668856" y="4580660"/>
                <a:ext cx="852466" cy="852466"/>
              </a:xfrm>
              <a:prstGeom prst="rect">
                <a:avLst/>
              </a:prstGeom>
            </p:spPr>
          </p:pic>
          <p:pic>
            <p:nvPicPr>
              <p:cNvPr id="72" name="Picture 71">
                <a:extLst>
                  <a:ext uri="{FF2B5EF4-FFF2-40B4-BE49-F238E27FC236}">
                    <a16:creationId xmlns:a16="http://schemas.microsoft.com/office/drawing/2014/main" id="{D6D1D1A4-435F-E61A-E304-876769F8AFDD}"/>
                  </a:ext>
                </a:extLst>
              </p:cNvPr>
              <p:cNvPicPr>
                <a:picLocks noChangeAspect="1"/>
              </p:cNvPicPr>
              <p:nvPr/>
            </p:nvPicPr>
            <p:blipFill>
              <a:blip r:embed="rId9"/>
              <a:stretch>
                <a:fillRect/>
              </a:stretch>
            </p:blipFill>
            <p:spPr>
              <a:xfrm>
                <a:off x="7281430" y="4579525"/>
                <a:ext cx="852466" cy="852466"/>
              </a:xfrm>
              <a:prstGeom prst="rect">
                <a:avLst/>
              </a:prstGeom>
            </p:spPr>
          </p:pic>
        </p:grpSp>
      </p:grpSp>
      <p:pic>
        <p:nvPicPr>
          <p:cNvPr id="84" name="Picture 83">
            <a:extLst>
              <a:ext uri="{FF2B5EF4-FFF2-40B4-BE49-F238E27FC236}">
                <a16:creationId xmlns:a16="http://schemas.microsoft.com/office/drawing/2014/main" id="{FDBC2396-F485-D03A-83C8-68A8F4408295}"/>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85" name="Picture 84">
            <a:extLst>
              <a:ext uri="{FF2B5EF4-FFF2-40B4-BE49-F238E27FC236}">
                <a16:creationId xmlns:a16="http://schemas.microsoft.com/office/drawing/2014/main" id="{7C9AC920-6D4B-DAF8-AF0D-CAECCD948BAB}"/>
              </a:ext>
            </a:extLst>
          </p:cNvPr>
          <p:cNvPicPr>
            <a:picLocks noChangeAspect="1"/>
          </p:cNvPicPr>
          <p:nvPr/>
        </p:nvPicPr>
        <p:blipFill>
          <a:blip r:embed="rId10"/>
          <a:stretch>
            <a:fillRect/>
          </a:stretch>
        </p:blipFill>
        <p:spPr>
          <a:xfrm>
            <a:off x="8101397" y="893908"/>
            <a:ext cx="1733771" cy="1733771"/>
          </a:xfrm>
          <a:prstGeom prst="rect">
            <a:avLst/>
          </a:prstGeom>
        </p:spPr>
      </p:pic>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sp>
        <p:nvSpPr>
          <p:cNvPr id="3" name="TextBox 2">
            <a:extLst>
              <a:ext uri="{FF2B5EF4-FFF2-40B4-BE49-F238E27FC236}">
                <a16:creationId xmlns:a16="http://schemas.microsoft.com/office/drawing/2014/main" id="{18BC0B6E-3E9F-87F3-7072-91069E026D5D}"/>
              </a:ext>
            </a:extLst>
          </p:cNvPr>
          <p:cNvSpPr txBox="1"/>
          <p:nvPr/>
        </p:nvSpPr>
        <p:spPr>
          <a:xfrm>
            <a:off x="720000" y="1350000"/>
            <a:ext cx="5326809" cy="2751692"/>
          </a:xfrm>
          <a:prstGeom prst="rect">
            <a:avLst/>
          </a:prstGeom>
          <a:noFill/>
          <a:ln w="25400">
            <a:noFill/>
          </a:ln>
        </p:spPr>
        <p:txBody>
          <a:bodyPr wrap="square" lIns="180000" tIns="90000" rIns="90000" bIns="90000" rtlCol="0">
            <a:spAutoFit/>
          </a:bodyPr>
          <a:lstStyle/>
          <a:p>
            <a:pPr>
              <a:spcBef>
                <a:spcPts val="750"/>
              </a:spcBef>
              <a:spcAft>
                <a:spcPts val="1000"/>
              </a:spcAft>
            </a:pPr>
            <a:r>
              <a:rPr lang="en-US" sz="2200" b="1" dirty="0"/>
              <a:t>Open OnDemand</a:t>
            </a:r>
            <a:endParaRPr lang="en-US" sz="2200" dirty="0"/>
          </a:p>
          <a:p>
            <a:pPr marL="324000" indent="-324000">
              <a:spcBef>
                <a:spcPts val="750"/>
              </a:spcBef>
              <a:buBlip>
                <a:blip r:embed="rId3"/>
              </a:buBlip>
            </a:pPr>
            <a:r>
              <a:rPr lang="en-US" sz="2200" dirty="0"/>
              <a:t>Web-based login via your browser</a:t>
            </a:r>
          </a:p>
          <a:p>
            <a:pPr marL="324000" indent="-324000">
              <a:spcBef>
                <a:spcPts val="750"/>
              </a:spcBef>
              <a:buBlip>
                <a:blip r:embed="rId3"/>
              </a:buBlip>
            </a:pPr>
            <a:r>
              <a:rPr lang="en-US" sz="2200" dirty="0">
                <a:hlinkClick r:id="rId4"/>
              </a:rPr>
              <a:t>https://ondemand.hpc.kuleuven.be</a:t>
            </a:r>
            <a:endParaRPr lang="en-US" sz="2200" dirty="0"/>
          </a:p>
          <a:p>
            <a:pPr marL="324000" indent="-324000">
              <a:spcBef>
                <a:spcPts val="750"/>
              </a:spcBef>
              <a:buBlip>
                <a:blip r:embed="rId3"/>
              </a:buBlip>
            </a:pPr>
            <a:r>
              <a:rPr lang="en-US" sz="2200" dirty="0"/>
              <a:t>Multi-Factor Authentication (MFA):</a:t>
            </a:r>
            <a:br>
              <a:rPr lang="en-US" sz="2200" dirty="0"/>
            </a:br>
            <a:r>
              <a:rPr lang="en-US" sz="2200" dirty="0"/>
              <a:t>Login through your institute’s IDP</a:t>
            </a:r>
          </a:p>
          <a:p>
            <a:pPr marL="324000" indent="-324000">
              <a:spcBef>
                <a:spcPts val="750"/>
              </a:spcBef>
              <a:buBlip>
                <a:blip r:embed="rId3"/>
              </a:buBlip>
            </a:pPr>
            <a:r>
              <a:rPr lang="en-US" sz="2200" dirty="0"/>
              <a:t>No SSH key needed</a:t>
            </a:r>
          </a:p>
        </p:txBody>
      </p:sp>
      <p:sp>
        <p:nvSpPr>
          <p:cNvPr id="13" name="TextBox 12">
            <a:extLst>
              <a:ext uri="{FF2B5EF4-FFF2-40B4-BE49-F238E27FC236}">
                <a16:creationId xmlns:a16="http://schemas.microsoft.com/office/drawing/2014/main" id="{0E63CDFE-B044-D3CC-AD87-02C2135B0177}"/>
              </a:ext>
            </a:extLst>
          </p:cNvPr>
          <p:cNvSpPr txBox="1"/>
          <p:nvPr/>
        </p:nvSpPr>
        <p:spPr>
          <a:xfrm>
            <a:off x="5950800" y="1350000"/>
            <a:ext cx="5689816" cy="4105909"/>
          </a:xfrm>
          <a:prstGeom prst="rect">
            <a:avLst/>
          </a:prstGeom>
          <a:noFill/>
          <a:ln w="25400">
            <a:noFill/>
          </a:ln>
        </p:spPr>
        <p:txBody>
          <a:bodyPr wrap="square" lIns="180000" tIns="90000" bIns="90000" rtlCol="0">
            <a:spAutoFit/>
          </a:bodyPr>
          <a:lstStyle/>
          <a:p>
            <a:pPr>
              <a:spcBef>
                <a:spcPts val="750"/>
              </a:spcBef>
              <a:spcAft>
                <a:spcPts val="1000"/>
              </a:spcAft>
            </a:pPr>
            <a:r>
              <a:rPr lang="en-US" sz="2200" b="1" dirty="0"/>
              <a:t>SSH client</a:t>
            </a:r>
          </a:p>
          <a:p>
            <a:pPr marL="324000" indent="-324000">
              <a:spcBef>
                <a:spcPts val="750"/>
              </a:spcBef>
              <a:buBlip>
                <a:blip r:embed="rId3"/>
              </a:buBlip>
            </a:pPr>
            <a:r>
              <a:rPr lang="en-US" sz="2200" dirty="0"/>
              <a:t>Windows: </a:t>
            </a:r>
            <a:r>
              <a:rPr lang="en-US" sz="2200" dirty="0">
                <a:hlinkClick r:id="rId5"/>
              </a:rPr>
              <a:t>PuTTY</a:t>
            </a:r>
            <a:r>
              <a:rPr lang="en-US" sz="2200" dirty="0"/>
              <a:t>, </a:t>
            </a:r>
            <a:r>
              <a:rPr lang="en-US" sz="2200" dirty="0">
                <a:hlinkClick r:id="rId6"/>
              </a:rPr>
              <a:t>MobaXterm</a:t>
            </a:r>
            <a:r>
              <a:rPr lang="en-US" sz="2200" dirty="0"/>
              <a:t>, …</a:t>
            </a:r>
            <a:br>
              <a:rPr lang="en-US" sz="2200" dirty="0"/>
            </a:br>
            <a:r>
              <a:rPr lang="en-US" sz="2200" dirty="0"/>
              <a:t>MacOS/Linux: any terminal</a:t>
            </a:r>
          </a:p>
          <a:p>
            <a:pPr marL="324000" indent="-324000">
              <a:spcBef>
                <a:spcPts val="750"/>
              </a:spcBef>
              <a:buBlip>
                <a:blip r:embed="rId3"/>
              </a:buBlip>
            </a:pPr>
            <a:r>
              <a:rPr lang="en-US" sz="2200" dirty="0"/>
              <a:t>Hosts: login.hpc.kuleuven.be:22</a:t>
            </a:r>
            <a:br>
              <a:rPr lang="en-US" sz="2200" dirty="0"/>
            </a:br>
            <a:r>
              <a:rPr lang="en-US" sz="2200" dirty="0"/>
              <a:t>Recommended to use an </a:t>
            </a:r>
            <a:r>
              <a:rPr lang="en-US" sz="2200" dirty="0">
                <a:hlinkClick r:id="rId7"/>
              </a:rPr>
              <a:t>SSH agent</a:t>
            </a:r>
            <a:endParaRPr lang="en-US" sz="2200" dirty="0"/>
          </a:p>
          <a:p>
            <a:pPr marL="324000" indent="-324000">
              <a:spcBef>
                <a:spcPts val="750"/>
              </a:spcBef>
              <a:buBlip>
                <a:blip r:embed="rId3"/>
              </a:buBlip>
            </a:pPr>
            <a:r>
              <a:rPr lang="en-US" sz="2200" dirty="0"/>
              <a:t>Can open GUIs if X11 forwarding is enabled</a:t>
            </a:r>
          </a:p>
          <a:p>
            <a:pPr marL="324000" indent="-324000">
              <a:spcBef>
                <a:spcPts val="750"/>
              </a:spcBef>
              <a:buBlip>
                <a:blip r:embed="rId3"/>
              </a:buBlip>
            </a:pPr>
            <a:r>
              <a:rPr lang="en-US" sz="2200" dirty="0"/>
              <a:t>[Optional] for VSC clusters not hosted at KU Leuven you need an </a:t>
            </a:r>
            <a:r>
              <a:rPr lang="en-US" sz="2200" dirty="0">
                <a:hlinkClick r:id="rId8"/>
              </a:rPr>
              <a:t>(open)SSH key pair </a:t>
            </a:r>
            <a:r>
              <a:rPr lang="en-US" sz="2200" dirty="0"/>
              <a:t>(upload the public key to the VSC account page and wait ≥ 30mins)</a:t>
            </a:r>
          </a:p>
        </p:txBody>
      </p:sp>
    </p:spTree>
    <p:custDataLst>
      <p:tags r:id="rId1"/>
    </p:custDataLst>
    <p:extLst>
      <p:ext uri="{BB962C8B-B14F-4D97-AF65-F5344CB8AC3E}">
        <p14:creationId xmlns:p14="http://schemas.microsoft.com/office/powerpoint/2010/main" val="1324385224"/>
      </p:ext>
    </p:extLst>
  </p:cSld>
  <p:clrMapOvr>
    <a:masterClrMapping/>
  </p:clrMapOvr>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
        <p:nvSpPr>
          <p:cNvPr id="8" name="Content Placeholder 3">
            <a:extLst>
              <a:ext uri="{FF2B5EF4-FFF2-40B4-BE49-F238E27FC236}">
                <a16:creationId xmlns:a16="http://schemas.microsoft.com/office/drawing/2014/main" id="{2CE64CF8-4B73-171E-9B69-4BD8A284CA8B}"/>
              </a:ext>
            </a:extLst>
          </p:cNvPr>
          <p:cNvSpPr txBox="1">
            <a:spLocks/>
          </p:cNvSpPr>
          <p:nvPr/>
        </p:nvSpPr>
        <p:spPr>
          <a:xfrm>
            <a:off x="720000" y="1349999"/>
            <a:ext cx="11112000" cy="359116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To develop code</a:t>
            </a:r>
          </a:p>
          <a:p>
            <a:pPr marL="324000" indent="-324000">
              <a:buBlip>
                <a:blip r:embed="rId3"/>
              </a:buBlip>
            </a:pPr>
            <a:r>
              <a:rPr lang="en-US" sz="2200" dirty="0"/>
              <a:t>To check your storage and credit balance</a:t>
            </a:r>
          </a:p>
          <a:p>
            <a:pPr marL="324000" indent="-324000">
              <a:buBlip>
                <a:blip r:embed="rId3"/>
              </a:buBlip>
            </a:pPr>
            <a:r>
              <a:rPr lang="en-US" sz="2200" dirty="0"/>
              <a:t>To manage jobs (submit, check status, debug, resubmit, …)</a:t>
            </a:r>
          </a:p>
          <a:p>
            <a:pPr marL="324000" indent="-324000">
              <a:buBlip>
                <a:blip r:embed="rId3"/>
              </a:buBlip>
            </a:pPr>
            <a:r>
              <a:rPr lang="en-US" sz="2200" dirty="0"/>
              <a:t>To move data around</a:t>
            </a:r>
          </a:p>
          <a:p>
            <a:pPr lvl="1">
              <a:buClr>
                <a:srgbClr val="DB6C30"/>
              </a:buClr>
            </a:pPr>
            <a:r>
              <a:rPr lang="en-US" sz="1900" dirty="0"/>
              <a:t>within VSC: data, scratch, project</a:t>
            </a:r>
          </a:p>
          <a:p>
            <a:pPr lvl="1">
              <a:buClr>
                <a:srgbClr val="DB6C30"/>
              </a:buClr>
            </a:pPr>
            <a:r>
              <a:rPr lang="en-US" sz="1900" dirty="0"/>
              <a:t>outside VSC: copy/sync from/to your local storage (e.g. Globus)</a:t>
            </a:r>
          </a:p>
          <a:p>
            <a:pPr marL="324000" indent="-324000">
              <a:buBlip>
                <a:blip r:embed="rId3"/>
              </a:buBlip>
            </a:pPr>
            <a:r>
              <a:rPr lang="en-US" sz="2200" dirty="0"/>
              <a:t>To pre- or postprocess your data</a:t>
            </a:r>
          </a:p>
          <a:p>
            <a:pPr marL="324000" indent="-324000">
              <a:buBlip>
                <a:blip r:embed="rId3"/>
              </a:buBlip>
            </a:pPr>
            <a:r>
              <a:rPr lang="en-US" sz="2200" dirty="0"/>
              <a:t>To visualize your data</a:t>
            </a:r>
          </a:p>
          <a:p>
            <a:pPr marL="324000" indent="-324000">
              <a:buBlip>
                <a:blip r:embed="rId3"/>
              </a:buBlip>
            </a:pPr>
            <a:r>
              <a:rPr lang="en-US" sz="2200" dirty="0"/>
              <a:t>To share files and folders</a:t>
            </a:r>
          </a:p>
        </p:txBody>
      </p:sp>
      <p:grpSp>
        <p:nvGrpSpPr>
          <p:cNvPr id="17" name="Group 16">
            <a:extLst>
              <a:ext uri="{FF2B5EF4-FFF2-40B4-BE49-F238E27FC236}">
                <a16:creationId xmlns:a16="http://schemas.microsoft.com/office/drawing/2014/main" id="{C603C3FC-ECBD-11DF-8FDC-DD94187F4BA9}"/>
              </a:ext>
            </a:extLst>
          </p:cNvPr>
          <p:cNvGrpSpPr/>
          <p:nvPr/>
        </p:nvGrpSpPr>
        <p:grpSpPr>
          <a:xfrm>
            <a:off x="719999" y="4571394"/>
            <a:ext cx="6594179" cy="1618936"/>
            <a:chOff x="2561327" y="5047052"/>
            <a:chExt cx="6594179" cy="1618936"/>
          </a:xfrm>
        </p:grpSpPr>
        <p:sp>
          <p:nvSpPr>
            <p:cNvPr id="18" name="TextBox 17">
              <a:extLst>
                <a:ext uri="{FF2B5EF4-FFF2-40B4-BE49-F238E27FC236}">
                  <a16:creationId xmlns:a16="http://schemas.microsoft.com/office/drawing/2014/main" id="{5D796991-1D97-6C5C-75BF-5B3DBAF71ED9}"/>
                </a:ext>
              </a:extLst>
            </p:cNvPr>
            <p:cNvSpPr txBox="1"/>
            <p:nvPr/>
          </p:nvSpPr>
          <p:spPr>
            <a:xfrm>
              <a:off x="2561327" y="5557992"/>
              <a:ext cx="6525517" cy="1107996"/>
            </a:xfrm>
            <a:prstGeom prst="rect">
              <a:avLst/>
            </a:prstGeom>
            <a:noFill/>
            <a:ln w="38100">
              <a:solidFill>
                <a:srgbClr val="FF0000"/>
              </a:solidFill>
            </a:ln>
          </p:spPr>
          <p:txBody>
            <a:bodyPr wrap="square" rtlCol="0">
              <a:spAutoFit/>
            </a:bodyPr>
            <a:lstStyle/>
            <a:p>
              <a:r>
                <a:rPr lang="en-US" sz="2200" b="1" dirty="0">
                  <a:solidFill>
                    <a:srgbClr val="FF0000"/>
                  </a:solidFill>
                </a:rPr>
                <a:t>Do NOT execute CPU- or memory-intensive tasks here</a:t>
              </a:r>
            </a:p>
            <a:p>
              <a:r>
                <a:rPr lang="en-US" sz="2200" dirty="0"/>
                <a:t>Login nodes are shared resources. Submit jobs instead!</a:t>
              </a:r>
            </a:p>
            <a:p>
              <a:r>
                <a:rPr lang="en-US" sz="2200" dirty="0"/>
                <a:t>Use </a:t>
              </a:r>
              <a:r>
                <a:rPr lang="en-US" sz="2200" dirty="0" err="1">
                  <a:latin typeface="Courier New" panose="02070309020205020404" pitchFamily="49" charset="0"/>
                  <a:cs typeface="Courier New" panose="02070309020205020404" pitchFamily="49" charset="0"/>
                </a:rPr>
                <a:t>slurmtop</a:t>
              </a:r>
              <a:r>
                <a:rPr lang="en-US" sz="2200" dirty="0">
                  <a:latin typeface="Courier New" panose="02070309020205020404" pitchFamily="49" charset="0"/>
                  <a:cs typeface="Courier New" panose="02070309020205020404" pitchFamily="49" charset="0"/>
                </a:rPr>
                <a:t> </a:t>
              </a:r>
              <a:r>
                <a:rPr lang="en-US" sz="2200" dirty="0"/>
                <a:t>to see how busy the cluster is.</a:t>
              </a:r>
            </a:p>
          </p:txBody>
        </p:sp>
        <p:pic>
          <p:nvPicPr>
            <p:cNvPr id="19" name="Picture 18">
              <a:extLst>
                <a:ext uri="{FF2B5EF4-FFF2-40B4-BE49-F238E27FC236}">
                  <a16:creationId xmlns:a16="http://schemas.microsoft.com/office/drawing/2014/main" id="{8FD9DB74-0642-6AFF-F88F-B85C0204A656}"/>
                </a:ext>
              </a:extLst>
            </p:cNvPr>
            <p:cNvPicPr>
              <a:picLocks noChangeAspect="1"/>
            </p:cNvPicPr>
            <p:nvPr/>
          </p:nvPicPr>
          <p:blipFill>
            <a:blip r:embed="rId4"/>
            <a:stretch>
              <a:fillRect/>
            </a:stretch>
          </p:blipFill>
          <p:spPr>
            <a:xfrm>
              <a:off x="8628942" y="5047052"/>
              <a:ext cx="526564" cy="526564"/>
            </a:xfrm>
            <a:prstGeom prst="rect">
              <a:avLst/>
            </a:prstGeom>
          </p:spPr>
        </p:pic>
      </p:gr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6" name="Content Placeholder 3">
            <a:extLst>
              <a:ext uri="{FF2B5EF4-FFF2-40B4-BE49-F238E27FC236}">
                <a16:creationId xmlns:a16="http://schemas.microsoft.com/office/drawing/2014/main" id="{9CB4CA3D-524D-BDD1-17A0-6586A9C0D7AE}"/>
              </a:ext>
            </a:extLst>
          </p:cNvPr>
          <p:cNvSpPr txBox="1">
            <a:spLocks/>
          </p:cNvSpPr>
          <p:nvPr/>
        </p:nvSpPr>
        <p:spPr>
          <a:xfrm>
            <a:off x="720000" y="1350000"/>
            <a:ext cx="11112000" cy="3860353"/>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(Windows </a:t>
            </a:r>
            <a:r>
              <a:rPr lang="en-US" sz="2200" b="1" dirty="0" err="1"/>
              <a:t>Powershell</a:t>
            </a:r>
            <a:r>
              <a:rPr lang="en-US" sz="2200" b="1" dirty="0"/>
              <a:t>, WSL, Linux and Mac)</a:t>
            </a:r>
          </a:p>
          <a:p>
            <a:pPr marL="0" indent="0">
              <a:buNone/>
            </a:pPr>
            <a:endParaRPr lang="en-US" sz="2000" dirty="0"/>
          </a:p>
          <a:p>
            <a:pPr marL="324000" indent="-324000">
              <a:buBlip>
                <a:blip r:embed="rId3"/>
              </a:buBlip>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p>
          <a:p>
            <a:pPr marL="0" indent="0">
              <a:buNone/>
            </a:pPr>
            <a:endParaRPr lang="en-US" sz="2000" dirty="0">
              <a:latin typeface="Courier New" panose="02070309020205020404" pitchFamily="49" charset="0"/>
              <a:cs typeface="Courier New" panose="02070309020205020404" pitchFamily="49" charset="0"/>
            </a:endParaRPr>
          </a:p>
          <a:p>
            <a:pPr marL="324000" indent="-324000">
              <a:buBlip>
                <a:blip r:embed="rId3"/>
              </a:buBlip>
            </a:pP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vscXXXXX@login.hpc.kuleuven.be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-A: for agent key forwarding</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-X: to enable X11 forwarding</a:t>
            </a:r>
            <a:br>
              <a:rPr lang="en-US" sz="2000" dirty="0"/>
            </a:br>
            <a:endParaRPr lang="en-US" sz="2000" dirty="0"/>
          </a:p>
        </p:txBody>
      </p:sp>
      <p:pic>
        <p:nvPicPr>
          <p:cNvPr id="10" name="Picture 9">
            <a:extLst>
              <a:ext uri="{FF2B5EF4-FFF2-40B4-BE49-F238E27FC236}">
                <a16:creationId xmlns:a16="http://schemas.microsoft.com/office/drawing/2014/main" id="{0A5653A0-1F4D-668B-792B-69ED6E5B73F8}"/>
              </a:ext>
            </a:extLst>
          </p:cNvPr>
          <p:cNvPicPr>
            <a:picLocks noChangeAspect="1"/>
          </p:cNvPicPr>
          <p:nvPr/>
        </p:nvPicPr>
        <p:blipFill>
          <a:blip r:embed="rId4"/>
          <a:stretch>
            <a:fillRect/>
          </a:stretch>
        </p:blipFill>
        <p:spPr>
          <a:xfrm>
            <a:off x="7464152" y="226511"/>
            <a:ext cx="4007849" cy="2464943"/>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C3C8AFF7-110F-1906-AE13-F1BD6FB255DD}"/>
              </a:ext>
            </a:extLst>
          </p:cNvPr>
          <p:cNvPicPr>
            <a:picLocks noChangeAspect="1"/>
          </p:cNvPicPr>
          <p:nvPr/>
        </p:nvPicPr>
        <p:blipFill>
          <a:blip r:embed="rId5"/>
          <a:stretch>
            <a:fillRect/>
          </a:stretch>
        </p:blipFill>
        <p:spPr>
          <a:xfrm>
            <a:off x="7464153" y="3034800"/>
            <a:ext cx="4007848" cy="2451042"/>
          </a:xfrm>
          <a:prstGeom prst="rect">
            <a:avLst/>
          </a:prstGeom>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641F50AD-3F4B-98E4-BF2A-A489ACC4378B}"/>
              </a:ext>
            </a:extLst>
          </p:cNvPr>
          <p:cNvPicPr>
            <a:picLocks noChangeAspect="1"/>
          </p:cNvPicPr>
          <p:nvPr/>
        </p:nvPicPr>
        <p:blipFill>
          <a:blip r:embed="rId6"/>
          <a:stretch>
            <a:fillRect/>
          </a:stretch>
        </p:blipFill>
        <p:spPr>
          <a:xfrm>
            <a:off x="7464153" y="226510"/>
            <a:ext cx="4007848" cy="245925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716645972"/>
              </p:ext>
            </p:extLst>
          </p:nvPr>
        </p:nvGraphicFramePr>
        <p:xfrm>
          <a:off x="7238232" y="1441227"/>
          <a:ext cx="3902974" cy="2347815"/>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469563">
                <a:tc>
                  <a:txBody>
                    <a:bodyPr/>
                    <a:lstStyle/>
                    <a:p>
                      <a:r>
                        <a:rPr lang="en-US" sz="1800" dirty="0"/>
                        <a:t>Application</a:t>
                      </a:r>
                      <a:endParaRPr lang="nl-BE" sz="1800" dirty="0"/>
                    </a:p>
                  </a:txBody>
                  <a:tcPr/>
                </a:tc>
                <a:tc>
                  <a:txBody>
                    <a:bodyPr/>
                    <a:lstStyle/>
                    <a:p>
                      <a:r>
                        <a:rPr lang="en-US" sz="1800" dirty="0"/>
                        <a:t>OS</a:t>
                      </a:r>
                      <a:endParaRPr lang="nl-BE" sz="1800" dirty="0"/>
                    </a:p>
                  </a:txBody>
                  <a:tcPr/>
                </a:tc>
                <a:extLst>
                  <a:ext uri="{0D108BD9-81ED-4DB2-BD59-A6C34878D82A}">
                    <a16:rowId xmlns:a16="http://schemas.microsoft.com/office/drawing/2014/main" val="570025582"/>
                  </a:ext>
                </a:extLst>
              </a:tr>
              <a:tr h="469563">
                <a:tc>
                  <a:txBody>
                    <a:bodyPr/>
                    <a:lstStyle/>
                    <a:p>
                      <a:r>
                        <a:rPr lang="en-US" sz="1800" dirty="0">
                          <a:hlinkClick r:id="rId3"/>
                        </a:rPr>
                        <a:t>FileZilla</a:t>
                      </a:r>
                      <a:endParaRPr lang="nl-BE" sz="1800" dirty="0"/>
                    </a:p>
                  </a:txBody>
                  <a:tcPr/>
                </a:tc>
                <a:tc>
                  <a:txBody>
                    <a:bodyPr/>
                    <a:lstStyle/>
                    <a:p>
                      <a:r>
                        <a:rPr lang="en-US" sz="1800" dirty="0"/>
                        <a:t>Windows,</a:t>
                      </a:r>
                      <a:r>
                        <a:rPr lang="en-US" sz="1800" baseline="0" dirty="0"/>
                        <a:t> Linux, Mac</a:t>
                      </a:r>
                      <a:endParaRPr lang="nl-BE" sz="1800" dirty="0"/>
                    </a:p>
                  </a:txBody>
                  <a:tcPr/>
                </a:tc>
                <a:extLst>
                  <a:ext uri="{0D108BD9-81ED-4DB2-BD59-A6C34878D82A}">
                    <a16:rowId xmlns:a16="http://schemas.microsoft.com/office/drawing/2014/main" val="941569183"/>
                  </a:ext>
                </a:extLst>
              </a:tr>
              <a:tr h="469563">
                <a:tc>
                  <a:txBody>
                    <a:bodyPr/>
                    <a:lstStyle/>
                    <a:p>
                      <a:r>
                        <a:rPr lang="en-US" sz="1800" dirty="0" err="1">
                          <a:hlinkClick r:id="rId4"/>
                        </a:rPr>
                        <a:t>WinSCP</a:t>
                      </a:r>
                      <a:endParaRPr lang="nl-BE" sz="1800" dirty="0"/>
                    </a:p>
                  </a:txBody>
                  <a:tcPr/>
                </a:tc>
                <a:tc>
                  <a:txBody>
                    <a:bodyPr/>
                    <a:lstStyle/>
                    <a:p>
                      <a:r>
                        <a:rPr lang="en-US" sz="1800" dirty="0"/>
                        <a:t>Windows</a:t>
                      </a:r>
                      <a:endParaRPr lang="nl-BE" sz="1800" dirty="0"/>
                    </a:p>
                  </a:txBody>
                  <a:tcPr/>
                </a:tc>
                <a:extLst>
                  <a:ext uri="{0D108BD9-81ED-4DB2-BD59-A6C34878D82A}">
                    <a16:rowId xmlns:a16="http://schemas.microsoft.com/office/drawing/2014/main" val="2517790187"/>
                  </a:ext>
                </a:extLst>
              </a:tr>
              <a:tr h="469563">
                <a:tc>
                  <a:txBody>
                    <a:bodyPr/>
                    <a:lstStyle/>
                    <a:p>
                      <a:r>
                        <a:rPr lang="en-US" sz="1800" dirty="0" err="1"/>
                        <a:t>rsync</a:t>
                      </a:r>
                      <a:r>
                        <a:rPr lang="en-US" sz="1800" dirty="0"/>
                        <a:t>,</a:t>
                      </a:r>
                      <a:r>
                        <a:rPr lang="en-US" sz="1800" baseline="0" dirty="0"/>
                        <a:t> </a:t>
                      </a:r>
                      <a:r>
                        <a:rPr lang="en-US" sz="1800" baseline="0" dirty="0" err="1"/>
                        <a:t>scp</a:t>
                      </a:r>
                      <a:endParaRPr lang="nl-BE" sz="1800" dirty="0"/>
                    </a:p>
                  </a:txBody>
                  <a:tcPr/>
                </a:tc>
                <a:tc>
                  <a:txBody>
                    <a:bodyPr/>
                    <a:lstStyle/>
                    <a:p>
                      <a:r>
                        <a:rPr lang="en-US" sz="1800" dirty="0"/>
                        <a:t>Linux, Mac</a:t>
                      </a:r>
                      <a:endParaRPr lang="nl-BE" sz="1800" dirty="0"/>
                    </a:p>
                  </a:txBody>
                  <a:tcPr/>
                </a:tc>
                <a:extLst>
                  <a:ext uri="{0D108BD9-81ED-4DB2-BD59-A6C34878D82A}">
                    <a16:rowId xmlns:a16="http://schemas.microsoft.com/office/drawing/2014/main" val="1414451379"/>
                  </a:ext>
                </a:extLst>
              </a:tr>
              <a:tr h="469563">
                <a:tc>
                  <a:txBody>
                    <a:bodyPr/>
                    <a:lstStyle/>
                    <a:p>
                      <a:r>
                        <a:rPr lang="en-US" sz="1800" dirty="0">
                          <a:hlinkClick r:id="rId5"/>
                        </a:rPr>
                        <a:t>Globus</a:t>
                      </a:r>
                      <a:endParaRPr lang="nl-BE" sz="1800" dirty="0"/>
                    </a:p>
                  </a:txBody>
                  <a:tcPr/>
                </a:tc>
                <a:tc>
                  <a:txBody>
                    <a:bodyPr/>
                    <a:lstStyle/>
                    <a:p>
                      <a:r>
                        <a:rPr lang="en-US" sz="1800" dirty="0"/>
                        <a:t>Window, Linux, Mac</a:t>
                      </a:r>
                      <a:endParaRPr lang="nl-BE" sz="1800" dirty="0"/>
                    </a:p>
                  </a:txBody>
                  <a:tcPr/>
                </a:tc>
                <a:extLst>
                  <a:ext uri="{0D108BD9-81ED-4DB2-BD59-A6C34878D82A}">
                    <a16:rowId xmlns:a16="http://schemas.microsoft.com/office/drawing/2014/main" val="2195651994"/>
                  </a:ext>
                </a:extLst>
              </a:tr>
            </a:tbl>
          </a:graphicData>
        </a:graphic>
      </p:graphicFrame>
      <p:grpSp>
        <p:nvGrpSpPr>
          <p:cNvPr id="3" name="Group 2">
            <a:extLst>
              <a:ext uri="{FF2B5EF4-FFF2-40B4-BE49-F238E27FC236}">
                <a16:creationId xmlns:a16="http://schemas.microsoft.com/office/drawing/2014/main" id="{7411664F-095E-A46C-FBEC-414316A112CB}"/>
              </a:ext>
            </a:extLst>
          </p:cNvPr>
          <p:cNvGrpSpPr/>
          <p:nvPr/>
        </p:nvGrpSpPr>
        <p:grpSpPr>
          <a:xfrm>
            <a:off x="720000" y="1441228"/>
            <a:ext cx="5839746" cy="4404766"/>
            <a:chOff x="195210" y="1441228"/>
            <a:chExt cx="5839746" cy="4404766"/>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3"/>
          <a:srcRect l="2224" t="6514" r="41926" b="2407"/>
          <a:stretch/>
        </p:blipFill>
        <p:spPr>
          <a:xfrm>
            <a:off x="6256735" y="1286929"/>
            <a:ext cx="5555550" cy="4158295"/>
          </a:xfrm>
          <a:prstGeom prst="rect">
            <a:avLst/>
          </a:prstGeom>
        </p:spPr>
      </p:pic>
      <p:sp>
        <p:nvSpPr>
          <p:cNvPr id="3" name="Content Placeholder 3">
            <a:extLst>
              <a:ext uri="{FF2B5EF4-FFF2-40B4-BE49-F238E27FC236}">
                <a16:creationId xmlns:a16="http://schemas.microsoft.com/office/drawing/2014/main" id="{FD248FC2-3226-A9D7-E057-E5638CB9FEC9}"/>
              </a:ext>
            </a:extLst>
          </p:cNvPr>
          <p:cNvSpPr txBox="1">
            <a:spLocks/>
          </p:cNvSpPr>
          <p:nvPr/>
        </p:nvSpPr>
        <p:spPr>
          <a:xfrm>
            <a:off x="720000" y="1349999"/>
            <a:ext cx="5376000" cy="48153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Web interface for transferring, sharing and searching within data</a:t>
            </a:r>
          </a:p>
          <a:p>
            <a:pPr marL="324000" indent="-324000">
              <a:buBlip>
                <a:blip r:embed="rId4"/>
              </a:buBlip>
            </a:pPr>
            <a:r>
              <a:rPr lang="en-US" sz="2200" dirty="0"/>
              <a:t>Schedule and resume (large) transfers</a:t>
            </a:r>
          </a:p>
          <a:p>
            <a:pPr marL="324000" indent="-324000">
              <a:buBlip>
                <a:blip r:embed="rId4"/>
              </a:buBlip>
            </a:pPr>
            <a:r>
              <a:rPr lang="en-US" sz="2200" dirty="0"/>
              <a:t>Workflow:</a:t>
            </a:r>
          </a:p>
          <a:p>
            <a:pPr lvl="1">
              <a:buClr>
                <a:srgbClr val="DB6C30"/>
              </a:buClr>
            </a:pPr>
            <a:r>
              <a:rPr lang="en-US" sz="1900" dirty="0"/>
              <a:t>Define “endpoint” on the source</a:t>
            </a:r>
          </a:p>
          <a:p>
            <a:pPr lvl="1">
              <a:buClr>
                <a:srgbClr val="DB6C30"/>
              </a:buClr>
            </a:pPr>
            <a:r>
              <a:rPr lang="en-US" sz="1900" dirty="0"/>
              <a:t>Define “endpoint” on the destination</a:t>
            </a:r>
          </a:p>
          <a:p>
            <a:pPr lvl="1">
              <a:buClr>
                <a:srgbClr val="DB6C30"/>
              </a:buClr>
            </a:pPr>
            <a:r>
              <a:rPr lang="en-US" sz="1900" dirty="0"/>
              <a:t>Transfer between endpoints</a:t>
            </a:r>
          </a:p>
          <a:p>
            <a:pPr marL="324000" indent="-324000">
              <a:buBlip>
                <a:blip r:embed="rId4"/>
              </a:buBlip>
            </a:pPr>
            <a:r>
              <a:rPr lang="en-US" sz="2200" dirty="0"/>
              <a:t>Endpoints on all VSC sites:</a:t>
            </a:r>
          </a:p>
          <a:p>
            <a:pPr lvl="1">
              <a:buClr>
                <a:srgbClr val="DB6C30"/>
              </a:buClr>
            </a:pPr>
            <a:r>
              <a:rPr lang="en-US" sz="1900" dirty="0"/>
              <a:t>all Tier-2 clusters: home, data, scratch *</a:t>
            </a:r>
          </a:p>
          <a:p>
            <a:pPr lvl="1">
              <a:buClr>
                <a:srgbClr val="DB6C30"/>
              </a:buClr>
            </a:pPr>
            <a:r>
              <a:rPr lang="en-US" sz="1900" dirty="0"/>
              <a:t>all Tier-1 clusters: scratch, projects</a:t>
            </a:r>
          </a:p>
          <a:p>
            <a:pPr marL="0" indent="0">
              <a:buNone/>
            </a:pPr>
            <a:endParaRPr lang="en-US" sz="2200" dirty="0"/>
          </a:p>
          <a:p>
            <a:pPr marL="0" indent="0">
              <a:buNone/>
            </a:pPr>
            <a:r>
              <a:rPr lang="en-US" sz="2200" dirty="0"/>
              <a:t>* You can also access project storage   </a:t>
            </a:r>
            <a:br>
              <a:rPr lang="en-US" sz="2200" dirty="0"/>
            </a:br>
            <a:r>
              <a:rPr lang="en-US" sz="2200" dirty="0"/>
              <a:t>   through this endpoint (Leuven Tier-2 only)</a:t>
            </a:r>
          </a:p>
        </p:txBody>
      </p:sp>
    </p:spTree>
    <p:extLst>
      <p:ext uri="{BB962C8B-B14F-4D97-AF65-F5344CB8AC3E}">
        <p14:creationId xmlns:p14="http://schemas.microsoft.com/office/powerpoint/2010/main" val="41038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720000" y="1350001"/>
            <a:ext cx="5005435" cy="3015104"/>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Access clusters via your web browser</a:t>
            </a:r>
            <a:br>
              <a:rPr lang="en-US" sz="2200" dirty="0"/>
            </a:br>
            <a:r>
              <a:rPr lang="en-US" sz="2200" dirty="0">
                <a:hlinkClick r:id="rId4"/>
              </a:rPr>
              <a:t>https://ondemand.hpc.kuleuven.be</a:t>
            </a:r>
            <a:endParaRPr lang="en-US" sz="2200" dirty="0"/>
          </a:p>
          <a:p>
            <a:pPr marL="324000" indent="-324000">
              <a:buBlip>
                <a:blip r:embed="rId3"/>
              </a:buBlip>
            </a:pPr>
            <a:r>
              <a:rPr lang="en-US" sz="2200" dirty="0"/>
              <a:t>Authenticate via your institute’s IDP</a:t>
            </a:r>
          </a:p>
          <a:p>
            <a:pPr marL="324000" indent="-324000">
              <a:buBlip>
                <a:blip r:embed="rId3"/>
              </a:buBlip>
            </a:pPr>
            <a:r>
              <a:rPr lang="en-US" sz="2200" dirty="0"/>
              <a:t>File browser for home and data</a:t>
            </a:r>
          </a:p>
          <a:p>
            <a:pPr marL="324000" indent="-324000">
              <a:buBlip>
                <a:blip r:embed="rId3"/>
              </a:buBlip>
            </a:pPr>
            <a:r>
              <a:rPr lang="en-US" sz="2200" dirty="0"/>
              <a:t>Job monitor</a:t>
            </a:r>
          </a:p>
          <a:p>
            <a:pPr marL="324000" indent="-324000">
              <a:buBlip>
                <a:blip r:embed="rId3"/>
              </a:buBlip>
            </a:pPr>
            <a:r>
              <a:rPr lang="en-US" sz="2200" dirty="0"/>
              <a:t>Login shell access</a:t>
            </a:r>
          </a:p>
          <a:p>
            <a:pPr marL="324000" indent="-324000">
              <a:buBlip>
                <a:blip r:embed="rId3"/>
              </a:buBlip>
            </a:pPr>
            <a:r>
              <a:rPr lang="en-US" sz="2200" dirty="0"/>
              <a:t>Interactive Apps</a:t>
            </a:r>
            <a:endParaRPr lang="nl-BE" sz="2200"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5" name="Group 14">
            <a:extLst>
              <a:ext uri="{FF2B5EF4-FFF2-40B4-BE49-F238E27FC236}">
                <a16:creationId xmlns:a16="http://schemas.microsoft.com/office/drawing/2014/main" id="{357ACFA5-B5B3-CC1E-4765-DCF728B6E95C}"/>
              </a:ext>
            </a:extLst>
          </p:cNvPr>
          <p:cNvGrpSpPr/>
          <p:nvPr/>
        </p:nvGrpSpPr>
        <p:grpSpPr>
          <a:xfrm>
            <a:off x="719999" y="4571394"/>
            <a:ext cx="5005436" cy="1280381"/>
            <a:chOff x="4150070" y="5047052"/>
            <a:chExt cx="5005436" cy="1280381"/>
          </a:xfrm>
        </p:grpSpPr>
        <p:sp>
          <p:nvSpPr>
            <p:cNvPr id="16" name="TextBox 15">
              <a:extLst>
                <a:ext uri="{FF2B5EF4-FFF2-40B4-BE49-F238E27FC236}">
                  <a16:creationId xmlns:a16="http://schemas.microsoft.com/office/drawing/2014/main" id="{78F1FFC2-26AF-A913-647D-4F7AD70D37BA}"/>
                </a:ext>
              </a:extLst>
            </p:cNvPr>
            <p:cNvSpPr txBox="1"/>
            <p:nvPr/>
          </p:nvSpPr>
          <p:spPr>
            <a:xfrm>
              <a:off x="4150070" y="5557992"/>
              <a:ext cx="4936773" cy="769441"/>
            </a:xfrm>
            <a:prstGeom prst="rect">
              <a:avLst/>
            </a:prstGeom>
            <a:noFill/>
            <a:ln w="38100">
              <a:solidFill>
                <a:srgbClr val="FF0000"/>
              </a:solidFill>
            </a:ln>
          </p:spPr>
          <p:txBody>
            <a:bodyPr wrap="square" rtlCol="0">
              <a:spAutoFit/>
            </a:bodyPr>
            <a:lstStyle/>
            <a:p>
              <a:r>
                <a:rPr lang="en-US" sz="2200" dirty="0"/>
                <a:t>Please close your interactive sessions when you no longer actively use them!</a:t>
              </a:r>
            </a:p>
          </p:txBody>
        </p:sp>
        <p:pic>
          <p:nvPicPr>
            <p:cNvPr id="17" name="Picture 16">
              <a:extLst>
                <a:ext uri="{FF2B5EF4-FFF2-40B4-BE49-F238E27FC236}">
                  <a16:creationId xmlns:a16="http://schemas.microsoft.com/office/drawing/2014/main" id="{73F96EF9-D217-BD69-25C2-5EADA344BFB0}"/>
                </a:ext>
              </a:extLst>
            </p:cNvPr>
            <p:cNvPicPr>
              <a:picLocks noChangeAspect="1"/>
            </p:cNvPicPr>
            <p:nvPr/>
          </p:nvPicPr>
          <p:blipFill>
            <a:blip r:embed="rId6"/>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File Browser</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4">
            <a:extLst>
              <a:ext uri="{28A0092B-C50C-407E-A947-70E740481C1C}">
                <a14:useLocalDpi xmlns:a14="http://schemas.microsoft.com/office/drawing/2010/main" val="0"/>
              </a:ext>
            </a:extLst>
          </a:blip>
          <a:stretch/>
        </p:blipFill>
        <p:spPr>
          <a:xfrm>
            <a:off x="647629" y="3509390"/>
            <a:ext cx="11184371" cy="505751"/>
          </a:xfrm>
          <a:prstGeom prst="rect">
            <a:avLst/>
          </a:prstGeom>
        </p:spPr>
      </p:pic>
      <p:sp>
        <p:nvSpPr>
          <p:cNvPr id="5" name="Tijdelijke aanduiding voor inhoud 2">
            <a:extLst>
              <a:ext uri="{FF2B5EF4-FFF2-40B4-BE49-F238E27FC236}">
                <a16:creationId xmlns:a16="http://schemas.microsoft.com/office/drawing/2014/main" id="{7CC05A9E-2EF6-9EC1-9BAD-1B65617D72E8}"/>
              </a:ext>
            </a:extLst>
          </p:cNvPr>
          <p:cNvSpPr txBox="1">
            <a:spLocks/>
          </p:cNvSpPr>
          <p:nvPr/>
        </p:nvSpPr>
        <p:spPr>
          <a:xfrm>
            <a:off x="720000" y="1350001"/>
            <a:ext cx="10704592" cy="222301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Access your VSC storage</a:t>
            </a:r>
          </a:p>
          <a:p>
            <a:pPr marL="324000" indent="-324000">
              <a:buBlip>
                <a:blip r:embed="rId5"/>
              </a:buBlip>
            </a:pPr>
            <a:r>
              <a:rPr lang="en-US" sz="2200" dirty="0"/>
              <a:t>Use the “Files” tab to access your </a:t>
            </a:r>
            <a:br>
              <a:rPr lang="en-US" sz="2200" dirty="0"/>
            </a:br>
            <a:r>
              <a:rPr lang="en-US" sz="2200" dirty="0">
                <a:latin typeface="Courier New" panose="02070309020205020404" pitchFamily="49" charset="0"/>
                <a:cs typeface="Courier New" panose="02070309020205020404" pitchFamily="49" charset="0"/>
              </a:rPr>
              <a:t>VSC_HOME</a:t>
            </a:r>
            <a:r>
              <a:rPr lang="en-US" sz="2200" dirty="0"/>
              <a:t> and </a:t>
            </a:r>
            <a:r>
              <a:rPr lang="en-US" sz="2200" dirty="0">
                <a:latin typeface="Courier New" panose="02070309020205020404" pitchFamily="49" charset="0"/>
                <a:cs typeface="Courier New" panose="02070309020205020404" pitchFamily="49" charset="0"/>
              </a:rPr>
              <a:t>VSC_DATA</a:t>
            </a:r>
          </a:p>
          <a:p>
            <a:pPr marL="324000" indent="-324000">
              <a:buBlip>
                <a:blip r:embed="rId5"/>
              </a:buBlip>
            </a:pPr>
            <a:r>
              <a:rPr lang="en-US" sz="2200" dirty="0">
                <a:latin typeface="Courier New" panose="02070309020205020404" pitchFamily="49" charset="0"/>
                <a:cs typeface="Courier New" panose="02070309020205020404" pitchFamily="49" charset="0"/>
              </a:rPr>
              <a:t>VSC_SCRATCH</a:t>
            </a:r>
            <a:r>
              <a:rPr lang="en-US" sz="2200" dirty="0"/>
              <a:t> is not available</a:t>
            </a:r>
            <a:br>
              <a:rPr lang="en-US" sz="2200" dirty="0"/>
            </a:br>
            <a:r>
              <a:rPr lang="en-US" sz="2200" dirty="0"/>
              <a:t>from this menu</a:t>
            </a:r>
          </a:p>
          <a:p>
            <a:pPr marL="0" indent="0">
              <a:buNone/>
            </a:pPr>
            <a:endParaRPr lang="en-US" sz="2200" dirty="0"/>
          </a:p>
          <a:p>
            <a:pPr marL="0" indent="0">
              <a:buNone/>
            </a:pPr>
            <a:endParaRPr lang="en-US" sz="2200" b="1" dirty="0"/>
          </a:p>
        </p:txBody>
      </p:sp>
      <p:sp>
        <p:nvSpPr>
          <p:cNvPr id="10" name="TextBox 9">
            <a:extLst>
              <a:ext uri="{FF2B5EF4-FFF2-40B4-BE49-F238E27FC236}">
                <a16:creationId xmlns:a16="http://schemas.microsoft.com/office/drawing/2014/main" id="{3041611B-D314-A362-D972-D29CF55624B0}"/>
              </a:ext>
            </a:extLst>
          </p:cNvPr>
          <p:cNvSpPr txBox="1"/>
          <p:nvPr/>
        </p:nvSpPr>
        <p:spPr>
          <a:xfrm>
            <a:off x="718192" y="4266962"/>
            <a:ext cx="10706400" cy="1754326"/>
          </a:xfrm>
          <a:prstGeom prst="rect">
            <a:avLst/>
          </a:prstGeom>
          <a:noFill/>
        </p:spPr>
        <p:txBody>
          <a:bodyPr wrap="square">
            <a:spAutoFit/>
          </a:bodyPr>
          <a:lstStyle/>
          <a:p>
            <a:pPr marL="0" indent="0">
              <a:spcAft>
                <a:spcPts val="750"/>
              </a:spcAft>
              <a:buNone/>
            </a:pPr>
            <a:r>
              <a:rPr lang="en-US" sz="2200" b="1" dirty="0"/>
              <a:t>File/Folder management</a:t>
            </a:r>
            <a:endParaRPr lang="en-US" sz="2200" dirty="0">
              <a:latin typeface="Courier New" panose="02070309020205020404" pitchFamily="49" charset="0"/>
              <a:cs typeface="Courier New" panose="02070309020205020404" pitchFamily="49" charset="0"/>
            </a:endParaRPr>
          </a:p>
          <a:p>
            <a:pPr marL="324000" indent="-324000">
              <a:spcAft>
                <a:spcPts val="750"/>
              </a:spcAft>
              <a:buBlip>
                <a:blip r:embed="rId5"/>
              </a:buBlip>
            </a:pPr>
            <a:r>
              <a:rPr lang="en-US" sz="2200" dirty="0">
                <a:cs typeface="Courier New" panose="02070309020205020404" pitchFamily="49" charset="0"/>
              </a:rPr>
              <a:t>OK for transferring small files/folders</a:t>
            </a:r>
          </a:p>
          <a:p>
            <a:pPr marL="324000" indent="-324000">
              <a:spcAft>
                <a:spcPts val="750"/>
              </a:spcAft>
              <a:buBlip>
                <a:blip r:embed="rId5"/>
              </a:buBlip>
            </a:pPr>
            <a:r>
              <a:rPr lang="en-US" sz="2200" dirty="0">
                <a:cs typeface="Courier New" panose="02070309020205020404" pitchFamily="49" charset="0"/>
              </a:rPr>
              <a:t>Files/folders open in the same browser tab</a:t>
            </a:r>
          </a:p>
          <a:p>
            <a:pPr marL="324000" indent="-324000">
              <a:spcAft>
                <a:spcPts val="750"/>
              </a:spcAft>
              <a:buBlip>
                <a:blip r:embed="rId5"/>
              </a:buBlip>
            </a:pPr>
            <a:r>
              <a:rPr lang="en-US" sz="2200" dirty="0">
                <a:cs typeface="Courier New" panose="02070309020205020404" pitchFamily="49" charset="0"/>
              </a:rPr>
              <a:t>Deleted files/folders can be retrieved from (hourly, daily, weekly) snapshots</a:t>
            </a:r>
            <a:endParaRPr lang="en-US" sz="2200" b="1" dirty="0"/>
          </a:p>
        </p:txBody>
      </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Active Jobs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2132856"/>
            <a:ext cx="10506882" cy="2963620"/>
          </a:xfrm>
          <a:prstGeom prst="rect">
            <a:avLst/>
          </a:prstGeom>
        </p:spPr>
      </p:pic>
      <p:sp>
        <p:nvSpPr>
          <p:cNvPr id="3" name="Tijdelijke aanduiding voor inhoud 2">
            <a:extLst>
              <a:ext uri="{FF2B5EF4-FFF2-40B4-BE49-F238E27FC236}">
                <a16:creationId xmlns:a16="http://schemas.microsoft.com/office/drawing/2014/main" id="{F1BF946B-DEAE-DF95-2F49-D71F5087F2B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Monitor your active jobs</a:t>
            </a:r>
          </a:p>
        </p:txBody>
      </p:sp>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3"/>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
        <p:nvSpPr>
          <p:cNvPr id="3" name="Tijdelijke aanduiding voor inhoud 2">
            <a:extLst>
              <a:ext uri="{FF2B5EF4-FFF2-40B4-BE49-F238E27FC236}">
                <a16:creationId xmlns:a16="http://schemas.microsoft.com/office/drawing/2014/main" id="{BE0E6D9E-20DA-0DA7-557B-AD3C2E6F473F}"/>
              </a:ext>
            </a:extLst>
          </p:cNvPr>
          <p:cNvSpPr txBox="1">
            <a:spLocks/>
          </p:cNvSpPr>
          <p:nvPr/>
        </p:nvSpPr>
        <p:spPr>
          <a:xfrm>
            <a:off x="720000" y="1350001"/>
            <a:ext cx="5015960" cy="258305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Starts a shell in a new browser tab</a:t>
            </a:r>
          </a:p>
          <a:p>
            <a:pPr marL="324000" indent="-324000">
              <a:buBlip>
                <a:blip r:embed="rId4"/>
              </a:buBlip>
            </a:pPr>
            <a:r>
              <a:rPr lang="nl-BE" sz="2200" dirty="0" err="1"/>
              <a:t>You</a:t>
            </a:r>
            <a:r>
              <a:rPr lang="nl-BE" sz="2200" dirty="0"/>
              <a:t> land on a login node</a:t>
            </a:r>
          </a:p>
          <a:p>
            <a:pPr marL="324000" indent="-324000">
              <a:buBlip>
                <a:blip r:embed="rId4"/>
              </a:buBlip>
            </a:pPr>
            <a:r>
              <a:rPr lang="nl-BE" sz="2200" dirty="0" err="1"/>
              <a:t>You</a:t>
            </a:r>
            <a:r>
              <a:rPr lang="nl-BE" sz="2200" dirty="0"/>
              <a:t> land in </a:t>
            </a:r>
            <a:r>
              <a:rPr lang="nl-BE" sz="2200" dirty="0" err="1"/>
              <a:t>your</a:t>
            </a:r>
            <a:r>
              <a:rPr lang="nl-BE" sz="2200" dirty="0"/>
              <a:t> </a:t>
            </a:r>
            <a:r>
              <a:rPr lang="nl-BE" sz="2200" dirty="0">
                <a:latin typeface="Courier New" panose="02070309020205020404" pitchFamily="49" charset="0"/>
                <a:cs typeface="Courier New" panose="02070309020205020404" pitchFamily="49" charset="0"/>
              </a:rPr>
              <a:t>VSC_HOME</a:t>
            </a:r>
            <a:endParaRPr lang="nl-BE" sz="2200" dirty="0"/>
          </a:p>
          <a:p>
            <a:pPr marL="324000" indent="-324000">
              <a:buBlip>
                <a:blip r:embed="rId4"/>
              </a:buBlip>
            </a:pPr>
            <a:r>
              <a:rPr lang="nl-BE" sz="2200" dirty="0" err="1"/>
              <a:t>Try</a:t>
            </a:r>
            <a:r>
              <a:rPr lang="nl-BE" sz="2200" dirty="0"/>
              <a:t>:</a:t>
            </a:r>
            <a:br>
              <a:rPr lang="nl-BE" sz="2200" dirty="0"/>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sam-balance</a:t>
            </a:r>
            <a:br>
              <a:rPr lang="nl-BE" sz="2200" dirty="0">
                <a:latin typeface="Courier New" panose="02070309020205020404" pitchFamily="49" charset="0"/>
                <a:cs typeface="Courier New" panose="02070309020205020404" pitchFamily="49" charset="0"/>
              </a:rPr>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myquota</a:t>
            </a:r>
            <a:endParaRPr lang="nl-BE" sz="2200" dirty="0">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5974E6A0-CB8C-2BDD-0C53-99CD3D9F390B}"/>
              </a:ext>
            </a:extLst>
          </p:cNvPr>
          <p:cNvGrpSpPr/>
          <p:nvPr/>
        </p:nvGrpSpPr>
        <p:grpSpPr>
          <a:xfrm>
            <a:off x="720000" y="4571394"/>
            <a:ext cx="3989485" cy="1031252"/>
            <a:chOff x="5166021" y="5047052"/>
            <a:chExt cx="3989485" cy="1031252"/>
          </a:xfrm>
        </p:grpSpPr>
        <p:sp>
          <p:nvSpPr>
            <p:cNvPr id="9" name="TextBox 8">
              <a:extLst>
                <a:ext uri="{FF2B5EF4-FFF2-40B4-BE49-F238E27FC236}">
                  <a16:creationId xmlns:a16="http://schemas.microsoft.com/office/drawing/2014/main" id="{B16B80E9-8F9E-6052-B92C-E20BBFEA54E3}"/>
                </a:ext>
              </a:extLst>
            </p:cNvPr>
            <p:cNvSpPr txBox="1"/>
            <p:nvPr/>
          </p:nvSpPr>
          <p:spPr>
            <a:xfrm>
              <a:off x="5166021" y="5557992"/>
              <a:ext cx="3920823" cy="520312"/>
            </a:xfrm>
            <a:prstGeom prst="rect">
              <a:avLst/>
            </a:prstGeom>
            <a:noFill/>
            <a:ln w="38100">
              <a:solidFill>
                <a:srgbClr val="FF0000"/>
              </a:solidFill>
            </a:ln>
          </p:spPr>
          <p:txBody>
            <a:bodyPr wrap="square" tIns="90000" bIns="90000" rtlCol="0">
              <a:spAutoFit/>
            </a:bodyPr>
            <a:lstStyle/>
            <a:p>
              <a:r>
                <a:rPr lang="en-US" sz="2200" dirty="0"/>
                <a:t>Do NOT compute on login nodes</a:t>
              </a:r>
            </a:p>
          </p:txBody>
        </p:sp>
        <p:pic>
          <p:nvPicPr>
            <p:cNvPr id="11" name="Picture 10">
              <a:extLst>
                <a:ext uri="{FF2B5EF4-FFF2-40B4-BE49-F238E27FC236}">
                  <a16:creationId xmlns:a16="http://schemas.microsoft.com/office/drawing/2014/main" id="{844FEDAB-8C4A-4D1D-6BCF-5C608FA1124A}"/>
                </a:ext>
              </a:extLst>
            </p:cNvPr>
            <p:cNvPicPr>
              <a:picLocks noChangeAspect="1"/>
            </p:cNvPicPr>
            <p:nvPr/>
          </p:nvPicPr>
          <p:blipFill>
            <a:blip r:embed="rId5"/>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213745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a:stretch>
            <a:fillRect/>
          </a:stretch>
        </p:blipFill>
        <p:spPr>
          <a:xfrm>
            <a:off x="8760296" y="116631"/>
            <a:ext cx="3302004" cy="5788333"/>
          </a:xfrm>
          <a:prstGeom prst="rect">
            <a:avLst/>
          </a:prstGeom>
        </p:spPr>
      </p:pic>
      <p:sp>
        <p:nvSpPr>
          <p:cNvPr id="5" name="Tijdelijke aanduiding voor inhoud 2">
            <a:extLst>
              <a:ext uri="{FF2B5EF4-FFF2-40B4-BE49-F238E27FC236}">
                <a16:creationId xmlns:a16="http://schemas.microsoft.com/office/drawing/2014/main" id="{C22E68B4-5839-7AD2-41D7-DAEFD3C3B4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 a shell as a job (on a compute node)</a:t>
            </a:r>
          </a:p>
          <a:p>
            <a:pPr marL="324000" indent="-324000">
              <a:buBlip>
                <a:blip r:embed="rId4"/>
              </a:buBlip>
            </a:pPr>
            <a:r>
              <a:rPr lang="en-US" sz="2200" dirty="0">
                <a:cs typeface="Courier New" panose="02070309020205020404" pitchFamily="49" charset="0"/>
              </a:rPr>
              <a:t>Recommended to:</a:t>
            </a:r>
          </a:p>
          <a:p>
            <a:pPr lvl="1">
              <a:buClr>
                <a:srgbClr val="DB6C30"/>
              </a:buClr>
            </a:pPr>
            <a:r>
              <a:rPr lang="en-US" sz="1900" dirty="0">
                <a:cs typeface="Courier New" panose="02070309020205020404" pitchFamily="49" charset="0"/>
              </a:rPr>
              <a:t>Install your own software (in </a:t>
            </a:r>
            <a:r>
              <a:rPr lang="en-US" sz="1900" dirty="0">
                <a:latin typeface="Courier New" panose="02070309020205020404" pitchFamily="49" charset="0"/>
                <a:cs typeface="Courier New" panose="02070309020205020404" pitchFamily="49" charset="0"/>
              </a:rPr>
              <a:t>VSC_DATA</a:t>
            </a:r>
            <a:r>
              <a:rPr lang="en-US" sz="1900" dirty="0">
                <a:cs typeface="Courier New" panose="02070309020205020404" pitchFamily="49" charset="0"/>
              </a:rPr>
              <a:t>)</a:t>
            </a:r>
          </a:p>
          <a:p>
            <a:pPr lvl="1">
              <a:buClr>
                <a:srgbClr val="DB6C30"/>
              </a:buClr>
            </a:pPr>
            <a:r>
              <a:rPr lang="en-US" sz="1900" dirty="0">
                <a:cs typeface="Courier New" panose="02070309020205020404" pitchFamily="49" charset="0"/>
              </a:rPr>
              <a:t>Test/run your program interactively</a:t>
            </a:r>
          </a:p>
          <a:p>
            <a:pPr lvl="1">
              <a:buClr>
                <a:srgbClr val="DB6C30"/>
              </a:buClr>
            </a:pPr>
            <a:r>
              <a:rPr lang="en-US" sz="1900" dirty="0">
                <a:cs typeface="Courier New" panose="02070309020205020404" pitchFamily="49" charset="0"/>
              </a:rPr>
              <a:t>Debug a program</a:t>
            </a:r>
          </a:p>
          <a:p>
            <a:pPr marL="324000" indent="-324000">
              <a:buBlip>
                <a:blip r:embed="rId4"/>
              </a:buBlip>
            </a:pPr>
            <a:r>
              <a:rPr lang="en-US" sz="2200" dirty="0">
                <a:cs typeface="Courier New" panose="02070309020205020404" pitchFamily="49" charset="0"/>
              </a:rPr>
              <a:t>Choose the relevant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endParaRPr lang="nl-BE" sz="2200" dirty="0">
              <a:cs typeface="Courier New" panose="02070309020205020404" pitchFamily="49" charset="0"/>
            </a:endParaRPr>
          </a:p>
        </p:txBody>
      </p:sp>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
        <p:nvSpPr>
          <p:cNvPr id="5" name="Tijdelijke aanduiding voor inhoud 2">
            <a:extLst>
              <a:ext uri="{FF2B5EF4-FFF2-40B4-BE49-F238E27FC236}">
                <a16:creationId xmlns:a16="http://schemas.microsoft.com/office/drawing/2014/main" id="{FF7DC1BC-2A71-837E-E7E9-2B81BB86EE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hlinkClick r:id="rId5"/>
              </a:rPr>
              <a:t>Create a notebook </a:t>
            </a:r>
            <a:r>
              <a:rPr lang="en-US" sz="2200" dirty="0"/>
              <a:t>as a job (on a compute node)</a:t>
            </a:r>
          </a:p>
          <a:p>
            <a:pPr marL="324000" indent="-324000">
              <a:buBlip>
                <a:blip r:embed="rId4"/>
              </a:buBlip>
            </a:pPr>
            <a:r>
              <a:rPr lang="en-US" sz="2200" dirty="0">
                <a:cs typeface="Courier New" panose="02070309020205020404" pitchFamily="49" charset="0"/>
              </a:rPr>
              <a:t>Suitable for:</a:t>
            </a:r>
          </a:p>
          <a:p>
            <a:pPr lvl="1">
              <a:buClr>
                <a:srgbClr val="DB6C30"/>
              </a:buClr>
            </a:pPr>
            <a:r>
              <a:rPr lang="en-US" sz="1900" dirty="0">
                <a:cs typeface="Courier New" panose="02070309020205020404" pitchFamily="49" charset="0"/>
              </a:rPr>
              <a:t>Pre/post-processing your data</a:t>
            </a:r>
          </a:p>
          <a:p>
            <a:pPr lvl="1">
              <a:buClr>
                <a:srgbClr val="DB6C30"/>
              </a:buClr>
            </a:pPr>
            <a:r>
              <a:rPr lang="en-US" sz="1900" dirty="0">
                <a:cs typeface="Courier New" panose="02070309020205020404" pitchFamily="49" charset="0"/>
              </a:rPr>
              <a:t>Prototyping</a:t>
            </a:r>
          </a:p>
          <a:p>
            <a:pPr lvl="1">
              <a:buClr>
                <a:srgbClr val="DB6C30"/>
              </a:buClr>
            </a:pPr>
            <a:r>
              <a:rPr lang="en-US" sz="1900" dirty="0">
                <a:cs typeface="Courier New" panose="02070309020205020404" pitchFamily="49" charset="0"/>
              </a:rPr>
              <a:t>Adding figures and text for pedagogical purposes</a:t>
            </a:r>
          </a:p>
          <a:p>
            <a:pPr marL="324000" indent="-324000">
              <a:buBlip>
                <a:blip r:embed="rId4"/>
              </a:buBlip>
            </a:pPr>
            <a:r>
              <a:rPr lang="en-US" sz="2200" dirty="0">
                <a:cs typeface="Courier New" panose="02070309020205020404" pitchFamily="49" charset="0"/>
              </a:rPr>
              <a:t>Choose the appropriate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p>
          <a:p>
            <a:pPr marL="324000" indent="-324000">
              <a:buBlip>
                <a:blip r:embed="rId4"/>
              </a:buBlip>
            </a:pPr>
            <a:r>
              <a:rPr lang="en-US" sz="2200" dirty="0">
                <a:cs typeface="Courier New" panose="02070309020205020404" pitchFamily="49" charset="0"/>
              </a:rPr>
              <a:t>User your own Python/R kernels (next slide)</a:t>
            </a:r>
          </a:p>
        </p:txBody>
      </p:sp>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sp>
        <p:nvSpPr>
          <p:cNvPr id="10" name="Tijdelijke aanduiding voor inhoud 2">
            <a:extLst>
              <a:ext uri="{FF2B5EF4-FFF2-40B4-BE49-F238E27FC236}">
                <a16:creationId xmlns:a16="http://schemas.microsoft.com/office/drawing/2014/main" id="{FBD8C7D0-D1FD-2061-A3CA-47291BA75521}"/>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The default kernels may not offer the R/Python/… interpreter version or packages you want</a:t>
            </a:r>
          </a:p>
          <a:p>
            <a:pPr marL="324000" indent="-324000">
              <a:buBlip>
                <a:blip r:embed="rId3"/>
              </a:buBlip>
            </a:pPr>
            <a:r>
              <a:rPr lang="en-US" sz="2200" dirty="0"/>
              <a:t>You can create a </a:t>
            </a:r>
            <a:r>
              <a:rPr lang="en-US" sz="2200" dirty="0" err="1"/>
              <a:t>miniconda</a:t>
            </a:r>
            <a:r>
              <a:rPr lang="en-US" sz="2200" dirty="0"/>
              <a:t> env and add it to your OnDemand kernels</a:t>
            </a:r>
          </a:p>
          <a:p>
            <a:pPr marL="0" indent="0">
              <a:spcBef>
                <a:spcPts val="3000"/>
              </a:spcBef>
              <a:spcAft>
                <a:spcPts val="1000"/>
              </a:spcAft>
              <a:buNone/>
            </a:pPr>
            <a:r>
              <a:rPr lang="nl-BE" sz="2200" b="1" dirty="0">
                <a:cs typeface="Courier New" panose="02070309020205020404" pitchFamily="49" charset="0"/>
              </a:rPr>
              <a:t>Step 1: </a:t>
            </a:r>
            <a:r>
              <a:rPr lang="nl-BE" sz="2200" b="1" dirty="0" err="1">
                <a:cs typeface="Courier New" panose="02070309020205020404" pitchFamily="49" charset="0"/>
              </a:rPr>
              <a:t>Miniconda</a:t>
            </a:r>
            <a:endParaRPr lang="nl-BE" sz="2200" b="1" dirty="0">
              <a:cs typeface="Courier New" panose="02070309020205020404" pitchFamily="49" charset="0"/>
            </a:endParaRPr>
          </a:p>
          <a:p>
            <a:pPr marL="0" indent="0">
              <a:spcBef>
                <a:spcPts val="0"/>
              </a:spcBef>
              <a:buNone/>
            </a:pPr>
            <a:r>
              <a:rPr lang="nl-BE" sz="2200" dirty="0">
                <a:cs typeface="Courier New" panose="02070309020205020404" pitchFamily="49" charset="0"/>
              </a:rPr>
              <a:t>Start </a:t>
            </a:r>
            <a:r>
              <a:rPr lang="nl-BE" sz="2200" dirty="0" err="1">
                <a:cs typeface="Courier New" panose="02070309020205020404" pitchFamily="49" charset="0"/>
              </a:rPr>
              <a:t>an</a:t>
            </a:r>
            <a:r>
              <a:rPr lang="nl-BE" sz="2200" dirty="0">
                <a:cs typeface="Courier New" panose="02070309020205020404" pitchFamily="49" charset="0"/>
              </a:rPr>
              <a:t> Interactive Shell</a:t>
            </a:r>
          </a:p>
          <a:p>
            <a:pPr marL="0" indent="0">
              <a:buNone/>
            </a:pPr>
            <a:r>
              <a:rPr lang="nl-BE" sz="2200" dirty="0">
                <a:cs typeface="Courier New" panose="02070309020205020404" pitchFamily="49" charset="0"/>
              </a:rPr>
              <a:t>Go </a:t>
            </a:r>
            <a:r>
              <a:rPr lang="nl-BE" sz="2200" dirty="0" err="1">
                <a:cs typeface="Courier New" panose="02070309020205020404" pitchFamily="49" charset="0"/>
              </a:rPr>
              <a:t>to</a:t>
            </a:r>
            <a:r>
              <a:rPr lang="nl-BE" sz="2200" dirty="0">
                <a:cs typeface="Courier New" panose="02070309020205020404" pitchFamily="49" charset="0"/>
              </a:rPr>
              <a:t> </a:t>
            </a:r>
            <a:r>
              <a:rPr lang="nl-BE" sz="2200" dirty="0" err="1">
                <a:cs typeface="Courier New" panose="02070309020205020404" pitchFamily="49" charset="0"/>
              </a:rPr>
              <a:t>your</a:t>
            </a:r>
            <a:r>
              <a:rPr lang="nl-BE" sz="2200" dirty="0">
                <a:cs typeface="Courier New" panose="02070309020205020404" pitchFamily="49" charset="0"/>
              </a:rPr>
              <a:t> data folder</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cd ${VSC_DATA}</a:t>
            </a:r>
          </a:p>
          <a:p>
            <a:pPr marL="0" indent="0">
              <a:buNone/>
            </a:pPr>
            <a:r>
              <a:rPr lang="nl-BE" sz="2200" dirty="0">
                <a:cs typeface="Courier New" panose="02070309020205020404" pitchFamily="49" charset="0"/>
              </a:rPr>
              <a:t>Download </a:t>
            </a:r>
            <a:r>
              <a:rPr lang="nl-BE" sz="2200" dirty="0" err="1">
                <a:cs typeface="Courier New" panose="02070309020205020404" pitchFamily="49" charset="0"/>
              </a:rPr>
              <a:t>Miniconda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wget</a:t>
            </a:r>
            <a:r>
              <a:rPr lang="nl-BE" sz="1900" dirty="0">
                <a:latin typeface="Courier New" panose="02070309020205020404" pitchFamily="49" charset="0"/>
                <a:cs typeface="Courier New" panose="02070309020205020404" pitchFamily="49" charset="0"/>
              </a:rPr>
              <a:t> </a:t>
            </a:r>
            <a:r>
              <a:rPr lang="nl-BE" sz="1900" dirty="0">
                <a:latin typeface="Courier New" panose="02070309020205020404" pitchFamily="49" charset="0"/>
                <a:cs typeface="Courier New" panose="02070309020205020404" pitchFamily="49" charset="0"/>
                <a:hlinkClick r:id="rId4"/>
              </a:rPr>
              <a:t>https://repo.continuum.io/miniconda/Miniconda3-latest-Linux-x86_64.sh</a:t>
            </a:r>
            <a:endParaRPr lang="nl-BE" sz="1900" dirty="0">
              <a:latin typeface="Courier New" panose="02070309020205020404" pitchFamily="49" charset="0"/>
              <a:cs typeface="Courier New" panose="02070309020205020404" pitchFamily="49" charset="0"/>
            </a:endParaRPr>
          </a:p>
          <a:p>
            <a:pPr marL="0" indent="0">
              <a:buNone/>
            </a:pPr>
            <a:r>
              <a:rPr lang="nl-BE" sz="2200" dirty="0" err="1">
                <a:cs typeface="Courier New" panose="02070309020205020404" pitchFamily="49" charset="0"/>
              </a:rPr>
              <a:t>Install</a:t>
            </a:r>
            <a:r>
              <a:rPr lang="nl-BE" sz="2200" dirty="0">
                <a:cs typeface="Courier New" panose="02070309020205020404" pitchFamily="49" charset="0"/>
              </a:rPr>
              <a:t> </a:t>
            </a:r>
            <a:r>
              <a:rPr lang="nl-BE" sz="2200" dirty="0" err="1">
                <a:cs typeface="Courier New" panose="02070309020205020404" pitchFamily="49" charset="0"/>
              </a:rPr>
              <a:t>Miniconda</a:t>
            </a:r>
            <a:r>
              <a:rPr lang="nl-BE" sz="2200" dirty="0">
                <a:cs typeface="Courier New" panose="02070309020205020404" pitchFamily="49" charset="0"/>
              </a:rPr>
              <a:t> in </a:t>
            </a:r>
            <a:r>
              <a:rPr lang="nl-BE" sz="2200" dirty="0" err="1">
                <a:cs typeface="Courier New" panose="02070309020205020404" pitchFamily="49" charset="0"/>
              </a:rPr>
              <a:t>your</a:t>
            </a:r>
            <a:r>
              <a:rPr lang="nl-BE" sz="2200" dirty="0">
                <a:cs typeface="Courier New" panose="02070309020205020404" pitchFamily="49" charset="0"/>
              </a:rPr>
              <a:t> VSC_DATA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bash</a:t>
            </a:r>
            <a:r>
              <a:rPr lang="nl-BE" sz="1900" dirty="0">
                <a:latin typeface="Courier New" panose="02070309020205020404" pitchFamily="49" charset="0"/>
                <a:cs typeface="Courier New" panose="02070309020205020404" pitchFamily="49" charset="0"/>
              </a:rPr>
              <a:t> </a:t>
            </a:r>
            <a:r>
              <a:rPr lang="it-IT" sz="19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sz="2200" dirty="0" err="1">
                <a:cs typeface="Courier New" panose="02070309020205020404" pitchFamily="49" charset="0"/>
              </a:rPr>
              <a:t>Permanently</a:t>
            </a:r>
            <a:r>
              <a:rPr lang="it-IT" sz="2200" dirty="0">
                <a:cs typeface="Courier New" panose="02070309020205020404" pitchFamily="49" charset="0"/>
              </a:rPr>
              <a:t> </a:t>
            </a:r>
            <a:r>
              <a:rPr lang="it-IT" sz="2200" dirty="0" err="1">
                <a:cs typeface="Courier New" panose="02070309020205020404" pitchFamily="49" charset="0"/>
              </a:rPr>
              <a:t>add</a:t>
            </a:r>
            <a:r>
              <a:rPr lang="it-IT" sz="2200" dirty="0">
                <a:cs typeface="Courier New" panose="02070309020205020404" pitchFamily="49" charset="0"/>
              </a:rPr>
              <a:t> the </a:t>
            </a:r>
            <a:r>
              <a:rPr lang="it-IT" sz="2200" dirty="0" err="1">
                <a:cs typeface="Courier New" panose="02070309020205020404" pitchFamily="49" charset="0"/>
              </a:rPr>
              <a:t>path</a:t>
            </a:r>
            <a:r>
              <a:rPr lang="it-IT" sz="2200" dirty="0">
                <a:cs typeface="Courier New" panose="02070309020205020404" pitchFamily="49" charset="0"/>
              </a:rPr>
              <a:t> to </a:t>
            </a:r>
            <a:r>
              <a:rPr lang="it-IT" sz="2200" dirty="0" err="1">
                <a:cs typeface="Courier New" panose="02070309020205020404" pitchFamily="49" charset="0"/>
              </a:rPr>
              <a:t>Miniconda</a:t>
            </a:r>
            <a:r>
              <a:rPr lang="it-IT" sz="2200" dirty="0">
                <a:cs typeface="Courier New" panose="02070309020205020404" pitchFamily="49" charset="0"/>
              </a:rPr>
              <a:t> to </a:t>
            </a:r>
            <a:r>
              <a:rPr lang="it-IT" sz="2200" dirty="0" err="1">
                <a:cs typeface="Courier New" panose="02070309020205020404" pitchFamily="49" charset="0"/>
              </a:rPr>
              <a:t>your</a:t>
            </a:r>
            <a:r>
              <a:rPr lang="it-IT" sz="2200" dirty="0">
                <a:cs typeface="Courier New" panose="02070309020205020404" pitchFamily="49" charset="0"/>
              </a:rPr>
              <a:t> </a:t>
            </a:r>
            <a:r>
              <a:rPr lang="it-IT" sz="1900" dirty="0">
                <a:latin typeface="Courier New" panose="02070309020205020404" pitchFamily="49" charset="0"/>
                <a:cs typeface="Courier New" panose="02070309020205020404" pitchFamily="49" charset="0"/>
              </a:rPr>
              <a:t>~/.</a:t>
            </a:r>
            <a:r>
              <a:rPr lang="it-IT" sz="1900" dirty="0" err="1">
                <a:latin typeface="Courier New" panose="02070309020205020404" pitchFamily="49" charset="0"/>
                <a:cs typeface="Courier New" panose="02070309020205020404" pitchFamily="49" charset="0"/>
              </a:rPr>
              <a:t>bashrc</a:t>
            </a:r>
            <a:br>
              <a:rPr lang="it-IT" sz="2200" dirty="0">
                <a:latin typeface="Courier New" panose="02070309020205020404" pitchFamily="49" charset="0"/>
                <a:cs typeface="Courier New" panose="02070309020205020404" pitchFamily="49" charset="0"/>
              </a:rPr>
            </a:br>
            <a:r>
              <a:rPr lang="nl-BE" sz="19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900" dirty="0" err="1">
                <a:solidFill>
                  <a:srgbClr val="4E5865"/>
                </a:solidFill>
                <a:latin typeface="Courier New" panose="02070309020205020404" pitchFamily="49" charset="0"/>
                <a:cs typeface="Courier New" panose="02070309020205020404" pitchFamily="49" charset="0"/>
              </a:rPr>
              <a:t>bashrc</a:t>
            </a:r>
            <a:endParaRPr lang="nl-BE" sz="1900" dirty="0">
              <a:latin typeface="Courier New" panose="02070309020205020404" pitchFamily="49" charset="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3304867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sp>
        <p:nvSpPr>
          <p:cNvPr id="12" name="Rectangle 2">
            <a:extLst>
              <a:ext uri="{FF2B5EF4-FFF2-40B4-BE49-F238E27FC236}">
                <a16:creationId xmlns:a16="http://schemas.microsoft.com/office/drawing/2014/main" id="{E9901E32-4F5E-B97E-FAD3-1691D7F42B1E}"/>
              </a:ext>
            </a:extLst>
          </p:cNvPr>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sp>
        <p:nvSpPr>
          <p:cNvPr id="17" name="Tijdelijke aanduiding voor inhoud 2">
            <a:extLst>
              <a:ext uri="{FF2B5EF4-FFF2-40B4-BE49-F238E27FC236}">
                <a16:creationId xmlns:a16="http://schemas.microsoft.com/office/drawing/2014/main" id="{7843239F-7D38-593F-317D-9AB49926C564}"/>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spcBef>
                <a:spcPts val="3000"/>
              </a:spcBef>
              <a:spcAft>
                <a:spcPts val="1000"/>
              </a:spcAft>
              <a:buNone/>
            </a:pPr>
            <a:r>
              <a:rPr lang="nl-BE" sz="2200" b="1" dirty="0">
                <a:cs typeface="Courier New" panose="02070309020205020404" pitchFamily="49" charset="0"/>
              </a:rPr>
              <a:t>Step 2: Environment Setup</a:t>
            </a:r>
          </a:p>
          <a:p>
            <a:pPr marL="0" indent="0">
              <a:spcBef>
                <a:spcPts val="0"/>
              </a:spcBef>
              <a:buNone/>
            </a:pPr>
            <a:r>
              <a:rPr lang="en-US" sz="2200" dirty="0">
                <a:cs typeface="Courier New" panose="02070309020205020404" pitchFamily="49" charset="0"/>
              </a:rPr>
              <a:t>Create a new environment </a:t>
            </a:r>
            <a:r>
              <a:rPr lang="nl-BE" sz="1900" dirty="0">
                <a:latin typeface="Courier New" panose="02070309020205020404" pitchFamily="49" charset="0"/>
                <a:cs typeface="Courier New" panose="02070309020205020404" pitchFamily="49" charset="0"/>
              </a:rPr>
              <a:t>&lt;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r>
              <a:rPr lang="nl-BE" sz="2200" dirty="0">
                <a:latin typeface="Courier New" panose="02070309020205020404" pitchFamily="49" charset="0"/>
                <a:cs typeface="Courier New" panose="02070309020205020404" pitchFamily="49" charset="0"/>
              </a:rPr>
              <a:t> </a:t>
            </a:r>
            <a:r>
              <a:rPr lang="en-US" sz="2200" dirty="0">
                <a:cs typeface="Courier New" panose="02070309020205020404" pitchFamily="49" charset="0"/>
              </a:rPr>
              <a:t>with all packages you need, e.g.</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create</a:t>
            </a:r>
            <a:r>
              <a:rPr lang="nl-BE" sz="1900" dirty="0">
                <a:latin typeface="Courier New" panose="02070309020205020404" pitchFamily="49" charset="0"/>
                <a:cs typeface="Courier New" panose="02070309020205020404" pitchFamily="49" charset="0"/>
              </a:rPr>
              <a:t> --name=&lt;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a:t>
            </a:r>
            <a:r>
              <a:rPr lang="nl-BE" sz="1900" dirty="0" err="1">
                <a:latin typeface="Courier New" panose="02070309020205020404" pitchFamily="49" charset="0"/>
                <a:cs typeface="Courier New" panose="02070309020205020404" pitchFamily="49" charset="0"/>
              </a:rPr>
              <a:t>numpy</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scipy</a:t>
            </a:r>
            <a:r>
              <a:rPr lang="nl-BE" sz="1900" dirty="0">
                <a:latin typeface="Courier New" panose="02070309020205020404" pitchFamily="49" charset="0"/>
                <a:cs typeface="Courier New" panose="02070309020205020404" pitchFamily="49" charset="0"/>
              </a:rPr>
              <a:t> …</a:t>
            </a:r>
            <a:br>
              <a:rPr lang="nl-BE" sz="1900" dirty="0">
                <a:latin typeface="Courier New" panose="02070309020205020404" pitchFamily="49" charset="0"/>
                <a:cs typeface="Courier New" panose="02070309020205020404" pitchFamily="49" charset="0"/>
              </a:rPr>
            </a:br>
            <a:r>
              <a:rPr lang="en-US" sz="2200" dirty="0">
                <a:cs typeface="Courier New" panose="02070309020205020404" pitchFamily="49" charset="0"/>
              </a:rPr>
              <a:t>Enable your new environment</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source </a:t>
            </a:r>
            <a:r>
              <a:rPr lang="nl-BE" sz="1900" dirty="0" err="1">
                <a:latin typeface="Courier New" panose="02070309020205020404" pitchFamily="49" charset="0"/>
                <a:cs typeface="Courier New" panose="02070309020205020404" pitchFamily="49" charset="0"/>
              </a:rPr>
              <a:t>activate</a:t>
            </a:r>
            <a:r>
              <a:rPr lang="nl-BE" sz="1900" dirty="0">
                <a:latin typeface="Courier New" panose="02070309020205020404" pitchFamily="49" charset="0"/>
                <a:cs typeface="Courier New" panose="02070309020205020404" pitchFamily="49" charset="0"/>
              </a:rPr>
              <a:t>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br>
              <a:rPr lang="nl-BE" sz="1900" dirty="0">
                <a:latin typeface="Courier New" panose="02070309020205020404" pitchFamily="49" charset="0"/>
                <a:cs typeface="Courier New" panose="02070309020205020404" pitchFamily="49" charset="0"/>
              </a:rPr>
            </a:br>
            <a:r>
              <a:rPr lang="nl-BE" sz="2200" dirty="0" err="1">
                <a:cs typeface="Courier New" panose="02070309020205020404" pitchFamily="49" charset="0"/>
              </a:rPr>
              <a:t>Add</a:t>
            </a:r>
            <a:r>
              <a:rPr lang="nl-BE" sz="2200" dirty="0">
                <a:cs typeface="Courier New" panose="02070309020205020404" pitchFamily="49" charset="0"/>
              </a:rPr>
              <a:t> </a:t>
            </a:r>
            <a:r>
              <a:rPr lang="nl-BE" sz="2200" dirty="0" err="1">
                <a:cs typeface="Courier New" panose="02070309020205020404" pitchFamily="49" charset="0"/>
              </a:rPr>
              <a:t>the</a:t>
            </a:r>
            <a:r>
              <a:rPr lang="nl-BE" sz="2200" dirty="0">
                <a:cs typeface="Courier New" panose="02070309020205020404" pitchFamily="49" charset="0"/>
              </a:rPr>
              <a:t> </a:t>
            </a:r>
            <a:r>
              <a:rPr lang="nl-BE" sz="2200" dirty="0" err="1">
                <a:cs typeface="Courier New" panose="02070309020205020404" pitchFamily="49" charset="0"/>
              </a:rPr>
              <a:t>ipykernel</a:t>
            </a:r>
            <a:r>
              <a:rPr lang="nl-BE" sz="2200" dirty="0">
                <a:cs typeface="Courier New" panose="02070309020205020404" pitchFamily="49" charset="0"/>
              </a:rPr>
              <a:t> package</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-c </a:t>
            </a:r>
            <a:r>
              <a:rPr lang="nl-BE" sz="1900" dirty="0" err="1">
                <a:latin typeface="Courier New" panose="02070309020205020404" pitchFamily="49" charset="0"/>
                <a:cs typeface="Courier New" panose="02070309020205020404" pitchFamily="49" charset="0"/>
              </a:rPr>
              <a:t>conda-forge</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ipykernel</a:t>
            </a:r>
            <a:endParaRPr lang="nl-BE" sz="190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3: Register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your</a:t>
            </a: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kernel</a:t>
            </a:r>
            <a:endParaRPr lang="nl-BE" sz="2200" b="1" dirty="0">
              <a:cs typeface="Courier New" panose="02070309020205020404" pitchFamily="49" charset="0"/>
            </a:endParaRPr>
          </a:p>
          <a:p>
            <a:pPr marL="0" indent="0">
              <a:spcBef>
                <a:spcPts val="0"/>
              </a:spcBef>
              <a:buNone/>
            </a:pPr>
            <a:r>
              <a:rPr lang="nl-BE" sz="1900" dirty="0">
                <a:latin typeface="Courier New" panose="02070309020205020404" pitchFamily="49" charset="0"/>
                <a:cs typeface="Courier New" panose="02070309020205020404" pitchFamily="49" charset="0"/>
              </a:rPr>
              <a:t>$ python -m </a:t>
            </a:r>
            <a:r>
              <a:rPr lang="nl-BE" sz="1900" dirty="0" err="1">
                <a:latin typeface="Courier New" panose="02070309020205020404" pitchFamily="49" charset="0"/>
                <a:cs typeface="Courier New" panose="02070309020205020404" pitchFamily="49" charset="0"/>
              </a:rPr>
              <a:t>ipykernel</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--user --</a:t>
            </a:r>
            <a:r>
              <a:rPr lang="nl-BE" sz="1900" dirty="0" err="1">
                <a:latin typeface="Courier New" panose="02070309020205020404" pitchFamily="49" charset="0"/>
                <a:cs typeface="Courier New" panose="02070309020205020404" pitchFamily="49" charset="0"/>
              </a:rPr>
              <a:t>env</a:t>
            </a:r>
            <a:r>
              <a:rPr lang="nl-BE" sz="1900" dirty="0">
                <a:latin typeface="Courier New" panose="02070309020205020404" pitchFamily="49" charset="0"/>
                <a:cs typeface="Courier New" panose="02070309020205020404" pitchFamily="49" charset="0"/>
              </a:rPr>
              <a:t> PYTHONPATH "" \</a:t>
            </a:r>
            <a:br>
              <a:rPr lang="nl-BE" sz="19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--display-name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4: Launch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JupyterLab</a:t>
            </a:r>
            <a:endParaRPr lang="nl-BE" sz="2200" b="1" dirty="0">
              <a:cs typeface="Courier New" panose="02070309020205020404" pitchFamily="49" charset="0"/>
            </a:endParaRPr>
          </a:p>
          <a:p>
            <a:pPr marL="0" indent="0">
              <a:spcBef>
                <a:spcPts val="0"/>
              </a:spcBef>
              <a:buNone/>
            </a:pPr>
            <a:r>
              <a:rPr lang="nl-BE" sz="2200" dirty="0" err="1">
                <a:cs typeface="Courier New" panose="02070309020205020404" pitchFamily="49" charset="0"/>
              </a:rPr>
              <a:t>Now</a:t>
            </a:r>
            <a:r>
              <a:rPr lang="nl-BE" sz="2200" dirty="0">
                <a:cs typeface="Courier New" panose="02070309020205020404" pitchFamily="49" charset="0"/>
              </a:rPr>
              <a:t> start a new </a:t>
            </a:r>
            <a:r>
              <a:rPr lang="nl-BE" sz="2200" dirty="0" err="1">
                <a:cs typeface="Courier New" panose="02070309020205020404" pitchFamily="49" charset="0"/>
              </a:rPr>
              <a:t>Jupyter</a:t>
            </a:r>
            <a:r>
              <a:rPr lang="nl-BE" sz="2200" dirty="0">
                <a:cs typeface="Courier New" panose="02070309020205020404" pitchFamily="49" charset="0"/>
              </a:rPr>
              <a:t> Lab </a:t>
            </a:r>
            <a:r>
              <a:rPr lang="nl-BE" sz="2200" dirty="0" err="1">
                <a:cs typeface="Courier New" panose="02070309020205020404" pitchFamily="49" charset="0"/>
              </a:rPr>
              <a:t>session</a:t>
            </a:r>
            <a:endParaRPr lang="nl-BE" sz="2200" dirty="0">
              <a:cs typeface="Courier New" panose="02070309020205020404" pitchFamily="49" charset="0"/>
            </a:endParaRPr>
          </a:p>
          <a:p>
            <a:pPr marL="0" indent="0">
              <a:spcBef>
                <a:spcPts val="0"/>
              </a:spcBef>
              <a:buNone/>
            </a:pPr>
            <a:r>
              <a:rPr lang="nl-BE" sz="2200" dirty="0" err="1">
                <a:cs typeface="Courier New" panose="02070309020205020404" pitchFamily="49" charset="0"/>
              </a:rPr>
              <a:t>Your</a:t>
            </a:r>
            <a:r>
              <a:rPr lang="nl-BE" sz="2200" dirty="0">
                <a:cs typeface="Courier New" panose="02070309020205020404" pitchFamily="49" charset="0"/>
              </a:rPr>
              <a:t> new </a:t>
            </a:r>
            <a:r>
              <a:rPr lang="nl-BE" sz="2200" dirty="0" err="1">
                <a:cs typeface="Courier New" panose="02070309020205020404" pitchFamily="49" charset="0"/>
              </a:rPr>
              <a:t>kernel</a:t>
            </a:r>
            <a:r>
              <a:rPr lang="nl-BE" sz="2200" dirty="0">
                <a:cs typeface="Courier New" panose="02070309020205020404" pitchFamily="49" charset="0"/>
              </a:rPr>
              <a:t> </a:t>
            </a:r>
            <a:r>
              <a:rPr lang="nl-BE" sz="2200" dirty="0" err="1">
                <a:cs typeface="Courier New" panose="02070309020205020404" pitchFamily="49" charset="0"/>
              </a:rPr>
              <a:t>should</a:t>
            </a:r>
            <a:r>
              <a:rPr lang="nl-BE" sz="2200" dirty="0">
                <a:cs typeface="Courier New" panose="02070309020205020404" pitchFamily="49" charset="0"/>
              </a:rPr>
              <a:t> </a:t>
            </a:r>
            <a:r>
              <a:rPr lang="nl-BE" sz="2200" dirty="0" err="1">
                <a:cs typeface="Courier New" panose="02070309020205020404" pitchFamily="49" charset="0"/>
              </a:rPr>
              <a:t>be</a:t>
            </a:r>
            <a:r>
              <a:rPr lang="nl-BE" sz="2200" dirty="0">
                <a:cs typeface="Courier New" panose="02070309020205020404" pitchFamily="49" charset="0"/>
              </a:rPr>
              <a:t> </a:t>
            </a:r>
            <a:r>
              <a:rPr lang="nl-BE" sz="2200" dirty="0" err="1">
                <a:cs typeface="Courier New" panose="02070309020205020404" pitchFamily="49" charset="0"/>
              </a:rPr>
              <a:t>available</a:t>
            </a:r>
            <a:r>
              <a:rPr lang="nl-BE" sz="2200" dirty="0">
                <a:cs typeface="Courier New" panose="02070309020205020404" pitchFamily="49" charset="0"/>
              </a:rPr>
              <a:t> </a:t>
            </a:r>
            <a:r>
              <a:rPr lang="nl-BE" sz="2200" dirty="0" err="1">
                <a:cs typeface="Courier New" panose="02070309020205020404" pitchFamily="49" charset="0"/>
              </a:rPr>
              <a:t>there</a:t>
            </a:r>
            <a:endParaRPr lang="nl-BE" sz="2200" dirty="0">
              <a:cs typeface="Courier New" panose="02070309020205020404" pitchFamily="49" charset="0"/>
            </a:endParaRPr>
          </a:p>
          <a:p>
            <a:pPr marL="0" indent="0">
              <a:buNone/>
            </a:pPr>
            <a:endParaRPr lang="nl-BE" sz="2200" b="1" dirty="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17158879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574381" y="1188295"/>
            <a:ext cx="5795766" cy="4803056"/>
          </a:xfrm>
          <a:prstGeom prst="rect">
            <a:avLst/>
          </a:prstGeom>
          <a:effectLst>
            <a:outerShdw blurRad="50800" dist="38100" dir="2700000" algn="tl" rotWithShape="0">
              <a:prstClr val="black">
                <a:alpha val="40000"/>
              </a:prstClr>
            </a:outerShdw>
          </a:effectLst>
        </p:spPr>
      </p:pic>
      <p:sp>
        <p:nvSpPr>
          <p:cNvPr id="10" name="Tijdelijke aanduiding voor inhoud 2">
            <a:extLst>
              <a:ext uri="{FF2B5EF4-FFF2-40B4-BE49-F238E27FC236}">
                <a16:creationId xmlns:a16="http://schemas.microsoft.com/office/drawing/2014/main" id="{1E34E2E1-4D6C-CD17-8FE5-AC869F816776}"/>
              </a:ext>
            </a:extLst>
          </p:cNvPr>
          <p:cNvSpPr txBox="1">
            <a:spLocks/>
          </p:cNvSpPr>
          <p:nvPr/>
        </p:nvSpPr>
        <p:spPr>
          <a:xfrm>
            <a:off x="720001" y="1350001"/>
            <a:ext cx="458391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cs typeface="Courier New" panose="02070309020205020404" pitchFamily="49" charset="0"/>
              </a:rPr>
              <a:t>Ideal for apps with GUI</a:t>
            </a:r>
          </a:p>
          <a:p>
            <a:pPr marL="324000" indent="-324000">
              <a:buBlip>
                <a:blip r:embed="rId5"/>
              </a:buBlip>
            </a:pPr>
            <a:r>
              <a:rPr lang="en-US" sz="2200" dirty="0">
                <a:cs typeface="Courier New" panose="02070309020205020404" pitchFamily="49" charset="0"/>
              </a:rPr>
              <a:t>Load (graphical) modules in Terminal, e.g. MATLAB, Fluent, </a:t>
            </a:r>
            <a:r>
              <a:rPr lang="en-US" sz="2200" dirty="0" err="1">
                <a:cs typeface="Courier New" panose="02070309020205020404" pitchFamily="49" charset="0"/>
              </a:rPr>
              <a:t>ncview</a:t>
            </a:r>
            <a:r>
              <a:rPr lang="en-US" sz="2200" dirty="0">
                <a:cs typeface="Courier New" panose="02070309020205020404" pitchFamily="49" charset="0"/>
              </a:rPr>
              <a:t>, </a:t>
            </a:r>
            <a:r>
              <a:rPr lang="en-US" sz="2200" dirty="0" err="1">
                <a:cs typeface="Courier New" panose="02070309020205020404" pitchFamily="49" charset="0"/>
              </a:rPr>
              <a:t>VisIt</a:t>
            </a:r>
            <a:r>
              <a:rPr lang="en-US" sz="2200" dirty="0">
                <a:cs typeface="Courier New" panose="02070309020205020404" pitchFamily="49" charset="0"/>
              </a:rPr>
              <a:t>, …</a:t>
            </a:r>
          </a:p>
          <a:p>
            <a:pPr marL="324000" indent="-324000">
              <a:buBlip>
                <a:blip r:embed="rId5"/>
              </a:buBlip>
            </a:pPr>
            <a:r>
              <a:rPr lang="en-US" sz="2200" dirty="0">
                <a:cs typeface="Courier New" panose="02070309020205020404" pitchFamily="49" charset="0"/>
              </a:rPr>
              <a:t>Minimalistic Terminal (different from login node)</a:t>
            </a:r>
          </a:p>
          <a:p>
            <a:pPr marL="324000" indent="-324000">
              <a:buBlip>
                <a:blip r:embed="rId5"/>
              </a:buBlip>
            </a:pPr>
            <a:r>
              <a:rPr lang="en-US" sz="2200" dirty="0">
                <a:cs typeface="Courier New" panose="02070309020205020404" pitchFamily="49" charset="0"/>
              </a:rPr>
              <a:t>Two visualization apps: </a:t>
            </a:r>
          </a:p>
          <a:p>
            <a:pPr lvl="1">
              <a:buClr>
                <a:srgbClr val="DB6C30"/>
              </a:buClr>
            </a:pPr>
            <a:r>
              <a:rPr lang="en-US" sz="1900" dirty="0" err="1">
                <a:cs typeface="Courier New" panose="02070309020205020404" pitchFamily="49" charset="0"/>
              </a:rPr>
              <a:t>VisIt</a:t>
            </a:r>
            <a:endParaRPr lang="en-US" sz="1900" dirty="0">
              <a:cs typeface="Courier New" panose="02070309020205020404" pitchFamily="49" charset="0"/>
            </a:endParaRPr>
          </a:p>
          <a:p>
            <a:pPr lvl="1">
              <a:buClr>
                <a:srgbClr val="DB6C30"/>
              </a:buClr>
            </a:pPr>
            <a:r>
              <a:rPr lang="en-US" sz="1900" dirty="0">
                <a:cs typeface="Courier New" panose="02070309020205020404" pitchFamily="49" charset="0"/>
              </a:rPr>
              <a:t>VMD</a:t>
            </a:r>
          </a:p>
        </p:txBody>
      </p:sp>
    </p:spTree>
    <p:extLst>
      <p:ext uri="{BB962C8B-B14F-4D97-AF65-F5344CB8AC3E}">
        <p14:creationId xmlns:p14="http://schemas.microsoft.com/office/powerpoint/2010/main" val="303969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39" name="Group 38">
            <a:extLst>
              <a:ext uri="{FF2B5EF4-FFF2-40B4-BE49-F238E27FC236}">
                <a16:creationId xmlns:a16="http://schemas.microsoft.com/office/drawing/2014/main" id="{582ED6FB-138F-CB8B-626F-556E2761FA97}"/>
              </a:ext>
            </a:extLst>
          </p:cNvPr>
          <p:cNvGrpSpPr/>
          <p:nvPr/>
        </p:nvGrpSpPr>
        <p:grpSpPr>
          <a:xfrm>
            <a:off x="839415" y="1402095"/>
            <a:ext cx="10224937" cy="1574847"/>
            <a:chOff x="839415" y="1402095"/>
            <a:chExt cx="10224937"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2520000" y="1402095"/>
              <a:ext cx="8544352" cy="157484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Visual Studio Code server as a job</a:t>
              </a:r>
            </a:p>
            <a:p>
              <a:pPr marL="0" indent="0">
                <a:buNone/>
              </a:pPr>
              <a:r>
                <a:rPr lang="en-US" sz="2200" dirty="0"/>
                <a:t>Develop, deploy and debug your workflow directly on HPC</a:t>
              </a:r>
            </a:p>
            <a:p>
              <a:pPr marL="0" indent="0">
                <a:buNone/>
              </a:pPr>
              <a:r>
                <a:rPr lang="en-US" sz="2200" dirty="0"/>
                <a:t>Use of the interactive partitions is free of charge and is a good choice</a:t>
              </a:r>
            </a:p>
            <a:p>
              <a:pPr marL="0" indent="0">
                <a:buNone/>
              </a:pPr>
              <a:r>
                <a:rPr lang="en-US" sz="2200" dirty="0"/>
                <a:t>Supports many languages + GitHub integration</a:t>
              </a:r>
            </a:p>
          </p:txBody>
        </p:sp>
        <p:grpSp>
          <p:nvGrpSpPr>
            <p:cNvPr id="20" name="Group 19">
              <a:extLst>
                <a:ext uri="{FF2B5EF4-FFF2-40B4-BE49-F238E27FC236}">
                  <a16:creationId xmlns:a16="http://schemas.microsoft.com/office/drawing/2014/main" id="{75843E90-FFEC-D8EA-8F0D-829FFA73A727}"/>
                </a:ext>
              </a:extLst>
            </p:cNvPr>
            <p:cNvGrpSpPr>
              <a:grpSpLocks noChangeAspect="1"/>
            </p:cNvGrpSpPr>
            <p:nvPr/>
          </p:nvGrpSpPr>
          <p:grpSpPr>
            <a:xfrm>
              <a:off x="839415" y="1561390"/>
              <a:ext cx="1256257" cy="1256257"/>
              <a:chOff x="407368" y="1402095"/>
              <a:chExt cx="1440000" cy="1440000"/>
            </a:xfrm>
          </p:grpSpPr>
          <p:pic>
            <p:nvPicPr>
              <p:cNvPr id="10" name="Picture 9">
                <a:extLst>
                  <a:ext uri="{FF2B5EF4-FFF2-40B4-BE49-F238E27FC236}">
                    <a16:creationId xmlns:a16="http://schemas.microsoft.com/office/drawing/2014/main" id="{86FA556B-1CC3-08BD-8D96-403890D1F8E6}"/>
                  </a:ext>
                </a:extLst>
              </p:cNvPr>
              <p:cNvPicPr>
                <a:picLocks noChangeAspect="1"/>
              </p:cNvPicPr>
              <p:nvPr/>
            </p:nvPicPr>
            <p:blipFill>
              <a:blip r:embed="rId3"/>
              <a:stretch>
                <a:fillRect/>
              </a:stretch>
            </p:blipFill>
            <p:spPr>
              <a:xfrm>
                <a:off x="695320" y="1690047"/>
                <a:ext cx="864096" cy="864096"/>
              </a:xfrm>
              <a:prstGeom prst="rect">
                <a:avLst/>
              </a:prstGeom>
            </p:spPr>
          </p:pic>
          <p:sp>
            <p:nvSpPr>
              <p:cNvPr id="13" name="Rectangle: Rounded Corners 12">
                <a:extLst>
                  <a:ext uri="{FF2B5EF4-FFF2-40B4-BE49-F238E27FC236}">
                    <a16:creationId xmlns:a16="http://schemas.microsoft.com/office/drawing/2014/main" id="{A18F06E0-D54B-5DA3-EBD5-DBEB262D734A}"/>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7" name="Group 36">
            <a:extLst>
              <a:ext uri="{FF2B5EF4-FFF2-40B4-BE49-F238E27FC236}">
                <a16:creationId xmlns:a16="http://schemas.microsoft.com/office/drawing/2014/main" id="{8C464958-2997-5671-3839-F303CECE1A33}"/>
              </a:ext>
            </a:extLst>
          </p:cNvPr>
          <p:cNvGrpSpPr/>
          <p:nvPr/>
        </p:nvGrpSpPr>
        <p:grpSpPr>
          <a:xfrm>
            <a:off x="839415" y="3213649"/>
            <a:ext cx="10224937" cy="1321769"/>
            <a:chOff x="839415" y="3224351"/>
            <a:chExt cx="10224937" cy="1321769"/>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20000" y="3224351"/>
              <a:ext cx="8544352" cy="132176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RStudio IDE as a job</a:t>
              </a:r>
              <a:endParaRPr lang="nl-BE" sz="2200" dirty="0"/>
            </a:p>
            <a:p>
              <a:pPr marL="0" indent="0">
                <a:buNone/>
              </a:pPr>
              <a:r>
                <a:rPr lang="nl-BE" sz="2200" dirty="0" err="1"/>
                <a:t>Install</a:t>
              </a:r>
              <a:r>
                <a:rPr lang="nl-BE" sz="2200" dirty="0"/>
                <a:t> </a:t>
              </a:r>
              <a:r>
                <a:rPr lang="nl-BE" sz="2200" dirty="0" err="1"/>
                <a:t>your</a:t>
              </a:r>
              <a:r>
                <a:rPr lang="nl-BE" sz="2200" dirty="0"/>
                <a:t> </a:t>
              </a:r>
              <a:r>
                <a:rPr lang="nl-BE" sz="2200" dirty="0" err="1"/>
                <a:t>own</a:t>
              </a:r>
              <a:r>
                <a:rPr lang="nl-BE" sz="2200" dirty="0"/>
                <a:t> packages in VSC_DATA</a:t>
              </a:r>
              <a:endParaRPr lang="en-US" sz="2200" dirty="0"/>
            </a:p>
          </p:txBody>
        </p:sp>
        <p:grpSp>
          <p:nvGrpSpPr>
            <p:cNvPr id="30" name="Group 29">
              <a:extLst>
                <a:ext uri="{FF2B5EF4-FFF2-40B4-BE49-F238E27FC236}">
                  <a16:creationId xmlns:a16="http://schemas.microsoft.com/office/drawing/2014/main" id="{E2B9F3DE-E5D2-CBAB-721B-0B2A2C0188B7}"/>
                </a:ext>
              </a:extLst>
            </p:cNvPr>
            <p:cNvGrpSpPr>
              <a:grpSpLocks noChangeAspect="1"/>
            </p:cNvGrpSpPr>
            <p:nvPr/>
          </p:nvGrpSpPr>
          <p:grpSpPr>
            <a:xfrm>
              <a:off x="839415" y="3257107"/>
              <a:ext cx="1256257" cy="1256257"/>
              <a:chOff x="407368" y="1402095"/>
              <a:chExt cx="1440000" cy="1440000"/>
            </a:xfrm>
          </p:grpSpPr>
          <p:pic>
            <p:nvPicPr>
              <p:cNvPr id="31" name="Picture 30">
                <a:extLst>
                  <a:ext uri="{FF2B5EF4-FFF2-40B4-BE49-F238E27FC236}">
                    <a16:creationId xmlns:a16="http://schemas.microsoft.com/office/drawing/2014/main" id="{0B8488BA-062F-43D2-D631-6075A1B099B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2" name="Rectangle: Rounded Corners 31">
                <a:extLst>
                  <a:ext uri="{FF2B5EF4-FFF2-40B4-BE49-F238E27FC236}">
                    <a16:creationId xmlns:a16="http://schemas.microsoft.com/office/drawing/2014/main" id="{02319B3E-AC9B-F916-C87A-EDCC7C5919F0}"/>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6" name="Group 35">
            <a:extLst>
              <a:ext uri="{FF2B5EF4-FFF2-40B4-BE49-F238E27FC236}">
                <a16:creationId xmlns:a16="http://schemas.microsoft.com/office/drawing/2014/main" id="{A748D521-2B55-FDCC-C5AF-A19612A493FD}"/>
              </a:ext>
            </a:extLst>
          </p:cNvPr>
          <p:cNvGrpSpPr/>
          <p:nvPr/>
        </p:nvGrpSpPr>
        <p:grpSpPr>
          <a:xfrm>
            <a:off x="839415" y="4931420"/>
            <a:ext cx="10224937" cy="1256257"/>
            <a:chOff x="839415" y="4931420"/>
            <a:chExt cx="10224937" cy="1256257"/>
          </a:xfrm>
        </p:grpSpPr>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20000" y="4934984"/>
              <a:ext cx="8544352" cy="124912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Track machine learning metrics and visualize data during the workflow</a:t>
              </a:r>
            </a:p>
            <a:p>
              <a:pPr marL="0" indent="0">
                <a:buNone/>
              </a:pPr>
              <a:r>
                <a:rPr lang="en-US" sz="2200" dirty="0"/>
                <a:t>You need to provide a log folder</a:t>
              </a:r>
            </a:p>
          </p:txBody>
        </p:sp>
        <p:grpSp>
          <p:nvGrpSpPr>
            <p:cNvPr id="33" name="Group 32">
              <a:extLst>
                <a:ext uri="{FF2B5EF4-FFF2-40B4-BE49-F238E27FC236}">
                  <a16:creationId xmlns:a16="http://schemas.microsoft.com/office/drawing/2014/main" id="{CC053541-3B2B-1C30-EA5A-F68B7B055EE6}"/>
                </a:ext>
              </a:extLst>
            </p:cNvPr>
            <p:cNvGrpSpPr>
              <a:grpSpLocks noChangeAspect="1"/>
            </p:cNvGrpSpPr>
            <p:nvPr/>
          </p:nvGrpSpPr>
          <p:grpSpPr>
            <a:xfrm>
              <a:off x="839415" y="4931420"/>
              <a:ext cx="1256257" cy="1256257"/>
              <a:chOff x="407368" y="1402095"/>
              <a:chExt cx="1440000" cy="1440000"/>
            </a:xfrm>
          </p:grpSpPr>
          <p:pic>
            <p:nvPicPr>
              <p:cNvPr id="34" name="Picture 33">
                <a:extLst>
                  <a:ext uri="{FF2B5EF4-FFF2-40B4-BE49-F238E27FC236}">
                    <a16:creationId xmlns:a16="http://schemas.microsoft.com/office/drawing/2014/main" id="{6A0EEB05-D60A-E734-0F9E-C892215609D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5" name="Rectangle: Rounded Corners 34">
                <a:extLst>
                  <a:ext uri="{FF2B5EF4-FFF2-40B4-BE49-F238E27FC236}">
                    <a16:creationId xmlns:a16="http://schemas.microsoft.com/office/drawing/2014/main" id="{0FFDED82-C603-835A-65C0-0F8B82C3F8CE}"/>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spTree>
    <p:extLst>
      <p:ext uri="{BB962C8B-B14F-4D97-AF65-F5344CB8AC3E}">
        <p14:creationId xmlns:p14="http://schemas.microsoft.com/office/powerpoint/2010/main" val="290839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9" name="Group 28">
            <a:extLst>
              <a:ext uri="{FF2B5EF4-FFF2-40B4-BE49-F238E27FC236}">
                <a16:creationId xmlns:a16="http://schemas.microsoft.com/office/drawing/2014/main" id="{49DADB8D-5FF1-2A34-B03A-FDBE72458B8B}"/>
              </a:ext>
            </a:extLst>
          </p:cNvPr>
          <p:cNvGrpSpPr/>
          <p:nvPr/>
        </p:nvGrpSpPr>
        <p:grpSpPr>
          <a:xfrm>
            <a:off x="839415" y="1562400"/>
            <a:ext cx="10224937" cy="1256257"/>
            <a:chOff x="839415" y="1562400"/>
            <a:chExt cx="10224937" cy="1256257"/>
          </a:xfrm>
        </p:grpSpPr>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20000" y="1562400"/>
              <a:ext cx="8544352" cy="125625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PyCharm IDE as a job</a:t>
              </a:r>
            </a:p>
            <a:p>
              <a:pPr marL="0" indent="0">
                <a:buNone/>
              </a:pPr>
              <a:r>
                <a:rPr lang="en-US" sz="2200" dirty="0"/>
                <a:t>Develop, deploy and debug your Python workflow directly on HPC</a:t>
              </a:r>
            </a:p>
            <a:p>
              <a:pPr marL="0" indent="0">
                <a:buNone/>
              </a:pPr>
              <a:r>
                <a:rPr lang="en-US" sz="2200" dirty="0"/>
                <a:t>Use Python environment based on Conda or virtual environments</a:t>
              </a:r>
            </a:p>
          </p:txBody>
        </p:sp>
        <p:grpSp>
          <p:nvGrpSpPr>
            <p:cNvPr id="14" name="Group 13">
              <a:extLst>
                <a:ext uri="{FF2B5EF4-FFF2-40B4-BE49-F238E27FC236}">
                  <a16:creationId xmlns:a16="http://schemas.microsoft.com/office/drawing/2014/main" id="{34E480E0-FCDB-062B-E12F-D399FAE5C75C}"/>
                </a:ext>
              </a:extLst>
            </p:cNvPr>
            <p:cNvGrpSpPr>
              <a:grpSpLocks noChangeAspect="1"/>
            </p:cNvGrpSpPr>
            <p:nvPr/>
          </p:nvGrpSpPr>
          <p:grpSpPr>
            <a:xfrm>
              <a:off x="839415" y="1562400"/>
              <a:ext cx="1256257" cy="1256257"/>
              <a:chOff x="407368" y="1402095"/>
              <a:chExt cx="1440000" cy="1440000"/>
            </a:xfrm>
          </p:grpSpPr>
          <p:pic>
            <p:nvPicPr>
              <p:cNvPr id="15" name="Picture 14">
                <a:extLst>
                  <a:ext uri="{FF2B5EF4-FFF2-40B4-BE49-F238E27FC236}">
                    <a16:creationId xmlns:a16="http://schemas.microsoft.com/office/drawing/2014/main" id="{908EB2D3-862B-438E-4DA5-21E1A058B6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16" name="Rectangle: Rounded Corners 15">
                <a:extLst>
                  <a:ext uri="{FF2B5EF4-FFF2-40B4-BE49-F238E27FC236}">
                    <a16:creationId xmlns:a16="http://schemas.microsoft.com/office/drawing/2014/main" id="{FBBA8FB2-345B-F23D-B108-8BFA460B39C6}"/>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2" name="Group 31">
            <a:extLst>
              <a:ext uri="{FF2B5EF4-FFF2-40B4-BE49-F238E27FC236}">
                <a16:creationId xmlns:a16="http://schemas.microsoft.com/office/drawing/2014/main" id="{E72BF299-E836-3A86-535C-CDBE45F46DFA}"/>
              </a:ext>
            </a:extLst>
          </p:cNvPr>
          <p:cNvGrpSpPr/>
          <p:nvPr/>
        </p:nvGrpSpPr>
        <p:grpSpPr>
          <a:xfrm>
            <a:off x="838800" y="3247200"/>
            <a:ext cx="10225552" cy="1257770"/>
            <a:chOff x="838800" y="3247200"/>
            <a:chExt cx="10225552" cy="1257770"/>
          </a:xfrm>
        </p:grpSpPr>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20000" y="3247200"/>
              <a:ext cx="8544352" cy="1257770"/>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Use Fluent for CFD simulations (single-node)</a:t>
              </a:r>
              <a:endParaRPr lang="nl-BE" sz="2200" dirty="0"/>
            </a:p>
            <a:p>
              <a:pPr marL="0" indent="0">
                <a:buNone/>
              </a:pPr>
              <a:r>
                <a:rPr lang="en-US" sz="2200" dirty="0"/>
                <a:t>You need to be in a license group before being able to see the app logo</a:t>
              </a:r>
            </a:p>
            <a:p>
              <a:pPr marL="0" indent="0">
                <a:buNone/>
              </a:pPr>
              <a:r>
                <a:rPr lang="en-US" sz="2200" dirty="0"/>
                <a:t>Contact your supervisor to help you joining an existing license group</a:t>
              </a:r>
            </a:p>
          </p:txBody>
        </p:sp>
        <p:grpSp>
          <p:nvGrpSpPr>
            <p:cNvPr id="21" name="Group 20">
              <a:extLst>
                <a:ext uri="{FF2B5EF4-FFF2-40B4-BE49-F238E27FC236}">
                  <a16:creationId xmlns:a16="http://schemas.microsoft.com/office/drawing/2014/main" id="{A1881CD3-53D3-A5C2-8430-6ECD3E9E57AE}"/>
                </a:ext>
              </a:extLst>
            </p:cNvPr>
            <p:cNvGrpSpPr>
              <a:grpSpLocks noChangeAspect="1"/>
            </p:cNvGrpSpPr>
            <p:nvPr/>
          </p:nvGrpSpPr>
          <p:grpSpPr>
            <a:xfrm>
              <a:off x="838800" y="3247200"/>
              <a:ext cx="1256257" cy="1256257"/>
              <a:chOff x="397988" y="1402095"/>
              <a:chExt cx="1440000" cy="1440000"/>
            </a:xfrm>
          </p:grpSpPr>
          <p:pic>
            <p:nvPicPr>
              <p:cNvPr id="22" name="Picture 21">
                <a:extLst>
                  <a:ext uri="{FF2B5EF4-FFF2-40B4-BE49-F238E27FC236}">
                    <a16:creationId xmlns:a16="http://schemas.microsoft.com/office/drawing/2014/main" id="{83837B80-17A4-C707-8D40-0672C804DD7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532583" y="1848221"/>
                <a:ext cx="1170808" cy="547746"/>
              </a:xfrm>
              <a:prstGeom prst="rect">
                <a:avLst/>
              </a:prstGeom>
            </p:spPr>
          </p:pic>
          <p:sp>
            <p:nvSpPr>
              <p:cNvPr id="23" name="Rectangle: Rounded Corners 22">
                <a:extLst>
                  <a:ext uri="{FF2B5EF4-FFF2-40B4-BE49-F238E27FC236}">
                    <a16:creationId xmlns:a16="http://schemas.microsoft.com/office/drawing/2014/main" id="{54DB57F0-BE0C-AF60-F62E-5F34D19D1010}"/>
                  </a:ext>
                </a:extLst>
              </p:cNvPr>
              <p:cNvSpPr/>
              <p:nvPr/>
            </p:nvSpPr>
            <p:spPr>
              <a:xfrm>
                <a:off x="39798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3" name="Group 32">
            <a:extLst>
              <a:ext uri="{FF2B5EF4-FFF2-40B4-BE49-F238E27FC236}">
                <a16:creationId xmlns:a16="http://schemas.microsoft.com/office/drawing/2014/main" id="{096F2CC8-76D3-D208-90D7-6A7A2928D85A}"/>
              </a:ext>
            </a:extLst>
          </p:cNvPr>
          <p:cNvGrpSpPr/>
          <p:nvPr/>
        </p:nvGrpSpPr>
        <p:grpSpPr>
          <a:xfrm>
            <a:off x="838800" y="4932000"/>
            <a:ext cx="10225552" cy="1256257"/>
            <a:chOff x="838800" y="4932000"/>
            <a:chExt cx="10225552" cy="1256257"/>
          </a:xfrm>
        </p:grpSpPr>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20000" y="4932000"/>
              <a:ext cx="8544352" cy="1256257"/>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Tunnel to the cluster from your local </a:t>
              </a:r>
              <a:r>
                <a:rPr lang="en-US" sz="2200" dirty="0" err="1"/>
                <a:t>VSCode</a:t>
              </a:r>
              <a:r>
                <a:rPr lang="en-US" sz="2200" dirty="0"/>
                <a:t>, so that you code locally, but run remotely! You can enable extensions such as Copilot and more.</a:t>
              </a:r>
            </a:p>
          </p:txBody>
        </p:sp>
        <p:grpSp>
          <p:nvGrpSpPr>
            <p:cNvPr id="26" name="Group 25">
              <a:extLst>
                <a:ext uri="{FF2B5EF4-FFF2-40B4-BE49-F238E27FC236}">
                  <a16:creationId xmlns:a16="http://schemas.microsoft.com/office/drawing/2014/main" id="{E3805ED8-81E9-29FE-6EAE-CEE458E7C64B}"/>
                </a:ext>
              </a:extLst>
            </p:cNvPr>
            <p:cNvGrpSpPr>
              <a:grpSpLocks noChangeAspect="1"/>
            </p:cNvGrpSpPr>
            <p:nvPr/>
          </p:nvGrpSpPr>
          <p:grpSpPr>
            <a:xfrm>
              <a:off x="838800" y="4932000"/>
              <a:ext cx="1256257" cy="1256257"/>
              <a:chOff x="407368" y="1402095"/>
              <a:chExt cx="1440000" cy="1440000"/>
            </a:xfrm>
          </p:grpSpPr>
          <p:pic>
            <p:nvPicPr>
              <p:cNvPr id="27" name="Picture 26">
                <a:extLst>
                  <a:ext uri="{FF2B5EF4-FFF2-40B4-BE49-F238E27FC236}">
                    <a16:creationId xmlns:a16="http://schemas.microsoft.com/office/drawing/2014/main" id="{78F0A1BC-319E-3C40-9920-EEE481C33D3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28" name="Rectangle: Rounded Corners 27">
                <a:extLst>
                  <a:ext uri="{FF2B5EF4-FFF2-40B4-BE49-F238E27FC236}">
                    <a16:creationId xmlns:a16="http://schemas.microsoft.com/office/drawing/2014/main" id="{CF2E706F-33DB-58EB-BBED-267F5629012C}"/>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3" name="Tijdelijke aanduiding voor inhoud 2">
            <a:extLst>
              <a:ext uri="{FF2B5EF4-FFF2-40B4-BE49-F238E27FC236}">
                <a16:creationId xmlns:a16="http://schemas.microsoft.com/office/drawing/2014/main" id="{D7C43BA7-5DCD-0214-F764-A9C978942028}"/>
              </a:ext>
            </a:extLst>
          </p:cNvPr>
          <p:cNvSpPr txBox="1">
            <a:spLocks/>
          </p:cNvSpPr>
          <p:nvPr/>
        </p:nvSpPr>
        <p:spPr>
          <a:xfrm>
            <a:off x="720000" y="1350001"/>
            <a:ext cx="6384111" cy="272707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cs typeface="Courier New" panose="02070309020205020404" pitchFamily="49" charset="0"/>
              </a:rPr>
              <a:t>All apps have (almost) similar resource form</a:t>
            </a:r>
          </a:p>
          <a:p>
            <a:pPr marL="0" indent="0">
              <a:buNone/>
            </a:pPr>
            <a:endParaRPr lang="en-US" sz="2200" dirty="0">
              <a:cs typeface="Courier New" panose="02070309020205020404" pitchFamily="49" charset="0"/>
            </a:endParaRPr>
          </a:p>
          <a:p>
            <a:pPr marL="0" indent="0">
              <a:buNone/>
            </a:pPr>
            <a:r>
              <a:rPr lang="en-US" sz="2200" i="1" dirty="0">
                <a:cs typeface="Courier New" panose="02070309020205020404" pitchFamily="49" charset="0"/>
              </a:rPr>
              <a:t>E.g.</a:t>
            </a:r>
            <a:r>
              <a:rPr lang="en-US" sz="2200" dirty="0">
                <a:cs typeface="Courier New" panose="02070309020205020404" pitchFamily="49" charset="0"/>
              </a:rPr>
              <a:t> to start a </a:t>
            </a:r>
            <a:r>
              <a:rPr lang="en-US" sz="2200" dirty="0" err="1">
                <a:cs typeface="Courier New" panose="02070309020205020404" pitchFamily="49" charset="0"/>
              </a:rPr>
              <a:t>JupyterLab</a:t>
            </a:r>
            <a:r>
              <a:rPr lang="en-US" sz="2200" dirty="0">
                <a:cs typeface="Courier New" panose="02070309020205020404" pitchFamily="49" charset="0"/>
              </a:rPr>
              <a:t> session:</a:t>
            </a:r>
          </a:p>
          <a:p>
            <a:pPr marL="324000" indent="-324000">
              <a:buBlip>
                <a:blip r:embed="rId4"/>
              </a:buBlip>
            </a:pPr>
            <a:r>
              <a:rPr lang="en-US" sz="2200" dirty="0">
                <a:cs typeface="Courier New" panose="02070309020205020404" pitchFamily="49" charset="0"/>
              </a:rPr>
              <a:t> Pick a valid </a:t>
            </a:r>
            <a:r>
              <a:rPr lang="en-US" sz="2200" dirty="0" err="1">
                <a:cs typeface="Courier New" panose="02070309020205020404" pitchFamily="49" charset="0"/>
              </a:rPr>
              <a:t>Slurm</a:t>
            </a:r>
            <a:r>
              <a:rPr lang="en-US" sz="2200" dirty="0">
                <a:cs typeface="Courier New" panose="02070309020205020404" pitchFamily="49" charset="0"/>
              </a:rPr>
              <a:t> credit account</a:t>
            </a:r>
          </a:p>
          <a:p>
            <a:pPr marL="324000" indent="-324000">
              <a:buBlip>
                <a:blip r:embed="rId4"/>
              </a:buBlip>
            </a:pPr>
            <a:r>
              <a:rPr lang="en-US" sz="2200" dirty="0">
                <a:cs typeface="Courier New" panose="02070309020205020404" pitchFamily="49" charset="0"/>
              </a:rPr>
              <a:t> Default partition for most apps: </a:t>
            </a:r>
            <a:r>
              <a:rPr lang="en-US" sz="2200" dirty="0">
                <a:latin typeface="Courier New" panose="02070309020205020404" pitchFamily="49" charset="0"/>
                <a:cs typeface="Courier New" panose="02070309020205020404" pitchFamily="49" charset="0"/>
              </a:rPr>
              <a:t>interactive</a:t>
            </a:r>
            <a:br>
              <a:rPr lang="en-US" sz="2200" dirty="0">
                <a:cs typeface="Courier New" panose="02070309020205020404" pitchFamily="49" charset="0"/>
              </a:rPr>
            </a:br>
            <a:r>
              <a:rPr lang="en-US" sz="2200" dirty="0">
                <a:cs typeface="Courier New" panose="02070309020205020404" pitchFamily="49" charset="0"/>
              </a:rPr>
              <a:t> (interactive: max 8 cores, 1 GPU instance, 16 </a:t>
            </a:r>
            <a:r>
              <a:rPr lang="en-US" sz="2200" dirty="0" err="1">
                <a:cs typeface="Courier New" panose="02070309020205020404" pitchFamily="49" charset="0"/>
              </a:rPr>
              <a:t>hr</a:t>
            </a:r>
            <a:r>
              <a:rPr lang="en-US" sz="2200" dirty="0">
                <a:cs typeface="Courier New" panose="02070309020205020404" pitchFamily="49" charset="0"/>
              </a:rPr>
              <a:t>)</a:t>
            </a:r>
          </a:p>
          <a:p>
            <a:pPr marL="324000" indent="-324000">
              <a:buBlip>
                <a:blip r:embed="rId4"/>
              </a:buBlip>
            </a:pPr>
            <a:r>
              <a:rPr lang="en-US" sz="2200" dirty="0">
                <a:cs typeface="Courier New" panose="02070309020205020404" pitchFamily="49" charset="0"/>
              </a:rPr>
              <a:t>Using </a:t>
            </a:r>
            <a:r>
              <a:rPr lang="en-US" sz="2200" dirty="0">
                <a:latin typeface="Courier New" panose="02070309020205020404" pitchFamily="49" charset="0"/>
                <a:cs typeface="Courier New" panose="02070309020205020404" pitchFamily="49" charset="0"/>
              </a:rPr>
              <a:t>interactive</a:t>
            </a:r>
            <a:r>
              <a:rPr lang="en-US" sz="2200" dirty="0">
                <a:cs typeface="Courier New" panose="02070309020205020404" pitchFamily="49" charset="0"/>
              </a:rPr>
              <a:t> partitions is free of charge</a:t>
            </a:r>
          </a:p>
        </p:txBody>
      </p:sp>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444808145"/>
              </p:ext>
            </p:extLst>
          </p:nvPr>
        </p:nvGraphicFramePr>
        <p:xfrm>
          <a:off x="720000" y="3284984"/>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and its dependencies</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Centrally installed modules</a:t>
            </a:r>
            <a:endParaRPr lang="pl-PL" altLang="en-US" sz="3200" dirty="0"/>
          </a:p>
        </p:txBody>
      </p:sp>
      <p:grpSp>
        <p:nvGrpSpPr>
          <p:cNvPr id="2" name="Group 1">
            <a:extLst>
              <a:ext uri="{FF2B5EF4-FFF2-40B4-BE49-F238E27FC236}">
                <a16:creationId xmlns:a16="http://schemas.microsoft.com/office/drawing/2014/main" id="{B35053B3-0E4C-B418-0F5C-0DA5EFBBFC0A}"/>
              </a:ext>
            </a:extLst>
          </p:cNvPr>
          <p:cNvGrpSpPr/>
          <p:nvPr/>
        </p:nvGrpSpPr>
        <p:grpSpPr>
          <a:xfrm>
            <a:off x="8688288" y="620688"/>
            <a:ext cx="3050876" cy="1957490"/>
            <a:chOff x="8688288" y="620688"/>
            <a:chExt cx="3050876" cy="1957490"/>
          </a:xfrm>
        </p:grpSpPr>
        <p:sp>
          <p:nvSpPr>
            <p:cNvPr id="10" name="TextBox 9">
              <a:extLst>
                <a:ext uri="{FF2B5EF4-FFF2-40B4-BE49-F238E27FC236}">
                  <a16:creationId xmlns:a16="http://schemas.microsoft.com/office/drawing/2014/main" id="{F4CA8C5A-A666-520A-14B5-DBF9464FDF34}"/>
                </a:ext>
              </a:extLst>
            </p:cNvPr>
            <p:cNvSpPr txBox="1"/>
            <p:nvPr/>
          </p:nvSpPr>
          <p:spPr>
            <a:xfrm>
              <a:off x="8688288" y="1131628"/>
              <a:ext cx="2982213" cy="1446550"/>
            </a:xfrm>
            <a:prstGeom prst="rect">
              <a:avLst/>
            </a:prstGeom>
            <a:noFill/>
            <a:ln w="38100">
              <a:solidFill>
                <a:srgbClr val="FF0000"/>
              </a:solidFill>
            </a:ln>
          </p:spPr>
          <p:txBody>
            <a:bodyPr wrap="square" rtlCol="0">
              <a:spAutoFit/>
            </a:bodyPr>
            <a:lstStyle/>
            <a:p>
              <a:r>
                <a:rPr lang="en-US" sz="2200" dirty="0"/>
                <a:t>Not all toolchains are compatible with each other! </a:t>
              </a:r>
              <a:br>
                <a:rPr lang="en-US" sz="2200" dirty="0"/>
              </a:br>
              <a:r>
                <a:rPr lang="en-US" sz="2200" b="1" dirty="0"/>
                <a:t>Never mix </a:t>
              </a:r>
              <a:r>
                <a:rPr lang="en-US" sz="2200" b="1" i="1" dirty="0" err="1"/>
                <a:t>foss</a:t>
              </a:r>
              <a:r>
                <a:rPr lang="en-US" sz="2200" b="1" dirty="0"/>
                <a:t> and </a:t>
              </a:r>
              <a:r>
                <a:rPr lang="en-US" sz="2200" b="1" i="1" dirty="0"/>
                <a:t>intel</a:t>
              </a:r>
              <a:endParaRPr lang="en-US" sz="2200" b="1" dirty="0"/>
            </a:p>
          </p:txBody>
        </p:sp>
        <p:pic>
          <p:nvPicPr>
            <p:cNvPr id="11" name="Picture 10">
              <a:extLst>
                <a:ext uri="{FF2B5EF4-FFF2-40B4-BE49-F238E27FC236}">
                  <a16:creationId xmlns:a16="http://schemas.microsoft.com/office/drawing/2014/main" id="{0F50D2EE-05C9-DEF5-2CAE-0D69374711FE}"/>
                </a:ext>
              </a:extLst>
            </p:cNvPr>
            <p:cNvPicPr>
              <a:picLocks noChangeAspect="1"/>
            </p:cNvPicPr>
            <p:nvPr/>
          </p:nvPicPr>
          <p:blipFill>
            <a:blip r:embed="rId2"/>
            <a:stretch>
              <a:fillRect/>
            </a:stretch>
          </p:blipFill>
          <p:spPr>
            <a:xfrm>
              <a:off x="11212600" y="620688"/>
              <a:ext cx="526564" cy="526564"/>
            </a:xfrm>
            <a:prstGeom prst="rect">
              <a:avLst/>
            </a:prstGeom>
          </p:spPr>
        </p:pic>
      </p:grpSp>
      <p:sp>
        <p:nvSpPr>
          <p:cNvPr id="19" name="Tijdelijke aanduiding voor inhoud 2">
            <a:extLst>
              <a:ext uri="{FF2B5EF4-FFF2-40B4-BE49-F238E27FC236}">
                <a16:creationId xmlns:a16="http://schemas.microsoft.com/office/drawing/2014/main" id="{79433A41-E4EA-EAE7-DABD-295F0D78E550}"/>
              </a:ext>
            </a:extLst>
          </p:cNvPr>
          <p:cNvSpPr txBox="1">
            <a:spLocks/>
          </p:cNvSpPr>
          <p:nvPr/>
        </p:nvSpPr>
        <p:spPr>
          <a:xfrm>
            <a:off x="720000" y="1124744"/>
            <a:ext cx="10704592" cy="1934983"/>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OS: </a:t>
            </a:r>
            <a:r>
              <a:rPr lang="en-US" sz="2200" dirty="0" err="1"/>
              <a:t>wICE</a:t>
            </a:r>
            <a:r>
              <a:rPr lang="en-US" sz="2200" dirty="0"/>
              <a:t> is running on Rocky Linux 9.8</a:t>
            </a:r>
          </a:p>
          <a:p>
            <a:pPr marL="324000" indent="-324000">
              <a:buBlip>
                <a:blip r:embed="rId3"/>
              </a:buBlip>
            </a:pPr>
            <a:r>
              <a:rPr lang="en-US" sz="2200" dirty="0"/>
              <a:t>Toolchains:</a:t>
            </a:r>
          </a:p>
          <a:p>
            <a:pPr lvl="1">
              <a:buClr>
                <a:srgbClr val="DB6C30"/>
              </a:buClr>
            </a:pPr>
            <a:r>
              <a:rPr lang="en-US" sz="1900" i="1" dirty="0"/>
              <a:t>intel</a:t>
            </a:r>
            <a:r>
              <a:rPr lang="en-US" sz="1900" dirty="0"/>
              <a:t> (</a:t>
            </a:r>
            <a:r>
              <a:rPr lang="en-US" sz="1900" dirty="0" err="1"/>
              <a:t>icc</a:t>
            </a:r>
            <a:r>
              <a:rPr lang="en-US" sz="1900" dirty="0"/>
              <a:t>, </a:t>
            </a:r>
            <a:r>
              <a:rPr lang="en-US" sz="1900" dirty="0" err="1"/>
              <a:t>icpc</a:t>
            </a:r>
            <a:r>
              <a:rPr lang="en-US" sz="1900" dirty="0"/>
              <a:t>, </a:t>
            </a:r>
            <a:r>
              <a:rPr lang="en-US" sz="1900" dirty="0" err="1"/>
              <a:t>ifort</a:t>
            </a:r>
            <a:r>
              <a:rPr lang="en-US" sz="1900" dirty="0"/>
              <a:t>; Intel MPI; Intel MKL)</a:t>
            </a:r>
          </a:p>
          <a:p>
            <a:pPr lvl="1">
              <a:buClr>
                <a:srgbClr val="DB6C30"/>
              </a:buClr>
            </a:pPr>
            <a:r>
              <a:rPr lang="en-US" sz="1900" i="1" dirty="0" err="1"/>
              <a:t>foss</a:t>
            </a:r>
            <a:r>
              <a:rPr lang="en-US" sz="1900" dirty="0"/>
              <a:t> (</a:t>
            </a:r>
            <a:r>
              <a:rPr lang="en-US" sz="1900" dirty="0" err="1"/>
              <a:t>gcc</a:t>
            </a:r>
            <a:r>
              <a:rPr lang="en-US" sz="1900" dirty="0"/>
              <a:t>, g++, </a:t>
            </a:r>
            <a:r>
              <a:rPr lang="en-US" sz="1900" dirty="0" err="1"/>
              <a:t>gfortran</a:t>
            </a:r>
            <a:r>
              <a:rPr lang="en-US" sz="1900" dirty="0"/>
              <a:t>; </a:t>
            </a:r>
            <a:r>
              <a:rPr lang="en-US" sz="1900" dirty="0" err="1"/>
              <a:t>OpenMPI</a:t>
            </a:r>
            <a:r>
              <a:rPr lang="en-US" sz="1900" dirty="0"/>
              <a:t>; </a:t>
            </a:r>
            <a:r>
              <a:rPr lang="en-US" sz="1900" dirty="0" err="1"/>
              <a:t>ScaLAPACK</a:t>
            </a:r>
            <a:r>
              <a:rPr lang="en-US" sz="1900" dirty="0"/>
              <a:t>, </a:t>
            </a:r>
            <a:r>
              <a:rPr lang="en-US" sz="1900" dirty="0" err="1"/>
              <a:t>OpenBLAS</a:t>
            </a:r>
            <a:r>
              <a:rPr lang="en-US" sz="1900" dirty="0"/>
              <a:t>, FFTW)</a:t>
            </a:r>
          </a:p>
          <a:p>
            <a:pPr lvl="1">
              <a:buClr>
                <a:srgbClr val="DB6C30"/>
              </a:buClr>
            </a:pPr>
            <a:r>
              <a:rPr lang="en-US" sz="1900" dirty="0"/>
              <a:t>Starting toolchain-year on </a:t>
            </a:r>
            <a:r>
              <a:rPr lang="en-US" sz="1900" dirty="0" err="1"/>
              <a:t>wICE</a:t>
            </a:r>
            <a:r>
              <a:rPr lang="en-US" sz="1900" dirty="0"/>
              <a:t>: 2021a</a:t>
            </a:r>
          </a:p>
          <a:p>
            <a:pPr lvl="1">
              <a:buClr>
                <a:srgbClr val="DB6C30"/>
              </a:buClr>
            </a:pPr>
            <a:r>
              <a:rPr lang="en-US" sz="1900" dirty="0"/>
              <a:t>Starting toolchain-year on </a:t>
            </a:r>
            <a:r>
              <a:rPr lang="en-US" sz="1900" dirty="0" err="1"/>
              <a:t>Mindwell</a:t>
            </a:r>
            <a:r>
              <a:rPr lang="en-US" sz="1900" dirty="0"/>
              <a:t>: 2024a</a:t>
            </a:r>
          </a:p>
        </p:txBody>
      </p:sp>
    </p:spTree>
    <p:extLst>
      <p:ext uri="{BB962C8B-B14F-4D97-AF65-F5344CB8AC3E}">
        <p14:creationId xmlns:p14="http://schemas.microsoft.com/office/powerpoint/2010/main" val="2128373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Your specific needs</a:t>
            </a:r>
            <a:endParaRPr lang="pl-PL" altLang="en-US" sz="3200" dirty="0"/>
          </a:p>
        </p:txBody>
      </p:sp>
      <p:sp>
        <p:nvSpPr>
          <p:cNvPr id="5" name="Tijdelijke aanduiding voor inhoud 2">
            <a:extLst>
              <a:ext uri="{FF2B5EF4-FFF2-40B4-BE49-F238E27FC236}">
                <a16:creationId xmlns:a16="http://schemas.microsoft.com/office/drawing/2014/main" id="{F5A4DF83-AF03-A69B-76D7-6C9D29E2E472}"/>
              </a:ext>
            </a:extLst>
          </p:cNvPr>
          <p:cNvSpPr txBox="1">
            <a:spLocks/>
          </p:cNvSpPr>
          <p:nvPr/>
        </p:nvSpPr>
        <p:spPr>
          <a:xfrm>
            <a:off x="720000" y="1205985"/>
            <a:ext cx="10704592" cy="531935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dirty="0"/>
              <a:t>Use </a:t>
            </a:r>
            <a:r>
              <a:rPr lang="en-US" sz="2200" dirty="0">
                <a:hlinkClick r:id="rId3"/>
              </a:rPr>
              <a:t>existing modules</a:t>
            </a:r>
            <a:endParaRPr lang="en-US" sz="2200" dirty="0"/>
          </a:p>
          <a:p>
            <a:pPr marL="324000" indent="-324000">
              <a:buBlip>
                <a:blip r:embed="rId2"/>
              </a:buBlip>
            </a:pPr>
            <a:r>
              <a:rPr lang="en-US" sz="2200" dirty="0"/>
              <a:t>For missing module, </a:t>
            </a:r>
            <a:r>
              <a:rPr lang="en-US" sz="2200" dirty="0">
                <a:hlinkClick r:id="rId4"/>
              </a:rPr>
              <a:t>contact the HPC support team</a:t>
            </a:r>
            <a:br>
              <a:rPr lang="en-US" sz="2200" dirty="0"/>
            </a:br>
            <a:r>
              <a:rPr lang="en-US" sz="1900" dirty="0"/>
              <a:t>For Python and R packages, however, we prefer that you install it yourself</a:t>
            </a:r>
          </a:p>
          <a:p>
            <a:pPr lvl="1">
              <a:buClr>
                <a:srgbClr val="DB6C30"/>
              </a:buClr>
            </a:pPr>
            <a:r>
              <a:rPr lang="en-US" sz="1900" dirty="0"/>
              <a:t>Read more about </a:t>
            </a:r>
            <a:r>
              <a:rPr lang="en-US" sz="1900" dirty="0">
                <a:hlinkClick r:id="rId5"/>
              </a:rPr>
              <a:t>Python Package Management</a:t>
            </a:r>
            <a:endParaRPr lang="en-US" sz="1900" dirty="0"/>
          </a:p>
          <a:p>
            <a:pPr lvl="1">
              <a:buClr>
                <a:srgbClr val="DB6C30"/>
              </a:buClr>
            </a:pPr>
            <a:r>
              <a:rPr lang="en-US" sz="1900" dirty="0"/>
              <a:t>Read more about </a:t>
            </a:r>
            <a:r>
              <a:rPr lang="en-US" sz="1900" dirty="0">
                <a:hlinkClick r:id="rId6"/>
              </a:rPr>
              <a:t>R Package Management</a:t>
            </a:r>
            <a:endParaRPr lang="en-US" sz="2200" dirty="0"/>
          </a:p>
          <a:p>
            <a:pPr marL="324000" indent="-324000">
              <a:buBlip>
                <a:blip r:embed="rId2"/>
              </a:buBlip>
            </a:pPr>
            <a:r>
              <a:rPr lang="en-US" sz="2200" dirty="0" err="1"/>
              <a:t>Lincensed</a:t>
            </a:r>
            <a:r>
              <a:rPr lang="en-US" sz="2200" dirty="0"/>
              <a:t> software:</a:t>
            </a:r>
            <a:br>
              <a:rPr lang="en-US" sz="2200" dirty="0"/>
            </a:br>
            <a:r>
              <a:rPr lang="en-US" sz="1900" dirty="0"/>
              <a:t>You are responsible for providing the license</a:t>
            </a:r>
            <a:br>
              <a:rPr lang="en-US" sz="1900" dirty="0"/>
            </a:br>
            <a:r>
              <a:rPr lang="en-US" sz="1900" dirty="0"/>
              <a:t>Exceptionally, we provide MATLAB license (request joining </a:t>
            </a:r>
            <a:r>
              <a:rPr lang="en-US" sz="1900" dirty="0" err="1">
                <a:latin typeface="Courier New" panose="02070309020205020404" pitchFamily="49" charset="0"/>
                <a:cs typeface="Courier New" panose="02070309020205020404" pitchFamily="49" charset="0"/>
              </a:rPr>
              <a:t>lli_matlab</a:t>
            </a:r>
            <a:r>
              <a:rPr lang="en-US" sz="1900" dirty="0"/>
              <a:t> group)</a:t>
            </a:r>
            <a:br>
              <a:rPr lang="en-US" sz="1900" dirty="0"/>
            </a:br>
            <a:r>
              <a:rPr lang="en-US" sz="1900" dirty="0"/>
              <a:t>For license servers, please contact </a:t>
            </a:r>
            <a:r>
              <a:rPr lang="en-US" sz="1900" dirty="0">
                <a:hlinkClick r:id="rId7"/>
              </a:rPr>
              <a:t>SET-IT</a:t>
            </a:r>
            <a:endParaRPr lang="en-US" sz="1900" dirty="0"/>
          </a:p>
          <a:p>
            <a:pPr marL="324000" indent="-324000">
              <a:buBlip>
                <a:blip r:embed="rId2"/>
              </a:buBlip>
            </a:pPr>
            <a:r>
              <a:rPr lang="en-US" sz="2200" dirty="0"/>
              <a:t>If you want to compile software yourself:</a:t>
            </a:r>
          </a:p>
          <a:p>
            <a:pPr lvl="1">
              <a:buClr>
                <a:srgbClr val="DB6C30"/>
              </a:buClr>
            </a:pPr>
            <a:r>
              <a:rPr lang="en-US" sz="1900" dirty="0"/>
              <a:t>Best install it in your </a:t>
            </a: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t>Guidelines on </a:t>
            </a:r>
            <a:r>
              <a:rPr lang="en-US" sz="1900" dirty="0" err="1">
                <a:hlinkClick r:id="rId8"/>
              </a:rPr>
              <a:t>VSCdocs</a:t>
            </a:r>
            <a:endParaRPr lang="en-US" sz="1900" dirty="0">
              <a:latin typeface="Courier New" panose="02070309020205020404" pitchFamily="49" charset="0"/>
              <a:cs typeface="Courier New" panose="02070309020205020404" pitchFamily="49" charset="0"/>
            </a:endParaRPr>
          </a:p>
          <a:p>
            <a:pPr lvl="1">
              <a:buClr>
                <a:srgbClr val="DB6C30"/>
              </a:buClr>
            </a:pPr>
            <a:r>
              <a:rPr lang="en-US" sz="1900" dirty="0"/>
              <a:t>Use either </a:t>
            </a:r>
            <a:r>
              <a:rPr lang="en-US" sz="1900" i="1" dirty="0"/>
              <a:t>intel</a:t>
            </a:r>
            <a:r>
              <a:rPr lang="en-US" sz="1900" dirty="0"/>
              <a:t> or </a:t>
            </a:r>
            <a:r>
              <a:rPr lang="en-US" sz="1900" i="1" dirty="0" err="1"/>
              <a:t>foss</a:t>
            </a:r>
            <a:r>
              <a:rPr lang="en-US" sz="1900" dirty="0"/>
              <a:t> toolchains</a:t>
            </a:r>
          </a:p>
          <a:p>
            <a:pPr lvl="1">
              <a:buClr>
                <a:srgbClr val="DB6C30"/>
              </a:buClr>
            </a:pPr>
            <a:r>
              <a:rPr lang="en-US" sz="1900" dirty="0"/>
              <a:t>Compile your code on a compute node (with interactive job)</a:t>
            </a:r>
          </a:p>
          <a:p>
            <a:pPr lvl="1">
              <a:buClr>
                <a:srgbClr val="DB6C30"/>
              </a:buClr>
            </a:pPr>
            <a:r>
              <a:rPr lang="en-US" sz="1900" dirty="0"/>
              <a:t>If you run into problems, don’t hesitate to </a:t>
            </a:r>
            <a:r>
              <a:rPr lang="en-US" sz="1900" dirty="0">
                <a:hlinkClick r:id="rId4"/>
              </a:rPr>
              <a:t>contact us</a:t>
            </a:r>
            <a:endParaRPr lang="en-US" sz="1900" dirty="0"/>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0" name="Picture 19"/>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1" name="Picture 20"/>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3" name="Picture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12288" name="Group 12287"/>
          <p:cNvGrpSpPr/>
          <p:nvPr/>
        </p:nvGrpSpPr>
        <p:grpSpPr>
          <a:xfrm>
            <a:off x="1624168" y="4674922"/>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
        <p:nvSpPr>
          <p:cNvPr id="24" name="Tijdelijke aanduiding voor inhoud 2">
            <a:extLst>
              <a:ext uri="{FF2B5EF4-FFF2-40B4-BE49-F238E27FC236}">
                <a16:creationId xmlns:a16="http://schemas.microsoft.com/office/drawing/2014/main" id="{58AA4698-DA67-D1C0-6E5F-3392773B4017}"/>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 </a:t>
            </a:r>
            <a:r>
              <a:rPr lang="en-US" sz="2200" dirty="0"/>
              <a:t>which machine to use? </a:t>
            </a:r>
            <a:r>
              <a:rPr lang="en-US" sz="2200" dirty="0" err="1">
                <a:hlinkClick r:id="rId10"/>
              </a:rPr>
              <a:t>wICE</a:t>
            </a:r>
            <a:r>
              <a:rPr lang="en-US" sz="2200" dirty="0"/>
              <a:t> or </a:t>
            </a:r>
            <a:r>
              <a:rPr lang="en-US" sz="2200" dirty="0" err="1">
                <a:hlinkClick r:id="rId11"/>
              </a:rPr>
              <a:t>Mindwell</a:t>
            </a:r>
            <a:r>
              <a:rPr lang="en-US" sz="2200" dirty="0"/>
              <a:t>?</a:t>
            </a:r>
            <a:r>
              <a:rPr lang="en-US" sz="2200" b="1" dirty="0"/>
              <a:t> </a:t>
            </a:r>
          </a:p>
          <a:p>
            <a:pPr marL="324000" indent="-324000">
              <a:buClr>
                <a:srgbClr val="DB6C30"/>
              </a:buClr>
              <a:buBlip>
                <a:blip r:embed="rId9"/>
              </a:buBlip>
            </a:pPr>
            <a:r>
              <a:rPr lang="en-US" sz="2200" b="1" dirty="0"/>
              <a:t>Nodes</a:t>
            </a:r>
            <a:r>
              <a:rPr lang="en-US" sz="2200" dirty="0"/>
              <a:t>: how many compute servers to allocate?</a:t>
            </a:r>
          </a:p>
          <a:p>
            <a:pPr marL="324000" indent="-324000">
              <a:buClr>
                <a:srgbClr val="DB6C30"/>
              </a:buClr>
              <a:buBlip>
                <a:blip r:embed="rId9"/>
              </a:buBlip>
            </a:pPr>
            <a:r>
              <a:rPr lang="en-US" sz="2200" b="1" dirty="0"/>
              <a:t>Cores</a:t>
            </a:r>
            <a:r>
              <a:rPr lang="en-US" sz="2200" dirty="0"/>
              <a:t>: how many cores per node to allocate?</a:t>
            </a:r>
          </a:p>
          <a:p>
            <a:pPr marL="324000" indent="-324000">
              <a:buClr>
                <a:srgbClr val="DB6C30"/>
              </a:buClr>
              <a:buBlip>
                <a:blip r:embed="rId9"/>
              </a:buBlip>
            </a:pPr>
            <a:r>
              <a:rPr lang="en-US" sz="2200" b="1" dirty="0"/>
              <a:t>Memory</a:t>
            </a:r>
            <a:r>
              <a:rPr lang="en-US" sz="2200" dirty="0"/>
              <a:t>: how much CPU memory to allocate?</a:t>
            </a:r>
          </a:p>
          <a:p>
            <a:pPr marL="324000" indent="-324000">
              <a:buClr>
                <a:srgbClr val="DB6C30"/>
              </a:buClr>
              <a:buBlip>
                <a:blip r:embed="rId9"/>
              </a:buBlip>
            </a:pPr>
            <a:r>
              <a:rPr lang="en-US" sz="2200" b="1" dirty="0"/>
              <a:t>Partition</a:t>
            </a:r>
            <a:r>
              <a:rPr lang="en-US" sz="2200" dirty="0"/>
              <a:t>: batch, </a:t>
            </a:r>
            <a:r>
              <a:rPr lang="en-US" sz="2200" dirty="0" err="1"/>
              <a:t>gpu</a:t>
            </a:r>
            <a:r>
              <a:rPr lang="en-US" sz="2200" dirty="0"/>
              <a:t>, </a:t>
            </a:r>
            <a:r>
              <a:rPr lang="en-US" sz="2200" dirty="0" err="1"/>
              <a:t>bigmem</a:t>
            </a:r>
            <a:r>
              <a:rPr lang="en-US" sz="2200" dirty="0"/>
              <a:t>, …?</a:t>
            </a:r>
            <a:endParaRPr lang="en-US" sz="2200" b="1" dirty="0"/>
          </a:p>
          <a:p>
            <a:pPr marL="324000" indent="-324000">
              <a:buClr>
                <a:srgbClr val="DB6C30"/>
              </a:buClr>
              <a:buBlip>
                <a:blip r:embed="rId9"/>
              </a:buBlip>
            </a:pPr>
            <a:r>
              <a:rPr lang="en-US" sz="2200" b="1" dirty="0" err="1"/>
              <a:t>Walltime</a:t>
            </a:r>
            <a:r>
              <a:rPr lang="en-US" sz="2200" dirty="0"/>
              <a:t>: how long to allocate the resources?</a:t>
            </a:r>
          </a:p>
          <a:p>
            <a:pPr marL="324000" indent="-324000">
              <a:buClr>
                <a:srgbClr val="DB6C30"/>
              </a:buClr>
              <a:buBlip>
                <a:blip r:embed="rId9"/>
              </a:buBlip>
            </a:pPr>
            <a:r>
              <a:rPr lang="en-US" sz="2200" b="1" dirty="0"/>
              <a:t>Storage</a:t>
            </a:r>
            <a:r>
              <a:rPr lang="en-US" sz="2200" dirty="0"/>
              <a:t>: how much storage (data, scratch, </a:t>
            </a:r>
            <a:r>
              <a:rPr lang="en-US" sz="2200" dirty="0" err="1"/>
              <a:t>etc</a:t>
            </a:r>
            <a:r>
              <a:rPr lang="en-US" sz="2200" dirty="0"/>
              <a:t>) will the job require?</a:t>
            </a:r>
          </a:p>
          <a:p>
            <a:pPr marL="324000" indent="-324000">
              <a:buClr>
                <a:srgbClr val="DB6C30"/>
              </a:buClr>
              <a:buBlip>
                <a:blip r:embed="rId9"/>
              </a:buBlip>
            </a:pPr>
            <a:r>
              <a:rPr lang="en-US" sz="2200" b="1" dirty="0"/>
              <a:t>Credits</a:t>
            </a:r>
            <a:r>
              <a:rPr lang="en-US" sz="2200" dirty="0"/>
              <a:t>: how many compute credits will the job consume?</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pic>
        <p:nvPicPr>
          <p:cNvPr id="3" name="Picture 2">
            <a:extLst>
              <a:ext uri="{FF2B5EF4-FFF2-40B4-BE49-F238E27FC236}">
                <a16:creationId xmlns:a16="http://schemas.microsoft.com/office/drawing/2014/main" id="{128EC3B5-AC3B-10FB-B8F5-0F438FB04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4" name="Picture 23">
            <a:extLst>
              <a:ext uri="{FF2B5EF4-FFF2-40B4-BE49-F238E27FC236}">
                <a16:creationId xmlns:a16="http://schemas.microsoft.com/office/drawing/2014/main" id="{123DAB87-E2A6-2093-79C6-B1FC540AB256}"/>
              </a:ext>
            </a:extLst>
          </p:cNvPr>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7" name="Picture 26">
            <a:extLst>
              <a:ext uri="{FF2B5EF4-FFF2-40B4-BE49-F238E27FC236}">
                <a16:creationId xmlns:a16="http://schemas.microsoft.com/office/drawing/2014/main" id="{16AFB6D8-55D3-B9CF-4523-350FFE0CAE52}"/>
              </a:ext>
            </a:extLst>
          </p:cNvPr>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9" name="Picture 28">
            <a:extLst>
              <a:ext uri="{FF2B5EF4-FFF2-40B4-BE49-F238E27FC236}">
                <a16:creationId xmlns:a16="http://schemas.microsoft.com/office/drawing/2014/main" id="{294BE3FF-5197-B98C-02BC-A0FE9EFF78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31" name="Group 30">
            <a:extLst>
              <a:ext uri="{FF2B5EF4-FFF2-40B4-BE49-F238E27FC236}">
                <a16:creationId xmlns:a16="http://schemas.microsoft.com/office/drawing/2014/main" id="{0BF14B04-6243-4350-866D-A7AFD95EC73A}"/>
              </a:ext>
            </a:extLst>
          </p:cNvPr>
          <p:cNvGrpSpPr/>
          <p:nvPr/>
        </p:nvGrpSpPr>
        <p:grpSpPr>
          <a:xfrm>
            <a:off x="1624168" y="4674922"/>
            <a:ext cx="1520291" cy="1634398"/>
            <a:chOff x="1989034" y="3501008"/>
            <a:chExt cx="2359032" cy="2716560"/>
          </a:xfrm>
        </p:grpSpPr>
        <p:grpSp>
          <p:nvGrpSpPr>
            <p:cNvPr id="32" name="Group 31">
              <a:extLst>
                <a:ext uri="{FF2B5EF4-FFF2-40B4-BE49-F238E27FC236}">
                  <a16:creationId xmlns:a16="http://schemas.microsoft.com/office/drawing/2014/main" id="{6EF9A1F6-3E84-09CB-5BCC-481BA57832A9}"/>
                </a:ext>
              </a:extLst>
            </p:cNvPr>
            <p:cNvGrpSpPr/>
            <p:nvPr/>
          </p:nvGrpSpPr>
          <p:grpSpPr>
            <a:xfrm rot="5400000">
              <a:off x="2243573" y="4113075"/>
              <a:ext cx="2716560" cy="1492426"/>
              <a:chOff x="9340084" y="4339232"/>
              <a:chExt cx="2568820" cy="1374280"/>
            </a:xfrm>
          </p:grpSpPr>
          <p:grpSp>
            <p:nvGrpSpPr>
              <p:cNvPr id="35" name="Group 34">
                <a:extLst>
                  <a:ext uri="{FF2B5EF4-FFF2-40B4-BE49-F238E27FC236}">
                    <a16:creationId xmlns:a16="http://schemas.microsoft.com/office/drawing/2014/main" id="{C5720F52-7ADB-E31C-EF11-7AD3BEDDF4A1}"/>
                  </a:ext>
                </a:extLst>
              </p:cNvPr>
              <p:cNvGrpSpPr/>
              <p:nvPr/>
            </p:nvGrpSpPr>
            <p:grpSpPr>
              <a:xfrm>
                <a:off x="9340084" y="4938856"/>
                <a:ext cx="2568820" cy="774656"/>
                <a:chOff x="9340084" y="4938856"/>
                <a:chExt cx="2568820" cy="774656"/>
              </a:xfrm>
            </p:grpSpPr>
            <p:grpSp>
              <p:nvGrpSpPr>
                <p:cNvPr id="43" name="Group 42">
                  <a:extLst>
                    <a:ext uri="{FF2B5EF4-FFF2-40B4-BE49-F238E27FC236}">
                      <a16:creationId xmlns:a16="http://schemas.microsoft.com/office/drawing/2014/main" id="{D13B81E2-F852-57C3-DA48-66CFEB59818C}"/>
                    </a:ext>
                  </a:extLst>
                </p:cNvPr>
                <p:cNvGrpSpPr/>
                <p:nvPr/>
              </p:nvGrpSpPr>
              <p:grpSpPr>
                <a:xfrm>
                  <a:off x="10540752" y="4938856"/>
                  <a:ext cx="1368152" cy="774656"/>
                  <a:chOff x="10540752" y="4938856"/>
                  <a:chExt cx="1368152" cy="774656"/>
                </a:xfrm>
              </p:grpSpPr>
              <p:pic>
                <p:nvPicPr>
                  <p:cNvPr id="47" name="Picture 46">
                    <a:extLst>
                      <a:ext uri="{FF2B5EF4-FFF2-40B4-BE49-F238E27FC236}">
                        <a16:creationId xmlns:a16="http://schemas.microsoft.com/office/drawing/2014/main" id="{49E70A89-0D39-D0BD-086F-BFA05B6C31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8" name="Picture 47">
                    <a:extLst>
                      <a:ext uri="{FF2B5EF4-FFF2-40B4-BE49-F238E27FC236}">
                        <a16:creationId xmlns:a16="http://schemas.microsoft.com/office/drawing/2014/main" id="{4DF9A079-4E85-A6EC-B751-EF2DAB17B3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44" name="Group 43">
                  <a:extLst>
                    <a:ext uri="{FF2B5EF4-FFF2-40B4-BE49-F238E27FC236}">
                      <a16:creationId xmlns:a16="http://schemas.microsoft.com/office/drawing/2014/main" id="{95FC9EF1-DE11-332F-109B-50483E2C5C5B}"/>
                    </a:ext>
                  </a:extLst>
                </p:cNvPr>
                <p:cNvGrpSpPr/>
                <p:nvPr/>
              </p:nvGrpSpPr>
              <p:grpSpPr>
                <a:xfrm>
                  <a:off x="9340084" y="4940308"/>
                  <a:ext cx="1368152" cy="773204"/>
                  <a:chOff x="10540752" y="4937996"/>
                  <a:chExt cx="1368152" cy="773204"/>
                </a:xfrm>
              </p:grpSpPr>
              <p:pic>
                <p:nvPicPr>
                  <p:cNvPr id="45" name="Picture 44">
                    <a:extLst>
                      <a:ext uri="{FF2B5EF4-FFF2-40B4-BE49-F238E27FC236}">
                        <a16:creationId xmlns:a16="http://schemas.microsoft.com/office/drawing/2014/main" id="{B5A5A928-ADFF-80F0-9CDB-6A0B9ECA491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6" name="Picture 45">
                    <a:extLst>
                      <a:ext uri="{FF2B5EF4-FFF2-40B4-BE49-F238E27FC236}">
                        <a16:creationId xmlns:a16="http://schemas.microsoft.com/office/drawing/2014/main" id="{72EA9221-D89A-D778-2F74-58C772FF3E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36" name="Group 35">
                <a:extLst>
                  <a:ext uri="{FF2B5EF4-FFF2-40B4-BE49-F238E27FC236}">
                    <a16:creationId xmlns:a16="http://schemas.microsoft.com/office/drawing/2014/main" id="{3DD8EE99-87E2-D05C-9161-EBFD054EE092}"/>
                  </a:ext>
                </a:extLst>
              </p:cNvPr>
              <p:cNvGrpSpPr/>
              <p:nvPr/>
            </p:nvGrpSpPr>
            <p:grpSpPr>
              <a:xfrm>
                <a:off x="9340084" y="4339232"/>
                <a:ext cx="2568820" cy="774656"/>
                <a:chOff x="9340084" y="4938856"/>
                <a:chExt cx="2568820" cy="774656"/>
              </a:xfrm>
            </p:grpSpPr>
            <p:grpSp>
              <p:nvGrpSpPr>
                <p:cNvPr id="37" name="Group 36">
                  <a:extLst>
                    <a:ext uri="{FF2B5EF4-FFF2-40B4-BE49-F238E27FC236}">
                      <a16:creationId xmlns:a16="http://schemas.microsoft.com/office/drawing/2014/main" id="{6440C07B-940C-D147-7DB2-D85AE5CDBC47}"/>
                    </a:ext>
                  </a:extLst>
                </p:cNvPr>
                <p:cNvGrpSpPr/>
                <p:nvPr/>
              </p:nvGrpSpPr>
              <p:grpSpPr>
                <a:xfrm>
                  <a:off x="10540752" y="4938856"/>
                  <a:ext cx="1368152" cy="774656"/>
                  <a:chOff x="10540752" y="4938856"/>
                  <a:chExt cx="1368152" cy="774656"/>
                </a:xfrm>
              </p:grpSpPr>
              <p:pic>
                <p:nvPicPr>
                  <p:cNvPr id="41" name="Picture 40">
                    <a:extLst>
                      <a:ext uri="{FF2B5EF4-FFF2-40B4-BE49-F238E27FC236}">
                        <a16:creationId xmlns:a16="http://schemas.microsoft.com/office/drawing/2014/main" id="{0FAF01EB-0B1F-AB81-531F-EB5A891E3F5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2" name="Picture 41">
                    <a:extLst>
                      <a:ext uri="{FF2B5EF4-FFF2-40B4-BE49-F238E27FC236}">
                        <a16:creationId xmlns:a16="http://schemas.microsoft.com/office/drawing/2014/main" id="{875FDA1A-1536-D993-6007-ABB34D84B3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38" name="Group 37">
                  <a:extLst>
                    <a:ext uri="{FF2B5EF4-FFF2-40B4-BE49-F238E27FC236}">
                      <a16:creationId xmlns:a16="http://schemas.microsoft.com/office/drawing/2014/main" id="{BB733C88-BE33-5D87-53EB-6CA9FDFBDF44}"/>
                    </a:ext>
                  </a:extLst>
                </p:cNvPr>
                <p:cNvGrpSpPr/>
                <p:nvPr/>
              </p:nvGrpSpPr>
              <p:grpSpPr>
                <a:xfrm>
                  <a:off x="9340084" y="4940308"/>
                  <a:ext cx="1368152" cy="773204"/>
                  <a:chOff x="10540752" y="4937996"/>
                  <a:chExt cx="1368152" cy="773204"/>
                </a:xfrm>
              </p:grpSpPr>
              <p:pic>
                <p:nvPicPr>
                  <p:cNvPr id="39" name="Picture 38">
                    <a:extLst>
                      <a:ext uri="{FF2B5EF4-FFF2-40B4-BE49-F238E27FC236}">
                        <a16:creationId xmlns:a16="http://schemas.microsoft.com/office/drawing/2014/main" id="{BAA70D15-552E-AA93-6683-135604F5B37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0" name="Picture 39">
                    <a:extLst>
                      <a:ext uri="{FF2B5EF4-FFF2-40B4-BE49-F238E27FC236}">
                        <a16:creationId xmlns:a16="http://schemas.microsoft.com/office/drawing/2014/main" id="{F06E5386-DD10-C994-3A3F-74C230188A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33" name="Straight Connector 32">
              <a:extLst>
                <a:ext uri="{FF2B5EF4-FFF2-40B4-BE49-F238E27FC236}">
                  <a16:creationId xmlns:a16="http://schemas.microsoft.com/office/drawing/2014/main" id="{9B3D0CDD-9FE0-2476-B1E9-4A9FA9BF23F4}"/>
                </a:ext>
              </a:extLst>
            </p:cNvPr>
            <p:cNvCxnSpPr>
              <a:endCxn id="45"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E399E7-ED6F-AECD-34A9-7B445EC5DAA3}"/>
                </a:ext>
              </a:extLst>
            </p:cNvPr>
            <p:cNvCxnSpPr>
              <a:endCxn id="48"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49" name="Picture 48" descr="A picture containing shape&#10;&#10;Description automatically generated">
            <a:extLst>
              <a:ext uri="{FF2B5EF4-FFF2-40B4-BE49-F238E27FC236}">
                <a16:creationId xmlns:a16="http://schemas.microsoft.com/office/drawing/2014/main" id="{F8F694BA-1E94-8E7A-FB78-83D55356379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50" name="Picture 49" descr="A picture containing shape&#10;&#10;Description automatically generated">
            <a:extLst>
              <a:ext uri="{FF2B5EF4-FFF2-40B4-BE49-F238E27FC236}">
                <a16:creationId xmlns:a16="http://schemas.microsoft.com/office/drawing/2014/main" id="{4938FB42-58A7-E52B-D3C2-350D994B6889}"/>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52" name="Tijdelijke aanduiding voor inhoud 2">
            <a:extLst>
              <a:ext uri="{FF2B5EF4-FFF2-40B4-BE49-F238E27FC236}">
                <a16:creationId xmlns:a16="http://schemas.microsoft.com/office/drawing/2014/main" id="{79F0281A-467A-6270-3291-2DDA2957F93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a:t>
            </a:r>
            <a:r>
              <a:rPr lang="en-US" sz="2200" dirty="0"/>
              <a:t> the cluster associated with the node you’re on (</a:t>
            </a:r>
            <a:r>
              <a:rPr lang="en-US" sz="2200" dirty="0" err="1"/>
              <a:t>wICE</a:t>
            </a:r>
            <a:r>
              <a:rPr lang="en-US" sz="2200" dirty="0"/>
              <a:t> or </a:t>
            </a:r>
            <a:r>
              <a:rPr lang="en-US" sz="2200" dirty="0" err="1"/>
              <a:t>Mindwell</a:t>
            </a:r>
            <a:r>
              <a:rPr lang="en-US" sz="2200" dirty="0"/>
              <a:t>)</a:t>
            </a:r>
          </a:p>
          <a:p>
            <a:pPr marL="324000" indent="-324000">
              <a:buClr>
                <a:srgbClr val="DB6C30"/>
              </a:buClr>
              <a:buBlip>
                <a:blip r:embed="rId9"/>
              </a:buBlip>
            </a:pPr>
            <a:r>
              <a:rPr lang="en-US" sz="2200" b="1" dirty="0"/>
              <a:t>Nodes:</a:t>
            </a:r>
            <a:r>
              <a:rPr lang="en-US" sz="2200" dirty="0"/>
              <a:t> 1</a:t>
            </a:r>
          </a:p>
          <a:p>
            <a:pPr marL="324000" indent="-324000">
              <a:buClr>
                <a:srgbClr val="DB6C30"/>
              </a:buClr>
              <a:buBlip>
                <a:blip r:embed="rId9"/>
              </a:buBlip>
            </a:pPr>
            <a:r>
              <a:rPr lang="en-US" sz="2200" b="1" dirty="0"/>
              <a:t>Cores: </a:t>
            </a:r>
            <a:r>
              <a:rPr lang="en-US" sz="2200" dirty="0"/>
              <a:t>1</a:t>
            </a:r>
          </a:p>
          <a:p>
            <a:pPr marL="324000" indent="-324000">
              <a:buClr>
                <a:srgbClr val="DB6C30"/>
              </a:buClr>
              <a:buBlip>
                <a:blip r:embed="rId9"/>
              </a:buBlip>
            </a:pPr>
            <a:r>
              <a:rPr lang="en-US" sz="2200" b="1" dirty="0"/>
              <a:t>Memory: </a:t>
            </a:r>
            <a:r>
              <a:rPr lang="en-US" sz="2200" dirty="0"/>
              <a:t>depends on which node(s) you use</a:t>
            </a:r>
          </a:p>
          <a:p>
            <a:pPr marL="324000" indent="-324000">
              <a:buClr>
                <a:srgbClr val="DB6C30"/>
              </a:buClr>
              <a:buBlip>
                <a:blip r:embed="rId9"/>
              </a:buBlip>
            </a:pPr>
            <a:r>
              <a:rPr lang="en-US" sz="2200" b="1" dirty="0"/>
              <a:t>Partition:</a:t>
            </a:r>
            <a:r>
              <a:rPr lang="en-US" sz="2200" dirty="0"/>
              <a:t> batch</a:t>
            </a:r>
          </a:p>
          <a:p>
            <a:pPr marL="324000" indent="-324000">
              <a:buClr>
                <a:srgbClr val="DB6C30"/>
              </a:buClr>
              <a:buBlip>
                <a:blip r:embed="rId9"/>
              </a:buBlip>
            </a:pPr>
            <a:r>
              <a:rPr lang="en-US" sz="2200" b="1" dirty="0" err="1"/>
              <a:t>Walltime</a:t>
            </a:r>
            <a:r>
              <a:rPr lang="en-US" sz="2200" b="1" dirty="0"/>
              <a:t>:</a:t>
            </a:r>
            <a:r>
              <a:rPr lang="en-US" sz="2200" dirty="0"/>
              <a:t> 1 hour</a:t>
            </a:r>
          </a:p>
          <a:p>
            <a:pPr marL="324000" indent="-324000">
              <a:buClr>
                <a:srgbClr val="DB6C30"/>
              </a:buClr>
              <a:buBlip>
                <a:blip r:embed="rId9"/>
              </a:buBlip>
            </a:pPr>
            <a:r>
              <a:rPr lang="en-US" sz="2200" b="1" dirty="0"/>
              <a:t>Storage:</a:t>
            </a:r>
            <a:r>
              <a:rPr lang="en-US" sz="2200" dirty="0"/>
              <a:t> no default</a:t>
            </a:r>
          </a:p>
          <a:p>
            <a:pPr marL="324000" indent="-324000">
              <a:buClr>
                <a:srgbClr val="DB6C30"/>
              </a:buClr>
              <a:buBlip>
                <a:blip r:embed="rId9"/>
              </a:buBlip>
            </a:pPr>
            <a:r>
              <a:rPr lang="en-US" sz="2200" b="1" dirty="0"/>
              <a:t>Credits:</a:t>
            </a:r>
            <a:r>
              <a:rPr lang="en-US" sz="2200" dirty="0"/>
              <a:t> no default</a:t>
            </a:r>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2">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720000" y="332656"/>
            <a:ext cx="2578769" cy="523220"/>
          </a:xfrm>
          <a:prstGeom prst="rect">
            <a:avLst/>
          </a:prstGeom>
          <a:noFill/>
          <a:ln w="25400">
            <a:noFill/>
          </a:ln>
        </p:spPr>
        <p:txBody>
          <a:bodyPr wrap="square" rtlCol="0">
            <a:spAutoFit/>
          </a:bodyPr>
          <a:lstStyle/>
          <a:p>
            <a:r>
              <a:rPr lang="en-US" sz="28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720000" y="3691567"/>
            <a:ext cx="2578769" cy="523220"/>
          </a:xfrm>
          <a:prstGeom prst="rect">
            <a:avLst/>
          </a:prstGeom>
          <a:noFill/>
          <a:ln w="25400">
            <a:noFill/>
          </a:ln>
        </p:spPr>
        <p:txBody>
          <a:bodyPr wrap="square" rtlCol="0">
            <a:spAutoFit/>
          </a:bodyPr>
          <a:lstStyle/>
          <a:p>
            <a:r>
              <a:rPr lang="en-US" sz="28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437112"/>
            <a:ext cx="10875189" cy="1618566"/>
            <a:chOff x="621409" y="3704029"/>
            <a:chExt cx="10875189" cy="1618566"/>
          </a:xfrm>
        </p:grpSpPr>
        <p:sp>
          <p:nvSpPr>
            <p:cNvPr id="15" name="TextBox 14"/>
            <p:cNvSpPr txBox="1"/>
            <p:nvPr/>
          </p:nvSpPr>
          <p:spPr>
            <a:xfrm>
              <a:off x="621409" y="3992061"/>
              <a:ext cx="10875189" cy="1330534"/>
            </a:xfrm>
            <a:prstGeom prst="rect">
              <a:avLst/>
            </a:prstGeom>
            <a:noFill/>
            <a:ln w="38100">
              <a:solidFill>
                <a:schemeClr val="accent1"/>
              </a:solidFill>
            </a:ln>
          </p:spPr>
          <p:txBody>
            <a:bodyPr wrap="square" tIns="90000" bIns="90000" rtlCol="0">
              <a:spAutoFit/>
            </a:bodyPr>
            <a:lstStyle/>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Specifying a valid credit project is mandatory, </a:t>
              </a:r>
              <a:r>
                <a:rPr lang="en-US" sz="2200" i="1" dirty="0"/>
                <a:t>e.g.</a:t>
              </a:r>
              <a:r>
                <a:rPr lang="en-US" sz="2200" dirty="0"/>
                <a:t> </a:t>
              </a:r>
              <a:r>
                <a:rPr lang="en-US" sz="2200" b="1" dirty="0">
                  <a:latin typeface="Courier New" panose="02070309020205020404" pitchFamily="49" charset="0"/>
                  <a:cs typeface="Courier New" panose="02070309020205020404" pitchFamily="49" charset="0"/>
                </a:rPr>
                <a:t>–A </a:t>
              </a:r>
              <a:r>
                <a:rPr lang="en-US" sz="2200" b="1" dirty="0" err="1">
                  <a:latin typeface="Courier New" panose="02070309020205020404" pitchFamily="49" charset="0"/>
                  <a:cs typeface="Courier New" panose="02070309020205020404" pitchFamily="49" charset="0"/>
                </a:rPr>
                <a:t>lp_hpcinfo</a:t>
              </a:r>
              <a:endParaRPr lang="en-US" sz="2200" b="1" dirty="0">
                <a:latin typeface="Courier New" panose="02070309020205020404" pitchFamily="49" charset="0"/>
                <a:cs typeface="Courier New" panose="02070309020205020404" pitchFamily="49" charset="0"/>
              </a:endParaRPr>
            </a:p>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Implicit defaults for an interactive job on </a:t>
              </a:r>
              <a:r>
                <a:rPr lang="en-US" sz="2200" dirty="0" err="1"/>
                <a:t>wICE</a:t>
              </a:r>
              <a:r>
                <a:rPr lang="en-US" sz="2200" dirty="0"/>
                <a:t> are:</a:t>
              </a:r>
              <a:br>
                <a:rPr lang="en-US" sz="2200" dirty="0"/>
              </a:br>
              <a:r>
                <a:rPr lang="en-US" sz="1900" dirty="0"/>
                <a:t>   </a:t>
              </a:r>
              <a:r>
                <a:rPr lang="en-US" sz="1900" dirty="0">
                  <a:latin typeface="Courier New" panose="02070309020205020404" pitchFamily="49" charset="0"/>
                  <a:cs typeface="Courier New" panose="02070309020205020404" pitchFamily="49" charset="0"/>
                </a:rPr>
                <a:t>--nodes=1 –time=01:00:00 –-partition=batch --mem-per-</a:t>
              </a:r>
              <a:r>
                <a:rPr lang="en-US" sz="1900" dirty="0" err="1">
                  <a:latin typeface="Courier New" panose="02070309020205020404" pitchFamily="49" charset="0"/>
                  <a:cs typeface="Courier New" panose="02070309020205020404" pitchFamily="49" charset="0"/>
                </a:rPr>
                <a:t>cpu</a:t>
              </a:r>
              <a:r>
                <a:rPr lang="en-US" sz="1900"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953856310"/>
              </p:ext>
            </p:extLst>
          </p:nvPr>
        </p:nvGraphicFramePr>
        <p:xfrm>
          <a:off x="108155" y="980728"/>
          <a:ext cx="12015019" cy="54795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r>
                        <a:rPr lang="en-US" sz="1800" b="0" dirty="0">
                          <a:effectLst/>
                          <a:latin typeface="72 Monospace" panose="020B0509030603020204" pitchFamily="49" charset="0"/>
                          <a:cs typeface="72 Monospace" panose="020B0509030603020204" pitchFamily="49" charset="0"/>
                        </a:rPr>
                        <a:t> </a:t>
                      </a:r>
                      <a:br>
                        <a:rPr lang="en-US" sz="1800" b="0" dirty="0">
                          <a:effectLst/>
                          <a:latin typeface="72 Monospace" panose="020B0509030603020204" pitchFamily="49" charset="0"/>
                          <a:cs typeface="72 Monospace" panose="020B0509030603020204" pitchFamily="49" charset="0"/>
                        </a:rPr>
                      </a:b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slurm_queuestate</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clusters</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350000"/>
            <a:ext cx="11112000" cy="4708981"/>
          </a:xfrm>
          <a:prstGeom prst="rect">
            <a:avLst/>
          </a:prstGeom>
          <a:noFill/>
          <a:ln>
            <a:noFill/>
          </a:ln>
        </p:spPr>
        <p:txBody>
          <a:bodyPr wrap="square" rtlCol="0">
            <a:spAutoFit/>
          </a:bodyPr>
          <a:lstStyle/>
          <a:p>
            <a:pPr marL="342900" indent="-342900">
              <a:spcAft>
                <a:spcPts val="1500"/>
              </a:spcAft>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solidFill>
                <a:srgbClr val="FF0000"/>
              </a:solidFill>
            </a:endParaRPr>
          </a:p>
          <a:p>
            <a:pPr marL="342900" indent="-342900">
              <a:spcAft>
                <a:spcPts val="1500"/>
              </a:spcAft>
              <a:buBlip>
                <a:blip r:embed="rId2"/>
              </a:buBlip>
            </a:pPr>
            <a:r>
              <a:rPr lang="en-US" sz="2200" dirty="0"/>
              <a:t>Interactive job with X-forwarding</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b="1" dirty="0">
                <a:solidFill>
                  <a:srgbClr val="FF0000"/>
                </a:solidFill>
                <a:latin typeface="Courier New" panose="02070309020205020404" pitchFamily="49" charset="0"/>
                <a:cs typeface="Courier New" panose="02070309020205020404" pitchFamily="49" charset="0"/>
              </a:rPr>
              <a:t>--x11 </a:t>
            </a:r>
            <a:r>
              <a:rPr lang="en-US" sz="1900" dirty="0">
                <a:latin typeface="Courier New" panose="02070309020205020404" pitchFamily="49" charset="0"/>
                <a:cs typeface="Courier New" panose="02070309020205020404" pitchFamily="49" charset="0"/>
              </a:rPr>
              <a:t>--</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p>
          <a:p>
            <a:pPr marL="342900" indent="-342900">
              <a:spcAft>
                <a:spcPts val="1500"/>
              </a:spcAft>
              <a:buBlip>
                <a:blip r:embed="rId2"/>
              </a:buBlip>
            </a:pPr>
            <a:r>
              <a:rPr lang="en-US" sz="2200" dirty="0"/>
              <a:t>Interactive job with multiple cores, on the </a:t>
            </a:r>
            <a:r>
              <a:rPr lang="en-US" sz="2200" i="1" dirty="0"/>
              <a:t>interactive</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=4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--partition=interactive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=18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a:t>
            </a:r>
            <a:r>
              <a:rPr lang="en-US" sz="1900" dirty="0" err="1">
                <a:latin typeface="Courier New" panose="02070309020205020404" pitchFamily="49" charset="0"/>
                <a:cs typeface="Courier New" panose="02070309020205020404" pitchFamily="49" charset="0"/>
              </a:rPr>
              <a:t>gpu</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gpus</a:t>
            </a:r>
            <a:r>
              <a:rPr lang="en-US" sz="1900" dirty="0">
                <a:latin typeface="Courier New" panose="02070309020205020404" pitchFamily="49" charset="0"/>
                <a:cs typeface="Courier New" panose="02070309020205020404" pitchFamily="49" charset="0"/>
              </a:rPr>
              <a:t>-per-node=1 --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–M </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=&lt;</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&gt; --overlap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grpSp>
        <p:nvGrpSpPr>
          <p:cNvPr id="6" name="Group 5"/>
          <p:cNvGrpSpPr/>
          <p:nvPr/>
        </p:nvGrpSpPr>
        <p:grpSpPr>
          <a:xfrm>
            <a:off x="6347154" y="713444"/>
            <a:ext cx="5509489" cy="1082859"/>
            <a:chOff x="6629650" y="836712"/>
            <a:chExt cx="5226990" cy="1082859"/>
          </a:xfrm>
        </p:grpSpPr>
        <p:sp>
          <p:nvSpPr>
            <p:cNvPr id="4" name="TextBox 3"/>
            <p:cNvSpPr txBox="1"/>
            <p:nvPr/>
          </p:nvSpPr>
          <p:spPr>
            <a:xfrm>
              <a:off x="6629650" y="1211685"/>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6347154" y="2040590"/>
            <a:ext cx="5509489" cy="775083"/>
            <a:chOff x="6347151" y="2261939"/>
            <a:chExt cx="5509489" cy="775083"/>
          </a:xfrm>
        </p:grpSpPr>
        <p:sp>
          <p:nvSpPr>
            <p:cNvPr id="7" name="TextBox 6"/>
            <p:cNvSpPr txBox="1"/>
            <p:nvPr/>
          </p:nvSpPr>
          <p:spPr>
            <a:xfrm>
              <a:off x="6347151" y="2636912"/>
              <a:ext cx="5509489"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6347154" y="3042675"/>
            <a:ext cx="5509488" cy="1082859"/>
            <a:chOff x="6629650" y="2261939"/>
            <a:chExt cx="5226990" cy="1082859"/>
          </a:xfrm>
        </p:grpSpPr>
        <p:sp>
          <p:nvSpPr>
            <p:cNvPr id="13" name="TextBox 12"/>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JobID</a:t>
              </a:r>
              <a:endParaRPr lang="nl-BE" dirty="0"/>
            </a:p>
          </p:txBody>
        </p:sp>
      </p:grpSp>
      <p:grpSp>
        <p:nvGrpSpPr>
          <p:cNvPr id="15" name="Group 14"/>
          <p:cNvGrpSpPr/>
          <p:nvPr/>
        </p:nvGrpSpPr>
        <p:grpSpPr>
          <a:xfrm>
            <a:off x="6347154" y="4365104"/>
            <a:ext cx="5509488" cy="1082859"/>
            <a:chOff x="6629650" y="2261939"/>
            <a:chExt cx="5226990" cy="1082859"/>
          </a:xfrm>
        </p:grpSpPr>
        <p:sp>
          <p:nvSpPr>
            <p:cNvPr id="16" name="TextBox 15"/>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
        <p:nvSpPr>
          <p:cNvPr id="3" name="TextBox 2">
            <a:extLst>
              <a:ext uri="{FF2B5EF4-FFF2-40B4-BE49-F238E27FC236}">
                <a16:creationId xmlns:a16="http://schemas.microsoft.com/office/drawing/2014/main" id="{F48D83B1-46ED-779A-DDFB-D624D4F55192}"/>
              </a:ext>
            </a:extLst>
          </p:cNvPr>
          <p:cNvSpPr txBox="1"/>
          <p:nvPr/>
        </p:nvSpPr>
        <p:spPr>
          <a:xfrm>
            <a:off x="720000" y="1350000"/>
            <a:ext cx="4295880" cy="1482457"/>
          </a:xfrm>
          <a:prstGeom prst="rect">
            <a:avLst/>
          </a:prstGeom>
          <a:noFill/>
          <a:ln>
            <a:noFill/>
          </a:ln>
        </p:spPr>
        <p:txBody>
          <a:bodyPr wrap="square" rtlCol="0">
            <a:spAutoFit/>
          </a:bodyPr>
          <a:lstStyle/>
          <a:p>
            <a:pPr marL="324000" indent="-324000">
              <a:lnSpc>
                <a:spcPct val="150000"/>
              </a:lnSpc>
              <a:spcBef>
                <a:spcPts val="750"/>
              </a:spcBef>
              <a:buClr>
                <a:srgbClr val="DB6C30"/>
              </a:buClr>
              <a:buBlip>
                <a:blip r:embed="rId2"/>
              </a:buBlip>
            </a:pPr>
            <a:r>
              <a:rPr lang="en-US" altLang="en-US" sz="2200" dirty="0"/>
              <a:t>Submit the job to the scheduler</a:t>
            </a:r>
          </a:p>
          <a:p>
            <a:pPr marL="324000" indent="-324000">
              <a:spcBef>
                <a:spcPts val="750"/>
              </a:spcBef>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a:spcBef>
                <a:spcPts val="750"/>
              </a:spcBef>
              <a:buClr>
                <a:srgbClr val="DB6C30"/>
              </a:buClr>
              <a:buBlip>
                <a:blip r:embed="rId2"/>
              </a:buBlip>
            </a:pPr>
            <a:r>
              <a:rPr lang="en-US" altLang="en-US" sz="2200" dirty="0"/>
              <a:t>Error and output files</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grpSp>
        <p:nvGrpSpPr>
          <p:cNvPr id="15" name="Group 14"/>
          <p:cNvGrpSpPr/>
          <p:nvPr/>
        </p:nvGrpSpPr>
        <p:grpSpPr>
          <a:xfrm>
            <a:off x="5519939" y="919065"/>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519490"/>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882953"/>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3" name="TextBox 2">
            <a:extLst>
              <a:ext uri="{FF2B5EF4-FFF2-40B4-BE49-F238E27FC236}">
                <a16:creationId xmlns:a16="http://schemas.microsoft.com/office/drawing/2014/main" id="{2472D696-1CA6-C3EB-EA27-0AF95D000AFD}"/>
              </a:ext>
            </a:extLst>
          </p:cNvPr>
          <p:cNvSpPr txBox="1"/>
          <p:nvPr/>
        </p:nvSpPr>
        <p:spPr>
          <a:xfrm>
            <a:off x="720000" y="1350000"/>
            <a:ext cx="4295880" cy="4662815"/>
          </a:xfrm>
          <a:prstGeom prst="rect">
            <a:avLst/>
          </a:prstGeom>
          <a:noFill/>
          <a:ln>
            <a:noFill/>
          </a:ln>
        </p:spPr>
        <p:txBody>
          <a:bodyPr wrap="square" rtlCol="0">
            <a:spAutoFit/>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1900" dirty="0" err="1">
                <a:latin typeface="Courier New" panose="02070309020205020404" pitchFamily="49" charset="0"/>
                <a:cs typeface="Courier New" panose="02070309020205020404" pitchFamily="49" charset="0"/>
              </a:rPr>
              <a:t>slurm</a:t>
            </a:r>
            <a:r>
              <a:rPr lang="en-US" altLang="en-US" sz="1900" dirty="0">
                <a:latin typeface="Courier New" panose="02070309020205020404" pitchFamily="49" charset="0"/>
                <a:cs typeface="Courier New" panose="02070309020205020404" pitchFamily="49" charset="0"/>
              </a:rPr>
              <a:t>-&lt;</a:t>
            </a:r>
            <a:r>
              <a:rPr lang="en-US" altLang="en-US" sz="1900" dirty="0" err="1">
                <a:latin typeface="Courier New" panose="02070309020205020404" pitchFamily="49" charset="0"/>
                <a:cs typeface="Courier New" panose="02070309020205020404" pitchFamily="49" charset="0"/>
              </a:rPr>
              <a:t>JobID</a:t>
            </a:r>
            <a:r>
              <a:rPr lang="en-US" altLang="en-US" sz="1900" dirty="0">
                <a:latin typeface="Courier New" panose="02070309020205020404" pitchFamily="49" charset="0"/>
                <a:cs typeface="Courier New" panose="02070309020205020404" pitchFamily="49" charset="0"/>
              </a:rPr>
              <a:t>&gt;.out</a:t>
            </a:r>
          </a:p>
          <a:p>
            <a:pPr marL="324000" indent="-324000">
              <a:buClr>
                <a:srgbClr val="DB6C30"/>
              </a:buClr>
              <a:buBlip>
                <a:blip r:embed="rId2"/>
              </a:buBlip>
            </a:pPr>
            <a:r>
              <a:rPr lang="en-US" altLang="en-US" sz="2200" dirty="0"/>
              <a:t>Contains job info, all errors and warnings, and printouts</a:t>
            </a:r>
          </a:p>
          <a:p>
            <a:pPr marL="324000" indent="-324000">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a:buClr>
                <a:srgbClr val="DB6C30"/>
              </a:buClr>
              <a:buBlip>
                <a:blip r:embed="rId2"/>
              </a:buBlip>
            </a:pPr>
            <a:r>
              <a:rPr lang="en-US" altLang="en-US" sz="2200" dirty="0"/>
              <a:t>Typical error examples on the right</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10" name="TextBox 9">
            <a:extLst>
              <a:ext uri="{FF2B5EF4-FFF2-40B4-BE49-F238E27FC236}">
                <a16:creationId xmlns:a16="http://schemas.microsoft.com/office/drawing/2014/main" id="{3176813F-3C9E-C2F9-9C03-BA9A5C55E72C}"/>
              </a:ext>
            </a:extLst>
          </p:cNvPr>
          <p:cNvSpPr txBox="1"/>
          <p:nvPr/>
        </p:nvSpPr>
        <p:spPr>
          <a:xfrm>
            <a:off x="720000" y="1350000"/>
            <a:ext cx="4295880" cy="1692771"/>
          </a:xfrm>
          <a:prstGeom prst="rect">
            <a:avLst/>
          </a:prstGeom>
          <a:noFill/>
          <a:ln>
            <a:noFill/>
          </a:ln>
        </p:spPr>
        <p:txBody>
          <a:bodyPr wrap="square" rtlCol="0">
            <a:spAutoFit/>
          </a:bodyPr>
          <a:lstStyle/>
          <a:p>
            <a:pPr marL="324000" indent="-324000">
              <a:buClr>
                <a:srgbClr val="DB6C30"/>
              </a:buClr>
              <a:buBlip>
                <a:blip r:embed="rId2"/>
              </a:buBlip>
            </a:pPr>
            <a:r>
              <a:rPr lang="en-US" altLang="en-US" sz="2200" dirty="0"/>
              <a:t>Standard output and error channels can be redirected to other files:</a:t>
            </a:r>
            <a:br>
              <a:rPr lang="en-US" altLang="en-US" sz="2200" dirty="0"/>
            </a:br>
            <a:r>
              <a:rPr lang="en-US" altLang="en-US" sz="1900" dirty="0">
                <a:latin typeface="Courier New" panose="02070309020205020404" pitchFamily="49" charset="0"/>
                <a:cs typeface="Courier New" panose="02070309020205020404" pitchFamily="49" charset="0"/>
              </a:rPr>
              <a:t>#SBATCH --output … </a:t>
            </a:r>
            <a:br>
              <a:rPr lang="en-US" altLang="en-US" sz="1900" dirty="0">
                <a:latin typeface="Courier New" panose="02070309020205020404" pitchFamily="49" charset="0"/>
                <a:cs typeface="Courier New" panose="02070309020205020404" pitchFamily="49" charset="0"/>
              </a:rPr>
            </a:br>
            <a:r>
              <a:rPr lang="en-US" altLang="en-US" sz="1900" dirty="0">
                <a:latin typeface="Courier New" panose="02070309020205020404" pitchFamily="49" charset="0"/>
                <a:cs typeface="Courier New" panose="02070309020205020404" pitchFamily="49" charset="0"/>
              </a:rPr>
              <a:t>#SBATCH --error …</a:t>
            </a:r>
          </a:p>
        </p:txBody>
      </p:sp>
    </p:spTree>
    <p:extLst>
      <p:ext uri="{BB962C8B-B14F-4D97-AF65-F5344CB8AC3E}">
        <p14:creationId xmlns:p14="http://schemas.microsoft.com/office/powerpoint/2010/main" val="21231883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720000" y="4941168"/>
            <a:ext cx="10693036" cy="1224136"/>
          </a:xfrm>
          <a:ln w="25400">
            <a:no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720000" y="1350000"/>
            <a:ext cx="10659872" cy="3385542"/>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a:p>
            <a:pPr marL="342900" indent="-342900">
              <a:buClr>
                <a:srgbClr val="DB6C30"/>
              </a:buClr>
              <a:buBlip>
                <a:blip r:embed="rId2"/>
              </a:buBlip>
            </a:pPr>
            <a:r>
              <a:rPr lang="en-US" sz="2200" dirty="0">
                <a:cs typeface="Courier New" panose="02070309020205020404" pitchFamily="49" charset="0"/>
              </a:rPr>
              <a:t>Hardware:</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wICE</a:t>
            </a:r>
            <a:r>
              <a:rPr lang="en-US" sz="1900" dirty="0">
                <a:cs typeface="Courier New" panose="02070309020205020404" pitchFamily="49" charset="0"/>
              </a:rPr>
              <a:t>: 4 nodes with 64 cores/node, 512 GiB mem, 1 physical GPU (split in 7 instances)</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Mindwell</a:t>
            </a:r>
            <a:r>
              <a:rPr lang="en-US" sz="1900" dirty="0">
                <a:cs typeface="Courier New" panose="02070309020205020404" pitchFamily="49" charset="0"/>
              </a:rPr>
              <a:t>: 2 nodes with 192 cores/node, 768 GiB mem, 2 Physical GPUs</a:t>
            </a:r>
          </a:p>
          <a:p>
            <a:pPr marL="342900" indent="-342900">
              <a:buClr>
                <a:srgbClr val="DB6C30"/>
              </a:buClr>
              <a:buBlip>
                <a:blip r:embed="rId2"/>
              </a:buBlip>
            </a:pPr>
            <a:r>
              <a:rPr lang="en-US" sz="2200" dirty="0">
                <a:cs typeface="Courier New" panose="02070309020205020404" pitchFamily="49" charset="0"/>
              </a:rPr>
              <a:t>Purpose:</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quickly compile, test, debug your (parallel) application</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pre- or postprocess your data (incl. visualizations)</a:t>
            </a: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4146800279"/>
              </p:ext>
            </p:extLst>
          </p:nvPr>
        </p:nvGraphicFramePr>
        <p:xfrm>
          <a:off x="620704" y="3320008"/>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3">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a:p>
                  </a:txBody>
                  <a:tcPr/>
                </a:tc>
                <a:tc>
                  <a:txBody>
                    <a:bodyPr/>
                    <a:lstStyle/>
                    <a:p>
                      <a:r>
                        <a:rPr lang="en-US" sz="2000" dirty="0"/>
                        <a:t>gpu_p100_debug</a:t>
                      </a:r>
                      <a:endParaRPr lang="nl-BE" sz="2000" dirty="0"/>
                    </a:p>
                  </a:txBody>
                  <a:tcPr/>
                </a:tc>
                <a:tc>
                  <a:txBody>
                    <a:bodyPr/>
                    <a:lstStyle/>
                    <a:p>
                      <a:r>
                        <a:rPr lang="en-US" sz="2000" dirty="0"/>
                        <a:t>1 Skylake node with 4 P100 GPU</a:t>
                      </a:r>
                      <a:endParaRPr lang="nl-BE" sz="2000" dirty="0"/>
                    </a:p>
                  </a:txBody>
                  <a:tcPr/>
                </a:tc>
                <a:extLst>
                  <a:ext uri="{0D108BD9-81ED-4DB2-BD59-A6C34878D82A}">
                    <a16:rowId xmlns:a16="http://schemas.microsoft.com/office/drawing/2014/main" val="255103536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
        <p:nvSpPr>
          <p:cNvPr id="4" name="TextBox 3">
            <a:extLst>
              <a:ext uri="{FF2B5EF4-FFF2-40B4-BE49-F238E27FC236}">
                <a16:creationId xmlns:a16="http://schemas.microsoft.com/office/drawing/2014/main" id="{AD6C64CE-48BD-0DE2-BD15-264DEB98171A}"/>
              </a:ext>
            </a:extLst>
          </p:cNvPr>
          <p:cNvSpPr txBox="1"/>
          <p:nvPr/>
        </p:nvSpPr>
        <p:spPr>
          <a:xfrm>
            <a:off x="720000" y="1350000"/>
            <a:ext cx="10659872" cy="1446550"/>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OnDemand</a:t>
            </a: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350000"/>
            <a:ext cx="5736041" cy="4031873"/>
          </a:xfrm>
          <a:prstGeom prst="rect">
            <a:avLst/>
          </a:prstGeom>
          <a:noFill/>
          <a:ln w="19050">
            <a:noFill/>
          </a:ln>
        </p:spPr>
        <p:txBody>
          <a:bodyPr wrap="square" rtlCol="0">
            <a:spAutoFit/>
          </a:bodyPr>
          <a:lstStyle/>
          <a:p>
            <a:pPr marL="285750" indent="-324000">
              <a:buClr>
                <a:srgbClr val="DB6C30"/>
              </a:buClr>
              <a:buBlip>
                <a:blip r:embed="rId2"/>
              </a:buBlip>
            </a:pPr>
            <a:r>
              <a:rPr lang="en-US" sz="2200" dirty="0"/>
              <a:t>What? </a:t>
            </a:r>
          </a:p>
          <a:p>
            <a:pPr marL="742950" lvl="1" indent="-324000">
              <a:buClr>
                <a:srgbClr val="DB6C30"/>
              </a:buClr>
              <a:buFont typeface="Arial" panose="020B0604020202020204" pitchFamily="34" charset="0"/>
              <a:buChar char="•"/>
            </a:pPr>
            <a:r>
              <a:rPr lang="en-US" sz="1900" dirty="0"/>
              <a:t>Self-contained OS image</a:t>
            </a:r>
            <a:br>
              <a:rPr lang="en-US" sz="1900" dirty="0"/>
            </a:br>
            <a:r>
              <a:rPr lang="en-US" sz="1900" dirty="0"/>
              <a:t>in which you can install software and include data</a:t>
            </a:r>
          </a:p>
          <a:p>
            <a:pPr marL="285750" indent="-324000">
              <a:buClr>
                <a:srgbClr val="DB6C30"/>
              </a:buClr>
              <a:buBlip>
                <a:blip r:embed="rId2"/>
              </a:buBlip>
            </a:pPr>
            <a:r>
              <a:rPr lang="en-US" sz="2200" dirty="0"/>
              <a:t>Why? </a:t>
            </a:r>
          </a:p>
          <a:p>
            <a:pPr marL="742950" lvl="1" indent="-324000">
              <a:buClr>
                <a:srgbClr val="DB6C30"/>
              </a:buClr>
              <a:buFont typeface="Arial" panose="020B0604020202020204" pitchFamily="34" charset="0"/>
              <a:buChar char="•"/>
            </a:pPr>
            <a:r>
              <a:rPr lang="en-US" sz="1900" dirty="0"/>
              <a:t>Package managers like </a:t>
            </a:r>
            <a:r>
              <a:rPr lang="en-US" sz="1900" dirty="0">
                <a:latin typeface="72 Monospace" panose="020B0509030603020204" pitchFamily="49" charset="0"/>
                <a:cs typeface="72 Monospace" panose="020B0509030603020204" pitchFamily="49" charset="0"/>
              </a:rPr>
              <a:t>apt</a:t>
            </a:r>
            <a:r>
              <a:rPr lang="en-US" sz="1900" dirty="0"/>
              <a:t> can be convenient</a:t>
            </a:r>
          </a:p>
          <a:p>
            <a:pPr marL="742950" lvl="1" indent="-324000">
              <a:buClr>
                <a:srgbClr val="DB6C30"/>
              </a:buClr>
              <a:buFont typeface="Arial" panose="020B0604020202020204" pitchFamily="34" charset="0"/>
              <a:buChar char="•"/>
            </a:pPr>
            <a:r>
              <a:rPr lang="en-US" sz="1900" dirty="0"/>
              <a:t>Portability: images can be used on various hardware (but performance may be sub-par)</a:t>
            </a:r>
          </a:p>
          <a:p>
            <a:pPr marL="285750" indent="-324000">
              <a:buClr>
                <a:srgbClr val="DB6C30"/>
              </a:buClr>
              <a:buBlip>
                <a:blip r:embed="rId2"/>
              </a:buBlip>
            </a:pPr>
            <a:r>
              <a:rPr lang="en-US" sz="2200" dirty="0"/>
              <a:t>How?</a:t>
            </a:r>
          </a:p>
          <a:p>
            <a:pPr marL="742950" lvl="1" indent="-324000">
              <a:buClr>
                <a:srgbClr val="DB6C30"/>
              </a:buClr>
              <a:buFont typeface="Arial" panose="020B0604020202020204" pitchFamily="34" charset="0"/>
              <a:buChar char="•"/>
            </a:pPr>
            <a:r>
              <a:rPr lang="en-US" sz="1900" dirty="0"/>
              <a:t>Create the image</a:t>
            </a:r>
          </a:p>
          <a:p>
            <a:pPr marL="742950" lvl="1" indent="-324000">
              <a:buClr>
                <a:srgbClr val="DB6C30"/>
              </a:buClr>
              <a:buFont typeface="Arial" panose="020B0604020202020204" pitchFamily="34" charset="0"/>
              <a:buChar char="•"/>
            </a:pPr>
            <a:r>
              <a:rPr lang="en-US" sz="1900" dirty="0"/>
              <a:t>Run it on </a:t>
            </a:r>
            <a:r>
              <a:rPr lang="en-US" sz="1900" dirty="0" err="1"/>
              <a:t>wICE</a:t>
            </a:r>
            <a:r>
              <a:rPr lang="en-US" sz="1900" dirty="0"/>
              <a:t> or </a:t>
            </a:r>
            <a:r>
              <a:rPr lang="en-US" sz="1900" dirty="0" err="1"/>
              <a:t>Mindwell</a:t>
            </a:r>
            <a:endParaRPr lang="en-US" sz="1900" dirty="0"/>
          </a:p>
          <a:p>
            <a:pPr marL="742950" lvl="1" indent="-324000">
              <a:buClr>
                <a:srgbClr val="DB6C30"/>
              </a:buClr>
              <a:buFont typeface="Arial" panose="020B0604020202020204" pitchFamily="34" charset="0"/>
              <a:buChar char="•"/>
            </a:pPr>
            <a:r>
              <a:rPr lang="en-US" sz="1900" dirty="0"/>
              <a:t>Parallelization should work</a:t>
            </a:r>
            <a:br>
              <a:rPr lang="en-US" sz="1900" dirty="0"/>
            </a:br>
            <a:r>
              <a:rPr lang="en-US" sz="1900"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5949" y="155090"/>
            <a:ext cx="3986051" cy="3633950"/>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6696903" y="3933056"/>
            <a:ext cx="5294526" cy="2109475"/>
            <a:chOff x="2826025" y="4730560"/>
            <a:chExt cx="4622021" cy="2109475"/>
          </a:xfrm>
        </p:grpSpPr>
        <p:sp>
          <p:nvSpPr>
            <p:cNvPr id="12" name="TextBox 3"/>
            <p:cNvSpPr txBox="1">
              <a:spLocks noChangeArrowheads="1"/>
            </p:cNvSpPr>
            <p:nvPr/>
          </p:nvSpPr>
          <p:spPr bwMode="auto">
            <a:xfrm>
              <a:off x="2826025" y="5024153"/>
              <a:ext cx="4622020" cy="1815882"/>
            </a:xfrm>
            <a:prstGeom prst="rect">
              <a:avLst/>
            </a:prstGeom>
            <a:solidFill>
              <a:schemeClr val="bg1">
                <a:lumMod val="95000"/>
              </a:schemeClr>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--time=30:00</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=72</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apptainer</a:t>
              </a:r>
              <a:r>
                <a:rPr lang="nl-BE" sz="1600" dirty="0">
                  <a:solidFill>
                    <a:srgbClr val="4E5865"/>
                  </a:solidFill>
                  <a:latin typeface="Courier New" panose="02070309020205020404" pitchFamily="49" charset="0"/>
                  <a:ea typeface="新細明體"/>
                  <a:cs typeface="Courier New" panose="02070309020205020404" pitchFamily="49" charset="0"/>
                </a:rPr>
                <a:t> run </a:t>
              </a:r>
              <a:r>
                <a:rPr lang="nl-BE" sz="1600" dirty="0" err="1">
                  <a:solidFill>
                    <a:srgbClr val="4E5865"/>
                  </a:solidFill>
                  <a:latin typeface="Courier New" panose="02070309020205020404" pitchFamily="49" charset="0"/>
                  <a:ea typeface="新細明體"/>
                  <a:cs typeface="Courier New" panose="02070309020205020404" pitchFamily="49" charset="0"/>
                </a:rPr>
                <a:t>Project.sif</a:t>
              </a:r>
              <a:r>
                <a:rPr lang="nl-BE" sz="1600"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4730560"/>
              <a:ext cx="1153632" cy="276999"/>
            </a:xfrm>
            <a:prstGeom prst="rect">
              <a:avLst/>
            </a:prstGeom>
            <a:solidFill>
              <a:srgbClr val="DB6C30"/>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
        <p:nvSpPr>
          <p:cNvPr id="3" name="TextBox 2">
            <a:extLst>
              <a:ext uri="{FF2B5EF4-FFF2-40B4-BE49-F238E27FC236}">
                <a16:creationId xmlns:a16="http://schemas.microsoft.com/office/drawing/2014/main" id="{C88408D7-C4BF-3BA9-021D-B7C46766106D}"/>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You can use </a:t>
            </a:r>
            <a:r>
              <a:rPr lang="en-US" sz="2200" dirty="0" err="1"/>
              <a:t>atools</a:t>
            </a:r>
            <a:r>
              <a:rPr lang="en-US" sz="2200" dirty="0"/>
              <a:t> to handle high-throughput computing workloads</a:t>
            </a:r>
          </a:p>
          <a:p>
            <a:pPr marL="342900" indent="-342900">
              <a:spcBef>
                <a:spcPts val="750"/>
              </a:spcBef>
              <a:buBlip>
                <a:blip r:embed="rId3"/>
              </a:buBlip>
            </a:pPr>
            <a:r>
              <a:rPr lang="en-US" sz="2200" dirty="0">
                <a:cs typeface="Courier New" panose="02070309020205020404" pitchFamily="49" charset="0"/>
              </a:rPr>
              <a:t>Simply load the module:</a:t>
            </a:r>
            <a:br>
              <a:rPr lang="en-US" sz="2200"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module load </a:t>
            </a:r>
            <a:r>
              <a:rPr lang="en-US" sz="2200" dirty="0" err="1">
                <a:latin typeface="Courier New" panose="02070309020205020404" pitchFamily="49" charset="0"/>
                <a:cs typeface="Courier New" panose="02070309020205020404" pitchFamily="49" charset="0"/>
              </a:rPr>
              <a:t>atools</a:t>
            </a:r>
            <a:r>
              <a:rPr lang="en-US" sz="2200" dirty="0">
                <a:latin typeface="Courier New" panose="02070309020205020404" pitchFamily="49" charset="0"/>
                <a:cs typeface="Courier New" panose="02070309020205020404" pitchFamily="49" charset="0"/>
              </a:rPr>
              <a:t>/&lt;version&gt;</a:t>
            </a:r>
          </a:p>
          <a:p>
            <a:pPr marL="342900" indent="-342900">
              <a:spcBef>
                <a:spcPts val="750"/>
              </a:spcBef>
              <a:buBlip>
                <a:blip r:embed="rId3"/>
              </a:buBlip>
            </a:pPr>
            <a:r>
              <a:rPr lang="en-US" sz="2200" dirty="0"/>
              <a:t>VSC training: Workflows for Data Science</a:t>
            </a:r>
          </a:p>
          <a:p>
            <a:pPr marL="342900" indent="-342900">
              <a:spcBef>
                <a:spcPts val="750"/>
              </a:spcBef>
              <a:buBlip>
                <a:blip r:embed="rId3"/>
              </a:buBlip>
            </a:pPr>
            <a:r>
              <a:rPr lang="en-US" sz="2200" dirty="0"/>
              <a:t>Training material: </a:t>
            </a:r>
            <a:r>
              <a:rPr lang="en-US" sz="2200" dirty="0">
                <a:hlinkClick r:id="rId4"/>
              </a:rPr>
              <a:t>https://github.com/gjbex/Workflows-for-HPC</a:t>
            </a:r>
            <a:r>
              <a:rPr lang="en-US" sz="2200" dirty="0"/>
              <a:t> </a:t>
            </a:r>
          </a:p>
          <a:p>
            <a:pPr marL="342900" indent="-342900">
              <a:spcBef>
                <a:spcPts val="750"/>
              </a:spcBef>
              <a:buBlip>
                <a:blip r:embed="rId3"/>
              </a:buBlip>
            </a:pPr>
            <a:r>
              <a:rPr lang="en-US" sz="2200" dirty="0"/>
              <a:t>Recording: </a:t>
            </a:r>
            <a:r>
              <a:rPr lang="en-US" sz="2200" dirty="0">
                <a:hlinkClick r:id="rId5"/>
              </a:rPr>
              <a:t>https://www.youtube.com/watch?v=GlwaRyi1LVA</a:t>
            </a:r>
            <a:endParaRPr lang="en-US" sz="2200" dirty="0"/>
          </a:p>
          <a:p>
            <a:pPr marL="342900" indent="-342900">
              <a:spcBef>
                <a:spcPts val="750"/>
              </a:spcBef>
              <a:buBlip>
                <a:blip r:embed="rId3"/>
              </a:buBlip>
            </a:pPr>
            <a:r>
              <a:rPr lang="en-US" sz="2200" dirty="0"/>
              <a:t>User documentation: </a:t>
            </a:r>
            <a:r>
              <a:rPr lang="en-US" sz="2200" dirty="0">
                <a:hlinkClick r:id="rId6"/>
              </a:rPr>
              <a:t>https://atools.readthedocs.io/en/latest</a:t>
            </a:r>
            <a:r>
              <a:rPr lang="en-US" sz="2200" dirty="0"/>
              <a:t> </a:t>
            </a: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EF04CF1F-725E-036C-FC85-8A6355384C83}"/>
              </a:ext>
            </a:extLst>
          </p:cNvPr>
          <p:cNvSpPr txBox="1"/>
          <p:nvPr/>
        </p:nvSpPr>
        <p:spPr>
          <a:xfrm>
            <a:off x="720000" y="1350000"/>
            <a:ext cx="11112000" cy="1754326"/>
          </a:xfrm>
          <a:prstGeom prst="rect">
            <a:avLst/>
          </a:prstGeom>
          <a:noFill/>
          <a:ln>
            <a:noFill/>
          </a:ln>
        </p:spPr>
        <p:txBody>
          <a:bodyPr wrap="square" rtlCol="0">
            <a:spAutoFit/>
          </a:bodyPr>
          <a:lstStyle/>
          <a:p>
            <a:pPr marL="342900" indent="-342900">
              <a:spcBef>
                <a:spcPts val="750"/>
              </a:spcBef>
              <a:buBlip>
                <a:blip r:embed="rId3"/>
              </a:buBlip>
            </a:pPr>
            <a:r>
              <a:rPr lang="en-US" sz="2200" dirty="0"/>
              <a:t>Transfer a file via the Open OnDemand </a:t>
            </a:r>
            <a:r>
              <a:rPr lang="en-US" sz="2200" dirty="0" err="1"/>
              <a:t>Filebrowser</a:t>
            </a:r>
            <a:endParaRPr lang="en-US" sz="2200" dirty="0"/>
          </a:p>
          <a:p>
            <a:pPr marL="342900" indent="-342900">
              <a:spcBef>
                <a:spcPts val="750"/>
              </a:spcBef>
              <a:buBlip>
                <a:blip r:embed="rId3"/>
              </a:buBlip>
            </a:pPr>
            <a:r>
              <a:rPr lang="en-US" sz="2200" dirty="0"/>
              <a:t>Check your disk quota</a:t>
            </a:r>
          </a:p>
          <a:p>
            <a:pPr marL="342900" indent="-342900">
              <a:spcBef>
                <a:spcPts val="750"/>
              </a:spcBef>
              <a:buBlip>
                <a:blip r:embed="rId3"/>
              </a:buBlip>
            </a:pPr>
            <a:r>
              <a:rPr lang="en-US" sz="2200" dirty="0"/>
              <a:t>Check your available credits</a:t>
            </a:r>
          </a:p>
          <a:p>
            <a:pPr marL="342900" indent="-342900">
              <a:spcBef>
                <a:spcPts val="750"/>
              </a:spcBef>
              <a:buBlip>
                <a:blip r:embed="rId3"/>
              </a:buBlip>
            </a:pPr>
            <a:r>
              <a:rPr lang="en-US" sz="2200" dirty="0"/>
              <a:t>Check/load/list/unload/purge module</a:t>
            </a: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D3D2AF6F-20D2-E5E4-054B-F0E5754FC233}"/>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Copy </a:t>
            </a:r>
            <a:r>
              <a:rPr lang="en-US" sz="2200" dirty="0">
                <a:latin typeface="Courier New" panose="02070309020205020404" pitchFamily="49" charset="0"/>
                <a:cs typeface="Courier New" panose="02070309020205020404" pitchFamily="49" charset="0"/>
              </a:rPr>
              <a:t>/apps/</a:t>
            </a:r>
            <a:r>
              <a:rPr lang="en-US" sz="2200" dirty="0" err="1">
                <a:latin typeface="Courier New" panose="02070309020205020404" pitchFamily="49" charset="0"/>
                <a:cs typeface="Courier New" panose="02070309020205020404" pitchFamily="49" charset="0"/>
              </a:rPr>
              <a:t>leuven</a:t>
            </a:r>
            <a:r>
              <a:rPr lang="en-US" sz="2200" dirty="0">
                <a:latin typeface="Courier New" panose="02070309020205020404" pitchFamily="49" charset="0"/>
                <a:cs typeface="Courier New" panose="02070309020205020404" pitchFamily="49" charset="0"/>
              </a:rPr>
              <a:t>/training/</a:t>
            </a:r>
            <a:r>
              <a:rPr lang="en-US" sz="2200" dirty="0" err="1">
                <a:latin typeface="Courier New" panose="02070309020205020404" pitchFamily="49" charset="0"/>
                <a:cs typeface="Courier New" panose="02070309020205020404" pitchFamily="49" charset="0"/>
              </a:rPr>
              <a:t>HPC_intro</a:t>
            </a:r>
            <a:r>
              <a:rPr lang="en-US" sz="2200" dirty="0">
                <a:latin typeface="Courier New" panose="02070309020205020404" pitchFamily="49" charset="0"/>
                <a:cs typeface="Courier New" panose="02070309020205020404" pitchFamily="49" charset="0"/>
              </a:rPr>
              <a:t>/</a:t>
            </a:r>
            <a:r>
              <a:rPr lang="en-US" sz="2200" dirty="0">
                <a:cs typeface="Courier New" panose="02070309020205020404" pitchFamily="49" charset="0"/>
              </a:rPr>
              <a:t> to your </a:t>
            </a:r>
            <a:r>
              <a:rPr lang="en-US" sz="2200" dirty="0">
                <a:latin typeface="Courier New" panose="02070309020205020404" pitchFamily="49" charset="0"/>
                <a:cs typeface="Courier New" panose="02070309020205020404" pitchFamily="49" charset="0"/>
              </a:rPr>
              <a:t>$VSC_DATA</a:t>
            </a:r>
          </a:p>
          <a:p>
            <a:pPr marL="342900" indent="-342900">
              <a:spcBef>
                <a:spcPts val="750"/>
              </a:spcBef>
              <a:buBlip>
                <a:blip r:embed="rId3"/>
              </a:buBlip>
            </a:pPr>
            <a:r>
              <a:rPr lang="en-US" sz="2200" dirty="0"/>
              <a:t>Submit </a:t>
            </a:r>
            <a:r>
              <a:rPr lang="en-US" sz="2200" dirty="0" err="1">
                <a:latin typeface="Courier New" panose="02070309020205020404" pitchFamily="49" charset="0"/>
                <a:cs typeface="Courier New" panose="02070309020205020404" pitchFamily="49" charset="0"/>
              </a:rPr>
              <a:t>cpujob.slurm</a:t>
            </a:r>
            <a:r>
              <a:rPr lang="en-US" sz="2200" dirty="0"/>
              <a:t> to the cluster</a:t>
            </a:r>
          </a:p>
          <a:p>
            <a:pPr marL="342900" indent="-342900">
              <a:spcBef>
                <a:spcPts val="750"/>
              </a:spcBef>
              <a:buBlip>
                <a:blip r:embed="rId3"/>
              </a:buBlip>
            </a:pPr>
            <a:r>
              <a:rPr lang="en-US" sz="2200" dirty="0"/>
              <a:t>List all your jobs with </a:t>
            </a:r>
            <a:r>
              <a:rPr lang="en-US" sz="2200" dirty="0" err="1">
                <a:latin typeface="Courier New" panose="02070309020205020404" pitchFamily="49" charset="0"/>
                <a:cs typeface="Courier New" panose="02070309020205020404" pitchFamily="49" charset="0"/>
              </a:rPr>
              <a:t>squeue</a:t>
            </a:r>
            <a:r>
              <a:rPr lang="en-US" sz="2200" dirty="0">
                <a:latin typeface="Courier New" panose="02070309020205020404" pitchFamily="49" charset="0"/>
                <a:cs typeface="Courier New" panose="02070309020205020404" pitchFamily="49" charset="0"/>
              </a:rPr>
              <a:t> -M all</a:t>
            </a:r>
          </a:p>
          <a:p>
            <a:pPr marL="342900" indent="-342900">
              <a:spcBef>
                <a:spcPts val="750"/>
              </a:spcBef>
              <a:buBlip>
                <a:blip r:embed="rId3"/>
              </a:buBlip>
            </a:pPr>
            <a:r>
              <a:rPr lang="en-US" sz="2200" dirty="0"/>
              <a:t>Check the information about the job with </a:t>
            </a:r>
            <a:r>
              <a:rPr lang="en-US" sz="2200" dirty="0" err="1">
                <a:latin typeface="Courier New" panose="02070309020205020404" pitchFamily="49" charset="0"/>
                <a:cs typeface="Courier New" panose="02070309020205020404" pitchFamily="49" charset="0"/>
              </a:rPr>
              <a:t>slurm_jobinfo</a:t>
            </a:r>
            <a:r>
              <a:rPr lang="en-US" sz="2200" dirty="0">
                <a:latin typeface="Courier New" panose="02070309020205020404" pitchFamily="49" charset="0"/>
                <a:cs typeface="Courier New" panose="02070309020205020404" pitchFamily="49" charset="0"/>
              </a:rPr>
              <a:t> -M </a:t>
            </a:r>
            <a:r>
              <a:rPr lang="en-US" sz="2200" dirty="0" err="1">
                <a:latin typeface="Courier New" panose="02070309020205020404" pitchFamily="49" charset="0"/>
                <a:cs typeface="Courier New" panose="02070309020205020404" pitchFamily="49" charset="0"/>
              </a:rPr>
              <a:t>wice</a:t>
            </a:r>
            <a:r>
              <a:rPr lang="en-US" sz="2200" dirty="0">
                <a:latin typeface="Courier New" panose="02070309020205020404" pitchFamily="49" charset="0"/>
                <a:cs typeface="Courier New" panose="02070309020205020404" pitchFamily="49" charset="0"/>
              </a:rPr>
              <a:t> &lt;</a:t>
            </a:r>
            <a:r>
              <a:rPr lang="en-US" sz="2200" dirty="0" err="1">
                <a:latin typeface="Courier New" panose="02070309020205020404" pitchFamily="49" charset="0"/>
                <a:cs typeface="Courier New" panose="02070309020205020404" pitchFamily="49" charset="0"/>
              </a:rPr>
              <a:t>job_ID</a:t>
            </a:r>
            <a:r>
              <a:rPr lang="en-US" sz="2200" dirty="0">
                <a:latin typeface="Courier New" panose="02070309020205020404" pitchFamily="49" charset="0"/>
                <a:cs typeface="Courier New" panose="02070309020205020404" pitchFamily="49" charset="0"/>
              </a:rPr>
              <a:t>&gt;</a:t>
            </a:r>
          </a:p>
          <a:p>
            <a:pPr marL="342900" indent="-342900">
              <a:spcBef>
                <a:spcPts val="750"/>
              </a:spcBef>
              <a:buBlip>
                <a:blip r:embed="rId3"/>
              </a:buBlip>
            </a:pPr>
            <a:r>
              <a:rPr lang="en-US" sz="2200" dirty="0"/>
              <a:t>Modify the </a:t>
            </a:r>
            <a:r>
              <a:rPr lang="en-US" sz="2200" dirty="0" err="1">
                <a:latin typeface="Courier New" panose="02070309020205020404" pitchFamily="49" charset="0"/>
                <a:cs typeface="Courier New" panose="02070309020205020404" pitchFamily="49" charset="0"/>
              </a:rPr>
              <a:t>mpi.slurm</a:t>
            </a:r>
            <a:r>
              <a:rPr lang="en-US" sz="2200" dirty="0"/>
              <a:t> script to request 1 node, 72 cores for 30 minutes,</a:t>
            </a:r>
            <a:br>
              <a:rPr lang="en-US" sz="2200" dirty="0"/>
            </a:br>
            <a:r>
              <a:rPr lang="en-US" sz="2200" dirty="0"/>
              <a:t>  with job start/end e-mail notifications</a:t>
            </a:r>
          </a:p>
          <a:p>
            <a:pPr marL="342900" indent="-342900">
              <a:spcBef>
                <a:spcPts val="750"/>
              </a:spcBef>
              <a:buBlip>
                <a:blip r:embed="rId3"/>
              </a:buBlip>
            </a:pPr>
            <a:r>
              <a:rPr lang="en-US" sz="2200" dirty="0"/>
              <a:t>Check the status of all the jobs</a:t>
            </a: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1EAC850B-8333-24DC-91EF-2D68AD9E0E36}"/>
              </a:ext>
            </a:extLst>
          </p:cNvPr>
          <p:cNvSpPr txBox="1"/>
          <p:nvPr/>
        </p:nvSpPr>
        <p:spPr>
          <a:xfrm>
            <a:off x="720000" y="1350000"/>
            <a:ext cx="11112000" cy="2939266"/>
          </a:xfrm>
          <a:prstGeom prst="rect">
            <a:avLst/>
          </a:prstGeom>
          <a:noFill/>
          <a:ln>
            <a:noFill/>
          </a:ln>
        </p:spPr>
        <p:txBody>
          <a:bodyPr wrap="square" rtlCol="0">
            <a:spAutoFit/>
          </a:bodyPr>
          <a:lstStyle/>
          <a:p>
            <a:pPr marL="342900" indent="-342900">
              <a:spcBef>
                <a:spcPts val="750"/>
              </a:spcBef>
              <a:buBlip>
                <a:blip r:embed="rId3"/>
              </a:buBlip>
            </a:pPr>
            <a:r>
              <a:rPr lang="en-US" sz="2200" dirty="0"/>
              <a:t>Submit an interactive job</a:t>
            </a:r>
          </a:p>
          <a:p>
            <a:pPr marL="800100" lvl="1" indent="-342900">
              <a:spcBef>
                <a:spcPts val="750"/>
              </a:spcBef>
              <a:buClr>
                <a:srgbClr val="DB6C30"/>
              </a:buClr>
              <a:buFont typeface="Arial" panose="020B0604020202020204" pitchFamily="34" charset="0"/>
              <a:buChar char="•"/>
            </a:pPr>
            <a:r>
              <a:rPr lang="en-US" sz="1900" dirty="0"/>
              <a:t>Run your program on a compute node</a:t>
            </a:r>
          </a:p>
          <a:p>
            <a:pPr marL="800100" lvl="1" indent="-342900">
              <a:spcBef>
                <a:spcPts val="750"/>
              </a:spcBef>
              <a:buClr>
                <a:srgbClr val="DB6C30"/>
              </a:buClr>
              <a:buFont typeface="Arial" panose="020B0604020202020204" pitchFamily="34" charset="0"/>
              <a:buChar char="•"/>
            </a:pPr>
            <a:r>
              <a:rPr lang="en-US" sz="1900" dirty="0"/>
              <a:t>Open a new terminal and </a:t>
            </a:r>
            <a:r>
              <a:rPr lang="en-US" sz="1900" dirty="0">
                <a:latin typeface="Courier New" panose="02070309020205020404" pitchFamily="49" charset="0"/>
                <a:cs typeface="Courier New" panose="02070309020205020404" pitchFamily="49" charset="0"/>
              </a:rPr>
              <a:t>ssh</a:t>
            </a:r>
            <a:r>
              <a:rPr lang="en-US" sz="1900" dirty="0"/>
              <a:t> to the allocated compute node </a:t>
            </a:r>
          </a:p>
          <a:p>
            <a:pPr marL="800100" lvl="1" indent="-342900">
              <a:spcBef>
                <a:spcPts val="750"/>
              </a:spcBef>
              <a:buClr>
                <a:srgbClr val="DB6C30"/>
              </a:buClr>
              <a:buFont typeface="Arial" panose="020B0604020202020204" pitchFamily="34" charset="0"/>
              <a:buChar char="•"/>
            </a:pPr>
            <a:r>
              <a:rPr lang="en-US" sz="1900" dirty="0"/>
              <a:t>Check the resources usage with </a:t>
            </a:r>
            <a:r>
              <a:rPr lang="en-US" sz="1900" dirty="0" err="1">
                <a:latin typeface="Courier New" panose="02070309020205020404" pitchFamily="49" charset="0"/>
                <a:cs typeface="Courier New" panose="02070309020205020404" pitchFamily="49" charset="0"/>
              </a:rPr>
              <a:t>htop</a:t>
            </a:r>
            <a:endParaRPr lang="en-US" sz="1900" dirty="0">
              <a:latin typeface="Courier New" panose="02070309020205020404" pitchFamily="49" charset="0"/>
              <a:cs typeface="Courier New" panose="02070309020205020404" pitchFamily="49" charset="0"/>
            </a:endParaRPr>
          </a:p>
          <a:p>
            <a:pPr marL="342900" indent="-342900">
              <a:spcBef>
                <a:spcPts val="750"/>
              </a:spcBef>
              <a:buBlip>
                <a:blip r:embed="rId3"/>
              </a:buBlip>
            </a:pPr>
            <a:r>
              <a:rPr lang="en-US" sz="2200" dirty="0"/>
              <a:t>Submit a GPU batch job </a:t>
            </a:r>
          </a:p>
          <a:p>
            <a:pPr marL="800100" lvl="1" indent="-342900">
              <a:spcBef>
                <a:spcPts val="750"/>
              </a:spcBef>
              <a:buClr>
                <a:srgbClr val="DB6C30"/>
              </a:buClr>
              <a:buFont typeface="Arial" panose="020B0604020202020204" pitchFamily="34" charset="0"/>
              <a:buChar char="•"/>
            </a:pPr>
            <a:r>
              <a:rPr lang="en-US" sz="1900" dirty="0"/>
              <a:t>While the job is running, check its details with </a:t>
            </a:r>
            <a:r>
              <a:rPr lang="en-US" sz="1900" dirty="0" err="1">
                <a:latin typeface="Courier New" panose="02070309020205020404" pitchFamily="49" charset="0"/>
                <a:cs typeface="Courier New" panose="02070309020205020404" pitchFamily="49" charset="0"/>
              </a:rPr>
              <a:t>slurm_jobinfo</a:t>
            </a:r>
            <a:endParaRPr lang="en-US" sz="1900" dirty="0">
              <a:latin typeface="Courier New" panose="02070309020205020404" pitchFamily="49" charset="0"/>
              <a:cs typeface="Courier New" panose="02070309020205020404" pitchFamily="49" charset="0"/>
            </a:endParaRPr>
          </a:p>
          <a:p>
            <a:pPr marL="800100" lvl="1" indent="-342900">
              <a:spcBef>
                <a:spcPts val="750"/>
              </a:spcBef>
              <a:buClr>
                <a:srgbClr val="DB6C30"/>
              </a:buClr>
              <a:buFont typeface="Arial" panose="020B0604020202020204" pitchFamily="34" charset="0"/>
              <a:buChar char="•"/>
            </a:pPr>
            <a:r>
              <a:rPr lang="en-US" sz="1900" dirty="0"/>
              <a:t>and check resource on the compute node using </a:t>
            </a:r>
            <a:r>
              <a:rPr lang="en-US" sz="1900" dirty="0">
                <a:latin typeface="Courier New" panose="02070309020205020404" pitchFamily="49" charset="0"/>
                <a:cs typeface="Courier New" panose="02070309020205020404" pitchFamily="49" charset="0"/>
              </a:rPr>
              <a:t>ssh</a:t>
            </a:r>
            <a:r>
              <a:rPr lang="en-US" sz="1900" dirty="0"/>
              <a:t>, </a:t>
            </a:r>
            <a:r>
              <a:rPr lang="en-US" sz="1900" dirty="0" err="1">
                <a:latin typeface="Courier New" panose="02070309020205020404" pitchFamily="49" charset="0"/>
                <a:cs typeface="Courier New" panose="02070309020205020404" pitchFamily="49" charset="0"/>
              </a:rPr>
              <a:t>htop</a:t>
            </a:r>
            <a:r>
              <a:rPr lang="en-US" sz="1900" dirty="0"/>
              <a:t> and </a:t>
            </a:r>
            <a:r>
              <a:rPr lang="en-US" sz="1900" dirty="0" err="1">
                <a:latin typeface="Courier New" panose="02070309020205020404" pitchFamily="49" charset="0"/>
                <a:cs typeface="Courier New" panose="02070309020205020404" pitchFamily="49" charset="0"/>
              </a:rPr>
              <a:t>nvidia-smi</a:t>
            </a:r>
            <a:endParaRPr lang="en-US" sz="1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6F25B228-9766-7549-1668-13F538A6168E}"/>
              </a:ext>
            </a:extLst>
          </p:cNvPr>
          <p:cNvSpPr txBox="1"/>
          <p:nvPr/>
        </p:nvSpPr>
        <p:spPr>
          <a:xfrm>
            <a:off x="720000" y="1350000"/>
            <a:ext cx="11112000" cy="3077766"/>
          </a:xfrm>
          <a:prstGeom prst="rect">
            <a:avLst/>
          </a:prstGeom>
          <a:noFill/>
          <a:ln>
            <a:noFill/>
          </a:ln>
        </p:spPr>
        <p:txBody>
          <a:bodyPr wrap="square" rtlCol="0">
            <a:spAutoFit/>
          </a:bodyPr>
          <a:lstStyle/>
          <a:p>
            <a:pPr marL="342900" indent="-342900">
              <a:spcBef>
                <a:spcPts val="750"/>
              </a:spcBef>
              <a:buBlip>
                <a:blip r:embed="rId2"/>
              </a:buBlip>
            </a:pPr>
            <a:r>
              <a:rPr lang="nl-NL" altLang="en-US" sz="2200" dirty="0"/>
              <a:t>Helpdesk (email): </a:t>
            </a:r>
            <a:r>
              <a:rPr lang="nl-NL" altLang="en-US" sz="2200" dirty="0">
                <a:hlinkClick r:id="rId3"/>
              </a:rPr>
              <a:t>hpcinfo@kuleuven.be</a:t>
            </a:r>
            <a:endParaRPr lang="en-US" altLang="en-US" sz="2200" dirty="0"/>
          </a:p>
          <a:p>
            <a:pPr marL="342900" indent="-342900">
              <a:spcBef>
                <a:spcPts val="750"/>
              </a:spcBef>
              <a:buBlip>
                <a:blip r:embed="rId2"/>
              </a:buBlip>
            </a:pPr>
            <a:r>
              <a:rPr lang="en-US" altLang="en-US" sz="2200" dirty="0"/>
              <a:t>Helpdesk (online form): </a:t>
            </a:r>
            <a:r>
              <a:rPr lang="en-US" altLang="en-US" sz="2200" dirty="0">
                <a:hlinkClick r:id="rId4"/>
              </a:rPr>
              <a:t>https://admin.kuleuven.be/icts/HPCinfo_form/HPC-info-formulier</a:t>
            </a:r>
            <a:endParaRPr lang="nl-NL" altLang="en-US" sz="2200" dirty="0">
              <a:solidFill>
                <a:srgbClr val="DB6C30"/>
              </a:solidFill>
            </a:endParaRPr>
          </a:p>
          <a:p>
            <a:pPr marL="342900" indent="-342900">
              <a:spcBef>
                <a:spcPts val="750"/>
              </a:spcBef>
              <a:buBlip>
                <a:blip r:embed="rId2"/>
              </a:buBlip>
            </a:pPr>
            <a:r>
              <a:rPr lang="nl-NL" altLang="en-US" sz="2200" dirty="0"/>
              <a:t>Contact VSC (Tier-1, </a:t>
            </a:r>
            <a:r>
              <a:rPr lang="nl-NL" altLang="en-US" sz="2200" dirty="0" err="1"/>
              <a:t>compute</a:t>
            </a:r>
            <a:r>
              <a:rPr lang="nl-NL" altLang="en-US" sz="2200"/>
              <a:t>, data</a:t>
            </a:r>
            <a:r>
              <a:rPr lang="nl-NL" altLang="en-US" sz="2200" dirty="0"/>
              <a:t>, </a:t>
            </a:r>
            <a:r>
              <a:rPr lang="nl-NL" altLang="en-US" sz="2200"/>
              <a:t>cloud): </a:t>
            </a:r>
            <a:r>
              <a:rPr lang="nl-NL" altLang="en-US" sz="2200">
                <a:hlinkClick r:id="rId5"/>
              </a:rPr>
              <a:t>https://docs.vscentrum.be/contact_vsc.html</a:t>
            </a:r>
            <a:r>
              <a:rPr lang="nl-NL" altLang="en-US" sz="2200"/>
              <a:t> </a:t>
            </a:r>
            <a:endParaRPr lang="nl-NL" altLang="en-US" sz="2200" dirty="0"/>
          </a:p>
          <a:p>
            <a:pPr marL="342900" indent="-342900">
              <a:spcBef>
                <a:spcPts val="750"/>
              </a:spcBef>
              <a:buBlip>
                <a:blip r:embed="rId2"/>
              </a:buBlip>
            </a:pPr>
            <a:r>
              <a:rPr lang="nl-NL" altLang="en-US" sz="2200" dirty="0"/>
              <a:t>VSC website: </a:t>
            </a:r>
            <a:r>
              <a:rPr lang="nl-BE" altLang="en-US" sz="2200" dirty="0">
                <a:solidFill>
                  <a:srgbClr val="DB6C30"/>
                </a:solidFill>
                <a:hlinkClick r:id="rId6"/>
              </a:rPr>
              <a:t>https://www.vscentrum.be</a:t>
            </a:r>
            <a:endParaRPr lang="en-US" altLang="en-US" sz="2200" dirty="0"/>
          </a:p>
          <a:p>
            <a:pPr marL="342900" indent="-342900">
              <a:spcBef>
                <a:spcPts val="750"/>
              </a:spcBef>
              <a:buBlip>
                <a:blip r:embed="rId2"/>
              </a:buBlip>
            </a:pPr>
            <a:r>
              <a:rPr lang="en-US" altLang="en-US" sz="2200" dirty="0"/>
              <a:t>VSC documentation: </a:t>
            </a:r>
            <a:r>
              <a:rPr lang="nl-BE" sz="2200" dirty="0">
                <a:solidFill>
                  <a:srgbClr val="DB6C30"/>
                </a:solidFill>
                <a:hlinkClick r:id="rId7"/>
              </a:rPr>
              <a:t>https://docs.vscentrum.be</a:t>
            </a:r>
            <a:endParaRPr lang="nl-BE" sz="2200" dirty="0"/>
          </a:p>
          <a:p>
            <a:pPr marL="342900" indent="-342900">
              <a:spcBef>
                <a:spcPts val="750"/>
              </a:spcBef>
              <a:buBlip>
                <a:blip r:embed="rId2"/>
              </a:buBlip>
            </a:pPr>
            <a:r>
              <a:rPr lang="en-US" altLang="en-US" sz="2200" dirty="0"/>
              <a:t>VSC agenda, training sessions, events (User Day): </a:t>
            </a:r>
            <a:r>
              <a:rPr lang="en-US" altLang="en-US" sz="2200" dirty="0">
                <a:hlinkClick r:id="rId8"/>
              </a:rPr>
              <a:t>https://www.vscentrum.be/vsctraining</a:t>
            </a:r>
            <a:endParaRPr lang="en-US" altLang="en-US" sz="2200" dirty="0"/>
          </a:p>
          <a:p>
            <a:pPr marL="342900" indent="-342900">
              <a:spcBef>
                <a:spcPts val="750"/>
              </a:spcBef>
              <a:buBlip>
                <a:blip r:embed="rId2"/>
              </a:buBlip>
            </a:pPr>
            <a:r>
              <a:rPr lang="en-US" altLang="en-US" sz="2200" dirty="0"/>
              <a:t>System status page: </a:t>
            </a:r>
            <a:r>
              <a:rPr lang="en-US" altLang="en-US" sz="2200" dirty="0">
                <a:hlinkClick r:id="rId9"/>
              </a:rPr>
              <a:t>https://status.vscentrum.be</a:t>
            </a:r>
            <a:endParaRPr lang="en-US" altLang="en-US" sz="2200" dirty="0"/>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customXsn xmlns="http://schemas.microsoft.com/office/2006/metadata/customXsn">
  <xsnLocation/>
  <cached>True</cached>
  <openByDefault>True</openByDefault>
  <xsnScope>/sites/hpc</xsnScope>
</customXsn>
</file>

<file path=customXml/item4.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5.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2.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4.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customXml/itemProps5.xml><?xml version="1.0" encoding="utf-8"?>
<ds:datastoreItem xmlns:ds="http://schemas.openxmlformats.org/officeDocument/2006/customXml" ds:itemID="{0D3AD3C2-D335-4A82-9852-0B836D73C1B0}">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8823</Words>
  <Application>Microsoft Office PowerPoint</Application>
  <PresentationFormat>Widescreen</PresentationFormat>
  <Paragraphs>1449</Paragraphs>
  <Slides>102</Slides>
  <Notes>49</Notes>
  <HiddenSlides>5</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Introduction to High Performance Computing</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1942</cp:revision>
  <dcterms:created xsi:type="dcterms:W3CDTF">2012-07-10T07:57:57Z</dcterms:created>
  <dcterms:modified xsi:type="dcterms:W3CDTF">2026-09-29T07:50:26Z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