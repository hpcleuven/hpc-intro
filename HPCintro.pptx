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tags/tag2.xml" ContentType="application/vnd.openxmlformats-officedocument.presentationml.tags+xml"/>
  <Override PartName="/ppt/notesSlides/notesSlide24.xml" ContentType="application/vnd.openxmlformats-officedocument.presentationml.notesSlide+xml"/>
  <Override PartName="/ppt/tags/tag3.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tags/tag4.xml" ContentType="application/vnd.openxmlformats-officedocument.presentationml.tags+xml"/>
  <Override PartName="/ppt/notesSlides/notesSlide3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tags/tag7.xml" ContentType="application/vnd.openxmlformats-officedocument.presentationml.tags+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2"/>
  </p:notesMasterIdLst>
  <p:handoutMasterIdLst>
    <p:handoutMasterId r:id="rId113"/>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307" r:id="rId26"/>
    <p:sldId id="1847" r:id="rId27"/>
    <p:sldId id="1658" r:id="rId28"/>
    <p:sldId id="1851" r:id="rId29"/>
    <p:sldId id="1852" r:id="rId30"/>
    <p:sldId id="1849" r:id="rId31"/>
    <p:sldId id="1850" r:id="rId32"/>
    <p:sldId id="1854" r:id="rId33"/>
    <p:sldId id="948" r:id="rId34"/>
    <p:sldId id="793" r:id="rId35"/>
    <p:sldId id="990" r:id="rId36"/>
    <p:sldId id="984" r:id="rId37"/>
    <p:sldId id="985" r:id="rId38"/>
    <p:sldId id="986" r:id="rId39"/>
    <p:sldId id="987" r:id="rId40"/>
    <p:sldId id="988" r:id="rId41"/>
    <p:sldId id="1673" r:id="rId42"/>
    <p:sldId id="1842" r:id="rId43"/>
    <p:sldId id="422" r:id="rId44"/>
    <p:sldId id="1844" r:id="rId45"/>
    <p:sldId id="872" r:id="rId46"/>
    <p:sldId id="1689" r:id="rId47"/>
    <p:sldId id="1001" r:id="rId48"/>
    <p:sldId id="1003" r:id="rId49"/>
    <p:sldId id="1004" r:id="rId50"/>
    <p:sldId id="1005" r:id="rId51"/>
    <p:sldId id="1009" r:id="rId52"/>
    <p:sldId id="1002" r:id="rId53"/>
    <p:sldId id="949" r:id="rId54"/>
    <p:sldId id="999" r:id="rId55"/>
    <p:sldId id="1674" r:id="rId56"/>
    <p:sldId id="1059" r:id="rId57"/>
    <p:sldId id="1656" r:id="rId58"/>
    <p:sldId id="1045" r:id="rId59"/>
    <p:sldId id="1018" r:id="rId60"/>
    <p:sldId id="1020" r:id="rId61"/>
    <p:sldId id="1015" r:id="rId62"/>
    <p:sldId id="1016" r:id="rId63"/>
    <p:sldId id="1017" r:id="rId64"/>
    <p:sldId id="1677" r:id="rId65"/>
    <p:sldId id="1688" r:id="rId66"/>
    <p:sldId id="1675" r:id="rId67"/>
    <p:sldId id="1671" r:id="rId68"/>
    <p:sldId id="1647" r:id="rId69"/>
    <p:sldId id="1678" r:id="rId70"/>
    <p:sldId id="1679" r:id="rId71"/>
    <p:sldId id="1680" r:id="rId72"/>
    <p:sldId id="1681" r:id="rId73"/>
    <p:sldId id="1683" r:id="rId74"/>
    <p:sldId id="1684" r:id="rId75"/>
    <p:sldId id="1685" r:id="rId76"/>
    <p:sldId id="1845" r:id="rId77"/>
    <p:sldId id="1648" r:id="rId78"/>
    <p:sldId id="1703" r:id="rId79"/>
    <p:sldId id="1686" r:id="rId80"/>
    <p:sldId id="950" r:id="rId81"/>
    <p:sldId id="933" r:id="rId82"/>
    <p:sldId id="934" r:id="rId83"/>
    <p:sldId id="951" r:id="rId84"/>
    <p:sldId id="822" r:id="rId85"/>
    <p:sldId id="1687" r:id="rId86"/>
    <p:sldId id="1049" r:id="rId87"/>
    <p:sldId id="981" r:id="rId88"/>
    <p:sldId id="1047" r:id="rId89"/>
    <p:sldId id="1645" r:id="rId90"/>
    <p:sldId id="995" r:id="rId91"/>
    <p:sldId id="1660" r:id="rId92"/>
    <p:sldId id="1843" r:id="rId93"/>
    <p:sldId id="1064" r:id="rId94"/>
    <p:sldId id="928" r:id="rId95"/>
    <p:sldId id="972" r:id="rId96"/>
    <p:sldId id="379" r:id="rId97"/>
    <p:sldId id="992" r:id="rId98"/>
    <p:sldId id="1642" r:id="rId99"/>
    <p:sldId id="1649" r:id="rId100"/>
    <p:sldId id="1643" r:id="rId101"/>
    <p:sldId id="1032" r:id="rId102"/>
    <p:sldId id="1699" r:id="rId103"/>
    <p:sldId id="903" r:id="rId104"/>
    <p:sldId id="994" r:id="rId105"/>
    <p:sldId id="1053" r:id="rId106"/>
    <p:sldId id="411" r:id="rId107"/>
    <p:sldId id="1665" r:id="rId108"/>
    <p:sldId id="989" r:id="rId109"/>
    <p:sldId id="979" r:id="rId110"/>
    <p:sldId id="256" r:id="rId111"/>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307"/>
            <p14:sldId id="1847"/>
            <p14:sldId id="1658"/>
            <p14:sldId id="1851"/>
            <p14:sldId id="1852"/>
            <p14:sldId id="1849"/>
            <p14:sldId id="1850"/>
            <p14:sldId id="1854"/>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 id="1045"/>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5FC"/>
    <a:srgbClr val="282828"/>
    <a:srgbClr val="4E5865"/>
    <a:srgbClr val="DB6C30"/>
    <a:srgbClr val="FFFFFF"/>
    <a:srgbClr val="E1E1E1"/>
    <a:srgbClr val="84625E"/>
    <a:srgbClr val="805D64"/>
    <a:srgbClr val="8F8F8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9781" autoAdjust="0"/>
  </p:normalViewPr>
  <p:slideViewPr>
    <p:cSldViewPr snapToObjects="1" showGuides="1">
      <p:cViewPr>
        <p:scale>
          <a:sx n="75" d="100"/>
          <a:sy n="75" d="100"/>
        </p:scale>
        <p:origin x="36" y="36"/>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openxmlformats.org/officeDocument/2006/relationships/theme" Target="theme/theme1.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notesMaster" Target="notesMasters/notesMaster1.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handoutMaster" Target="handoutMasters/handoutMaster1.xml"/><Relationship Id="rId118" Type="http://schemas.openxmlformats.org/officeDocument/2006/relationships/tableStyles" Target="tableStyles.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commentAuthors" Target="commentAuthor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slide" Target="slides/slide102.xml"/><Relationship Id="rId115" Type="http://schemas.openxmlformats.org/officeDocument/2006/relationships/presProps" Target="presProps.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viewProps" Target="viewProps.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slide" Target="slides/slide103.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4">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5">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1" qsCatId="simple" csTypeId="urn:microsoft.com/office/officeart/2005/8/colors/accent1_2#1" csCatId="accent1" phldr="1"/>
      <dgm:spPr/>
      <dgm:t>
        <a:bodyPr/>
        <a:lstStyle/>
        <a:p>
          <a:endParaRPr lang="nl-BE"/>
        </a:p>
      </dgm:t>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2" qsCatId="simple" csTypeId="urn:microsoft.com/office/officeart/2005/8/colors/accent1_2#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4337" custLinFactNeighborY="513"/>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3" qsCatId="simple" csTypeId="urn:microsoft.com/office/officeart/2005/8/colors/accent1_2#3"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79"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007" custLinFactNeighborY="2884"/>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4" qsCatId="simple" csTypeId="urn:microsoft.com/office/officeart/2005/8/colors/accent1_2#4"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867" custLinFactNeighborY="335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5" qsCatId="simple" csTypeId="urn:microsoft.com/office/officeart/2005/8/colors/accent1_2#5"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project</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428" custLinFactNeighborY="49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3731"/>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6588" y="151436"/>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9975" y="385013"/>
        <a:ext cx="635849" cy="467155"/>
      </dsp:txXfrm>
    </dsp:sp>
    <dsp:sp modelId="{F2C2304E-EBDD-4BFD-856A-0BF7A53E74DD}">
      <dsp:nvSpPr>
        <dsp:cNvPr id="0" name=""/>
        <dsp:cNvSpPr/>
      </dsp:nvSpPr>
      <dsp:spPr>
        <a:xfrm>
          <a:off x="461706" y="263812"/>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007" y="1133240"/>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556255" y="274996"/>
          <a:ext cx="2180057" cy="2180057"/>
        </a:xfrm>
        <a:prstGeom prst="pie">
          <a:avLst>
            <a:gd name="adj1" fmla="val 19800000"/>
            <a:gd name="adj2" fmla="val 18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48556" y="114442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3428"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5729" y="1134264"/>
        <a:ext cx="659207" cy="441202"/>
      </dsp:txXfrm>
    </dsp:sp>
    <dsp:sp modelId="{AD753434-8F18-4EC6-B4A4-C297E31D2F02}">
      <dsp:nvSpPr>
        <dsp:cNvPr id="0" name=""/>
        <dsp:cNvSpPr/>
      </dsp:nvSpPr>
      <dsp:spPr>
        <a:xfrm>
          <a:off x="505459" y="326685"/>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18846" y="1806010"/>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21004" y="336844"/>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51825" y="1816169"/>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52375" y="274495"/>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83196" y="1753819"/>
        <a:ext cx="635849" cy="467155"/>
      </dsp:txXfrm>
    </dsp:sp>
    <dsp:sp modelId="{0C388C87-16DF-4F7F-82C7-4444B2D331E1}">
      <dsp:nvSpPr>
        <dsp:cNvPr id="0" name=""/>
        <dsp:cNvSpPr/>
      </dsp:nvSpPr>
      <dsp:spPr>
        <a:xfrm>
          <a:off x="380368" y="263812"/>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project</a:t>
          </a:r>
        </a:p>
      </dsp:txBody>
      <dsp:txXfrm>
        <a:off x="414107"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24/09/2026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24/09/2026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20</a:t>
            </a:fld>
            <a:endParaRPr lang="nl-BE"/>
          </a:p>
        </p:txBody>
      </p:sp>
    </p:spTree>
    <p:extLst>
      <p:ext uri="{BB962C8B-B14F-4D97-AF65-F5344CB8AC3E}">
        <p14:creationId xmlns:p14="http://schemas.microsoft.com/office/powerpoint/2010/main" val="8526114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91F-8F47-4CD2-9113-29DDBF450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52F30-8BF3-DC00-9F38-8399606540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73DA9D-3A28-271C-6CAD-6D24D31C32D5}"/>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17B706D7-76F7-B705-4163-42CCA5091729}"/>
              </a:ext>
            </a:extLst>
          </p:cNvPr>
          <p:cNvSpPr>
            <a:spLocks noGrp="1"/>
          </p:cNvSpPr>
          <p:nvPr>
            <p:ph type="sldNum" sz="quarter" idx="5"/>
          </p:nvPr>
        </p:nvSpPr>
        <p:spPr/>
        <p:txBody>
          <a:bodyPr/>
          <a:lstStyle/>
          <a:p>
            <a:fld id="{17C257C2-8D60-4760-88CB-024AF3EEC641}" type="slidenum">
              <a:rPr lang="nl-BE" smtClean="0"/>
              <a:pPr/>
              <a:t>21</a:t>
            </a:fld>
            <a:endParaRPr lang="nl-BE"/>
          </a:p>
        </p:txBody>
      </p:sp>
    </p:spTree>
    <p:extLst>
      <p:ext uri="{BB962C8B-B14F-4D97-AF65-F5344CB8AC3E}">
        <p14:creationId xmlns:p14="http://schemas.microsoft.com/office/powerpoint/2010/main" val="32102261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22DD0-004F-5B66-FDAD-039431EF7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1F42A-73CE-DF51-F7ED-A3166EBA7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76993-8DAC-A3A9-97CA-ED1DBA20CFEA}"/>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5F912819-54A7-86F2-D480-E5B5A8669FF8}"/>
              </a:ext>
            </a:extLst>
          </p:cNvPr>
          <p:cNvSpPr>
            <a:spLocks noGrp="1"/>
          </p:cNvSpPr>
          <p:nvPr>
            <p:ph type="sldNum" sz="quarter" idx="5"/>
          </p:nvPr>
        </p:nvSpPr>
        <p:spPr/>
        <p:txBody>
          <a:bodyPr/>
          <a:lstStyle/>
          <a:p>
            <a:fld id="{17C257C2-8D60-4760-88CB-024AF3EEC641}" type="slidenum">
              <a:rPr lang="nl-BE" smtClean="0"/>
              <a:pPr/>
              <a:t>22</a:t>
            </a:fld>
            <a:endParaRPr lang="nl-BE"/>
          </a:p>
        </p:txBody>
      </p:sp>
    </p:spTree>
    <p:extLst>
      <p:ext uri="{BB962C8B-B14F-4D97-AF65-F5344CB8AC3E}">
        <p14:creationId xmlns:p14="http://schemas.microsoft.com/office/powerpoint/2010/main" val="7510079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CDC4E-50A6-E14A-11BF-DB9A6A1513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B0D56-ECFC-62C6-7919-0A6945307B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CDE208-CF25-8967-245E-00219BCF0818}"/>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B8D9A0FD-EC92-6D23-0F9A-09866FD53B8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4308093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F6F380-C83F-4ED5-8583-05F05EDCF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42EDBD-3486-488C-1431-F4C78047B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63F5E-1A0A-8C2F-D9B7-9E3DED0F7421}"/>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AADCBE7-DB10-DE1E-6EC2-F2FE60FA123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5277428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4CB8A-87DE-7744-97CD-E05E07EDE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45DF49-BCED-52C7-CA0B-C0A5DB8CA6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4BB1-0F58-BC53-1136-C3E9CDE88A7F}"/>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47F66407-C4CD-99FB-D23C-E6F84D7A3DC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9724102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26</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31</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36</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37</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44</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46</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47</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50</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51</a:t>
            </a:fld>
            <a:endParaRPr lang="nl-BE"/>
          </a:p>
        </p:txBody>
      </p:sp>
    </p:spTree>
    <p:extLst>
      <p:ext uri="{BB962C8B-B14F-4D97-AF65-F5344CB8AC3E}">
        <p14:creationId xmlns:p14="http://schemas.microsoft.com/office/powerpoint/2010/main" val="39160721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52</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60</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69</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73</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76</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86</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97</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98</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100</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101</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9/24/2026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9/24/2026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9/24/2026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hyperlink" Target="https://github.com/gjbex/Training-sessions?tab=coc-ov-fil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 Type="http://schemas.openxmlformats.org/officeDocument/2006/relationships/notesSlide" Target="../notesSlides/notesSlide6.xml"/><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1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7.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4.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 TargetMode="External"/><Relationship Id="rId3" Type="http://schemas.openxmlformats.org/officeDocument/2006/relationships/hyperlink" Target="https://vlaams-supercomputing-centrum-vscdocumentation.readthedocs-hosted.com/en/latest/access/getting_access.html#create-a-public-private-key-pair" TargetMode="External"/><Relationship Id="rId7" Type="http://schemas.openxmlformats.org/officeDocument/2006/relationships/hyperlink" Target="https://icts.kuleuven.be/sc/forms/Aanvraagformulier_HPC_Credits"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admin.kuleuven.be/icts/onderzoek/hpc/request-introduction-credits" TargetMode="External"/><Relationship Id="rId11" Type="http://schemas.openxmlformats.org/officeDocument/2006/relationships/image" Target="../media/image36.png"/><Relationship Id="rId5" Type="http://schemas.openxmlformats.org/officeDocument/2006/relationships/hyperlink" Target="https://vlaams-supercomputing-centrum-vscdocumentation.readthedocs-hosted.com/en/latest/access/getting_access.html#users-from-the-ku-leuven-and-uhasselt-association" TargetMode="External"/><Relationship Id="rId10" Type="http://schemas.openxmlformats.org/officeDocument/2006/relationships/image" Target="../media/image35.png"/><Relationship Id="rId4" Type="http://schemas.openxmlformats.org/officeDocument/2006/relationships/hyperlink" Target="https://account.vscentrum.be/" TargetMode="External"/><Relationship Id="rId9" Type="http://schemas.openxmlformats.org/officeDocument/2006/relationships/hyperlink" Target="https://icts.kuleuven.be/sc/onderzoeksgegevens/english-version/hpc_vsc_pag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png"/><Relationship Id="rId18" Type="http://schemas.openxmlformats.org/officeDocument/2006/relationships/image" Target="../media/image52.pn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17" Type="http://schemas.openxmlformats.org/officeDocument/2006/relationships/image" Target="../media/image51.jpeg"/><Relationship Id="rId2" Type="http://schemas.openxmlformats.org/officeDocument/2006/relationships/notesSlide" Target="../notesSlides/notesSlide13.xml"/><Relationship Id="rId16" Type="http://schemas.openxmlformats.org/officeDocument/2006/relationships/image" Target="../media/image50.png"/><Relationship Id="rId20" Type="http://schemas.openxmlformats.org/officeDocument/2006/relationships/image" Target="../media/image54.png"/><Relationship Id="rId1" Type="http://schemas.openxmlformats.org/officeDocument/2006/relationships/slideLayout" Target="../slideLayouts/slideLayout8.xml"/><Relationship Id="rId6" Type="http://schemas.openxmlformats.org/officeDocument/2006/relationships/image" Target="../media/image40.jpeg"/><Relationship Id="rId11" Type="http://schemas.openxmlformats.org/officeDocument/2006/relationships/image" Target="../media/image45.png"/><Relationship Id="rId5" Type="http://schemas.openxmlformats.org/officeDocument/2006/relationships/image" Target="../media/image39.jpeg"/><Relationship Id="rId15" Type="http://schemas.openxmlformats.org/officeDocument/2006/relationships/image" Target="../media/image49.jpeg"/><Relationship Id="rId10" Type="http://schemas.openxmlformats.org/officeDocument/2006/relationships/image" Target="../media/image44.png"/><Relationship Id="rId19" Type="http://schemas.openxmlformats.org/officeDocument/2006/relationships/image" Target="../media/image53.pn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jpeg"/></Relationships>
</file>

<file path=ppt/slides/_rels/slide1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slideLayout" Target="../slideLayouts/slideLayout8.xml"/><Relationship Id="rId1" Type="http://schemas.openxmlformats.org/officeDocument/2006/relationships/tags" Target="../tags/tag1.xml"/><Relationship Id="rId4" Type="http://schemas.openxmlformats.org/officeDocument/2006/relationships/image" Target="../media/image56.jpeg"/></Relationships>
</file>

<file path=ppt/slides/_rels/slide2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58.png"/></Relationships>
</file>

<file path=ppt/slides/_rels/slide2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58.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59.png"/><Relationship Id="rId1" Type="http://schemas.openxmlformats.org/officeDocument/2006/relationships/slideLayout" Target="../slideLayouts/slideLayout6.xml"/><Relationship Id="rId4" Type="http://schemas.openxmlformats.org/officeDocument/2006/relationships/hyperlink" Target="https://icts.kuleuven.be/sc/onderzoeksgegevens/HPC"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59.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1.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hyperlink" Target="https://vlaams-supercomputing-centrum-vscdocumentation.readthedocs-hosted.com/en/latest/leuven/using_beegfs.html" TargetMode="Externa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60.png"/><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4.xml.rels><?xml version="1.0" encoding="UTF-8" standalone="yes"?>
<Relationships xmlns="http://schemas.openxmlformats.org/package/2006/relationships"><Relationship Id="rId3" Type="http://schemas.openxmlformats.org/officeDocument/2006/relationships/hyperlink" Target="https://docs.vscentrum.be/globus/index.html" TargetMode="External"/><Relationship Id="rId2" Type="http://schemas.openxmlformats.org/officeDocument/2006/relationships/hyperlink" Target="https://www.vscentrum.be/data" TargetMode="Externa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svg"/><Relationship Id="rId7" Type="http://schemas.openxmlformats.org/officeDocument/2006/relationships/image" Target="../media/image66.svg"/><Relationship Id="rId2" Type="http://schemas.openxmlformats.org/officeDocument/2006/relationships/image" Target="../media/image61.svg"/><Relationship Id="rId1" Type="http://schemas.openxmlformats.org/officeDocument/2006/relationships/slideLayout" Target="../slideLayouts/slideLayout7.xml"/><Relationship Id="rId6" Type="http://schemas.openxmlformats.org/officeDocument/2006/relationships/image" Target="../media/image65.png"/><Relationship Id="rId11" Type="http://schemas.openxmlformats.org/officeDocument/2006/relationships/hyperlink" Target="https://icts.kuleuven.be/wijzers-beheer/en/Storagewijzer" TargetMode="External"/><Relationship Id="rId5" Type="http://schemas.openxmlformats.org/officeDocument/2006/relationships/image" Target="../media/image64.svg"/><Relationship Id="rId10" Type="http://schemas.openxmlformats.org/officeDocument/2006/relationships/hyperlink" Target="https://icts.kuleuven.be/sc/english/storage/coldstorage" TargetMode="External"/><Relationship Id="rId4" Type="http://schemas.openxmlformats.org/officeDocument/2006/relationships/image" Target="../media/image63.svg"/><Relationship Id="rId9" Type="http://schemas.openxmlformats.org/officeDocument/2006/relationships/hyperlink" Target="https://icts.kuleuven.be/sc/english/storage/mango"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68.svg"/><Relationship Id="rId7" Type="http://schemas.openxmlformats.org/officeDocument/2006/relationships/image" Target="../media/image64.svg"/><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71.svg"/><Relationship Id="rId5" Type="http://schemas.openxmlformats.org/officeDocument/2006/relationships/image" Target="../media/image70.svg"/><Relationship Id="rId4" Type="http://schemas.openxmlformats.org/officeDocument/2006/relationships/image" Target="../media/image69.svg"/></Relationships>
</file>

<file path=ppt/slides/_rels/slide3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6.xml"/><Relationship Id="rId1" Type="http://schemas.openxmlformats.org/officeDocument/2006/relationships/tags" Target="../tags/tag2.xml"/><Relationship Id="rId4" Type="http://schemas.openxmlformats.org/officeDocument/2006/relationships/hyperlink" Target="https://icts.kuleuven.be/sc/english/research/HPC" TargetMode="External"/></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25.xml"/><Relationship Id="rId7" Type="http://schemas.openxmlformats.org/officeDocument/2006/relationships/hyperlink" Target="https://icts.kuleuven.be/sc/english/research/HPC" TargetMode="External"/><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hyperlink" Target="https://docs.vscentrum.be/access/text_mode_access_using_putty.html" TargetMode="External"/><Relationship Id="rId7" Type="http://schemas.openxmlformats.org/officeDocument/2006/relationships/hyperlink" Target="https://ondemand.hpc.kuleuven.be/" TargetMode="External"/><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hyperlink" Target="https://docs.vscentrum.be/access/using_ssh_agent.html" TargetMode="External"/><Relationship Id="rId5" Type="http://schemas.openxmlformats.org/officeDocument/2006/relationships/hyperlink" Target="https://docs.vscentrum.be/access/generating_keys.html" TargetMode="External"/><Relationship Id="rId4" Type="http://schemas.openxmlformats.org/officeDocument/2006/relationships/hyperlink" Target="https://docs.vscentrum.be/access/access_using_mobaxterm.html" TargetMode="Externa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6.xml"/></Relationships>
</file>

<file path=ppt/slides/_rels/slide50.xml.rels><?xml version="1.0" encoding="UTF-8" standalone="yes"?>
<Relationships xmlns="http://schemas.openxmlformats.org/package/2006/relationships"><Relationship Id="rId3" Type="http://schemas.openxmlformats.org/officeDocument/2006/relationships/image" Target="../media/image80.png"/><Relationship Id="rId7" Type="http://schemas.openxmlformats.org/officeDocument/2006/relationships/image" Target="../media/image83.png"/><Relationship Id="rId2" Type="http://schemas.openxmlformats.org/officeDocument/2006/relationships/notesSlide" Target="../notesSlides/notesSlide34.xml"/><Relationship Id="rId1" Type="http://schemas.openxmlformats.org/officeDocument/2006/relationships/slideLayout" Target="../slideLayouts/slideLayout6.xml"/><Relationship Id="rId6" Type="http://schemas.openxmlformats.org/officeDocument/2006/relationships/image" Target="../media/image59.png"/><Relationship Id="rId5" Type="http://schemas.openxmlformats.org/officeDocument/2006/relationships/image" Target="../media/image82.png"/><Relationship Id="rId4" Type="http://schemas.openxmlformats.org/officeDocument/2006/relationships/image" Target="../media/image81.png"/></Relationships>
</file>

<file path=ppt/slides/_rels/slide5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5.xml"/><Relationship Id="rId1" Type="http://schemas.openxmlformats.org/officeDocument/2006/relationships/slideLayout" Target="../slideLayouts/slideLayout6.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5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5.png"/><Relationship Id="rId2" Type="http://schemas.openxmlformats.org/officeDocument/2006/relationships/slideLayout" Target="../slideLayouts/slideLayout7.xml"/><Relationship Id="rId1" Type="http://schemas.openxmlformats.org/officeDocument/2006/relationships/tags" Target="../tags/tag7.xml"/><Relationship Id="rId6" Type="http://schemas.openxmlformats.org/officeDocument/2006/relationships/image" Target="../media/image84.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87.png"/></Relationships>
</file>

<file path=ppt/slides/_rels/slide5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95.jpg"/><Relationship Id="rId4" Type="http://schemas.openxmlformats.org/officeDocument/2006/relationships/hyperlink" Target="https://ondemand.hpc.kuleuven.be/"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97.PNG"/><Relationship Id="rId4" Type="http://schemas.openxmlformats.org/officeDocument/2006/relationships/image" Target="../media/image59.png"/></Relationships>
</file>

<file path=ppt/slides/_rels/slide63.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6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101.PNG"/><Relationship Id="rId4" Type="http://schemas.openxmlformats.org/officeDocument/2006/relationships/hyperlink" Target="https://docs.vscentrum.be/compute/portal/ondemand/jupyterlab.html#jupyterlab" TargetMode="External"/></Relationships>
</file>

<file path=ppt/slides/_rels/slide6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94.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8.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8.xml"/><Relationship Id="rId1" Type="http://schemas.openxmlformats.org/officeDocument/2006/relationships/slideLayout" Target="../slideLayouts/slideLayout7.xml"/><Relationship Id="rId5" Type="http://schemas.openxmlformats.org/officeDocument/2006/relationships/image" Target="../media/image102.jpg"/><Relationship Id="rId4" Type="http://schemas.openxmlformats.org/officeDocument/2006/relationships/image" Target="../media/image59.png"/></Relationships>
</file>

<file path=ppt/slides/_rels/slide70.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105.png"/><Relationship Id="rId4" Type="http://schemas.openxmlformats.org/officeDocument/2006/relationships/image" Target="../media/image104.png"/></Relationships>
</file>

<file path=ppt/slides/_rels/slide7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94.png"/><Relationship Id="rId1" Type="http://schemas.openxmlformats.org/officeDocument/2006/relationships/slideLayout" Target="../slideLayouts/slideLayout7.xml"/><Relationship Id="rId5" Type="http://schemas.openxmlformats.org/officeDocument/2006/relationships/image" Target="../media/image108.png"/><Relationship Id="rId4" Type="http://schemas.openxmlformats.org/officeDocument/2006/relationships/image" Target="../media/image107.png"/></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59.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7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7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9.xml"/></Relationships>
</file>

<file path=ppt/slides/_rels/slide75.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59.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0.png"/><Relationship Id="rId7" Type="http://schemas.openxmlformats.org/officeDocument/2006/relationships/image" Target="../media/image114.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113.png"/><Relationship Id="rId5" Type="http://schemas.openxmlformats.org/officeDocument/2006/relationships/image" Target="../media/image112.png"/><Relationship Id="rId4" Type="http://schemas.openxmlformats.org/officeDocument/2006/relationships/image" Target="../media/image111.png"/><Relationship Id="rId9" Type="http://schemas.openxmlformats.org/officeDocument/2006/relationships/image" Target="../media/image116.png"/></Relationships>
</file>

<file path=ppt/slides/_rels/slide78.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0.png"/><Relationship Id="rId7" Type="http://schemas.openxmlformats.org/officeDocument/2006/relationships/image" Target="../media/image114.png"/><Relationship Id="rId2" Type="http://schemas.openxmlformats.org/officeDocument/2006/relationships/image" Target="../media/image59.png"/><Relationship Id="rId1" Type="http://schemas.openxmlformats.org/officeDocument/2006/relationships/slideLayout" Target="../slideLayouts/slideLayout6.xml"/><Relationship Id="rId6" Type="http://schemas.openxmlformats.org/officeDocument/2006/relationships/image" Target="../media/image113.png"/><Relationship Id="rId5" Type="http://schemas.openxmlformats.org/officeDocument/2006/relationships/image" Target="../media/image112.png"/><Relationship Id="rId4" Type="http://schemas.openxmlformats.org/officeDocument/2006/relationships/image" Target="../media/image111.png"/><Relationship Id="rId9" Type="http://schemas.openxmlformats.org/officeDocument/2006/relationships/image" Target="../media/image116.png"/></Relationships>
</file>

<file path=ppt/slides/_rels/slide7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117.gif"/><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57.png"/><Relationship Id="rId1" Type="http://schemas.openxmlformats.org/officeDocument/2006/relationships/slideLayout" Target="../slideLayouts/slideLayout6.xml"/><Relationship Id="rId6" Type="http://schemas.openxmlformats.org/officeDocument/2006/relationships/image" Target="../media/image94.png"/><Relationship Id="rId5" Type="http://schemas.openxmlformats.org/officeDocument/2006/relationships/image" Target="../media/image120.png"/><Relationship Id="rId4" Type="http://schemas.openxmlformats.org/officeDocument/2006/relationships/image" Target="../media/image11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8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6.xml"/><Relationship Id="rId4" Type="http://schemas.openxmlformats.org/officeDocument/2006/relationships/hyperlink" Target="https://account.vscentrum.be/" TargetMode="External"/></Relationships>
</file>

<file path=ppt/slides/_rels/slide10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7" Type="http://schemas.openxmlformats.org/officeDocument/2006/relationships/hyperlink" Target="https://status.vscentrum.be/"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12.xml"/><Relationship Id="rId6" Type="http://schemas.openxmlformats.org/officeDocument/2006/relationships/hyperlink" Target="https://www.vscentrum.be/vsctraining" TargetMode="External"/><Relationship Id="rId5" Type="http://schemas.openxmlformats.org/officeDocument/2006/relationships/hyperlink" Target="https://docs.vscentrum.be/" TargetMode="External"/><Relationship Id="rId4" Type="http://schemas.openxmlformats.org/officeDocument/2006/relationships/hyperlink" Target="https://www.vscentrum.be/"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5440" y="1350707"/>
            <a:ext cx="9144000" cy="2387600"/>
          </a:xfrm>
        </p:spPr>
        <p:txBody>
          <a:bodyPr>
            <a:normAutofit/>
          </a:bodyPr>
          <a:lstStyle/>
          <a:p>
            <a:pPr algn="l"/>
            <a:r>
              <a:rPr lang="en-US" sz="6000" dirty="0">
                <a:solidFill>
                  <a:srgbClr val="4E5865"/>
                </a:solidFill>
              </a:rPr>
              <a:t>VSC HPC introduction course</a:t>
            </a:r>
          </a:p>
        </p:txBody>
      </p:sp>
      <p:sp>
        <p:nvSpPr>
          <p:cNvPr id="7" name="Rectangle 6">
            <a:extLst>
              <a:ext uri="{FF2B5EF4-FFF2-40B4-BE49-F238E27FC236}">
                <a16:creationId xmlns:a16="http://schemas.microsoft.com/office/drawing/2014/main" id="{E7C86E5E-9A10-867B-17CA-F9902B9425BB}"/>
              </a:ext>
            </a:extLst>
          </p:cNvPr>
          <p:cNvSpPr/>
          <p:nvPr/>
        </p:nvSpPr>
        <p:spPr>
          <a:xfrm>
            <a:off x="1221052" y="3666231"/>
            <a:ext cx="5757025" cy="523220"/>
          </a:xfrm>
          <a:prstGeom prst="rect">
            <a:avLst/>
          </a:prstGeom>
        </p:spPr>
        <p:txBody>
          <a:bodyPr wrap="none">
            <a:spAutoFit/>
          </a:bodyPr>
          <a:lstStyle/>
          <a:p>
            <a:r>
              <a:rPr lang="nl-BE" sz="2800" dirty="0">
                <a:solidFill>
                  <a:srgbClr val="4E5865"/>
                </a:solidFill>
                <a:latin typeface="+mj-lt"/>
                <a:hlinkClick r:id="rId3"/>
              </a:rPr>
              <a:t>https://hpcleuven.github.io/HPC-intro</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4">
            <a:extLst>
              <a:ext uri="{28A0092B-C50C-407E-A947-70E740481C1C}">
                <a14:useLocalDpi xmlns:a14="http://schemas.microsoft.com/office/drawing/2010/main" val="0"/>
              </a:ext>
            </a:extLst>
          </a:blip>
          <a:srcRect l="10687" t="11172" r="11763" b="11280"/>
          <a:stretch/>
        </p:blipFill>
        <p:spPr>
          <a:xfrm>
            <a:off x="8639410" y="3321373"/>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8" name="TextBox 7"/>
          <p:cNvSpPr txBox="1"/>
          <p:nvPr/>
        </p:nvSpPr>
        <p:spPr>
          <a:xfrm>
            <a:off x="838200" y="1400054"/>
            <a:ext cx="4825752" cy="2354491"/>
          </a:xfrm>
          <a:prstGeom prst="rect">
            <a:avLst/>
          </a:prstGeom>
          <a:noFill/>
          <a:ln w="19050">
            <a:solidFill>
              <a:schemeClr val="accent5"/>
            </a:solidFill>
          </a:ln>
        </p:spPr>
        <p:txBody>
          <a:bodyPr wrap="square" rtlCol="0" anchor="ctr">
            <a:spAutoFit/>
          </a:bodyPr>
          <a:lstStyle/>
          <a:p>
            <a:pPr marL="342900" indent="-342900">
              <a:buClr>
                <a:srgbClr val="DB6C30"/>
              </a:buClr>
              <a:buFont typeface="Wingdings" panose="05000000000000000000" pitchFamily="2" charset="2"/>
              <a:buChar char="q"/>
            </a:pPr>
            <a:r>
              <a:rPr lang="en-US" sz="2100" dirty="0"/>
              <a:t>Everything is available on </a:t>
            </a:r>
            <a:r>
              <a:rPr lang="en-US" sz="2100" dirty="0" err="1"/>
              <a:t>Github</a:t>
            </a:r>
            <a:r>
              <a:rPr lang="en-US" sz="2100" dirty="0"/>
              <a:t>:</a:t>
            </a:r>
            <a:br>
              <a:rPr lang="en-US" sz="2100" dirty="0"/>
            </a:br>
            <a:r>
              <a:rPr lang="nl-BE" sz="2100" dirty="0">
                <a:hlinkClick r:id="rId3"/>
              </a:rPr>
              <a:t>https://hpcleuven.github.io/HPC-intro/</a:t>
            </a:r>
            <a:endParaRPr lang="nl-BE" sz="2100" dirty="0"/>
          </a:p>
          <a:p>
            <a:pPr marL="342900" indent="-342900">
              <a:buClr>
                <a:srgbClr val="DB6C30"/>
              </a:buClr>
              <a:buFont typeface="Wingdings" panose="05000000000000000000" pitchFamily="2" charset="2"/>
              <a:buChar char="q"/>
            </a:pPr>
            <a:r>
              <a:rPr lang="en-US" sz="2100" dirty="0"/>
              <a:t>Video recordings </a:t>
            </a:r>
            <a:br>
              <a:rPr lang="en-US" sz="2100" dirty="0"/>
            </a:br>
            <a:r>
              <a:rPr lang="en-US" sz="2100" dirty="0"/>
              <a:t>- Scan the QR code</a:t>
            </a:r>
            <a:br>
              <a:rPr lang="en-US" sz="2100" dirty="0"/>
            </a:br>
            <a:r>
              <a:rPr lang="en-US" sz="2100" dirty="0"/>
              <a:t>- Recommended videos: ~2 </a:t>
            </a:r>
            <a:r>
              <a:rPr lang="en-US" sz="2100" dirty="0" err="1"/>
              <a:t>hrs</a:t>
            </a:r>
            <a:br>
              <a:rPr lang="en-US" sz="2100" dirty="0"/>
            </a:br>
            <a:r>
              <a:rPr lang="en-US" sz="2100" dirty="0"/>
              <a:t>- Optional videos: ~1 </a:t>
            </a:r>
            <a:r>
              <a:rPr lang="en-US" sz="2100" dirty="0" err="1"/>
              <a:t>hr</a:t>
            </a:r>
            <a:endParaRPr lang="en-US" sz="2100" dirty="0"/>
          </a:p>
        </p:txBody>
      </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Training material</a:t>
            </a:r>
            <a:endParaRPr lang="en-US" altLang="en-US" dirty="0"/>
          </a:p>
        </p:txBody>
      </p:sp>
      <p:sp>
        <p:nvSpPr>
          <p:cNvPr id="2" name="TextBox 1">
            <a:extLst>
              <a:ext uri="{FF2B5EF4-FFF2-40B4-BE49-F238E27FC236}">
                <a16:creationId xmlns:a16="http://schemas.microsoft.com/office/drawing/2014/main" id="{282E1DB2-6DCD-C921-2B38-CFF384E30746}"/>
              </a:ext>
            </a:extLst>
          </p:cNvPr>
          <p:cNvSpPr txBox="1"/>
          <p:nvPr/>
        </p:nvSpPr>
        <p:spPr>
          <a:xfrm>
            <a:off x="838200" y="4169112"/>
            <a:ext cx="4825752" cy="1061829"/>
          </a:xfrm>
          <a:prstGeom prst="rect">
            <a:avLst/>
          </a:prstGeom>
          <a:noFill/>
          <a:ln w="19050">
            <a:solidFill>
              <a:schemeClr val="accent5"/>
            </a:solidFill>
          </a:ln>
        </p:spPr>
        <p:txBody>
          <a:bodyPr wrap="square" rtlCol="0" anchor="ctr">
            <a:spAutoFit/>
          </a:bodyPr>
          <a:lstStyle/>
          <a:p>
            <a:pPr>
              <a:buClr>
                <a:srgbClr val="DB6C30"/>
              </a:buClr>
            </a:pPr>
            <a:r>
              <a:rPr lang="en-US" sz="2100" dirty="0"/>
              <a:t>B</a:t>
            </a:r>
            <a:r>
              <a:rPr lang="nl-BE" sz="2100" dirty="0"/>
              <a:t>y </a:t>
            </a:r>
            <a:r>
              <a:rPr lang="nl-BE" sz="2100" dirty="0" err="1"/>
              <a:t>registering</a:t>
            </a:r>
            <a:r>
              <a:rPr lang="nl-BE" sz="2100" dirty="0"/>
              <a:t> </a:t>
            </a:r>
            <a:r>
              <a:rPr lang="nl-BE" sz="2100" dirty="0" err="1"/>
              <a:t>and</a:t>
            </a:r>
            <a:r>
              <a:rPr lang="nl-BE" sz="2100" dirty="0"/>
              <a:t> </a:t>
            </a:r>
            <a:r>
              <a:rPr lang="nl-BE" sz="2100" dirty="0" err="1"/>
              <a:t>participating</a:t>
            </a:r>
            <a:r>
              <a:rPr lang="nl-BE" sz="2100" dirty="0"/>
              <a:t> in VSC </a:t>
            </a:r>
            <a:r>
              <a:rPr lang="nl-BE" sz="2100" dirty="0" err="1"/>
              <a:t>trainings</a:t>
            </a:r>
            <a:r>
              <a:rPr lang="nl-BE" sz="2100" dirty="0"/>
              <a:t>, </a:t>
            </a:r>
            <a:r>
              <a:rPr lang="nl-BE" sz="2100" dirty="0" err="1"/>
              <a:t>you</a:t>
            </a:r>
            <a:r>
              <a:rPr lang="nl-BE" sz="2100" dirty="0"/>
              <a:t> accept </a:t>
            </a:r>
            <a:r>
              <a:rPr lang="nl-BE" sz="2100" dirty="0" err="1"/>
              <a:t>to</a:t>
            </a:r>
            <a:r>
              <a:rPr lang="nl-BE" sz="2100" dirty="0"/>
              <a:t> </a:t>
            </a:r>
            <a:r>
              <a:rPr lang="nl-BE" sz="2100" dirty="0" err="1"/>
              <a:t>abide</a:t>
            </a:r>
            <a:r>
              <a:rPr lang="nl-BE" sz="2100" dirty="0"/>
              <a:t> </a:t>
            </a:r>
            <a:r>
              <a:rPr lang="nl-BE" sz="2100" dirty="0" err="1"/>
              <a:t>by</a:t>
            </a:r>
            <a:r>
              <a:rPr lang="nl-BE" sz="2100" dirty="0"/>
              <a:t> </a:t>
            </a:r>
            <a:r>
              <a:rPr lang="nl-BE" sz="2100" dirty="0" err="1"/>
              <a:t>the</a:t>
            </a:r>
            <a:br>
              <a:rPr lang="nl-BE" sz="2100" dirty="0"/>
            </a:br>
            <a:r>
              <a:rPr lang="nl-BE" sz="2100" dirty="0">
                <a:hlinkClick r:id="rId4"/>
              </a:rPr>
              <a:t>VSC training Code of </a:t>
            </a:r>
            <a:r>
              <a:rPr lang="nl-BE" sz="2100" dirty="0" err="1">
                <a:hlinkClick r:id="rId4"/>
              </a:rPr>
              <a:t>Conduct</a:t>
            </a:r>
            <a:endParaRPr lang="en-US" sz="2100" dirty="0"/>
          </a:p>
        </p:txBody>
      </p:sp>
    </p:spTree>
    <p:extLst>
      <p:ext uri="{BB962C8B-B14F-4D97-AF65-F5344CB8AC3E}">
        <p14:creationId xmlns:p14="http://schemas.microsoft.com/office/powerpoint/2010/main" val="2903593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5F6F089-3EBD-3BA8-50EA-A76D17504E21}"/>
              </a:ext>
            </a:extLst>
          </p:cNvPr>
          <p:cNvSpPr/>
          <p:nvPr/>
        </p:nvSpPr>
        <p:spPr>
          <a:xfrm>
            <a:off x="3305690" y="943445"/>
            <a:ext cx="5538189" cy="5360760"/>
          </a:xfrm>
          <a:prstGeom prst="ellipse">
            <a:avLst/>
          </a:prstGeom>
          <a:solidFill>
            <a:schemeClr val="accent1">
              <a:alpha val="15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2">
            <a:extLst>
              <a:ext uri="{FF2B5EF4-FFF2-40B4-BE49-F238E27FC236}">
                <a16:creationId xmlns:a16="http://schemas.microsoft.com/office/drawing/2014/main" id="{64198AB6-E0C3-644A-09BE-61CEF58377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0017" r="10017"/>
          <a:stretch/>
        </p:blipFill>
        <p:spPr bwMode="auto">
          <a:xfrm>
            <a:off x="2982815" y="1052736"/>
            <a:ext cx="6203220" cy="5171552"/>
          </a:xfrm>
          <a:prstGeom prst="rect">
            <a:avLst/>
          </a:prstGeom>
          <a:noFill/>
        </p:spPr>
      </p:pic>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lstStyle/>
          <a:p>
            <a:r>
              <a:rPr lang="nl-BE" dirty="0" err="1"/>
              <a:t>What</a:t>
            </a:r>
            <a:r>
              <a:rPr lang="nl-BE" dirty="0"/>
              <a:t> is High Performance Computing</a:t>
            </a:r>
            <a:r>
              <a:rPr lang="en-US" dirty="0"/>
              <a:t>?</a:t>
            </a:r>
            <a:endParaRPr lang="en-US" altLang="en-US" dirty="0"/>
          </a:p>
        </p:txBody>
      </p:sp>
      <p:grpSp>
        <p:nvGrpSpPr>
          <p:cNvPr id="54" name="Group 53">
            <a:extLst>
              <a:ext uri="{FF2B5EF4-FFF2-40B4-BE49-F238E27FC236}">
                <a16:creationId xmlns:a16="http://schemas.microsoft.com/office/drawing/2014/main" id="{F8AD71E2-571A-ED28-5B51-AFF12DB3F61C}"/>
              </a:ext>
            </a:extLst>
          </p:cNvPr>
          <p:cNvGrpSpPr/>
          <p:nvPr/>
        </p:nvGrpSpPr>
        <p:grpSpPr>
          <a:xfrm>
            <a:off x="191344" y="1160394"/>
            <a:ext cx="4098044" cy="2268606"/>
            <a:chOff x="395377" y="1016378"/>
            <a:chExt cx="4098044" cy="2268606"/>
          </a:xfrm>
        </p:grpSpPr>
        <p:grpSp>
          <p:nvGrpSpPr>
            <p:cNvPr id="47" name="Group 46">
              <a:extLst>
                <a:ext uri="{FF2B5EF4-FFF2-40B4-BE49-F238E27FC236}">
                  <a16:creationId xmlns:a16="http://schemas.microsoft.com/office/drawing/2014/main" id="{297FFC45-A4D3-E7A8-DE21-A3F1F59BFB4F}"/>
                </a:ext>
              </a:extLst>
            </p:cNvPr>
            <p:cNvGrpSpPr/>
            <p:nvPr/>
          </p:nvGrpSpPr>
          <p:grpSpPr>
            <a:xfrm>
              <a:off x="407368" y="1016378"/>
              <a:ext cx="4086053" cy="2268606"/>
              <a:chOff x="479376" y="683248"/>
              <a:chExt cx="4086053" cy="2268606"/>
            </a:xfrm>
          </p:grpSpPr>
          <p:sp>
            <p:nvSpPr>
              <p:cNvPr id="7" name="TextBox 6">
                <a:extLst>
                  <a:ext uri="{FF2B5EF4-FFF2-40B4-BE49-F238E27FC236}">
                    <a16:creationId xmlns:a16="http://schemas.microsoft.com/office/drawing/2014/main" id="{19927DE4-BE97-B4E0-3EED-6DE6633BDE25}"/>
                  </a:ext>
                </a:extLst>
              </p:cNvPr>
              <p:cNvSpPr txBox="1"/>
              <p:nvPr/>
            </p:nvSpPr>
            <p:spPr>
              <a:xfrm>
                <a:off x="504373" y="683248"/>
                <a:ext cx="3772626" cy="2268606"/>
              </a:xfrm>
              <a:prstGeom prst="rect">
                <a:avLst/>
              </a:prstGeom>
              <a:noFill/>
              <a:ln w="19050">
                <a:noFill/>
              </a:ln>
            </p:spPr>
            <p:txBody>
              <a:bodyPr wrap="square" rtlCol="0" anchor="ctr">
                <a:noAutofit/>
              </a:bodyPr>
              <a:lstStyle/>
              <a:p>
                <a:pPr>
                  <a:buClr>
                    <a:srgbClr val="DB6C30"/>
                  </a:buClr>
                </a:pPr>
                <a:r>
                  <a:rPr lang="en-US" sz="2100" dirty="0"/>
                  <a:t>Using many computers together to solve large-scale, complex problems faster than one</a:t>
                </a:r>
                <a:br>
                  <a:rPr lang="en-US" sz="2100" dirty="0"/>
                </a:br>
                <a:r>
                  <a:rPr lang="en-US" sz="2100" dirty="0"/>
                  <a:t>computer can</a:t>
                </a:r>
              </a:p>
            </p:txBody>
          </p:sp>
          <p:grpSp>
            <p:nvGrpSpPr>
              <p:cNvPr id="33" name="Group 32">
                <a:extLst>
                  <a:ext uri="{FF2B5EF4-FFF2-40B4-BE49-F238E27FC236}">
                    <a16:creationId xmlns:a16="http://schemas.microsoft.com/office/drawing/2014/main" id="{AB18B7C5-3EF5-88C3-7D6F-DF2896B5DAA8}"/>
                  </a:ext>
                </a:extLst>
              </p:cNvPr>
              <p:cNvGrpSpPr/>
              <p:nvPr/>
            </p:nvGrpSpPr>
            <p:grpSpPr>
              <a:xfrm>
                <a:off x="479376" y="1109715"/>
                <a:ext cx="4086053" cy="1455189"/>
                <a:chOff x="479376" y="1109715"/>
                <a:chExt cx="4086053" cy="1455189"/>
              </a:xfrm>
            </p:grpSpPr>
            <p:cxnSp>
              <p:nvCxnSpPr>
                <p:cNvPr id="24" name="Straight Connector 23">
                  <a:extLst>
                    <a:ext uri="{FF2B5EF4-FFF2-40B4-BE49-F238E27FC236}">
                      <a16:creationId xmlns:a16="http://schemas.microsoft.com/office/drawing/2014/main" id="{642338CA-D27B-76C7-A941-F3FE95B6DE5D}"/>
                    </a:ext>
                  </a:extLst>
                </p:cNvPr>
                <p:cNvCxnSpPr>
                  <a:cxnSpLocks/>
                </p:cNvCxnSpPr>
                <p:nvPr/>
              </p:nvCxnSpPr>
              <p:spPr>
                <a:xfrm flipH="1" flipV="1">
                  <a:off x="479376" y="1109715"/>
                  <a:ext cx="4086053" cy="1503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03464E6-3588-CE91-9A32-D681CBDE35D4}"/>
                    </a:ext>
                  </a:extLst>
                </p:cNvPr>
                <p:cNvCxnSpPr>
                  <a:cxnSpLocks/>
                </p:cNvCxnSpPr>
                <p:nvPr/>
              </p:nvCxnSpPr>
              <p:spPr>
                <a:xfrm>
                  <a:off x="479376" y="1121184"/>
                  <a:ext cx="0" cy="144372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C6CF579-CEAC-1811-1A64-3CDFB34D12CF}"/>
                    </a:ext>
                  </a:extLst>
                </p:cNvPr>
                <p:cNvCxnSpPr>
                  <a:cxnSpLocks/>
                </p:cNvCxnSpPr>
                <p:nvPr/>
              </p:nvCxnSpPr>
              <p:spPr>
                <a:xfrm>
                  <a:off x="479376" y="2564904"/>
                  <a:ext cx="3162788"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sp>
          <p:nvSpPr>
            <p:cNvPr id="50" name="TextBox 49">
              <a:extLst>
                <a:ext uri="{FF2B5EF4-FFF2-40B4-BE49-F238E27FC236}">
                  <a16:creationId xmlns:a16="http://schemas.microsoft.com/office/drawing/2014/main" id="{15CF5762-432F-CC85-DFC7-6C0A2115B556}"/>
                </a:ext>
              </a:extLst>
            </p:cNvPr>
            <p:cNvSpPr txBox="1"/>
            <p:nvPr/>
          </p:nvSpPr>
          <p:spPr>
            <a:xfrm>
              <a:off x="395377" y="1067365"/>
              <a:ext cx="1092111" cy="400110"/>
            </a:xfrm>
            <a:prstGeom prst="rect">
              <a:avLst/>
            </a:prstGeom>
            <a:solidFill>
              <a:schemeClr val="accent1"/>
            </a:solidFill>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13320" name="Group 13319">
            <a:extLst>
              <a:ext uri="{FF2B5EF4-FFF2-40B4-BE49-F238E27FC236}">
                <a16:creationId xmlns:a16="http://schemas.microsoft.com/office/drawing/2014/main" id="{8BAF40CD-6D71-C840-3EF1-EDE1C933E310}"/>
              </a:ext>
            </a:extLst>
          </p:cNvPr>
          <p:cNvGrpSpPr/>
          <p:nvPr/>
        </p:nvGrpSpPr>
        <p:grpSpPr>
          <a:xfrm>
            <a:off x="186028" y="3878243"/>
            <a:ext cx="4181780" cy="1943712"/>
            <a:chOff x="186028" y="3878243"/>
            <a:chExt cx="4181780" cy="1943712"/>
          </a:xfrm>
        </p:grpSpPr>
        <p:cxnSp>
          <p:nvCxnSpPr>
            <p:cNvPr id="38" name="Straight Connector 37">
              <a:extLst>
                <a:ext uri="{FF2B5EF4-FFF2-40B4-BE49-F238E27FC236}">
                  <a16:creationId xmlns:a16="http://schemas.microsoft.com/office/drawing/2014/main" id="{1E71370D-1644-0199-C24C-4BF8194A6E78}"/>
                </a:ext>
              </a:extLst>
            </p:cNvPr>
            <p:cNvCxnSpPr>
              <a:cxnSpLocks/>
            </p:cNvCxnSpPr>
            <p:nvPr/>
          </p:nvCxnSpPr>
          <p:spPr>
            <a:xfrm flipH="1">
              <a:off x="191344" y="4293096"/>
              <a:ext cx="317477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DE0ADCC-6AAD-FDC8-4F84-372658C793A5}"/>
                </a:ext>
              </a:extLst>
            </p:cNvPr>
            <p:cNvCxnSpPr>
              <a:cxnSpLocks/>
            </p:cNvCxnSpPr>
            <p:nvPr/>
          </p:nvCxnSpPr>
          <p:spPr>
            <a:xfrm flipV="1">
              <a:off x="203335" y="4221088"/>
              <a:ext cx="0" cy="151216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2BAC29B-223E-69B2-4667-4B5ECF81470C}"/>
                </a:ext>
              </a:extLst>
            </p:cNvPr>
            <p:cNvCxnSpPr>
              <a:cxnSpLocks/>
            </p:cNvCxnSpPr>
            <p:nvPr/>
          </p:nvCxnSpPr>
          <p:spPr>
            <a:xfrm>
              <a:off x="189835" y="5727413"/>
              <a:ext cx="4177973"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2A7CD1EF-0B32-54A6-672B-3E3FAD20D630}"/>
                </a:ext>
              </a:extLst>
            </p:cNvPr>
            <p:cNvSpPr txBox="1"/>
            <p:nvPr/>
          </p:nvSpPr>
          <p:spPr>
            <a:xfrm>
              <a:off x="186028" y="3878243"/>
              <a:ext cx="1922284" cy="403639"/>
            </a:xfrm>
            <a:prstGeom prst="rect">
              <a:avLst/>
            </a:prstGeom>
            <a:solidFill>
              <a:schemeClr val="accent1"/>
            </a:solidFill>
          </p:spPr>
          <p:txBody>
            <a:bodyPr wrap="square" rtlCol="0">
              <a:noAutofit/>
            </a:bodyPr>
            <a:lstStyle/>
            <a:p>
              <a:r>
                <a:rPr lang="en-US" sz="2000" b="1" dirty="0">
                  <a:solidFill>
                    <a:schemeClr val="bg1"/>
                  </a:solidFill>
                </a:rPr>
                <a:t>Hardware Layer</a:t>
              </a:r>
              <a:endParaRPr lang="nl-BE" sz="2000" b="1" dirty="0">
                <a:solidFill>
                  <a:schemeClr val="bg1"/>
                </a:solidFill>
              </a:endParaRPr>
            </a:p>
          </p:txBody>
        </p:sp>
        <p:sp>
          <p:nvSpPr>
            <p:cNvPr id="55" name="TextBox 54">
              <a:extLst>
                <a:ext uri="{FF2B5EF4-FFF2-40B4-BE49-F238E27FC236}">
                  <a16:creationId xmlns:a16="http://schemas.microsoft.com/office/drawing/2014/main" id="{BB2CFB98-DB30-966C-136C-8CBBB00E1CF4}"/>
                </a:ext>
              </a:extLst>
            </p:cNvPr>
            <p:cNvSpPr txBox="1"/>
            <p:nvPr/>
          </p:nvSpPr>
          <p:spPr>
            <a:xfrm>
              <a:off x="197254" y="4293096"/>
              <a:ext cx="3361225" cy="1528859"/>
            </a:xfrm>
            <a:prstGeom prst="rect">
              <a:avLst/>
            </a:prstGeom>
            <a:noFill/>
          </p:spPr>
          <p:txBody>
            <a:bodyPr wrap="square" rtlCol="0">
              <a:spAutoFit/>
            </a:bodyPr>
            <a:lstStyle/>
            <a:p>
              <a:r>
                <a:rPr lang="en-US" dirty="0"/>
                <a:t>Hundreds of nodes</a:t>
              </a:r>
              <a:br>
                <a:rPr lang="en-US" dirty="0"/>
              </a:br>
              <a:r>
                <a:rPr lang="en-US" dirty="0"/>
                <a:t>Tens of cores per node</a:t>
              </a:r>
            </a:p>
            <a:p>
              <a:r>
                <a:rPr lang="en-US" dirty="0"/>
                <a:t>Large memory</a:t>
              </a:r>
            </a:p>
            <a:p>
              <a:r>
                <a:rPr lang="en-US" dirty="0"/>
                <a:t>Fast interconnect</a:t>
              </a:r>
            </a:p>
            <a:p>
              <a:r>
                <a:rPr lang="en-US" dirty="0"/>
                <a:t>GPUs and Network filesystem</a:t>
              </a:r>
              <a:endParaRPr lang="nl-BE" dirty="0"/>
            </a:p>
          </p:txBody>
        </p:sp>
      </p:grpSp>
      <p:grpSp>
        <p:nvGrpSpPr>
          <p:cNvPr id="59" name="Group 58">
            <a:extLst>
              <a:ext uri="{FF2B5EF4-FFF2-40B4-BE49-F238E27FC236}">
                <a16:creationId xmlns:a16="http://schemas.microsoft.com/office/drawing/2014/main" id="{02583DC1-1659-8ECF-D103-8B9728264418}"/>
              </a:ext>
            </a:extLst>
          </p:cNvPr>
          <p:cNvGrpSpPr/>
          <p:nvPr/>
        </p:nvGrpSpPr>
        <p:grpSpPr>
          <a:xfrm>
            <a:off x="7652049" y="1016378"/>
            <a:ext cx="4260324" cy="1918825"/>
            <a:chOff x="7652049" y="1016378"/>
            <a:chExt cx="4260324" cy="1918825"/>
          </a:xfrm>
        </p:grpSpPr>
        <p:grpSp>
          <p:nvGrpSpPr>
            <p:cNvPr id="20" name="Group 19">
              <a:extLst>
                <a:ext uri="{FF2B5EF4-FFF2-40B4-BE49-F238E27FC236}">
                  <a16:creationId xmlns:a16="http://schemas.microsoft.com/office/drawing/2014/main" id="{B89A62F3-5E78-F3A3-BC6B-BA3B26B1D5A2}"/>
                </a:ext>
              </a:extLst>
            </p:cNvPr>
            <p:cNvGrpSpPr/>
            <p:nvPr/>
          </p:nvGrpSpPr>
          <p:grpSpPr>
            <a:xfrm>
              <a:off x="7652049" y="1412776"/>
              <a:ext cx="4253449" cy="1311173"/>
              <a:chOff x="7176120" y="1109715"/>
              <a:chExt cx="4253449" cy="1311173"/>
            </a:xfrm>
          </p:grpSpPr>
          <p:cxnSp>
            <p:nvCxnSpPr>
              <p:cNvPr id="8" name="Straight Connector 7">
                <a:extLst>
                  <a:ext uri="{FF2B5EF4-FFF2-40B4-BE49-F238E27FC236}">
                    <a16:creationId xmlns:a16="http://schemas.microsoft.com/office/drawing/2014/main" id="{B4080E82-4F77-F499-ACF0-5F141A7A090A}"/>
                  </a:ext>
                </a:extLst>
              </p:cNvPr>
              <p:cNvCxnSpPr>
                <a:cxnSpLocks/>
              </p:cNvCxnSpPr>
              <p:nvPr/>
            </p:nvCxnSpPr>
            <p:spPr>
              <a:xfrm>
                <a:off x="7176120" y="1109715"/>
                <a:ext cx="425344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840D770-F9C1-A315-C815-AEE1A1FD72C0}"/>
                  </a:ext>
                </a:extLst>
              </p:cNvPr>
              <p:cNvCxnSpPr>
                <a:cxnSpLocks/>
              </p:cNvCxnSpPr>
              <p:nvPr/>
            </p:nvCxnSpPr>
            <p:spPr>
              <a:xfrm>
                <a:off x="11427609" y="1124745"/>
                <a:ext cx="0" cy="129614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49079F-562A-2B57-2A00-2426AF31C167}"/>
                  </a:ext>
                </a:extLst>
              </p:cNvPr>
              <p:cNvCxnSpPr>
                <a:cxnSpLocks/>
              </p:cNvCxnSpPr>
              <p:nvPr/>
            </p:nvCxnSpPr>
            <p:spPr>
              <a:xfrm flipH="1">
                <a:off x="8212359" y="2420888"/>
                <a:ext cx="3217210"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5A65C7FA-359D-E17E-B771-AD783D73EDAD}"/>
                </a:ext>
              </a:extLst>
            </p:cNvPr>
            <p:cNvSpPr txBox="1"/>
            <p:nvPr/>
          </p:nvSpPr>
          <p:spPr>
            <a:xfrm>
              <a:off x="10135322" y="1016378"/>
              <a:ext cx="1777051" cy="407635"/>
            </a:xfrm>
            <a:prstGeom prst="rect">
              <a:avLst/>
            </a:prstGeom>
            <a:solidFill>
              <a:schemeClr val="accent1"/>
            </a:solidFill>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sp>
          <p:nvSpPr>
            <p:cNvPr id="58" name="TextBox 57">
              <a:extLst>
                <a:ext uri="{FF2B5EF4-FFF2-40B4-BE49-F238E27FC236}">
                  <a16:creationId xmlns:a16="http://schemas.microsoft.com/office/drawing/2014/main" id="{06024C55-7F2A-8CF8-0BB3-FA469CA9F41F}"/>
                </a:ext>
              </a:extLst>
            </p:cNvPr>
            <p:cNvSpPr txBox="1"/>
            <p:nvPr/>
          </p:nvSpPr>
          <p:spPr>
            <a:xfrm>
              <a:off x="7968208" y="1457875"/>
              <a:ext cx="3937289" cy="1477328"/>
            </a:xfrm>
            <a:prstGeom prst="rect">
              <a:avLst/>
            </a:prstGeom>
            <a:noFill/>
          </p:spPr>
          <p:txBody>
            <a:bodyPr wrap="square" rtlCol="0">
              <a:noAutofit/>
            </a:bodyPr>
            <a:lstStyle/>
            <a:p>
              <a:r>
                <a:rPr lang="en-US" dirty="0"/>
                <a:t>   Linux OS + system libraries</a:t>
              </a:r>
              <a:br>
                <a:rPr lang="en-US" dirty="0"/>
              </a:br>
              <a:r>
                <a:rPr lang="en-US" dirty="0"/>
                <a:t>       (GCC) Compilers</a:t>
              </a:r>
              <a:br>
                <a:rPr lang="en-US" dirty="0"/>
              </a:br>
              <a:r>
                <a:rPr lang="en-US" dirty="0"/>
                <a:t>          Parallel libraries (OpenMP, MPI, …)</a:t>
              </a:r>
              <a:br>
                <a:rPr lang="en-US" dirty="0"/>
              </a:br>
              <a:r>
                <a:rPr lang="en-US" dirty="0"/>
                <a:t>            Parallelized software</a:t>
              </a:r>
              <a:br>
                <a:rPr lang="en-US" dirty="0"/>
              </a:br>
              <a:r>
                <a:rPr lang="en-US" dirty="0"/>
                <a:t>          </a:t>
              </a:r>
              <a:endParaRPr lang="nl-BE" dirty="0"/>
            </a:p>
          </p:txBody>
        </p:sp>
      </p:grpSp>
      <p:grpSp>
        <p:nvGrpSpPr>
          <p:cNvPr id="13337" name="Group 13336">
            <a:extLst>
              <a:ext uri="{FF2B5EF4-FFF2-40B4-BE49-F238E27FC236}">
                <a16:creationId xmlns:a16="http://schemas.microsoft.com/office/drawing/2014/main" id="{DB00584C-C570-ACCB-B697-68C262BF90E8}"/>
              </a:ext>
            </a:extLst>
          </p:cNvPr>
          <p:cNvGrpSpPr/>
          <p:nvPr/>
        </p:nvGrpSpPr>
        <p:grpSpPr>
          <a:xfrm>
            <a:off x="7762250" y="3525421"/>
            <a:ext cx="4177973" cy="2252958"/>
            <a:chOff x="7824194" y="3525421"/>
            <a:chExt cx="4116029" cy="2252958"/>
          </a:xfrm>
        </p:grpSpPr>
        <p:grpSp>
          <p:nvGrpSpPr>
            <p:cNvPr id="13331" name="Group 13330">
              <a:extLst>
                <a:ext uri="{FF2B5EF4-FFF2-40B4-BE49-F238E27FC236}">
                  <a16:creationId xmlns:a16="http://schemas.microsoft.com/office/drawing/2014/main" id="{8137C062-0638-BE7A-F18C-07378EF99885}"/>
                </a:ext>
              </a:extLst>
            </p:cNvPr>
            <p:cNvGrpSpPr/>
            <p:nvPr/>
          </p:nvGrpSpPr>
          <p:grpSpPr>
            <a:xfrm>
              <a:off x="7824194" y="3525421"/>
              <a:ext cx="4116029" cy="2252958"/>
              <a:chOff x="7824194" y="3486140"/>
              <a:chExt cx="4116029" cy="2252958"/>
            </a:xfrm>
          </p:grpSpPr>
          <p:cxnSp>
            <p:nvCxnSpPr>
              <p:cNvPr id="13322" name="Straight Connector 13321">
                <a:extLst>
                  <a:ext uri="{FF2B5EF4-FFF2-40B4-BE49-F238E27FC236}">
                    <a16:creationId xmlns:a16="http://schemas.microsoft.com/office/drawing/2014/main" id="{06AA5C48-DDE7-327F-DA6B-A8F99A3DE7C7}"/>
                  </a:ext>
                </a:extLst>
              </p:cNvPr>
              <p:cNvCxnSpPr>
                <a:cxnSpLocks/>
              </p:cNvCxnSpPr>
              <p:nvPr/>
            </p:nvCxnSpPr>
            <p:spPr>
              <a:xfrm>
                <a:off x="8843879" y="3893775"/>
                <a:ext cx="306161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5" name="Straight Connector 13324">
                <a:extLst>
                  <a:ext uri="{FF2B5EF4-FFF2-40B4-BE49-F238E27FC236}">
                    <a16:creationId xmlns:a16="http://schemas.microsoft.com/office/drawing/2014/main" id="{0A32C67F-98F5-ABCE-BC6F-B9CD96A1DBA2}"/>
                  </a:ext>
                </a:extLst>
              </p:cNvPr>
              <p:cNvCxnSpPr>
                <a:cxnSpLocks/>
              </p:cNvCxnSpPr>
              <p:nvPr/>
            </p:nvCxnSpPr>
            <p:spPr>
              <a:xfrm flipH="1">
                <a:off x="11903538" y="3893775"/>
                <a:ext cx="25110" cy="183363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8" name="Straight Connector 13327">
                <a:extLst>
                  <a:ext uri="{FF2B5EF4-FFF2-40B4-BE49-F238E27FC236}">
                    <a16:creationId xmlns:a16="http://schemas.microsoft.com/office/drawing/2014/main" id="{070D9617-8E68-A5F6-A2CD-7387E3897277}"/>
                  </a:ext>
                </a:extLst>
              </p:cNvPr>
              <p:cNvCxnSpPr>
                <a:cxnSpLocks/>
              </p:cNvCxnSpPr>
              <p:nvPr/>
            </p:nvCxnSpPr>
            <p:spPr>
              <a:xfrm flipH="1" flipV="1">
                <a:off x="7824194" y="5727413"/>
                <a:ext cx="4081304"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330" name="TextBox 13329">
                <a:extLst>
                  <a:ext uri="{FF2B5EF4-FFF2-40B4-BE49-F238E27FC236}">
                    <a16:creationId xmlns:a16="http://schemas.microsoft.com/office/drawing/2014/main" id="{4701DDB9-EFB2-702B-CFA1-4C387F3E4F13}"/>
                  </a:ext>
                </a:extLst>
              </p:cNvPr>
              <p:cNvSpPr txBox="1"/>
              <p:nvPr/>
            </p:nvSpPr>
            <p:spPr>
              <a:xfrm>
                <a:off x="10388820" y="3486140"/>
                <a:ext cx="1551403" cy="407635"/>
              </a:xfrm>
              <a:prstGeom prst="rect">
                <a:avLst/>
              </a:prstGeom>
              <a:solidFill>
                <a:schemeClr val="accent1"/>
              </a:solidFill>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sp>
          <p:nvSpPr>
            <p:cNvPr id="13335" name="TextBox 13334">
              <a:extLst>
                <a:ext uri="{FF2B5EF4-FFF2-40B4-BE49-F238E27FC236}">
                  <a16:creationId xmlns:a16="http://schemas.microsoft.com/office/drawing/2014/main" id="{0E2D78EC-0639-9657-AE0B-8AC07CC8BCA0}"/>
                </a:ext>
              </a:extLst>
            </p:cNvPr>
            <p:cNvSpPr txBox="1"/>
            <p:nvPr/>
          </p:nvSpPr>
          <p:spPr>
            <a:xfrm>
              <a:off x="8133898" y="3978930"/>
              <a:ext cx="3778474" cy="1754326"/>
            </a:xfrm>
            <a:prstGeom prst="rect">
              <a:avLst/>
            </a:prstGeom>
            <a:noFill/>
          </p:spPr>
          <p:txBody>
            <a:bodyPr wrap="square" rtlCol="0">
              <a:spAutoFit/>
            </a:bodyPr>
            <a:lstStyle/>
            <a:p>
              <a:r>
                <a:rPr lang="en-US" dirty="0"/>
                <a:t>                Genomics</a:t>
              </a:r>
              <a:br>
                <a:rPr lang="en-US" dirty="0"/>
              </a:br>
              <a:r>
                <a:rPr lang="en-US" dirty="0"/>
                <a:t>               Numerical (CFD) simulations</a:t>
              </a:r>
              <a:br>
                <a:rPr lang="en-US" dirty="0"/>
              </a:br>
              <a:r>
                <a:rPr lang="en-US" dirty="0"/>
                <a:t>              Molecular dynamics</a:t>
              </a:r>
              <a:br>
                <a:rPr lang="en-US" dirty="0"/>
              </a:br>
              <a:r>
                <a:rPr lang="en-US" dirty="0"/>
                <a:t>            Long-term weather predictions</a:t>
              </a:r>
              <a:br>
                <a:rPr lang="en-US" dirty="0"/>
              </a:br>
              <a:r>
                <a:rPr lang="en-US" dirty="0"/>
                <a:t>         Machine learning and AI</a:t>
              </a:r>
              <a:br>
                <a:rPr lang="en-US" dirty="0"/>
              </a:br>
              <a:r>
                <a:rPr lang="en-US" dirty="0"/>
                <a:t>      data pre-/post-processing</a:t>
              </a:r>
              <a:endParaRPr lang="nl-BE" dirty="0"/>
            </a:p>
          </p:txBody>
        </p:sp>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dirty="0" err="1"/>
              <a:t>What</a:t>
            </a:r>
            <a:r>
              <a:rPr lang="nl-BE" dirty="0"/>
              <a:t> is High Performance Computing</a:t>
            </a:r>
            <a:r>
              <a:rPr lang="en-US" dirty="0"/>
              <a:t>?</a:t>
            </a:r>
            <a:endParaRPr lang="en-US" altLang="en-US"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grpSp>
        <p:nvGrpSpPr>
          <p:cNvPr id="10" name="Group 9">
            <a:extLst>
              <a:ext uri="{FF2B5EF4-FFF2-40B4-BE49-F238E27FC236}">
                <a16:creationId xmlns:a16="http://schemas.microsoft.com/office/drawing/2014/main" id="{76E60B2B-F5AA-B221-947B-83AEAA7272D0}"/>
              </a:ext>
            </a:extLst>
          </p:cNvPr>
          <p:cNvGrpSpPr/>
          <p:nvPr/>
        </p:nvGrpSpPr>
        <p:grpSpPr>
          <a:xfrm>
            <a:off x="511494" y="1271662"/>
            <a:ext cx="5333357" cy="4029546"/>
            <a:chOff x="511494" y="1030723"/>
            <a:chExt cx="5333357" cy="4029546"/>
          </a:xfrm>
        </p:grpSpPr>
        <p:sp>
          <p:nvSpPr>
            <p:cNvPr id="3" name="TextBox 2"/>
            <p:cNvSpPr txBox="1"/>
            <p:nvPr/>
          </p:nvSpPr>
          <p:spPr>
            <a:xfrm>
              <a:off x="518042" y="1413117"/>
              <a:ext cx="5326809" cy="3647152"/>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100" dirty="0"/>
                <a:t>VSC</a:t>
              </a:r>
            </a:p>
            <a:p>
              <a:pPr marL="324000" indent="-324000">
                <a:buClr>
                  <a:srgbClr val="DB6C30"/>
                </a:buClr>
                <a:buFont typeface="Wingdings" panose="05000000000000000000" pitchFamily="2" charset="2"/>
                <a:buChar char="q"/>
              </a:pPr>
              <a:r>
                <a:rPr lang="en-US" sz="2100" dirty="0"/>
                <a:t>Tier-2 clusters</a:t>
              </a:r>
            </a:p>
            <a:p>
              <a:pPr marL="324000" indent="-324000">
                <a:buClr>
                  <a:srgbClr val="DB6C30"/>
                </a:buClr>
                <a:buFont typeface="Wingdings" panose="05000000000000000000" pitchFamily="2" charset="2"/>
                <a:buChar char="q"/>
              </a:pPr>
              <a:r>
                <a:rPr lang="en-US" sz="2100" dirty="0"/>
                <a:t>Storage</a:t>
              </a:r>
            </a:p>
            <a:p>
              <a:pPr marL="324000" indent="-324000">
                <a:buClr>
                  <a:srgbClr val="DB6C30"/>
                </a:buClr>
                <a:buFont typeface="Wingdings" panose="05000000000000000000" pitchFamily="2" charset="2"/>
                <a:buChar char="q"/>
              </a:pPr>
              <a:r>
                <a:rPr lang="en-US" sz="2100" dirty="0"/>
                <a:t>Accounting</a:t>
              </a:r>
            </a:p>
            <a:p>
              <a:pPr marL="324000" indent="-324000">
                <a:buClr>
                  <a:srgbClr val="DB6C30"/>
                </a:buClr>
                <a:buFont typeface="Wingdings" panose="05000000000000000000" pitchFamily="2" charset="2"/>
                <a:buChar char="q"/>
              </a:pPr>
              <a:r>
                <a:rPr lang="en-US" sz="2100" dirty="0"/>
                <a:t>Login</a:t>
              </a:r>
              <a:br>
                <a:rPr lang="en-US" sz="2100" dirty="0"/>
              </a:br>
              <a:r>
                <a:rPr lang="en-US" sz="2100" dirty="0"/>
                <a:t>Open OnDemand</a:t>
              </a:r>
              <a:br>
                <a:rPr lang="en-US" sz="2100" dirty="0"/>
              </a:br>
              <a:r>
                <a:rPr lang="en-US" sz="2100" dirty="0"/>
                <a:t>SSH client &amp; terminal</a:t>
              </a:r>
            </a:p>
            <a:p>
              <a:pPr marL="324000" indent="-324000">
                <a:buClr>
                  <a:srgbClr val="DB6C30"/>
                </a:buClr>
                <a:buFont typeface="Wingdings" panose="05000000000000000000" pitchFamily="2" charset="2"/>
                <a:buChar char="q"/>
              </a:pPr>
              <a:r>
                <a:rPr lang="en-US" sz="2100" dirty="0"/>
                <a:t>Data transfer</a:t>
              </a:r>
              <a:br>
                <a:rPr lang="en-US" sz="2100" dirty="0"/>
              </a:br>
              <a:r>
                <a:rPr lang="en-US" sz="2100" dirty="0"/>
                <a:t>FileZilla</a:t>
              </a:r>
              <a:br>
                <a:rPr lang="en-US" sz="2100" dirty="0"/>
              </a:br>
              <a:r>
                <a:rPr lang="en-US" sz="2100" dirty="0" err="1"/>
                <a:t>rsync</a:t>
              </a:r>
              <a:br>
                <a:rPr lang="en-US" sz="2100" dirty="0"/>
              </a:br>
              <a:r>
                <a:rPr lang="en-US" sz="2100" dirty="0"/>
                <a:t>Globus</a:t>
              </a:r>
            </a:p>
          </p:txBody>
        </p:sp>
        <p:sp>
          <p:nvSpPr>
            <p:cNvPr id="9" name="TextBox 8">
              <a:extLst>
                <a:ext uri="{FF2B5EF4-FFF2-40B4-BE49-F238E27FC236}">
                  <a16:creationId xmlns:a16="http://schemas.microsoft.com/office/drawing/2014/main" id="{87586110-722A-4490-5C5D-C78335ED5432}"/>
                </a:ext>
              </a:extLst>
            </p:cNvPr>
            <p:cNvSpPr txBox="1"/>
            <p:nvPr/>
          </p:nvSpPr>
          <p:spPr>
            <a:xfrm>
              <a:off x="511494" y="1030723"/>
              <a:ext cx="1905550" cy="400110"/>
            </a:xfrm>
            <a:prstGeom prst="rect">
              <a:avLst/>
            </a:prstGeom>
            <a:solidFill>
              <a:schemeClr val="accent1"/>
            </a:solidFill>
          </p:spPr>
          <p:txBody>
            <a:bodyPr wrap="square" rtlCol="0">
              <a:spAutoFit/>
            </a:bodyPr>
            <a:lstStyle/>
            <a:p>
              <a:r>
                <a:rPr lang="en-US" sz="2000" b="1" dirty="0"/>
                <a:t>Part 1: Basics</a:t>
              </a:r>
              <a:endParaRPr lang="nl-BE" sz="2000" b="1" dirty="0"/>
            </a:p>
          </p:txBody>
        </p:sp>
      </p:grpSp>
      <p:grpSp>
        <p:nvGrpSpPr>
          <p:cNvPr id="11" name="Group 10">
            <a:extLst>
              <a:ext uri="{FF2B5EF4-FFF2-40B4-BE49-F238E27FC236}">
                <a16:creationId xmlns:a16="http://schemas.microsoft.com/office/drawing/2014/main" id="{12F9E280-9B11-66A2-7709-C1EB7BC08AEF}"/>
              </a:ext>
            </a:extLst>
          </p:cNvPr>
          <p:cNvGrpSpPr/>
          <p:nvPr/>
        </p:nvGrpSpPr>
        <p:grpSpPr>
          <a:xfrm>
            <a:off x="6505191" y="1268264"/>
            <a:ext cx="5343518" cy="2035106"/>
            <a:chOff x="501333" y="1030723"/>
            <a:chExt cx="5343518" cy="2035106"/>
          </a:xfrm>
        </p:grpSpPr>
        <p:sp>
          <p:nvSpPr>
            <p:cNvPr id="12" name="TextBox 11">
              <a:extLst>
                <a:ext uri="{FF2B5EF4-FFF2-40B4-BE49-F238E27FC236}">
                  <a16:creationId xmlns:a16="http://schemas.microsoft.com/office/drawing/2014/main" id="{1CA2BB6B-6046-2458-A97D-9D240453F2CA}"/>
                </a:ext>
              </a:extLst>
            </p:cNvPr>
            <p:cNvSpPr txBox="1"/>
            <p:nvPr/>
          </p:nvSpPr>
          <p:spPr>
            <a:xfrm>
              <a:off x="518042" y="1434613"/>
              <a:ext cx="5326809" cy="1631216"/>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Using Open OnDemand</a:t>
              </a:r>
            </a:p>
            <a:p>
              <a:pPr marL="324000" indent="-324000">
                <a:buClr>
                  <a:srgbClr val="DB6C30"/>
                </a:buClr>
                <a:buFont typeface="Wingdings" panose="05000000000000000000" pitchFamily="2" charset="2"/>
                <a:buChar char="q"/>
              </a:pPr>
              <a:r>
                <a:rPr lang="en-US" sz="2000" dirty="0"/>
                <a:t>Software</a:t>
              </a:r>
            </a:p>
            <a:p>
              <a:pPr marL="324000" indent="-324000">
                <a:buClr>
                  <a:srgbClr val="DB6C30"/>
                </a:buClr>
                <a:buFont typeface="Wingdings" panose="05000000000000000000" pitchFamily="2" charset="2"/>
                <a:buChar char="q"/>
              </a:pPr>
              <a:r>
                <a:rPr lang="en-US" sz="2000" dirty="0" err="1"/>
                <a:t>Miniconda</a:t>
              </a:r>
              <a:endParaRPr lang="en-US" sz="2000" dirty="0"/>
            </a:p>
            <a:p>
              <a:pPr marL="324000" indent="-324000">
                <a:buClr>
                  <a:srgbClr val="DB6C30"/>
                </a:buClr>
                <a:buFont typeface="Wingdings" panose="05000000000000000000" pitchFamily="2" charset="2"/>
                <a:buChar char="q"/>
              </a:pPr>
              <a:r>
                <a:rPr lang="en-US" sz="2000" dirty="0"/>
                <a:t>Batch jobs</a:t>
              </a:r>
            </a:p>
            <a:p>
              <a:pPr marL="324000" indent="-324000">
                <a:buClr>
                  <a:srgbClr val="DB6C30"/>
                </a:buClr>
                <a:buFont typeface="Wingdings" panose="05000000000000000000" pitchFamily="2" charset="2"/>
                <a:buChar char="q"/>
              </a:pPr>
              <a:r>
                <a:rPr lang="en-US" sz="2000" dirty="0"/>
                <a:t>Demo: try things yourself</a:t>
              </a:r>
            </a:p>
          </p:txBody>
        </p:sp>
        <p:sp>
          <p:nvSpPr>
            <p:cNvPr id="13" name="TextBox 12">
              <a:extLst>
                <a:ext uri="{FF2B5EF4-FFF2-40B4-BE49-F238E27FC236}">
                  <a16:creationId xmlns:a16="http://schemas.microsoft.com/office/drawing/2014/main" id="{EA15D92B-96CB-26DF-576A-A0D336448DED}"/>
                </a:ext>
              </a:extLst>
            </p:cNvPr>
            <p:cNvSpPr txBox="1"/>
            <p:nvPr/>
          </p:nvSpPr>
          <p:spPr>
            <a:xfrm>
              <a:off x="501333" y="1030723"/>
              <a:ext cx="2055789" cy="400110"/>
            </a:xfrm>
            <a:prstGeom prst="rect">
              <a:avLst/>
            </a:prstGeom>
            <a:solidFill>
              <a:schemeClr val="accent1"/>
            </a:solidFill>
          </p:spPr>
          <p:txBody>
            <a:bodyPr wrap="square" rtlCol="0">
              <a:spAutoFit/>
            </a:bodyPr>
            <a:lstStyle/>
            <a:p>
              <a:r>
                <a:rPr lang="en-US" sz="2000" b="1" dirty="0"/>
                <a:t>Part 2: Hands-on</a:t>
              </a:r>
              <a:endParaRPr lang="nl-BE" sz="2000" b="1" dirty="0"/>
            </a:p>
          </p:txBody>
        </p:sp>
      </p:gr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Visit </a:t>
            </a:r>
            <a:r>
              <a:rPr lang="en-US" sz="2000" b="1" dirty="0">
                <a:hlinkClick r:id="rId4"/>
              </a:rPr>
              <a:t>https://vscentrum.be</a:t>
            </a:r>
            <a:endParaRPr lang="nl-BE" sz="2000" b="1" dirty="0"/>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66343" y="529874"/>
            <a:ext cx="9793088" cy="5749227"/>
          </a:xfrm>
          <a:prstGeom prst="rect">
            <a:avLst/>
          </a:prstGeom>
        </p:spPr>
      </p:pic>
      <p:grpSp>
        <p:nvGrpSpPr>
          <p:cNvPr id="5" name="Group 4"/>
          <p:cNvGrpSpPr/>
          <p:nvPr/>
        </p:nvGrpSpPr>
        <p:grpSpPr>
          <a:xfrm>
            <a:off x="9120336" y="1556793"/>
            <a:ext cx="1805321" cy="1548172"/>
            <a:chOff x="10389146" y="3365634"/>
            <a:chExt cx="1559141" cy="1114684"/>
          </a:xfrm>
        </p:grpSpPr>
        <p:cxnSp>
          <p:nvCxnSpPr>
            <p:cNvPr id="6" name="Straight Arrow Connector 5"/>
            <p:cNvCxnSpPr>
              <a:cxnSpLocks/>
              <a:stCxn id="4" idx="0"/>
            </p:cNvCxnSpPr>
            <p:nvPr/>
          </p:nvCxnSpPr>
          <p:spPr>
            <a:xfrm flipH="1" flipV="1">
              <a:off x="10389146" y="3365634"/>
              <a:ext cx="875065" cy="466612"/>
            </a:xfrm>
            <a:prstGeom prst="straightConnector1">
              <a:avLst/>
            </a:prstGeom>
            <a:ln w="38100" cap="rnd">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‘OnDemand’</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991544" y="135438"/>
            <a:ext cx="3213968" cy="413242"/>
          </a:xfrm>
          <a:prstGeom prst="wedgeRoundRectCallout">
            <a:avLst>
              <a:gd name="adj1" fmla="val 5952"/>
              <a:gd name="adj2" fmla="val 14120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4F5FC"/>
                </a:solidFill>
                <a:hlinkClick r:id="rId4">
                  <a:extLst>
                    <a:ext uri="{A12FA001-AC4F-418D-AE19-62706E023703}">
                      <ahyp:hlinkClr xmlns:ahyp="http://schemas.microsoft.com/office/drawing/2018/hyperlinkcolor" val="tx"/>
                    </a:ext>
                  </a:extLst>
                </a:hlinkClick>
              </a:rPr>
              <a:t>https://docs.vscentrum.be</a:t>
            </a:r>
            <a:endParaRPr lang="nl-BE" sz="2000" b="1" dirty="0">
              <a:solidFill>
                <a:srgbClr val="F4F5FC"/>
              </a:solidFill>
            </a:endParaRPr>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Manage your VSC account at</a:t>
              </a:r>
              <a:br>
                <a:rPr lang="en-US" sz="2000" dirty="0"/>
              </a:br>
              <a:r>
                <a:rPr lang="en-US" sz="2000" b="1" dirty="0">
                  <a:solidFill>
                    <a:schemeClr val="bg2"/>
                  </a:solidFill>
                  <a:hlinkClick r:id="rId3"/>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18042" y="1312307"/>
            <a:ext cx="7322128" cy="4708981"/>
          </a:xfrm>
          <a:prstGeom prst="rect">
            <a:avLst/>
          </a:prstGeom>
          <a:noFill/>
          <a:ln w="1905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(Optional) Create a secure (4096 bit) </a:t>
            </a:r>
            <a:r>
              <a:rPr lang="en-US" sz="2000" dirty="0">
                <a:hlinkClick r:id="rId3"/>
              </a:rPr>
              <a:t>SSH key pairs</a:t>
            </a:r>
            <a:br>
              <a:rPr lang="en-US" sz="2000" dirty="0"/>
            </a:br>
            <a:r>
              <a:rPr lang="en-US" sz="2000" dirty="0"/>
              <a:t>Upload it on the account page: </a:t>
            </a:r>
            <a:r>
              <a:rPr lang="en-US" sz="2000" dirty="0">
                <a:hlinkClick r:id="rId4"/>
              </a:rPr>
              <a:t>https://account.vscentrum.be</a:t>
            </a:r>
            <a:r>
              <a:rPr lang="en-US" sz="2000" dirty="0"/>
              <a:t> </a:t>
            </a:r>
          </a:p>
          <a:p>
            <a:pPr marL="324000" indent="-324000">
              <a:buClr>
                <a:srgbClr val="DB6C30"/>
              </a:buClr>
              <a:buFont typeface="Wingdings" panose="05000000000000000000" pitchFamily="2" charset="2"/>
              <a:buChar char="q"/>
            </a:pPr>
            <a:r>
              <a:rPr lang="en-US" sz="2000" dirty="0"/>
              <a:t>You need to </a:t>
            </a:r>
            <a:r>
              <a:rPr lang="en-US" sz="2000" dirty="0">
                <a:hlinkClick r:id="rId5"/>
              </a:rPr>
              <a:t>request a VSC account</a:t>
            </a:r>
            <a:r>
              <a:rPr lang="en-US" sz="2000" dirty="0"/>
              <a:t> </a:t>
            </a:r>
            <a:br>
              <a:rPr lang="en-US" sz="2000" dirty="0"/>
            </a:br>
            <a:r>
              <a:rPr lang="en-US" sz="2000" dirty="0"/>
              <a:t>Normally gets processed swiftly</a:t>
            </a:r>
          </a:p>
          <a:p>
            <a:pPr marL="324000" indent="-324000">
              <a:buClr>
                <a:srgbClr val="DB6C30"/>
              </a:buClr>
              <a:buFont typeface="Wingdings" panose="05000000000000000000" pitchFamily="2" charset="2"/>
              <a:buChar char="q"/>
            </a:pPr>
            <a:r>
              <a:rPr lang="en-US" sz="2000" dirty="0"/>
              <a:t>Request </a:t>
            </a:r>
            <a:r>
              <a:rPr lang="en-US" sz="2000" dirty="0">
                <a:hlinkClick r:id="rId6"/>
              </a:rPr>
              <a:t>introductory credits</a:t>
            </a:r>
            <a:r>
              <a:rPr lang="en-US" sz="2000" dirty="0"/>
              <a:t> (2M free credits for 6 months)</a:t>
            </a:r>
          </a:p>
          <a:p>
            <a:pPr marL="324000" indent="-324000">
              <a:buClr>
                <a:srgbClr val="DB6C30"/>
              </a:buClr>
              <a:buFont typeface="Wingdings" panose="05000000000000000000" pitchFamily="2" charset="2"/>
              <a:buChar char="q"/>
            </a:pPr>
            <a:r>
              <a:rPr lang="en-US" sz="2000" dirty="0"/>
              <a:t>Request </a:t>
            </a:r>
            <a:r>
              <a:rPr lang="en-US" sz="2000" dirty="0">
                <a:hlinkClick r:id="rId7"/>
              </a:rPr>
              <a:t>project credits</a:t>
            </a:r>
            <a:r>
              <a:rPr lang="en-US" sz="2000" dirty="0"/>
              <a:t> (for supervisors and project leaders)</a:t>
            </a:r>
            <a:br>
              <a:rPr lang="en-US" sz="2000" dirty="0"/>
            </a:br>
            <a:r>
              <a:rPr lang="en-US" sz="2000" dirty="0"/>
              <a:t>You need to create a VSC group</a:t>
            </a:r>
            <a:br>
              <a:rPr lang="en-US" sz="2000" dirty="0"/>
            </a:br>
            <a:r>
              <a:rPr lang="en-US" sz="2000" dirty="0"/>
              <a:t>Add users to the group to give them access to use credits</a:t>
            </a:r>
            <a:br>
              <a:rPr lang="en-US" sz="2000" dirty="0"/>
            </a:br>
            <a:r>
              <a:rPr lang="en-US" sz="2000" dirty="0"/>
              <a:t>Fill out the request form</a:t>
            </a:r>
          </a:p>
          <a:p>
            <a:pPr marL="324000" indent="-324000">
              <a:buClr>
                <a:srgbClr val="DB6C30"/>
              </a:buClr>
              <a:buFont typeface="Wingdings" panose="05000000000000000000" pitchFamily="2" charset="2"/>
              <a:buChar char="q"/>
            </a:pPr>
            <a:r>
              <a:rPr lang="en-US" sz="2000" dirty="0"/>
              <a:t>Extra storage requests</a:t>
            </a:r>
            <a:br>
              <a:rPr lang="en-US" sz="2000" dirty="0"/>
            </a:br>
            <a:r>
              <a:rPr lang="en-US" sz="2000" dirty="0"/>
              <a:t>Scratch extension: free of charge</a:t>
            </a:r>
            <a:br>
              <a:rPr lang="en-US" sz="2000" dirty="0"/>
            </a:br>
            <a:r>
              <a:rPr lang="en-US" sz="2000" dirty="0"/>
              <a:t>Staging storage: 20 € per TB per year</a:t>
            </a:r>
          </a:p>
          <a:p>
            <a:pPr marL="324000" indent="-324000">
              <a:buClr>
                <a:srgbClr val="DB6C30"/>
              </a:buClr>
              <a:buFont typeface="Wingdings" panose="05000000000000000000" pitchFamily="2" charset="2"/>
              <a:buChar char="q"/>
            </a:pPr>
            <a:r>
              <a:rPr lang="en-US" sz="2000" dirty="0"/>
              <a:t>All service costs (compute and storage) are described </a:t>
            </a:r>
            <a:br>
              <a:rPr lang="en-US" sz="2000" dirty="0"/>
            </a:br>
            <a:r>
              <a:rPr lang="en-US" sz="2000" dirty="0"/>
              <a:t>in the ICTS service catalog: </a:t>
            </a:r>
            <a:r>
              <a:rPr lang="nl-BE" sz="2000" dirty="0">
                <a:hlinkClick r:id="rId8"/>
              </a:rPr>
              <a:t>https://icts.kuleuven.be/sc</a:t>
            </a:r>
            <a:br>
              <a:rPr lang="nl-BE" sz="2000" dirty="0"/>
            </a:br>
            <a:r>
              <a:rPr lang="nl-BE" sz="2000" dirty="0"/>
              <a:t>Click on </a:t>
            </a:r>
            <a:r>
              <a:rPr lang="nl-BE" sz="2000" dirty="0">
                <a:hlinkClick r:id="rId9"/>
              </a:rPr>
              <a:t>High Performance Computing</a:t>
            </a:r>
            <a:r>
              <a:rPr lang="nl-BE" sz="2000" dirty="0"/>
              <a:t> (NL/EN)</a:t>
            </a:r>
          </a:p>
        </p:txBody>
      </p:sp>
      <p:pic>
        <p:nvPicPr>
          <p:cNvPr id="5" name="Picture 4"/>
          <p:cNvPicPr>
            <a:picLocks noChangeAspect="1"/>
          </p:cNvPicPr>
          <p:nvPr/>
        </p:nvPicPr>
        <p:blipFill>
          <a:blip r:embed="rId10"/>
          <a:stretch>
            <a:fillRect/>
          </a:stretch>
        </p:blipFill>
        <p:spPr>
          <a:xfrm>
            <a:off x="8400256" y="3589751"/>
            <a:ext cx="3546352" cy="2417409"/>
          </a:xfrm>
          <a:prstGeom prst="rect">
            <a:avLst/>
          </a:prstGeom>
        </p:spPr>
      </p:pic>
      <p:pic>
        <p:nvPicPr>
          <p:cNvPr id="6" name="Picture 5"/>
          <p:cNvPicPr>
            <a:picLocks noChangeAspect="1"/>
          </p:cNvPicPr>
          <p:nvPr/>
        </p:nvPicPr>
        <p:blipFill>
          <a:blip r:embed="rId11"/>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Become a VSC user</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9" name="TextBox 8"/>
          <p:cNvSpPr txBox="1"/>
          <p:nvPr/>
        </p:nvSpPr>
        <p:spPr>
          <a:xfrm>
            <a:off x="3071285" y="1366969"/>
            <a:ext cx="2725379" cy="646331"/>
          </a:xfrm>
          <a:prstGeom prst="rect">
            <a:avLst/>
          </a:prstGeom>
          <a:noFill/>
          <a:ln>
            <a:solidFill>
              <a:schemeClr val="tx1"/>
            </a:solidFill>
          </a:ln>
        </p:spPr>
        <p:txBody>
          <a:bodyPr wrap="squar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614458" y="5004975"/>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917823" y="522034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p:cNvCxnSpPr>
          <p:nvPr/>
        </p:nvCxnSpPr>
        <p:spPr>
          <a:xfrm>
            <a:off x="4948143" y="4052287"/>
            <a:ext cx="1674359" cy="93815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4933114" y="409508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647905" y="246326"/>
            <a:ext cx="2454164" cy="923330"/>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2861074" y="5309926"/>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805264"/>
            <a:ext cx="8352930"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223146" y="2806502"/>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3275692"/>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sp>
        <p:nvSpPr>
          <p:cNvPr id="49155" name="Rectangle 3"/>
          <p:cNvSpPr>
            <a:spLocks noGrp="1" noChangeArrowheads="1"/>
          </p:cNvSpPr>
          <p:nvPr>
            <p:ph idx="1"/>
          </p:nvPr>
        </p:nvSpPr>
        <p:spPr>
          <a:xfrm>
            <a:off x="624532" y="1538739"/>
            <a:ext cx="5075685" cy="1260241"/>
          </a:xfrm>
          <a:ln w="19050">
            <a:solidFill>
              <a:schemeClr val="accent5"/>
            </a:solidFill>
          </a:ln>
        </p:spPr>
        <p:txBody>
          <a:bodyPr lIns="108000" anchor="ctr"/>
          <a:lstStyle/>
          <a:p>
            <a:pPr marL="324000" indent="-324000">
              <a:buClr>
                <a:srgbClr val="DB6C30"/>
              </a:buClr>
              <a:buFont typeface="Wingdings" panose="05000000000000000000" pitchFamily="2" charset="2"/>
              <a:buChar char="q"/>
            </a:pPr>
            <a:r>
              <a:rPr lang="en-US" sz="2000" dirty="0"/>
              <a:t>a contractual obligation for the VSC</a:t>
            </a:r>
          </a:p>
          <a:p>
            <a:pPr marL="324000" indent="-324000">
              <a:buClr>
                <a:srgbClr val="DB6C30"/>
              </a:buClr>
              <a:buFont typeface="Wingdings" panose="05000000000000000000" pitchFamily="2" charset="2"/>
              <a:buChar char="q"/>
            </a:pPr>
            <a:r>
              <a:rPr lang="en-US" sz="2000" dirty="0"/>
              <a:t>helps VSC to secure funding</a:t>
            </a:r>
          </a:p>
          <a:p>
            <a:pPr marL="324000" indent="-324000">
              <a:buClr>
                <a:srgbClr val="DB6C30"/>
              </a:buClr>
              <a:buFont typeface="Wingdings" panose="05000000000000000000" pitchFamily="2" charset="2"/>
              <a:buChar char="q"/>
            </a:pPr>
            <a:r>
              <a:rPr lang="en-US" sz="2000" dirty="0"/>
              <a:t>you will benefit from it in the long run</a:t>
            </a:r>
          </a:p>
        </p:txBody>
      </p:sp>
      <p:grpSp>
        <p:nvGrpSpPr>
          <p:cNvPr id="4" name="Group 3"/>
          <p:cNvGrpSpPr/>
          <p:nvPr/>
        </p:nvGrpSpPr>
        <p:grpSpPr>
          <a:xfrm>
            <a:off x="5951983" y="3212976"/>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sp>
        <p:nvSpPr>
          <p:cNvPr id="10" name="Rectangle 9"/>
          <p:cNvSpPr/>
          <p:nvPr/>
        </p:nvSpPr>
        <p:spPr>
          <a:xfrm>
            <a:off x="3611985" y="1106692"/>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Why?</a:t>
            </a:r>
            <a:endParaRPr lang="nl-BE" dirty="0"/>
          </a:p>
        </p:txBody>
      </p:sp>
      <p:grpSp>
        <p:nvGrpSpPr>
          <p:cNvPr id="7" name="Group 6"/>
          <p:cNvGrpSpPr/>
          <p:nvPr/>
        </p:nvGrpSpPr>
        <p:grpSpPr>
          <a:xfrm>
            <a:off x="624532" y="3212976"/>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grpSp>
        <p:nvGrpSpPr>
          <p:cNvPr id="9" name="Group 8"/>
          <p:cNvGrpSpPr/>
          <p:nvPr/>
        </p:nvGrpSpPr>
        <p:grpSpPr>
          <a:xfrm>
            <a:off x="5989175" y="1106692"/>
            <a:ext cx="5075685" cy="1692288"/>
            <a:chOff x="5989175" y="1106692"/>
            <a:chExt cx="5075685" cy="1692288"/>
          </a:xfrm>
        </p:grpSpPr>
        <p:sp>
          <p:nvSpPr>
            <p:cNvPr id="3" name="Rectangle 2"/>
            <p:cNvSpPr/>
            <p:nvPr/>
          </p:nvSpPr>
          <p:spPr>
            <a:xfrm>
              <a:off x="8904312" y="1106692"/>
              <a:ext cx="2160548"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For KU Leuven users</a:t>
              </a:r>
              <a:endParaRPr lang="nl-BE" dirty="0"/>
            </a:p>
          </p:txBody>
        </p:sp>
        <p:sp>
          <p:nvSpPr>
            <p:cNvPr id="13" name="Rectangle 3"/>
            <p:cNvSpPr txBox="1">
              <a:spLocks noChangeArrowheads="1"/>
            </p:cNvSpPr>
            <p:nvPr/>
          </p:nvSpPr>
          <p:spPr>
            <a:xfrm>
              <a:off x="5989175" y="1538740"/>
              <a:ext cx="5075685" cy="126024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chemeClr val="accent1"/>
                </a:buClr>
                <a:buFont typeface="Wingdings" panose="05000000000000000000" pitchFamily="2" charset="2"/>
                <a:buChar char="q"/>
              </a:pPr>
              <a:r>
                <a:rPr lang="en-US" sz="2000" dirty="0"/>
                <a:t>add the relevant papers to the “KUL-HPC” virtual collection in Lirias</a:t>
              </a:r>
            </a:p>
            <a:p>
              <a:pPr marL="324000" indent="-324000">
                <a:buClr>
                  <a:schemeClr val="accent1"/>
                </a:buClr>
                <a:buFont typeface="Wingdings" panose="05000000000000000000" pitchFamily="2" charset="2"/>
                <a:buChar char="q"/>
              </a:pPr>
              <a:endParaRPr lang="en-US" sz="2000"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3334795015"/>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539729"/>
            <a:ext cx="3286477" cy="101566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2022 - 2026)</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 xmlns:a14="http://schemas.microsoft.com/office/drawing/2010/main">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b="1"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2C181-2E8D-EC7C-F73C-CF653C651D65}"/>
            </a:ext>
          </a:extLst>
        </p:cNvPr>
        <p:cNvGrpSpPr/>
        <p:nvPr/>
      </p:nvGrpSpPr>
      <p:grpSpPr>
        <a:xfrm>
          <a:off x="0" y="0"/>
          <a:ext cx="0" cy="0"/>
          <a:chOff x="0" y="0"/>
          <a:chExt cx="0" cy="0"/>
        </a:xfrm>
      </p:grpSpPr>
      <p:pic>
        <p:nvPicPr>
          <p:cNvPr id="3" name="Afbeelding 2" descr="Afbeelding met Lettertype, Graphics, tekst, logo&#10;&#10;Door AI gegenereerde inhoud is mogelijk onjuist.">
            <a:extLst>
              <a:ext uri="{FF2B5EF4-FFF2-40B4-BE49-F238E27FC236}">
                <a16:creationId xmlns:a16="http://schemas.microsoft.com/office/drawing/2014/main" id="{FF537F24-B1DE-7827-719B-8644A1C28C64}"/>
              </a:ext>
            </a:extLst>
          </p:cNvPr>
          <p:cNvPicPr>
            <a:picLocks noChangeAspect="1"/>
          </p:cNvPicPr>
          <p:nvPr/>
        </p:nvPicPr>
        <p:blipFill>
          <a:blip r:embed="rId2"/>
          <a:srcRect b="25996"/>
          <a:stretch>
            <a:fillRect/>
          </a:stretch>
        </p:blipFill>
        <p:spPr>
          <a:xfrm>
            <a:off x="3431704" y="2110955"/>
            <a:ext cx="6550495" cy="2398165"/>
          </a:xfrm>
          <a:prstGeom prst="rect">
            <a:avLst/>
          </a:prstGeom>
        </p:spPr>
      </p:pic>
    </p:spTree>
    <p:extLst>
      <p:ext uri="{BB962C8B-B14F-4D97-AF65-F5344CB8AC3E}">
        <p14:creationId xmlns:p14="http://schemas.microsoft.com/office/powerpoint/2010/main" val="6458176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72DD0-5D8D-ABC8-1251-5E43415B46A6}"/>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A753077-92FB-8D42-2CF9-E2F553D09BB5}"/>
              </a:ext>
            </a:extLst>
          </p:cNvPr>
          <p:cNvGrpSpPr/>
          <p:nvPr/>
        </p:nvGrpSpPr>
        <p:grpSpPr>
          <a:xfrm>
            <a:off x="669978" y="1383225"/>
            <a:ext cx="4904266" cy="4272500"/>
            <a:chOff x="4899796" y="1847956"/>
            <a:chExt cx="4904266" cy="4272500"/>
          </a:xfrm>
        </p:grpSpPr>
        <p:pic>
          <p:nvPicPr>
            <p:cNvPr id="3" name="Picture 2" descr="Text&#10;&#10;Description automatically generated">
              <a:extLst>
                <a:ext uri="{FF2B5EF4-FFF2-40B4-BE49-F238E27FC236}">
                  <a16:creationId xmlns:a16="http://schemas.microsoft.com/office/drawing/2014/main" id="{73F8E468-1384-4CBF-77E0-651CC9243F4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899796" y="1847956"/>
              <a:ext cx="4904266" cy="331236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0C9FD2CF-6C7C-73D1-C4B8-A252E0C57E49}"/>
                </a:ext>
              </a:extLst>
            </p:cNvPr>
            <p:cNvSpPr txBox="1"/>
            <p:nvPr/>
          </p:nvSpPr>
          <p:spPr>
            <a:xfrm>
              <a:off x="5530457" y="5412570"/>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276 nodes  |  20848 cores</a:t>
              </a:r>
              <a:endParaRPr lang="nl-BE" sz="2000" dirty="0"/>
            </a:p>
          </p:txBody>
        </p:sp>
      </p:grpSp>
      <p:sp>
        <p:nvSpPr>
          <p:cNvPr id="9" name="Slide Number Placeholder 4">
            <a:extLst>
              <a:ext uri="{FF2B5EF4-FFF2-40B4-BE49-F238E27FC236}">
                <a16:creationId xmlns:a16="http://schemas.microsoft.com/office/drawing/2014/main" id="{C8E814BB-A952-897B-5746-18ACC819BA6D}"/>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10" name="Rectangle 2">
            <a:extLst>
              <a:ext uri="{FF2B5EF4-FFF2-40B4-BE49-F238E27FC236}">
                <a16:creationId xmlns:a16="http://schemas.microsoft.com/office/drawing/2014/main" id="{6AAB44F0-2C40-6BB6-0F35-3896F86016B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A465C0B6-73EC-6494-93BF-B987C8A3C0A1}"/>
              </a:ext>
            </a:extLst>
          </p:cNvPr>
          <p:cNvGrpSpPr/>
          <p:nvPr/>
        </p:nvGrpSpPr>
        <p:grpSpPr>
          <a:xfrm>
            <a:off x="6617757" y="1383225"/>
            <a:ext cx="4904263" cy="4278734"/>
            <a:chOff x="6617757" y="1383225"/>
            <a:chExt cx="4904263" cy="4278734"/>
          </a:xfrm>
        </p:grpSpPr>
        <p:sp>
          <p:nvSpPr>
            <p:cNvPr id="12" name="TextBox 11">
              <a:extLst>
                <a:ext uri="{FF2B5EF4-FFF2-40B4-BE49-F238E27FC236}">
                  <a16:creationId xmlns:a16="http://schemas.microsoft.com/office/drawing/2014/main" id="{5AA2A048-DEC2-B5F0-A215-7CDF3E7D9D89}"/>
                </a:ext>
              </a:extLst>
            </p:cNvPr>
            <p:cNvSpPr txBox="1"/>
            <p:nvPr/>
          </p:nvSpPr>
          <p:spPr>
            <a:xfrm>
              <a:off x="7512935" y="4954073"/>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a:extLst>
                <a:ext uri="{FF2B5EF4-FFF2-40B4-BE49-F238E27FC236}">
                  <a16:creationId xmlns:a16="http://schemas.microsoft.com/office/drawing/2014/main" id="{DAF99A09-B733-AEAF-4133-18854F50F125}"/>
                </a:ext>
              </a:extLst>
            </p:cNvPr>
            <p:cNvPicPr>
              <a:picLocks noChangeAspect="1"/>
            </p:cNvPicPr>
            <p:nvPr/>
          </p:nvPicPr>
          <p:blipFill>
            <a:blip r:embed="rId4" cstate="print">
              <a:extLst>
                <a:ext uri="{28A0092B-C50C-407E-A947-70E740481C1C}">
                  <a14:useLocalDpi xmlns:a14="http://schemas.microsoft.com/office/drawing/2010/main" val="0"/>
                </a:ext>
              </a:extLst>
            </a:blip>
            <a:srcRect l="11366" t="9346" r="8367" b="50000"/>
            <a:stretch>
              <a:fillRect/>
            </a:stretch>
          </p:blipFill>
          <p:spPr>
            <a:xfrm>
              <a:off x="6617757" y="1383225"/>
              <a:ext cx="4904263" cy="331236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35014821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Slide Number Placeholder 4"/>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20</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CPU</a:t>
            </a:r>
          </a:p>
        </p:txBody>
      </p:sp>
      <p:grpSp>
        <p:nvGrpSpPr>
          <p:cNvPr id="177" name="Group 176">
            <a:extLst>
              <a:ext uri="{FF2B5EF4-FFF2-40B4-BE49-F238E27FC236}">
                <a16:creationId xmlns:a16="http://schemas.microsoft.com/office/drawing/2014/main" id="{31EDFC62-9F8D-0127-7F29-0686C610D36B}"/>
              </a:ext>
            </a:extLst>
          </p:cNvPr>
          <p:cNvGrpSpPr/>
          <p:nvPr/>
        </p:nvGrpSpPr>
        <p:grpSpPr>
          <a:xfrm>
            <a:off x="6765888" y="1080000"/>
            <a:ext cx="4856965" cy="2814942"/>
            <a:chOff x="780157" y="1492843"/>
            <a:chExt cx="4856965" cy="2814942"/>
          </a:xfrm>
        </p:grpSpPr>
        <p:sp>
          <p:nvSpPr>
            <p:cNvPr id="178" name="Rounded Rectangle 60">
              <a:extLst>
                <a:ext uri="{FF2B5EF4-FFF2-40B4-BE49-F238E27FC236}">
                  <a16:creationId xmlns:a16="http://schemas.microsoft.com/office/drawing/2014/main" id="{48D519B0-EBB5-CF8B-FA6B-2F04C428B86D}"/>
                </a:ext>
              </a:extLst>
            </p:cNvPr>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9" name="TextBox 178">
              <a:extLst>
                <a:ext uri="{FF2B5EF4-FFF2-40B4-BE49-F238E27FC236}">
                  <a16:creationId xmlns:a16="http://schemas.microsoft.com/office/drawing/2014/main" id="{37058533-6047-D2E0-817C-17EB681939D3}"/>
                </a:ext>
              </a:extLst>
            </p:cNvPr>
            <p:cNvSpPr txBox="1"/>
            <p:nvPr/>
          </p:nvSpPr>
          <p:spPr>
            <a:xfrm>
              <a:off x="780157" y="1492843"/>
              <a:ext cx="2819041" cy="369332"/>
            </a:xfrm>
            <a:prstGeom prst="rect">
              <a:avLst/>
            </a:prstGeom>
            <a:noFill/>
          </p:spPr>
          <p:txBody>
            <a:bodyPr wrap="none" rtlCol="0">
              <a:spAutoFit/>
            </a:bodyPr>
            <a:lstStyle/>
            <a:p>
              <a:pPr algn="ctr"/>
              <a:r>
                <a:rPr lang="nl-BE" b="1" dirty="0" err="1"/>
                <a:t>Sapphire</a:t>
              </a:r>
              <a:r>
                <a:rPr lang="nl-BE" b="1" dirty="0"/>
                <a:t> Rapids </a:t>
              </a:r>
              <a:r>
                <a:rPr lang="nl-BE" b="1" dirty="0" err="1"/>
                <a:t>Thin</a:t>
              </a:r>
              <a:r>
                <a:rPr lang="nl-BE" b="1" dirty="0"/>
                <a:t> </a:t>
              </a:r>
              <a:r>
                <a:rPr lang="nl-BE" b="1" dirty="0" err="1"/>
                <a:t>nodes</a:t>
              </a:r>
              <a:endParaRPr lang="nl-BE" b="1" dirty="0"/>
            </a:p>
          </p:txBody>
        </p:sp>
        <p:grpSp>
          <p:nvGrpSpPr>
            <p:cNvPr id="180" name="Group 179">
              <a:extLst>
                <a:ext uri="{FF2B5EF4-FFF2-40B4-BE49-F238E27FC236}">
                  <a16:creationId xmlns:a16="http://schemas.microsoft.com/office/drawing/2014/main" id="{BEA25E3E-2313-8912-78AB-2043CD7E11B1}"/>
                </a:ext>
              </a:extLst>
            </p:cNvPr>
            <p:cNvGrpSpPr/>
            <p:nvPr/>
          </p:nvGrpSpPr>
          <p:grpSpPr>
            <a:xfrm>
              <a:off x="3148941" y="2247220"/>
              <a:ext cx="2098691" cy="922419"/>
              <a:chOff x="4335173" y="1731635"/>
              <a:chExt cx="2098691" cy="922419"/>
            </a:xfrm>
          </p:grpSpPr>
          <p:pic>
            <p:nvPicPr>
              <p:cNvPr id="1059" name="Picture 1058">
                <a:extLst>
                  <a:ext uri="{FF2B5EF4-FFF2-40B4-BE49-F238E27FC236}">
                    <a16:creationId xmlns:a16="http://schemas.microsoft.com/office/drawing/2014/main" id="{E864EB0A-5B75-5A6A-A699-BA02E80705E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060" name="Picture 1059">
                <a:extLst>
                  <a:ext uri="{FF2B5EF4-FFF2-40B4-BE49-F238E27FC236}">
                    <a16:creationId xmlns:a16="http://schemas.microsoft.com/office/drawing/2014/main" id="{C8F34650-6661-4A1E-929A-6C883B3CFC1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061" name="Picture 1060">
                <a:extLst>
                  <a:ext uri="{FF2B5EF4-FFF2-40B4-BE49-F238E27FC236}">
                    <a16:creationId xmlns:a16="http://schemas.microsoft.com/office/drawing/2014/main" id="{999E16A0-A255-5608-6D7A-BA20577BABB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062" name="Picture 1061">
                <a:extLst>
                  <a:ext uri="{FF2B5EF4-FFF2-40B4-BE49-F238E27FC236}">
                    <a16:creationId xmlns:a16="http://schemas.microsoft.com/office/drawing/2014/main" id="{E465E9C7-A4ED-D6B1-7AA3-1E26599FEBA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63" name="Picture 1062">
                <a:extLst>
                  <a:ext uri="{FF2B5EF4-FFF2-40B4-BE49-F238E27FC236}">
                    <a16:creationId xmlns:a16="http://schemas.microsoft.com/office/drawing/2014/main" id="{260EDBAD-9F6B-97FD-19EB-98667BFF010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64" name="Picture 1063">
                <a:extLst>
                  <a:ext uri="{FF2B5EF4-FFF2-40B4-BE49-F238E27FC236}">
                    <a16:creationId xmlns:a16="http://schemas.microsoft.com/office/drawing/2014/main" id="{9DEC1955-8564-6F69-A6C6-BCE04DE9D2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65" name="Picture 1064">
                <a:extLst>
                  <a:ext uri="{FF2B5EF4-FFF2-40B4-BE49-F238E27FC236}">
                    <a16:creationId xmlns:a16="http://schemas.microsoft.com/office/drawing/2014/main" id="{9D53E2FD-A18A-E705-A339-1C5807125E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66" name="Picture 1065">
                <a:extLst>
                  <a:ext uri="{FF2B5EF4-FFF2-40B4-BE49-F238E27FC236}">
                    <a16:creationId xmlns:a16="http://schemas.microsoft.com/office/drawing/2014/main" id="{81F256FC-295C-67C7-255C-6D567912A3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67" name="Picture 1066">
                <a:extLst>
                  <a:ext uri="{FF2B5EF4-FFF2-40B4-BE49-F238E27FC236}">
                    <a16:creationId xmlns:a16="http://schemas.microsoft.com/office/drawing/2014/main" id="{3705422D-9DF1-B5CF-14E8-147AFD0D50C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68" name="Picture 1067">
                <a:extLst>
                  <a:ext uri="{FF2B5EF4-FFF2-40B4-BE49-F238E27FC236}">
                    <a16:creationId xmlns:a16="http://schemas.microsoft.com/office/drawing/2014/main" id="{D4FDE7F0-87C8-6E5F-1263-DE712F6312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69" name="Picture 1068">
                <a:extLst>
                  <a:ext uri="{FF2B5EF4-FFF2-40B4-BE49-F238E27FC236}">
                    <a16:creationId xmlns:a16="http://schemas.microsoft.com/office/drawing/2014/main" id="{814D4D56-42C8-44B0-FBF0-3F4F294EBB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70" name="Picture 1069">
                <a:extLst>
                  <a:ext uri="{FF2B5EF4-FFF2-40B4-BE49-F238E27FC236}">
                    <a16:creationId xmlns:a16="http://schemas.microsoft.com/office/drawing/2014/main" id="{EC4683AA-4228-4D6E-6C93-30579ABC74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71" name="Picture 1070">
                <a:extLst>
                  <a:ext uri="{FF2B5EF4-FFF2-40B4-BE49-F238E27FC236}">
                    <a16:creationId xmlns:a16="http://schemas.microsoft.com/office/drawing/2014/main" id="{30643F76-4FDD-279D-190C-4BD4E799BD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72" name="Picture 1071">
                <a:extLst>
                  <a:ext uri="{FF2B5EF4-FFF2-40B4-BE49-F238E27FC236}">
                    <a16:creationId xmlns:a16="http://schemas.microsoft.com/office/drawing/2014/main" id="{626F6412-872A-B8A2-5281-237DB81709A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73" name="Picture 1072">
                <a:extLst>
                  <a:ext uri="{FF2B5EF4-FFF2-40B4-BE49-F238E27FC236}">
                    <a16:creationId xmlns:a16="http://schemas.microsoft.com/office/drawing/2014/main" id="{5E3B497F-81EB-6708-7ACF-65C35C1992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74" name="Picture 1073">
                <a:extLst>
                  <a:ext uri="{FF2B5EF4-FFF2-40B4-BE49-F238E27FC236}">
                    <a16:creationId xmlns:a16="http://schemas.microsoft.com/office/drawing/2014/main" id="{05E30DD0-BDDF-05C0-4AD9-0B0EFEEB2F2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75" name="Picture 1074">
                <a:extLst>
                  <a:ext uri="{FF2B5EF4-FFF2-40B4-BE49-F238E27FC236}">
                    <a16:creationId xmlns:a16="http://schemas.microsoft.com/office/drawing/2014/main" id="{147D426A-0784-5161-B75F-04879A09DE7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76" name="Picture 1075">
                <a:extLst>
                  <a:ext uri="{FF2B5EF4-FFF2-40B4-BE49-F238E27FC236}">
                    <a16:creationId xmlns:a16="http://schemas.microsoft.com/office/drawing/2014/main" id="{7608E38E-29B0-6C05-6F5B-7BBC079BD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77" name="Picture 1076">
                <a:extLst>
                  <a:ext uri="{FF2B5EF4-FFF2-40B4-BE49-F238E27FC236}">
                    <a16:creationId xmlns:a16="http://schemas.microsoft.com/office/drawing/2014/main" id="{59F6A1E1-8E7B-69B6-EE63-18106727042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78" name="Picture 1077">
                <a:extLst>
                  <a:ext uri="{FF2B5EF4-FFF2-40B4-BE49-F238E27FC236}">
                    <a16:creationId xmlns:a16="http://schemas.microsoft.com/office/drawing/2014/main" id="{FC5150DE-3114-3EEF-BE56-F90EDD3989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79" name="Picture 1078">
                <a:extLst>
                  <a:ext uri="{FF2B5EF4-FFF2-40B4-BE49-F238E27FC236}">
                    <a16:creationId xmlns:a16="http://schemas.microsoft.com/office/drawing/2014/main" id="{5619D414-BBEE-C3C2-05B6-EC4F3CD1D19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80" name="Picture 1079">
                <a:extLst>
                  <a:ext uri="{FF2B5EF4-FFF2-40B4-BE49-F238E27FC236}">
                    <a16:creationId xmlns:a16="http://schemas.microsoft.com/office/drawing/2014/main" id="{9256157F-E887-71F2-8A2B-8A1CDBD812E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81" name="Picture 1080">
                <a:extLst>
                  <a:ext uri="{FF2B5EF4-FFF2-40B4-BE49-F238E27FC236}">
                    <a16:creationId xmlns:a16="http://schemas.microsoft.com/office/drawing/2014/main" id="{DECBA5FD-C116-9A92-C077-C54687AA0D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82" name="Picture 1081">
                <a:extLst>
                  <a:ext uri="{FF2B5EF4-FFF2-40B4-BE49-F238E27FC236}">
                    <a16:creationId xmlns:a16="http://schemas.microsoft.com/office/drawing/2014/main" id="{497D9EE7-5DE8-B321-5D1C-E6A40C85B4F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83" name="Picture 1082">
                <a:extLst>
                  <a:ext uri="{FF2B5EF4-FFF2-40B4-BE49-F238E27FC236}">
                    <a16:creationId xmlns:a16="http://schemas.microsoft.com/office/drawing/2014/main" id="{6683D10F-1402-2FA3-CBB0-CF54761EDAF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84" name="Picture 1083">
                <a:extLst>
                  <a:ext uri="{FF2B5EF4-FFF2-40B4-BE49-F238E27FC236}">
                    <a16:creationId xmlns:a16="http://schemas.microsoft.com/office/drawing/2014/main" id="{76C4EF1B-FA29-1D17-8C9D-0C449AD723B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85" name="Picture 1084">
                <a:extLst>
                  <a:ext uri="{FF2B5EF4-FFF2-40B4-BE49-F238E27FC236}">
                    <a16:creationId xmlns:a16="http://schemas.microsoft.com/office/drawing/2014/main" id="{A62C5652-FB72-1E22-BD13-B08430E7AC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86" name="Picture 1085">
                <a:extLst>
                  <a:ext uri="{FF2B5EF4-FFF2-40B4-BE49-F238E27FC236}">
                    <a16:creationId xmlns:a16="http://schemas.microsoft.com/office/drawing/2014/main" id="{2DFBC8C0-36B5-3B39-82DE-52A385C5729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87" name="Picture 1086">
                <a:extLst>
                  <a:ext uri="{FF2B5EF4-FFF2-40B4-BE49-F238E27FC236}">
                    <a16:creationId xmlns:a16="http://schemas.microsoft.com/office/drawing/2014/main" id="{8A75C2A4-2FFE-C2E6-5C06-3C963DBBD92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92" name="Picture 191">
                <a:extLst>
                  <a:ext uri="{FF2B5EF4-FFF2-40B4-BE49-F238E27FC236}">
                    <a16:creationId xmlns:a16="http://schemas.microsoft.com/office/drawing/2014/main" id="{20C55852-AF04-229B-0DE8-75177BD1D21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182" name="Group 181">
              <a:extLst>
                <a:ext uri="{FF2B5EF4-FFF2-40B4-BE49-F238E27FC236}">
                  <a16:creationId xmlns:a16="http://schemas.microsoft.com/office/drawing/2014/main" id="{0620F4AD-B102-8414-B321-2E3B2E5268C7}"/>
                </a:ext>
              </a:extLst>
            </p:cNvPr>
            <p:cNvGrpSpPr/>
            <p:nvPr/>
          </p:nvGrpSpPr>
          <p:grpSpPr>
            <a:xfrm>
              <a:off x="1027062" y="2247220"/>
              <a:ext cx="2098691" cy="1237372"/>
              <a:chOff x="4335173" y="1731635"/>
              <a:chExt cx="2098691" cy="1237372"/>
            </a:xfrm>
          </p:grpSpPr>
          <p:pic>
            <p:nvPicPr>
              <p:cNvPr id="184" name="Picture 183">
                <a:extLst>
                  <a:ext uri="{FF2B5EF4-FFF2-40B4-BE49-F238E27FC236}">
                    <a16:creationId xmlns:a16="http://schemas.microsoft.com/office/drawing/2014/main" id="{6E93722D-3BEC-9338-F799-3CA557A4AFA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5" name="Picture 184">
                <a:extLst>
                  <a:ext uri="{FF2B5EF4-FFF2-40B4-BE49-F238E27FC236}">
                    <a16:creationId xmlns:a16="http://schemas.microsoft.com/office/drawing/2014/main" id="{6989B8ED-BB17-60D3-1372-70FA7022201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86" name="Picture 185">
                <a:extLst>
                  <a:ext uri="{FF2B5EF4-FFF2-40B4-BE49-F238E27FC236}">
                    <a16:creationId xmlns:a16="http://schemas.microsoft.com/office/drawing/2014/main" id="{5FA020E0-8F8E-21E7-2C8A-6E8FDEF292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1" name="Picture 190">
                <a:extLst>
                  <a:ext uri="{FF2B5EF4-FFF2-40B4-BE49-F238E27FC236}">
                    <a16:creationId xmlns:a16="http://schemas.microsoft.com/office/drawing/2014/main" id="{2F062334-8968-D392-DA64-72D3525AB2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024" name="Picture 1023">
                <a:extLst>
                  <a:ext uri="{FF2B5EF4-FFF2-40B4-BE49-F238E27FC236}">
                    <a16:creationId xmlns:a16="http://schemas.microsoft.com/office/drawing/2014/main" id="{D123F628-33D4-B715-0C86-D5C238B1B3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025" name="Picture 1024">
                <a:extLst>
                  <a:ext uri="{FF2B5EF4-FFF2-40B4-BE49-F238E27FC236}">
                    <a16:creationId xmlns:a16="http://schemas.microsoft.com/office/drawing/2014/main" id="{5B3C3D31-244B-E8FE-10E7-6AFD492A7F2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027" name="Picture 1026">
                <a:extLst>
                  <a:ext uri="{FF2B5EF4-FFF2-40B4-BE49-F238E27FC236}">
                    <a16:creationId xmlns:a16="http://schemas.microsoft.com/office/drawing/2014/main" id="{9114345B-7C8F-2719-AB96-844DE88346C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028" name="Picture 1027">
                <a:extLst>
                  <a:ext uri="{FF2B5EF4-FFF2-40B4-BE49-F238E27FC236}">
                    <a16:creationId xmlns:a16="http://schemas.microsoft.com/office/drawing/2014/main" id="{E03C23B7-39E4-DC9B-DC8E-1F15AB555BC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029" name="Picture 1028">
                <a:extLst>
                  <a:ext uri="{FF2B5EF4-FFF2-40B4-BE49-F238E27FC236}">
                    <a16:creationId xmlns:a16="http://schemas.microsoft.com/office/drawing/2014/main" id="{4B2CAB17-F29F-F818-5651-823E05457AF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1030" name="Picture 1029">
                <a:extLst>
                  <a:ext uri="{FF2B5EF4-FFF2-40B4-BE49-F238E27FC236}">
                    <a16:creationId xmlns:a16="http://schemas.microsoft.com/office/drawing/2014/main" id="{E76EC205-4D15-4E34-BC97-6CFD195E5C3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1031" name="Picture 1030">
                <a:extLst>
                  <a:ext uri="{FF2B5EF4-FFF2-40B4-BE49-F238E27FC236}">
                    <a16:creationId xmlns:a16="http://schemas.microsoft.com/office/drawing/2014/main" id="{E37B14B3-6119-79D8-294E-EA3F11B0A0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1032" name="Picture 1031">
                <a:extLst>
                  <a:ext uri="{FF2B5EF4-FFF2-40B4-BE49-F238E27FC236}">
                    <a16:creationId xmlns:a16="http://schemas.microsoft.com/office/drawing/2014/main" id="{DC09CE8D-D62F-ACA6-7115-ADA7B300A2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1033" name="Picture 1032">
                <a:extLst>
                  <a:ext uri="{FF2B5EF4-FFF2-40B4-BE49-F238E27FC236}">
                    <a16:creationId xmlns:a16="http://schemas.microsoft.com/office/drawing/2014/main" id="{DB33E856-3A7F-5A5E-9E46-013C4FF06EB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1034" name="Picture 1033">
                <a:extLst>
                  <a:ext uri="{FF2B5EF4-FFF2-40B4-BE49-F238E27FC236}">
                    <a16:creationId xmlns:a16="http://schemas.microsoft.com/office/drawing/2014/main" id="{6B7096C0-A25C-3729-A7B8-0A4B597C99A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1035" name="Picture 1034">
                <a:extLst>
                  <a:ext uri="{FF2B5EF4-FFF2-40B4-BE49-F238E27FC236}">
                    <a16:creationId xmlns:a16="http://schemas.microsoft.com/office/drawing/2014/main" id="{2F4BA80B-A8A0-172D-8626-CDF44C93406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1036" name="Picture 1035">
                <a:extLst>
                  <a:ext uri="{FF2B5EF4-FFF2-40B4-BE49-F238E27FC236}">
                    <a16:creationId xmlns:a16="http://schemas.microsoft.com/office/drawing/2014/main" id="{40E0900E-7ED7-454D-083C-F015E8902C2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1037" name="Picture 1036">
                <a:extLst>
                  <a:ext uri="{FF2B5EF4-FFF2-40B4-BE49-F238E27FC236}">
                    <a16:creationId xmlns:a16="http://schemas.microsoft.com/office/drawing/2014/main" id="{DA7B67BB-4552-D9C3-9C02-BE475DDF3E3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1038" name="Picture 1037">
                <a:extLst>
                  <a:ext uri="{FF2B5EF4-FFF2-40B4-BE49-F238E27FC236}">
                    <a16:creationId xmlns:a16="http://schemas.microsoft.com/office/drawing/2014/main" id="{E178B34E-623A-B0DD-B9AE-71045B8EFB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1039" name="Picture 1038">
                <a:extLst>
                  <a:ext uri="{FF2B5EF4-FFF2-40B4-BE49-F238E27FC236}">
                    <a16:creationId xmlns:a16="http://schemas.microsoft.com/office/drawing/2014/main" id="{2E41B539-6B03-C151-9B65-C17A748CF4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1040" name="Picture 1039">
                <a:extLst>
                  <a:ext uri="{FF2B5EF4-FFF2-40B4-BE49-F238E27FC236}">
                    <a16:creationId xmlns:a16="http://schemas.microsoft.com/office/drawing/2014/main" id="{F052CF0A-5813-3D02-0E63-B58E13DF517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1041" name="Picture 1040">
                <a:extLst>
                  <a:ext uri="{FF2B5EF4-FFF2-40B4-BE49-F238E27FC236}">
                    <a16:creationId xmlns:a16="http://schemas.microsoft.com/office/drawing/2014/main" id="{F37EDB2F-9CC1-C994-CEF6-6B5F05BA98E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1042" name="Picture 1041">
                <a:extLst>
                  <a:ext uri="{FF2B5EF4-FFF2-40B4-BE49-F238E27FC236}">
                    <a16:creationId xmlns:a16="http://schemas.microsoft.com/office/drawing/2014/main" id="{3470C285-6FBA-2F7F-A675-ADCE12513FD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1043" name="Picture 1042">
                <a:extLst>
                  <a:ext uri="{FF2B5EF4-FFF2-40B4-BE49-F238E27FC236}">
                    <a16:creationId xmlns:a16="http://schemas.microsoft.com/office/drawing/2014/main" id="{1C13280F-755C-D0C2-7864-22A065CC6B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1044" name="Picture 1043">
                <a:extLst>
                  <a:ext uri="{FF2B5EF4-FFF2-40B4-BE49-F238E27FC236}">
                    <a16:creationId xmlns:a16="http://schemas.microsoft.com/office/drawing/2014/main" id="{9AFAB928-7A52-224D-C4E2-64D6364E8268}"/>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1045" name="Picture 1044">
                <a:extLst>
                  <a:ext uri="{FF2B5EF4-FFF2-40B4-BE49-F238E27FC236}">
                    <a16:creationId xmlns:a16="http://schemas.microsoft.com/office/drawing/2014/main" id="{C8D27B7F-8B11-2710-92B6-F4D28D74EEC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1046" name="Picture 1045">
                <a:extLst>
                  <a:ext uri="{FF2B5EF4-FFF2-40B4-BE49-F238E27FC236}">
                    <a16:creationId xmlns:a16="http://schemas.microsoft.com/office/drawing/2014/main" id="{19E21195-ABEC-5D91-5B26-15D5A39CB86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1047" name="Picture 1046">
                <a:extLst>
                  <a:ext uri="{FF2B5EF4-FFF2-40B4-BE49-F238E27FC236}">
                    <a16:creationId xmlns:a16="http://schemas.microsoft.com/office/drawing/2014/main" id="{A9A846EE-88DC-7501-E37F-D6E002A8E00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1048" name="Picture 1047">
                <a:extLst>
                  <a:ext uri="{FF2B5EF4-FFF2-40B4-BE49-F238E27FC236}">
                    <a16:creationId xmlns:a16="http://schemas.microsoft.com/office/drawing/2014/main" id="{CA79B12E-E7D0-DC70-43CC-292F126A7C1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1049" name="Picture 1048">
                <a:extLst>
                  <a:ext uri="{FF2B5EF4-FFF2-40B4-BE49-F238E27FC236}">
                    <a16:creationId xmlns:a16="http://schemas.microsoft.com/office/drawing/2014/main" id="{2592AE8C-6F86-3039-CCDC-E676D04E8DC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1050" name="Picture 1049">
                <a:extLst>
                  <a:ext uri="{FF2B5EF4-FFF2-40B4-BE49-F238E27FC236}">
                    <a16:creationId xmlns:a16="http://schemas.microsoft.com/office/drawing/2014/main" id="{82683223-77F3-0FEB-E3A2-A09BBAD7627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1051" name="Picture 1050">
                <a:extLst>
                  <a:ext uri="{FF2B5EF4-FFF2-40B4-BE49-F238E27FC236}">
                    <a16:creationId xmlns:a16="http://schemas.microsoft.com/office/drawing/2014/main" id="{18A61E77-33D6-CADE-B9B7-3D7ADE5E387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1052" name="Picture 1051">
                <a:extLst>
                  <a:ext uri="{FF2B5EF4-FFF2-40B4-BE49-F238E27FC236}">
                    <a16:creationId xmlns:a16="http://schemas.microsoft.com/office/drawing/2014/main" id="{044ABD00-90A5-84C9-591D-23CCC56EF92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1053" name="Picture 1052">
                <a:extLst>
                  <a:ext uri="{FF2B5EF4-FFF2-40B4-BE49-F238E27FC236}">
                    <a16:creationId xmlns:a16="http://schemas.microsoft.com/office/drawing/2014/main" id="{D3027A29-4986-BFC1-5FC6-D695BDB24B4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1054" name="Picture 1053">
                <a:extLst>
                  <a:ext uri="{FF2B5EF4-FFF2-40B4-BE49-F238E27FC236}">
                    <a16:creationId xmlns:a16="http://schemas.microsoft.com/office/drawing/2014/main" id="{FDF11FFD-F144-7408-5C11-CB5927F7799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1055" name="Picture 1054">
                <a:extLst>
                  <a:ext uri="{FF2B5EF4-FFF2-40B4-BE49-F238E27FC236}">
                    <a16:creationId xmlns:a16="http://schemas.microsoft.com/office/drawing/2014/main" id="{1A5E90C7-139E-988B-FB8F-F9337747599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1056" name="Picture 1055">
                <a:extLst>
                  <a:ext uri="{FF2B5EF4-FFF2-40B4-BE49-F238E27FC236}">
                    <a16:creationId xmlns:a16="http://schemas.microsoft.com/office/drawing/2014/main" id="{28170EE7-B07B-D520-AA0F-1626D5F55CD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1057" name="Picture 1056">
                <a:extLst>
                  <a:ext uri="{FF2B5EF4-FFF2-40B4-BE49-F238E27FC236}">
                    <a16:creationId xmlns:a16="http://schemas.microsoft.com/office/drawing/2014/main" id="{794EE299-D941-3414-1844-B4273BC5BE8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1058" name="Picture 1057">
                <a:extLst>
                  <a:ext uri="{FF2B5EF4-FFF2-40B4-BE49-F238E27FC236}">
                    <a16:creationId xmlns:a16="http://schemas.microsoft.com/office/drawing/2014/main" id="{698895DD-17E6-C9C2-FC94-A1239E266CA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183" name="TextBox 182">
              <a:extLst>
                <a:ext uri="{FF2B5EF4-FFF2-40B4-BE49-F238E27FC236}">
                  <a16:creationId xmlns:a16="http://schemas.microsoft.com/office/drawing/2014/main" id="{9CD7084A-FFB8-D761-2FF3-2600BBD47872}"/>
                </a:ext>
              </a:extLst>
            </p:cNvPr>
            <p:cNvSpPr txBox="1"/>
            <p:nvPr/>
          </p:nvSpPr>
          <p:spPr>
            <a:xfrm>
              <a:off x="780157" y="3784565"/>
              <a:ext cx="4856965" cy="523220"/>
            </a:xfrm>
            <a:prstGeom prst="rect">
              <a:avLst/>
            </a:prstGeom>
            <a:noFill/>
          </p:spPr>
          <p:txBody>
            <a:bodyPr wrap="square" rtlCol="0">
              <a:spAutoFit/>
            </a:bodyPr>
            <a:lstStyle/>
            <a:p>
              <a:r>
                <a:rPr lang="nl-BE" sz="1400" dirty="0"/>
                <a:t>68x </a:t>
              </a:r>
              <a:r>
                <a:rPr lang="nl-BE" sz="1400" dirty="0" err="1"/>
                <a:t>Sapphire</a:t>
              </a:r>
              <a:r>
                <a:rPr lang="nl-BE" sz="1400" dirty="0"/>
                <a:t> Rapids 96c 256 </a:t>
              </a:r>
              <a:r>
                <a:rPr lang="nl-BE" sz="1400" dirty="0" err="1"/>
                <a:t>GiB</a:t>
              </a:r>
              <a:br>
                <a:rPr lang="nl-BE" sz="1400" dirty="0"/>
              </a:br>
              <a:endParaRPr lang="nl-BE" sz="1400" dirty="0"/>
            </a:p>
          </p:txBody>
        </p:sp>
      </p:grpSp>
      <p:grpSp>
        <p:nvGrpSpPr>
          <p:cNvPr id="29" name="Group 28"/>
          <p:cNvGrpSpPr/>
          <p:nvPr/>
        </p:nvGrpSpPr>
        <p:grpSpPr>
          <a:xfrm>
            <a:off x="540000" y="4581128"/>
            <a:ext cx="2518638" cy="1990284"/>
            <a:chOff x="5418327" y="1931376"/>
            <a:chExt cx="2518638" cy="1990284"/>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398440"/>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 </a:t>
              </a:r>
              <a:r>
                <a:rPr lang="nl-BE" sz="1400" dirty="0" err="1"/>
                <a:t>TiB</a:t>
              </a:r>
              <a:br>
                <a:rPr lang="nl-BE" sz="1400" dirty="0"/>
              </a:br>
              <a:endParaRPr lang="nl-BE" sz="1400" dirty="0"/>
            </a:p>
          </p:txBody>
        </p:sp>
      </p:grpSp>
      <p:grpSp>
        <p:nvGrpSpPr>
          <p:cNvPr id="202" name="Group 201"/>
          <p:cNvGrpSpPr/>
          <p:nvPr/>
        </p:nvGrpSpPr>
        <p:grpSpPr>
          <a:xfrm>
            <a:off x="3789708" y="4581128"/>
            <a:ext cx="2457484" cy="1990284"/>
            <a:chOff x="5418327" y="1970191"/>
            <a:chExt cx="2457484" cy="1990284"/>
          </a:xfrm>
        </p:grpSpPr>
        <p:grpSp>
          <p:nvGrpSpPr>
            <p:cNvPr id="203" name="Group 202"/>
            <p:cNvGrpSpPr/>
            <p:nvPr/>
          </p:nvGrpSpPr>
          <p:grpSpPr>
            <a:xfrm>
              <a:off x="5418327" y="1970191"/>
              <a:ext cx="2457484" cy="1425555"/>
              <a:chOff x="5837945" y="2863459"/>
              <a:chExt cx="2457484" cy="1425555"/>
            </a:xfrm>
          </p:grpSpPr>
          <p:sp>
            <p:nvSpPr>
              <p:cNvPr id="205" name="Rounded Rectangle 167"/>
              <p:cNvSpPr/>
              <p:nvPr/>
            </p:nvSpPr>
            <p:spPr>
              <a:xfrm>
                <a:off x="5876544" y="3349459"/>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 name="TextBox 205"/>
              <p:cNvSpPr txBox="1"/>
              <p:nvPr/>
            </p:nvSpPr>
            <p:spPr>
              <a:xfrm>
                <a:off x="5837945" y="2863459"/>
                <a:ext cx="2073132" cy="369332"/>
              </a:xfrm>
              <a:prstGeom prst="rect">
                <a:avLst/>
              </a:prstGeom>
              <a:noFill/>
            </p:spPr>
            <p:txBody>
              <a:bodyPr wrap="none" rtlCol="0">
                <a:spAutoFit/>
              </a:bodyPr>
              <a:lstStyle/>
              <a:p>
                <a:r>
                  <a:rPr lang="nl-BE" b="1" dirty="0"/>
                  <a:t>Huge memory node</a:t>
                </a:r>
              </a:p>
            </p:txBody>
          </p:sp>
          <p:pic>
            <p:nvPicPr>
              <p:cNvPr id="207" name="Picture 206">
                <a:extLst>
                  <a:ext uri="{FF2B5EF4-FFF2-40B4-BE49-F238E27FC236}">
                    <a16:creationId xmlns:a16="http://schemas.microsoft.com/office/drawing/2014/main" id="{9D07041A-8AF8-4147-98B0-557D66E32E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204" name="TextBox 203"/>
            <p:cNvSpPr txBox="1"/>
            <p:nvPr/>
          </p:nvSpPr>
          <p:spPr>
            <a:xfrm>
              <a:off x="5456926" y="3437255"/>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a:t>
              </a:r>
              <a:r>
                <a:rPr lang="nl-BE" sz="1400" dirty="0" err="1"/>
                <a:t>TiB</a:t>
              </a:r>
              <a:br>
                <a:rPr lang="nl-BE" sz="1400" dirty="0"/>
              </a:br>
              <a:endParaRPr lang="nl-BE" sz="1400" dirty="0"/>
            </a:p>
          </p:txBody>
        </p:sp>
      </p:grpSp>
      <p:grpSp>
        <p:nvGrpSpPr>
          <p:cNvPr id="1398" name="Group 1397">
            <a:extLst>
              <a:ext uri="{FF2B5EF4-FFF2-40B4-BE49-F238E27FC236}">
                <a16:creationId xmlns:a16="http://schemas.microsoft.com/office/drawing/2014/main" id="{6DC7DD5E-2DFF-A4AE-FFFE-68A709324A99}"/>
              </a:ext>
            </a:extLst>
          </p:cNvPr>
          <p:cNvGrpSpPr/>
          <p:nvPr/>
        </p:nvGrpSpPr>
        <p:grpSpPr>
          <a:xfrm>
            <a:off x="540000" y="1080000"/>
            <a:ext cx="5707192" cy="3619564"/>
            <a:chOff x="540000" y="1080000"/>
            <a:chExt cx="5707192" cy="3619564"/>
          </a:xfrm>
        </p:grpSpPr>
        <p:sp>
          <p:nvSpPr>
            <p:cNvPr id="61" name="Rounded Rectangle 60"/>
            <p:cNvSpPr/>
            <p:nvPr/>
          </p:nvSpPr>
          <p:spPr>
            <a:xfrm>
              <a:off x="540000" y="1569333"/>
              <a:ext cx="5707192" cy="2607011"/>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544440" y="1080000"/>
              <a:ext cx="1946495" cy="369332"/>
            </a:xfrm>
            <a:prstGeom prst="rect">
              <a:avLst/>
            </a:prstGeom>
            <a:noFill/>
          </p:spPr>
          <p:txBody>
            <a:bodyPr wrap="none" rtlCol="0">
              <a:spAutoFit/>
            </a:bodyPr>
            <a:lstStyle/>
            <a:p>
              <a:pPr algn="ctr"/>
              <a:r>
                <a:rPr lang="nl-BE" b="1" dirty="0" err="1"/>
                <a:t>Icelake</a:t>
              </a:r>
              <a:r>
                <a:rPr lang="nl-BE" b="1" dirty="0"/>
                <a:t> </a:t>
              </a:r>
              <a:r>
                <a:rPr lang="nl-BE" b="1" dirty="0" err="1"/>
                <a:t>Thin</a:t>
              </a:r>
              <a:r>
                <a:rPr lang="nl-BE" b="1" dirty="0"/>
                <a:t> </a:t>
              </a:r>
              <a:r>
                <a:rPr lang="nl-BE" b="1" dirty="0" err="1"/>
                <a:t>nodes</a:t>
              </a:r>
              <a:endParaRPr lang="nl-BE" b="1" dirty="0"/>
            </a:p>
          </p:txBody>
        </p:sp>
        <p:sp>
          <p:nvSpPr>
            <p:cNvPr id="305" name="TextBox 304"/>
            <p:cNvSpPr txBox="1"/>
            <p:nvPr/>
          </p:nvSpPr>
          <p:spPr>
            <a:xfrm>
              <a:off x="544440" y="4176344"/>
              <a:ext cx="4737549" cy="523220"/>
            </a:xfrm>
            <a:prstGeom prst="rect">
              <a:avLst/>
            </a:prstGeom>
            <a:noFill/>
          </p:spPr>
          <p:txBody>
            <a:bodyPr wrap="square" rtlCol="0">
              <a:spAutoFit/>
            </a:bodyPr>
            <a:lstStyle/>
            <a:p>
              <a:r>
                <a:rPr lang="nl-BE" sz="1400" dirty="0"/>
                <a:t>172x </a:t>
              </a:r>
              <a:r>
                <a:rPr lang="nl-BE" sz="1400" dirty="0" err="1"/>
                <a:t>IceLake</a:t>
              </a:r>
              <a:r>
                <a:rPr lang="nl-BE" sz="1400" dirty="0"/>
                <a:t> 72c 256 </a:t>
              </a:r>
              <a:r>
                <a:rPr lang="nl-BE" sz="1400" dirty="0" err="1"/>
                <a:t>GiB</a:t>
              </a:r>
              <a:br>
                <a:rPr lang="nl-BE" sz="1400" dirty="0"/>
              </a:br>
              <a:endParaRPr lang="nl-BE" sz="1400" dirty="0"/>
            </a:p>
          </p:txBody>
        </p:sp>
        <p:grpSp>
          <p:nvGrpSpPr>
            <p:cNvPr id="1397" name="Group 1396">
              <a:extLst>
                <a:ext uri="{FF2B5EF4-FFF2-40B4-BE49-F238E27FC236}">
                  <a16:creationId xmlns:a16="http://schemas.microsoft.com/office/drawing/2014/main" id="{193FE59C-521F-99B0-F9C8-057FB119A10A}"/>
                </a:ext>
              </a:extLst>
            </p:cNvPr>
            <p:cNvGrpSpPr/>
            <p:nvPr/>
          </p:nvGrpSpPr>
          <p:grpSpPr>
            <a:xfrm>
              <a:off x="733234" y="1796547"/>
              <a:ext cx="5305039" cy="2182906"/>
              <a:chOff x="733234" y="1796547"/>
              <a:chExt cx="5305039" cy="2182906"/>
            </a:xfrm>
          </p:grpSpPr>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1796548"/>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1796550"/>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210" name="Picture 209">
                <a:extLst>
                  <a:ext uri="{FF2B5EF4-FFF2-40B4-BE49-F238E27FC236}">
                    <a16:creationId xmlns:a16="http://schemas.microsoft.com/office/drawing/2014/main" id="{4C2E6093-3EA3-165E-11D7-26E5A1ED531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1798653"/>
                <a:ext cx="200239" cy="300593"/>
              </a:xfrm>
              <a:prstGeom prst="rect">
                <a:avLst/>
              </a:prstGeom>
            </p:spPr>
          </p:pic>
          <p:pic>
            <p:nvPicPr>
              <p:cNvPr id="212" name="Picture 211">
                <a:extLst>
                  <a:ext uri="{FF2B5EF4-FFF2-40B4-BE49-F238E27FC236}">
                    <a16:creationId xmlns:a16="http://schemas.microsoft.com/office/drawing/2014/main" id="{21A8AC75-7B87-D21E-F4E0-13709135635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1798655"/>
                <a:ext cx="200239" cy="300593"/>
              </a:xfrm>
              <a:prstGeom prst="rect">
                <a:avLst/>
              </a:prstGeom>
            </p:spPr>
          </p:pic>
          <p:pic>
            <p:nvPicPr>
              <p:cNvPr id="214" name="Picture 213">
                <a:extLst>
                  <a:ext uri="{FF2B5EF4-FFF2-40B4-BE49-F238E27FC236}">
                    <a16:creationId xmlns:a16="http://schemas.microsoft.com/office/drawing/2014/main" id="{0C8B565F-3D26-EAD5-9EF5-952ADE553A1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1798655"/>
                <a:ext cx="200239" cy="300593"/>
              </a:xfrm>
              <a:prstGeom prst="rect">
                <a:avLst/>
              </a:prstGeom>
            </p:spPr>
          </p:pic>
          <p:pic>
            <p:nvPicPr>
              <p:cNvPr id="216" name="Picture 215">
                <a:extLst>
                  <a:ext uri="{FF2B5EF4-FFF2-40B4-BE49-F238E27FC236}">
                    <a16:creationId xmlns:a16="http://schemas.microsoft.com/office/drawing/2014/main" id="{8F5B1689-8530-CCFB-58DD-42D9F0654033}"/>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1798654"/>
                <a:ext cx="200239" cy="300593"/>
              </a:xfrm>
              <a:prstGeom prst="rect">
                <a:avLst/>
              </a:prstGeom>
            </p:spPr>
          </p:pic>
          <p:pic>
            <p:nvPicPr>
              <p:cNvPr id="231" name="Picture 230">
                <a:extLst>
                  <a:ext uri="{FF2B5EF4-FFF2-40B4-BE49-F238E27FC236}">
                    <a16:creationId xmlns:a16="http://schemas.microsoft.com/office/drawing/2014/main" id="{198CC58F-908F-C37D-9E82-4DD19FD092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1798652"/>
                <a:ext cx="200239" cy="300593"/>
              </a:xfrm>
              <a:prstGeom prst="rect">
                <a:avLst/>
              </a:prstGeom>
            </p:spPr>
          </p:pic>
          <p:pic>
            <p:nvPicPr>
              <p:cNvPr id="233" name="Picture 232">
                <a:extLst>
                  <a:ext uri="{FF2B5EF4-FFF2-40B4-BE49-F238E27FC236}">
                    <a16:creationId xmlns:a16="http://schemas.microsoft.com/office/drawing/2014/main" id="{18B99872-6989-1F70-975C-7A6A4BA9BA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1798652"/>
                <a:ext cx="200239" cy="300593"/>
              </a:xfrm>
              <a:prstGeom prst="rect">
                <a:avLst/>
              </a:prstGeom>
            </p:spPr>
          </p:pic>
          <p:pic>
            <p:nvPicPr>
              <p:cNvPr id="263" name="Picture 262">
                <a:extLst>
                  <a:ext uri="{FF2B5EF4-FFF2-40B4-BE49-F238E27FC236}">
                    <a16:creationId xmlns:a16="http://schemas.microsoft.com/office/drawing/2014/main" id="{1E5CD42C-E7D3-2BB6-3338-9264210F876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1798652"/>
                <a:ext cx="200239" cy="300593"/>
              </a:xfrm>
              <a:prstGeom prst="rect">
                <a:avLst/>
              </a:prstGeom>
            </p:spPr>
          </p:pic>
          <p:pic>
            <p:nvPicPr>
              <p:cNvPr id="265" name="Picture 264">
                <a:extLst>
                  <a:ext uri="{FF2B5EF4-FFF2-40B4-BE49-F238E27FC236}">
                    <a16:creationId xmlns:a16="http://schemas.microsoft.com/office/drawing/2014/main" id="{E16CA6D3-F8A6-44D1-F594-51710FE973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1798652"/>
                <a:ext cx="200239" cy="300593"/>
              </a:xfrm>
              <a:prstGeom prst="rect">
                <a:avLst/>
              </a:prstGeom>
            </p:spPr>
          </p:pic>
          <p:pic>
            <p:nvPicPr>
              <p:cNvPr id="267" name="Picture 266">
                <a:extLst>
                  <a:ext uri="{FF2B5EF4-FFF2-40B4-BE49-F238E27FC236}">
                    <a16:creationId xmlns:a16="http://schemas.microsoft.com/office/drawing/2014/main" id="{E4E462B5-9E94-8D2F-E419-59D9A9ED5BE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1798652"/>
                <a:ext cx="200239" cy="300593"/>
              </a:xfrm>
              <a:prstGeom prst="rect">
                <a:avLst/>
              </a:prstGeom>
            </p:spPr>
          </p:pic>
          <p:pic>
            <p:nvPicPr>
              <p:cNvPr id="269" name="Picture 268">
                <a:extLst>
                  <a:ext uri="{FF2B5EF4-FFF2-40B4-BE49-F238E27FC236}">
                    <a16:creationId xmlns:a16="http://schemas.microsoft.com/office/drawing/2014/main" id="{A9CF40C0-B382-B38E-4DDE-16C0E682BFA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1798652"/>
                <a:ext cx="200239" cy="300593"/>
              </a:xfrm>
              <a:prstGeom prst="rect">
                <a:avLst/>
              </a:prstGeom>
            </p:spPr>
          </p:pic>
          <p:pic>
            <p:nvPicPr>
              <p:cNvPr id="271" name="Picture 270">
                <a:extLst>
                  <a:ext uri="{FF2B5EF4-FFF2-40B4-BE49-F238E27FC236}">
                    <a16:creationId xmlns:a16="http://schemas.microsoft.com/office/drawing/2014/main" id="{5DA540A7-D398-C618-52AA-3AB2ABDD3F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1798652"/>
                <a:ext cx="200239" cy="300593"/>
              </a:xfrm>
              <a:prstGeom prst="rect">
                <a:avLst/>
              </a:prstGeom>
            </p:spPr>
          </p:pic>
          <p:pic>
            <p:nvPicPr>
              <p:cNvPr id="273" name="Picture 272">
                <a:extLst>
                  <a:ext uri="{FF2B5EF4-FFF2-40B4-BE49-F238E27FC236}">
                    <a16:creationId xmlns:a16="http://schemas.microsoft.com/office/drawing/2014/main" id="{3D099D36-6624-81DE-ECFA-A3C37A29B34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1798652"/>
                <a:ext cx="200239" cy="300593"/>
              </a:xfrm>
              <a:prstGeom prst="rect">
                <a:avLst/>
              </a:prstGeom>
            </p:spPr>
          </p:pic>
          <p:pic>
            <p:nvPicPr>
              <p:cNvPr id="1210" name="Picture 1209">
                <a:extLst>
                  <a:ext uri="{FF2B5EF4-FFF2-40B4-BE49-F238E27FC236}">
                    <a16:creationId xmlns:a16="http://schemas.microsoft.com/office/drawing/2014/main" id="{712882CF-9653-8EB3-0537-B338E6A2FA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110753"/>
                <a:ext cx="200239" cy="300593"/>
              </a:xfrm>
              <a:prstGeom prst="rect">
                <a:avLst/>
              </a:prstGeom>
            </p:spPr>
          </p:pic>
          <p:pic>
            <p:nvPicPr>
              <p:cNvPr id="1211" name="Picture 1210">
                <a:extLst>
                  <a:ext uri="{FF2B5EF4-FFF2-40B4-BE49-F238E27FC236}">
                    <a16:creationId xmlns:a16="http://schemas.microsoft.com/office/drawing/2014/main" id="{4F7F9067-93F2-F1FF-BF7B-B836C817D4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110755"/>
                <a:ext cx="200239" cy="300593"/>
              </a:xfrm>
              <a:prstGeom prst="rect">
                <a:avLst/>
              </a:prstGeom>
            </p:spPr>
          </p:pic>
          <p:pic>
            <p:nvPicPr>
              <p:cNvPr id="1212" name="Picture 1211">
                <a:extLst>
                  <a:ext uri="{FF2B5EF4-FFF2-40B4-BE49-F238E27FC236}">
                    <a16:creationId xmlns:a16="http://schemas.microsoft.com/office/drawing/2014/main" id="{92A1AEDE-0BEF-4635-70E1-B6BB6B5E5D6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A2885BC-7FE9-55BA-A224-27BA85B29D1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189411A4-2A50-6C14-EB99-56C782F2507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9DAE0A72-27D9-4078-B67B-C5070F2EABE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95543E43-7328-E182-DB93-F8F9456B49C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9336E457-0C55-54D1-1979-25BF619CD5C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E467D53E-40BB-BD69-1004-3419929B83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4665DB28-BF02-FB68-588A-5487662BDFB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220D4653-8600-477B-918A-7458FC8547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1828E07F-91FF-E5BE-93F5-41AAE5259BD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22" name="Picture 1221">
                <a:extLst>
                  <a:ext uri="{FF2B5EF4-FFF2-40B4-BE49-F238E27FC236}">
                    <a16:creationId xmlns:a16="http://schemas.microsoft.com/office/drawing/2014/main" id="{E6407C5A-1E62-3EDF-5624-23C274AB89D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112858"/>
                <a:ext cx="200239" cy="300593"/>
              </a:xfrm>
              <a:prstGeom prst="rect">
                <a:avLst/>
              </a:prstGeom>
            </p:spPr>
          </p:pic>
          <p:pic>
            <p:nvPicPr>
              <p:cNvPr id="1223" name="Picture 1222">
                <a:extLst>
                  <a:ext uri="{FF2B5EF4-FFF2-40B4-BE49-F238E27FC236}">
                    <a16:creationId xmlns:a16="http://schemas.microsoft.com/office/drawing/2014/main" id="{44CE46F6-8F90-13F4-C83A-E6BD28456D2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112860"/>
                <a:ext cx="200239" cy="300593"/>
              </a:xfrm>
              <a:prstGeom prst="rect">
                <a:avLst/>
              </a:prstGeom>
            </p:spPr>
          </p:pic>
          <p:pic>
            <p:nvPicPr>
              <p:cNvPr id="1224" name="Picture 1223">
                <a:extLst>
                  <a:ext uri="{FF2B5EF4-FFF2-40B4-BE49-F238E27FC236}">
                    <a16:creationId xmlns:a16="http://schemas.microsoft.com/office/drawing/2014/main" id="{FB69957F-8250-6DCD-7632-7563ED1518C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112860"/>
                <a:ext cx="200239" cy="300593"/>
              </a:xfrm>
              <a:prstGeom prst="rect">
                <a:avLst/>
              </a:prstGeom>
            </p:spPr>
          </p:pic>
          <p:pic>
            <p:nvPicPr>
              <p:cNvPr id="1225" name="Picture 1224">
                <a:extLst>
                  <a:ext uri="{FF2B5EF4-FFF2-40B4-BE49-F238E27FC236}">
                    <a16:creationId xmlns:a16="http://schemas.microsoft.com/office/drawing/2014/main" id="{4C540F9F-150F-7506-C92D-8823B00BE9B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112859"/>
                <a:ext cx="200239" cy="300593"/>
              </a:xfrm>
              <a:prstGeom prst="rect">
                <a:avLst/>
              </a:prstGeom>
            </p:spPr>
          </p:pic>
          <p:pic>
            <p:nvPicPr>
              <p:cNvPr id="1226" name="Picture 1225">
                <a:extLst>
                  <a:ext uri="{FF2B5EF4-FFF2-40B4-BE49-F238E27FC236}">
                    <a16:creationId xmlns:a16="http://schemas.microsoft.com/office/drawing/2014/main" id="{9179B6AB-B339-893D-A9B7-0502480A41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112857"/>
                <a:ext cx="200239" cy="300593"/>
              </a:xfrm>
              <a:prstGeom prst="rect">
                <a:avLst/>
              </a:prstGeom>
            </p:spPr>
          </p:pic>
          <p:pic>
            <p:nvPicPr>
              <p:cNvPr id="1227" name="Picture 1226">
                <a:extLst>
                  <a:ext uri="{FF2B5EF4-FFF2-40B4-BE49-F238E27FC236}">
                    <a16:creationId xmlns:a16="http://schemas.microsoft.com/office/drawing/2014/main" id="{A38C04F7-49F4-10DA-C813-B28F5FE4F19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112857"/>
                <a:ext cx="200239" cy="300593"/>
              </a:xfrm>
              <a:prstGeom prst="rect">
                <a:avLst/>
              </a:prstGeom>
            </p:spPr>
          </p:pic>
          <p:pic>
            <p:nvPicPr>
              <p:cNvPr id="1228" name="Picture 1227">
                <a:extLst>
                  <a:ext uri="{FF2B5EF4-FFF2-40B4-BE49-F238E27FC236}">
                    <a16:creationId xmlns:a16="http://schemas.microsoft.com/office/drawing/2014/main" id="{0F523B0F-932B-902C-3FCB-28C6EA174DA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112857"/>
                <a:ext cx="200239" cy="300593"/>
              </a:xfrm>
              <a:prstGeom prst="rect">
                <a:avLst/>
              </a:prstGeom>
            </p:spPr>
          </p:pic>
          <p:pic>
            <p:nvPicPr>
              <p:cNvPr id="1229" name="Picture 1228">
                <a:extLst>
                  <a:ext uri="{FF2B5EF4-FFF2-40B4-BE49-F238E27FC236}">
                    <a16:creationId xmlns:a16="http://schemas.microsoft.com/office/drawing/2014/main" id="{A5B274D9-74BE-FCAC-054A-F4E606478F7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112857"/>
                <a:ext cx="200239" cy="300593"/>
              </a:xfrm>
              <a:prstGeom prst="rect">
                <a:avLst/>
              </a:prstGeom>
            </p:spPr>
          </p:pic>
          <p:pic>
            <p:nvPicPr>
              <p:cNvPr id="1230" name="Picture 1229">
                <a:extLst>
                  <a:ext uri="{FF2B5EF4-FFF2-40B4-BE49-F238E27FC236}">
                    <a16:creationId xmlns:a16="http://schemas.microsoft.com/office/drawing/2014/main" id="{A7C2F40E-DD88-9B21-59A2-9E516C4949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112857"/>
                <a:ext cx="200239" cy="300593"/>
              </a:xfrm>
              <a:prstGeom prst="rect">
                <a:avLst/>
              </a:prstGeom>
            </p:spPr>
          </p:pic>
          <p:pic>
            <p:nvPicPr>
              <p:cNvPr id="1231" name="Picture 1230">
                <a:extLst>
                  <a:ext uri="{FF2B5EF4-FFF2-40B4-BE49-F238E27FC236}">
                    <a16:creationId xmlns:a16="http://schemas.microsoft.com/office/drawing/2014/main" id="{07B8F959-87A8-6FD3-16DE-F33E82DA7C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112857"/>
                <a:ext cx="200239" cy="300593"/>
              </a:xfrm>
              <a:prstGeom prst="rect">
                <a:avLst/>
              </a:prstGeom>
            </p:spPr>
          </p:pic>
          <p:pic>
            <p:nvPicPr>
              <p:cNvPr id="1232" name="Picture 1231">
                <a:extLst>
                  <a:ext uri="{FF2B5EF4-FFF2-40B4-BE49-F238E27FC236}">
                    <a16:creationId xmlns:a16="http://schemas.microsoft.com/office/drawing/2014/main" id="{E0CF82ED-25C5-FC6A-6452-F27FFA8F5A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112857"/>
                <a:ext cx="200239" cy="300593"/>
              </a:xfrm>
              <a:prstGeom prst="rect">
                <a:avLst/>
              </a:prstGeom>
            </p:spPr>
          </p:pic>
          <p:pic>
            <p:nvPicPr>
              <p:cNvPr id="1233" name="Picture 1232">
                <a:extLst>
                  <a:ext uri="{FF2B5EF4-FFF2-40B4-BE49-F238E27FC236}">
                    <a16:creationId xmlns:a16="http://schemas.microsoft.com/office/drawing/2014/main" id="{E72B6432-B5D2-E78C-CC53-C3AC1C793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112857"/>
                <a:ext cx="200239" cy="300593"/>
              </a:xfrm>
              <a:prstGeom prst="rect">
                <a:avLst/>
              </a:prstGeom>
            </p:spPr>
          </p:pic>
          <p:pic>
            <p:nvPicPr>
              <p:cNvPr id="1235" name="Picture 1234">
                <a:extLst>
                  <a:ext uri="{FF2B5EF4-FFF2-40B4-BE49-F238E27FC236}">
                    <a16:creationId xmlns:a16="http://schemas.microsoft.com/office/drawing/2014/main" id="{108C2089-94A1-9BBF-80A6-FC6C1F39595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423953"/>
                <a:ext cx="200239" cy="300593"/>
              </a:xfrm>
              <a:prstGeom prst="rect">
                <a:avLst/>
              </a:prstGeom>
            </p:spPr>
          </p:pic>
          <p:pic>
            <p:nvPicPr>
              <p:cNvPr id="1236" name="Picture 1235">
                <a:extLst>
                  <a:ext uri="{FF2B5EF4-FFF2-40B4-BE49-F238E27FC236}">
                    <a16:creationId xmlns:a16="http://schemas.microsoft.com/office/drawing/2014/main" id="{EA537955-08AC-C2EC-7CA8-D927BD33A8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423955"/>
                <a:ext cx="200239" cy="300593"/>
              </a:xfrm>
              <a:prstGeom prst="rect">
                <a:avLst/>
              </a:prstGeom>
            </p:spPr>
          </p:pic>
          <p:pic>
            <p:nvPicPr>
              <p:cNvPr id="1237" name="Picture 1236">
                <a:extLst>
                  <a:ext uri="{FF2B5EF4-FFF2-40B4-BE49-F238E27FC236}">
                    <a16:creationId xmlns:a16="http://schemas.microsoft.com/office/drawing/2014/main" id="{ACC1A305-B307-A01D-8141-4B73E3BD5841}"/>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6CD40A65-A134-31EA-E041-E7A876C33C2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F7583B3A-BE44-74E0-9EBE-019DADB0465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279DCACD-0517-24F9-C18F-511DE3D5D94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D12AF46B-EE6C-B62F-A01A-1E238ACA706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17B7027-80D7-7F69-2A17-F80C411700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E924F758-C74C-6B87-74F3-7F2B630DCE4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B84FF928-4E88-883D-80C4-A42D2868878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BF2E4798-E03B-F82B-AD85-FF97400FA6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D2125AA7-51F8-A04F-D60A-4F467FC667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47" name="Picture 1246">
                <a:extLst>
                  <a:ext uri="{FF2B5EF4-FFF2-40B4-BE49-F238E27FC236}">
                    <a16:creationId xmlns:a16="http://schemas.microsoft.com/office/drawing/2014/main" id="{1B391AB3-D077-416C-1795-49778747542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426058"/>
                <a:ext cx="200239" cy="300593"/>
              </a:xfrm>
              <a:prstGeom prst="rect">
                <a:avLst/>
              </a:prstGeom>
            </p:spPr>
          </p:pic>
          <p:pic>
            <p:nvPicPr>
              <p:cNvPr id="1248" name="Picture 1247">
                <a:extLst>
                  <a:ext uri="{FF2B5EF4-FFF2-40B4-BE49-F238E27FC236}">
                    <a16:creationId xmlns:a16="http://schemas.microsoft.com/office/drawing/2014/main" id="{12146FBC-869E-145E-4BEF-5ED78D8DE4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426060"/>
                <a:ext cx="200239" cy="300593"/>
              </a:xfrm>
              <a:prstGeom prst="rect">
                <a:avLst/>
              </a:prstGeom>
            </p:spPr>
          </p:pic>
          <p:pic>
            <p:nvPicPr>
              <p:cNvPr id="1249" name="Picture 1248">
                <a:extLst>
                  <a:ext uri="{FF2B5EF4-FFF2-40B4-BE49-F238E27FC236}">
                    <a16:creationId xmlns:a16="http://schemas.microsoft.com/office/drawing/2014/main" id="{B80D3F93-1A4F-A68D-8C4E-430741228BC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426060"/>
                <a:ext cx="200239" cy="300593"/>
              </a:xfrm>
              <a:prstGeom prst="rect">
                <a:avLst/>
              </a:prstGeom>
            </p:spPr>
          </p:pic>
          <p:pic>
            <p:nvPicPr>
              <p:cNvPr id="1250" name="Picture 1249">
                <a:extLst>
                  <a:ext uri="{FF2B5EF4-FFF2-40B4-BE49-F238E27FC236}">
                    <a16:creationId xmlns:a16="http://schemas.microsoft.com/office/drawing/2014/main" id="{6D8FAB8F-B85E-8733-0955-6669125C3C85}"/>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426059"/>
                <a:ext cx="200239" cy="300593"/>
              </a:xfrm>
              <a:prstGeom prst="rect">
                <a:avLst/>
              </a:prstGeom>
            </p:spPr>
          </p:pic>
          <p:pic>
            <p:nvPicPr>
              <p:cNvPr id="1251" name="Picture 1250">
                <a:extLst>
                  <a:ext uri="{FF2B5EF4-FFF2-40B4-BE49-F238E27FC236}">
                    <a16:creationId xmlns:a16="http://schemas.microsoft.com/office/drawing/2014/main" id="{B2F01DFE-1571-4F46-6CE0-A459A405F5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426057"/>
                <a:ext cx="200239" cy="300593"/>
              </a:xfrm>
              <a:prstGeom prst="rect">
                <a:avLst/>
              </a:prstGeom>
            </p:spPr>
          </p:pic>
          <p:pic>
            <p:nvPicPr>
              <p:cNvPr id="1252" name="Picture 1251">
                <a:extLst>
                  <a:ext uri="{FF2B5EF4-FFF2-40B4-BE49-F238E27FC236}">
                    <a16:creationId xmlns:a16="http://schemas.microsoft.com/office/drawing/2014/main" id="{36CB0971-8ECA-3C4C-B851-3E6861BEBD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426057"/>
                <a:ext cx="200239" cy="300593"/>
              </a:xfrm>
              <a:prstGeom prst="rect">
                <a:avLst/>
              </a:prstGeom>
            </p:spPr>
          </p:pic>
          <p:pic>
            <p:nvPicPr>
              <p:cNvPr id="1253" name="Picture 1252">
                <a:extLst>
                  <a:ext uri="{FF2B5EF4-FFF2-40B4-BE49-F238E27FC236}">
                    <a16:creationId xmlns:a16="http://schemas.microsoft.com/office/drawing/2014/main" id="{F0C0AEBC-E4E3-6D08-1FB9-F0B6492AA9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426057"/>
                <a:ext cx="200239" cy="300593"/>
              </a:xfrm>
              <a:prstGeom prst="rect">
                <a:avLst/>
              </a:prstGeom>
            </p:spPr>
          </p:pic>
          <p:pic>
            <p:nvPicPr>
              <p:cNvPr id="1254" name="Picture 1253">
                <a:extLst>
                  <a:ext uri="{FF2B5EF4-FFF2-40B4-BE49-F238E27FC236}">
                    <a16:creationId xmlns:a16="http://schemas.microsoft.com/office/drawing/2014/main" id="{F95857E3-A002-A784-E2E8-FADFF5321E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426057"/>
                <a:ext cx="200239" cy="300593"/>
              </a:xfrm>
              <a:prstGeom prst="rect">
                <a:avLst/>
              </a:prstGeom>
            </p:spPr>
          </p:pic>
          <p:pic>
            <p:nvPicPr>
              <p:cNvPr id="1255" name="Picture 1254">
                <a:extLst>
                  <a:ext uri="{FF2B5EF4-FFF2-40B4-BE49-F238E27FC236}">
                    <a16:creationId xmlns:a16="http://schemas.microsoft.com/office/drawing/2014/main" id="{659C483D-8F0F-68D8-7058-8B542FC10E4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426057"/>
                <a:ext cx="200239" cy="300593"/>
              </a:xfrm>
              <a:prstGeom prst="rect">
                <a:avLst/>
              </a:prstGeom>
            </p:spPr>
          </p:pic>
          <p:pic>
            <p:nvPicPr>
              <p:cNvPr id="1256" name="Picture 1255">
                <a:extLst>
                  <a:ext uri="{FF2B5EF4-FFF2-40B4-BE49-F238E27FC236}">
                    <a16:creationId xmlns:a16="http://schemas.microsoft.com/office/drawing/2014/main" id="{0D1356BE-5689-5B30-A4B4-5FDC695B5E0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426057"/>
                <a:ext cx="200239" cy="300593"/>
              </a:xfrm>
              <a:prstGeom prst="rect">
                <a:avLst/>
              </a:prstGeom>
            </p:spPr>
          </p:pic>
          <p:pic>
            <p:nvPicPr>
              <p:cNvPr id="1257" name="Picture 1256">
                <a:extLst>
                  <a:ext uri="{FF2B5EF4-FFF2-40B4-BE49-F238E27FC236}">
                    <a16:creationId xmlns:a16="http://schemas.microsoft.com/office/drawing/2014/main" id="{D856FE57-0794-8B3F-3937-0C6C221BA0F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426057"/>
                <a:ext cx="200239" cy="300593"/>
              </a:xfrm>
              <a:prstGeom prst="rect">
                <a:avLst/>
              </a:prstGeom>
            </p:spPr>
          </p:pic>
          <p:pic>
            <p:nvPicPr>
              <p:cNvPr id="1258" name="Picture 1257">
                <a:extLst>
                  <a:ext uri="{FF2B5EF4-FFF2-40B4-BE49-F238E27FC236}">
                    <a16:creationId xmlns:a16="http://schemas.microsoft.com/office/drawing/2014/main" id="{5787092C-B2BB-D3B2-3601-659BE963E3A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426057"/>
                <a:ext cx="200239" cy="300593"/>
              </a:xfrm>
              <a:prstGeom prst="rect">
                <a:avLst/>
              </a:prstGeom>
            </p:spPr>
          </p:pic>
          <p:pic>
            <p:nvPicPr>
              <p:cNvPr id="1260" name="Picture 1259">
                <a:extLst>
                  <a:ext uri="{FF2B5EF4-FFF2-40B4-BE49-F238E27FC236}">
                    <a16:creationId xmlns:a16="http://schemas.microsoft.com/office/drawing/2014/main" id="{1EF2E46D-C296-FEB2-61CF-8E47E5BD70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2737153"/>
                <a:ext cx="200239" cy="300593"/>
              </a:xfrm>
              <a:prstGeom prst="rect">
                <a:avLst/>
              </a:prstGeom>
            </p:spPr>
          </p:pic>
          <p:pic>
            <p:nvPicPr>
              <p:cNvPr id="1261" name="Picture 1260">
                <a:extLst>
                  <a:ext uri="{FF2B5EF4-FFF2-40B4-BE49-F238E27FC236}">
                    <a16:creationId xmlns:a16="http://schemas.microsoft.com/office/drawing/2014/main" id="{1D0D9F5F-6685-F75B-3D3D-C79D5B77317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2737155"/>
                <a:ext cx="200239" cy="300593"/>
              </a:xfrm>
              <a:prstGeom prst="rect">
                <a:avLst/>
              </a:prstGeom>
            </p:spPr>
          </p:pic>
          <p:pic>
            <p:nvPicPr>
              <p:cNvPr id="1262" name="Picture 1261">
                <a:extLst>
                  <a:ext uri="{FF2B5EF4-FFF2-40B4-BE49-F238E27FC236}">
                    <a16:creationId xmlns:a16="http://schemas.microsoft.com/office/drawing/2014/main" id="{8E0955AD-30AF-266D-F947-5197B7867A32}"/>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71E876E-A5C0-ED65-5F51-35F1575D41D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DA6C69C2-453A-11B6-701C-4C880F06571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9E6B66BC-25F2-2B76-3508-F514F9C42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A12419A9-C6BD-7822-FE6F-8B4B17F198A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86A5475F-783F-89E1-5C46-5F50E05961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5F693657-AB30-2239-04F7-B16C519B0E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58331631-88ED-B1C8-520B-9CD4ABD293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EBE6C98D-97FD-7A08-C02D-B456F220DB2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C431E275-08D5-C6CA-34FF-D80D7B55A8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pic>
            <p:nvPicPr>
              <p:cNvPr id="1272" name="Picture 1271">
                <a:extLst>
                  <a:ext uri="{FF2B5EF4-FFF2-40B4-BE49-F238E27FC236}">
                    <a16:creationId xmlns:a16="http://schemas.microsoft.com/office/drawing/2014/main" id="{BD372FD7-CE6D-DE8D-20F4-203FB266E7F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2739258"/>
                <a:ext cx="200239" cy="300593"/>
              </a:xfrm>
              <a:prstGeom prst="rect">
                <a:avLst/>
              </a:prstGeom>
            </p:spPr>
          </p:pic>
          <p:pic>
            <p:nvPicPr>
              <p:cNvPr id="1273" name="Picture 1272">
                <a:extLst>
                  <a:ext uri="{FF2B5EF4-FFF2-40B4-BE49-F238E27FC236}">
                    <a16:creationId xmlns:a16="http://schemas.microsoft.com/office/drawing/2014/main" id="{936E2926-C3BD-20C4-15C5-66BF016631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2739260"/>
                <a:ext cx="200239" cy="300593"/>
              </a:xfrm>
              <a:prstGeom prst="rect">
                <a:avLst/>
              </a:prstGeom>
            </p:spPr>
          </p:pic>
          <p:pic>
            <p:nvPicPr>
              <p:cNvPr id="1274" name="Picture 1273">
                <a:extLst>
                  <a:ext uri="{FF2B5EF4-FFF2-40B4-BE49-F238E27FC236}">
                    <a16:creationId xmlns:a16="http://schemas.microsoft.com/office/drawing/2014/main" id="{87A3F103-F9ED-0F33-1BA8-645FA0E28E6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2739260"/>
                <a:ext cx="200239" cy="300593"/>
              </a:xfrm>
              <a:prstGeom prst="rect">
                <a:avLst/>
              </a:prstGeom>
            </p:spPr>
          </p:pic>
          <p:pic>
            <p:nvPicPr>
              <p:cNvPr id="1275" name="Picture 1274">
                <a:extLst>
                  <a:ext uri="{FF2B5EF4-FFF2-40B4-BE49-F238E27FC236}">
                    <a16:creationId xmlns:a16="http://schemas.microsoft.com/office/drawing/2014/main" id="{94E83FC0-00C1-5F9B-FB4D-6738784C5247}"/>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2739259"/>
                <a:ext cx="200239" cy="300593"/>
              </a:xfrm>
              <a:prstGeom prst="rect">
                <a:avLst/>
              </a:prstGeom>
            </p:spPr>
          </p:pic>
          <p:pic>
            <p:nvPicPr>
              <p:cNvPr id="1276" name="Picture 1275">
                <a:extLst>
                  <a:ext uri="{FF2B5EF4-FFF2-40B4-BE49-F238E27FC236}">
                    <a16:creationId xmlns:a16="http://schemas.microsoft.com/office/drawing/2014/main" id="{18388517-DD3F-8FBC-1AED-ACA877C091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2739257"/>
                <a:ext cx="200239" cy="300593"/>
              </a:xfrm>
              <a:prstGeom prst="rect">
                <a:avLst/>
              </a:prstGeom>
            </p:spPr>
          </p:pic>
          <p:pic>
            <p:nvPicPr>
              <p:cNvPr id="1277" name="Picture 1276">
                <a:extLst>
                  <a:ext uri="{FF2B5EF4-FFF2-40B4-BE49-F238E27FC236}">
                    <a16:creationId xmlns:a16="http://schemas.microsoft.com/office/drawing/2014/main" id="{1A90B481-A102-E38D-0DCC-808E7C70D81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2739257"/>
                <a:ext cx="200239" cy="300593"/>
              </a:xfrm>
              <a:prstGeom prst="rect">
                <a:avLst/>
              </a:prstGeom>
            </p:spPr>
          </p:pic>
          <p:pic>
            <p:nvPicPr>
              <p:cNvPr id="1278" name="Picture 1277">
                <a:extLst>
                  <a:ext uri="{FF2B5EF4-FFF2-40B4-BE49-F238E27FC236}">
                    <a16:creationId xmlns:a16="http://schemas.microsoft.com/office/drawing/2014/main" id="{24D7EFB7-2BE6-7E65-D801-A662B3C3102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2739257"/>
                <a:ext cx="200239" cy="300593"/>
              </a:xfrm>
              <a:prstGeom prst="rect">
                <a:avLst/>
              </a:prstGeom>
            </p:spPr>
          </p:pic>
          <p:pic>
            <p:nvPicPr>
              <p:cNvPr id="1279" name="Picture 1278">
                <a:extLst>
                  <a:ext uri="{FF2B5EF4-FFF2-40B4-BE49-F238E27FC236}">
                    <a16:creationId xmlns:a16="http://schemas.microsoft.com/office/drawing/2014/main" id="{53A7C884-98C5-2D50-A9DF-737498B26B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2739257"/>
                <a:ext cx="200239" cy="300593"/>
              </a:xfrm>
              <a:prstGeom prst="rect">
                <a:avLst/>
              </a:prstGeom>
            </p:spPr>
          </p:pic>
          <p:pic>
            <p:nvPicPr>
              <p:cNvPr id="1280" name="Picture 1279">
                <a:extLst>
                  <a:ext uri="{FF2B5EF4-FFF2-40B4-BE49-F238E27FC236}">
                    <a16:creationId xmlns:a16="http://schemas.microsoft.com/office/drawing/2014/main" id="{7B2E2441-EAC0-5669-0C7A-1202BB7B73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2739257"/>
                <a:ext cx="200239" cy="300593"/>
              </a:xfrm>
              <a:prstGeom prst="rect">
                <a:avLst/>
              </a:prstGeom>
            </p:spPr>
          </p:pic>
          <p:pic>
            <p:nvPicPr>
              <p:cNvPr id="1281" name="Picture 1280">
                <a:extLst>
                  <a:ext uri="{FF2B5EF4-FFF2-40B4-BE49-F238E27FC236}">
                    <a16:creationId xmlns:a16="http://schemas.microsoft.com/office/drawing/2014/main" id="{34C00985-591B-7E2F-1FA7-EB5E4832430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2739257"/>
                <a:ext cx="200239" cy="300593"/>
              </a:xfrm>
              <a:prstGeom prst="rect">
                <a:avLst/>
              </a:prstGeom>
            </p:spPr>
          </p:pic>
          <p:pic>
            <p:nvPicPr>
              <p:cNvPr id="1282" name="Picture 1281">
                <a:extLst>
                  <a:ext uri="{FF2B5EF4-FFF2-40B4-BE49-F238E27FC236}">
                    <a16:creationId xmlns:a16="http://schemas.microsoft.com/office/drawing/2014/main" id="{72A2040C-230D-E667-C10B-5D3EB2D1473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2739257"/>
                <a:ext cx="200239" cy="300593"/>
              </a:xfrm>
              <a:prstGeom prst="rect">
                <a:avLst/>
              </a:prstGeom>
            </p:spPr>
          </p:pic>
          <p:pic>
            <p:nvPicPr>
              <p:cNvPr id="1283" name="Picture 1282">
                <a:extLst>
                  <a:ext uri="{FF2B5EF4-FFF2-40B4-BE49-F238E27FC236}">
                    <a16:creationId xmlns:a16="http://schemas.microsoft.com/office/drawing/2014/main" id="{4DD8795C-B685-914B-8A13-5418251B413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2739257"/>
                <a:ext cx="200239" cy="300593"/>
              </a:xfrm>
              <a:prstGeom prst="rect">
                <a:avLst/>
              </a:prstGeom>
            </p:spPr>
          </p:pic>
          <p:pic>
            <p:nvPicPr>
              <p:cNvPr id="1285" name="Picture 1284">
                <a:extLst>
                  <a:ext uri="{FF2B5EF4-FFF2-40B4-BE49-F238E27FC236}">
                    <a16:creationId xmlns:a16="http://schemas.microsoft.com/office/drawing/2014/main" id="{0A06F346-1E61-8D08-824A-185CBA43713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050353"/>
                <a:ext cx="200239" cy="300593"/>
              </a:xfrm>
              <a:prstGeom prst="rect">
                <a:avLst/>
              </a:prstGeom>
            </p:spPr>
          </p:pic>
          <p:pic>
            <p:nvPicPr>
              <p:cNvPr id="1286" name="Picture 1285">
                <a:extLst>
                  <a:ext uri="{FF2B5EF4-FFF2-40B4-BE49-F238E27FC236}">
                    <a16:creationId xmlns:a16="http://schemas.microsoft.com/office/drawing/2014/main" id="{3E986B22-4370-6377-8FB2-7DCA733F47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050355"/>
                <a:ext cx="200239" cy="300593"/>
              </a:xfrm>
              <a:prstGeom prst="rect">
                <a:avLst/>
              </a:prstGeom>
            </p:spPr>
          </p:pic>
          <p:pic>
            <p:nvPicPr>
              <p:cNvPr id="1287" name="Picture 1286">
                <a:extLst>
                  <a:ext uri="{FF2B5EF4-FFF2-40B4-BE49-F238E27FC236}">
                    <a16:creationId xmlns:a16="http://schemas.microsoft.com/office/drawing/2014/main" id="{CABB6CA8-8738-21F6-7BD0-5854C530DE5D}"/>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050355"/>
                <a:ext cx="200239" cy="300593"/>
              </a:xfrm>
              <a:prstGeom prst="rect">
                <a:avLst/>
              </a:prstGeom>
            </p:spPr>
          </p:pic>
          <p:pic>
            <p:nvPicPr>
              <p:cNvPr id="1288" name="Picture 1287">
                <a:extLst>
                  <a:ext uri="{FF2B5EF4-FFF2-40B4-BE49-F238E27FC236}">
                    <a16:creationId xmlns:a16="http://schemas.microsoft.com/office/drawing/2014/main" id="{2E10A966-6FA9-2DAD-7A95-CEC8E91078B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050354"/>
                <a:ext cx="200239" cy="300593"/>
              </a:xfrm>
              <a:prstGeom prst="rect">
                <a:avLst/>
              </a:prstGeom>
            </p:spPr>
          </p:pic>
          <p:pic>
            <p:nvPicPr>
              <p:cNvPr id="1289" name="Picture 1288">
                <a:extLst>
                  <a:ext uri="{FF2B5EF4-FFF2-40B4-BE49-F238E27FC236}">
                    <a16:creationId xmlns:a16="http://schemas.microsoft.com/office/drawing/2014/main" id="{27104C44-6B7B-3AA4-459F-CDCBB05380E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050352"/>
                <a:ext cx="200239" cy="300593"/>
              </a:xfrm>
              <a:prstGeom prst="rect">
                <a:avLst/>
              </a:prstGeom>
            </p:spPr>
          </p:pic>
          <p:pic>
            <p:nvPicPr>
              <p:cNvPr id="1290" name="Picture 1289">
                <a:extLst>
                  <a:ext uri="{FF2B5EF4-FFF2-40B4-BE49-F238E27FC236}">
                    <a16:creationId xmlns:a16="http://schemas.microsoft.com/office/drawing/2014/main" id="{1154B7E5-345B-6D74-48AF-EB58E8252BF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050352"/>
                <a:ext cx="200239" cy="300593"/>
              </a:xfrm>
              <a:prstGeom prst="rect">
                <a:avLst/>
              </a:prstGeom>
            </p:spPr>
          </p:pic>
          <p:pic>
            <p:nvPicPr>
              <p:cNvPr id="1291" name="Picture 1290">
                <a:extLst>
                  <a:ext uri="{FF2B5EF4-FFF2-40B4-BE49-F238E27FC236}">
                    <a16:creationId xmlns:a16="http://schemas.microsoft.com/office/drawing/2014/main" id="{EB88D106-BB57-A0AC-A9D8-3C5F1BE153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050352"/>
                <a:ext cx="200239" cy="300593"/>
              </a:xfrm>
              <a:prstGeom prst="rect">
                <a:avLst/>
              </a:prstGeom>
            </p:spPr>
          </p:pic>
          <p:pic>
            <p:nvPicPr>
              <p:cNvPr id="1292" name="Picture 1291">
                <a:extLst>
                  <a:ext uri="{FF2B5EF4-FFF2-40B4-BE49-F238E27FC236}">
                    <a16:creationId xmlns:a16="http://schemas.microsoft.com/office/drawing/2014/main" id="{450F08F1-5A2A-D0F1-AFCB-9AAD479EED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050352"/>
                <a:ext cx="200239" cy="300593"/>
              </a:xfrm>
              <a:prstGeom prst="rect">
                <a:avLst/>
              </a:prstGeom>
            </p:spPr>
          </p:pic>
          <p:pic>
            <p:nvPicPr>
              <p:cNvPr id="1293" name="Picture 1292">
                <a:extLst>
                  <a:ext uri="{FF2B5EF4-FFF2-40B4-BE49-F238E27FC236}">
                    <a16:creationId xmlns:a16="http://schemas.microsoft.com/office/drawing/2014/main" id="{23AE3FBA-67F8-071C-82F5-5563AB10C3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050352"/>
                <a:ext cx="200239" cy="300593"/>
              </a:xfrm>
              <a:prstGeom prst="rect">
                <a:avLst/>
              </a:prstGeom>
            </p:spPr>
          </p:pic>
          <p:pic>
            <p:nvPicPr>
              <p:cNvPr id="1294" name="Picture 1293">
                <a:extLst>
                  <a:ext uri="{FF2B5EF4-FFF2-40B4-BE49-F238E27FC236}">
                    <a16:creationId xmlns:a16="http://schemas.microsoft.com/office/drawing/2014/main" id="{F7644AD8-5D3B-1C82-9316-F33D56A277F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050352"/>
                <a:ext cx="200239" cy="300593"/>
              </a:xfrm>
              <a:prstGeom prst="rect">
                <a:avLst/>
              </a:prstGeom>
            </p:spPr>
          </p:pic>
          <p:pic>
            <p:nvPicPr>
              <p:cNvPr id="1295" name="Picture 1294">
                <a:extLst>
                  <a:ext uri="{FF2B5EF4-FFF2-40B4-BE49-F238E27FC236}">
                    <a16:creationId xmlns:a16="http://schemas.microsoft.com/office/drawing/2014/main" id="{95B6D663-CBB6-D8E1-46ED-9CC51541F0E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050352"/>
                <a:ext cx="200239" cy="300593"/>
              </a:xfrm>
              <a:prstGeom prst="rect">
                <a:avLst/>
              </a:prstGeom>
            </p:spPr>
          </p:pic>
          <p:pic>
            <p:nvPicPr>
              <p:cNvPr id="1296" name="Picture 1295">
                <a:extLst>
                  <a:ext uri="{FF2B5EF4-FFF2-40B4-BE49-F238E27FC236}">
                    <a16:creationId xmlns:a16="http://schemas.microsoft.com/office/drawing/2014/main" id="{D30EF6EB-5786-9256-FBB1-07671BCBD42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050352"/>
                <a:ext cx="200239" cy="300593"/>
              </a:xfrm>
              <a:prstGeom prst="rect">
                <a:avLst/>
              </a:prstGeom>
            </p:spPr>
          </p:pic>
          <p:pic>
            <p:nvPicPr>
              <p:cNvPr id="1297" name="Picture 1296">
                <a:extLst>
                  <a:ext uri="{FF2B5EF4-FFF2-40B4-BE49-F238E27FC236}">
                    <a16:creationId xmlns:a16="http://schemas.microsoft.com/office/drawing/2014/main" id="{C69C9B86-65E9-7681-4DAA-7D2026E598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052458"/>
                <a:ext cx="200239" cy="300593"/>
              </a:xfrm>
              <a:prstGeom prst="rect">
                <a:avLst/>
              </a:prstGeom>
            </p:spPr>
          </p:pic>
          <p:pic>
            <p:nvPicPr>
              <p:cNvPr id="1298" name="Picture 1297">
                <a:extLst>
                  <a:ext uri="{FF2B5EF4-FFF2-40B4-BE49-F238E27FC236}">
                    <a16:creationId xmlns:a16="http://schemas.microsoft.com/office/drawing/2014/main" id="{27D6B747-98E9-5820-9E40-E4EEE74DC5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052460"/>
                <a:ext cx="200239" cy="300593"/>
              </a:xfrm>
              <a:prstGeom prst="rect">
                <a:avLst/>
              </a:prstGeom>
            </p:spPr>
          </p:pic>
          <p:pic>
            <p:nvPicPr>
              <p:cNvPr id="1299" name="Picture 1298">
                <a:extLst>
                  <a:ext uri="{FF2B5EF4-FFF2-40B4-BE49-F238E27FC236}">
                    <a16:creationId xmlns:a16="http://schemas.microsoft.com/office/drawing/2014/main" id="{5E1D95EF-075F-8823-C0BB-EA57D4E9D75F}"/>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052460"/>
                <a:ext cx="200239" cy="300593"/>
              </a:xfrm>
              <a:prstGeom prst="rect">
                <a:avLst/>
              </a:prstGeom>
            </p:spPr>
          </p:pic>
          <p:pic>
            <p:nvPicPr>
              <p:cNvPr id="1300" name="Picture 1299">
                <a:extLst>
                  <a:ext uri="{FF2B5EF4-FFF2-40B4-BE49-F238E27FC236}">
                    <a16:creationId xmlns:a16="http://schemas.microsoft.com/office/drawing/2014/main" id="{EABE194F-8D0B-F580-036F-12815B485B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052459"/>
                <a:ext cx="200239" cy="300593"/>
              </a:xfrm>
              <a:prstGeom prst="rect">
                <a:avLst/>
              </a:prstGeom>
            </p:spPr>
          </p:pic>
          <p:pic>
            <p:nvPicPr>
              <p:cNvPr id="1301" name="Picture 1300">
                <a:extLst>
                  <a:ext uri="{FF2B5EF4-FFF2-40B4-BE49-F238E27FC236}">
                    <a16:creationId xmlns:a16="http://schemas.microsoft.com/office/drawing/2014/main" id="{84AD7EE6-8197-56B1-F3B6-862AA470D2C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052457"/>
                <a:ext cx="200239" cy="300593"/>
              </a:xfrm>
              <a:prstGeom prst="rect">
                <a:avLst/>
              </a:prstGeom>
            </p:spPr>
          </p:pic>
          <p:pic>
            <p:nvPicPr>
              <p:cNvPr id="1302" name="Picture 1301">
                <a:extLst>
                  <a:ext uri="{FF2B5EF4-FFF2-40B4-BE49-F238E27FC236}">
                    <a16:creationId xmlns:a16="http://schemas.microsoft.com/office/drawing/2014/main" id="{7F1034D3-873D-713D-DF35-D61E980EE7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052457"/>
                <a:ext cx="200239" cy="300593"/>
              </a:xfrm>
              <a:prstGeom prst="rect">
                <a:avLst/>
              </a:prstGeom>
            </p:spPr>
          </p:pic>
          <p:pic>
            <p:nvPicPr>
              <p:cNvPr id="1303" name="Picture 1302">
                <a:extLst>
                  <a:ext uri="{FF2B5EF4-FFF2-40B4-BE49-F238E27FC236}">
                    <a16:creationId xmlns:a16="http://schemas.microsoft.com/office/drawing/2014/main" id="{DF03E33F-179F-0C93-4144-5C62E59D2A1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052457"/>
                <a:ext cx="200239" cy="300593"/>
              </a:xfrm>
              <a:prstGeom prst="rect">
                <a:avLst/>
              </a:prstGeom>
            </p:spPr>
          </p:pic>
          <p:pic>
            <p:nvPicPr>
              <p:cNvPr id="1304" name="Picture 1303">
                <a:extLst>
                  <a:ext uri="{FF2B5EF4-FFF2-40B4-BE49-F238E27FC236}">
                    <a16:creationId xmlns:a16="http://schemas.microsoft.com/office/drawing/2014/main" id="{9D55A3CD-3BE3-B261-20FE-AD1C326968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052457"/>
                <a:ext cx="200239" cy="300593"/>
              </a:xfrm>
              <a:prstGeom prst="rect">
                <a:avLst/>
              </a:prstGeom>
            </p:spPr>
          </p:pic>
          <p:pic>
            <p:nvPicPr>
              <p:cNvPr id="1305" name="Picture 1304">
                <a:extLst>
                  <a:ext uri="{FF2B5EF4-FFF2-40B4-BE49-F238E27FC236}">
                    <a16:creationId xmlns:a16="http://schemas.microsoft.com/office/drawing/2014/main" id="{07B1D437-D0AF-E2AC-ECB9-CCBEB1CB3DE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052457"/>
                <a:ext cx="200239" cy="300593"/>
              </a:xfrm>
              <a:prstGeom prst="rect">
                <a:avLst/>
              </a:prstGeom>
            </p:spPr>
          </p:pic>
          <p:pic>
            <p:nvPicPr>
              <p:cNvPr id="1306" name="Picture 1305">
                <a:extLst>
                  <a:ext uri="{FF2B5EF4-FFF2-40B4-BE49-F238E27FC236}">
                    <a16:creationId xmlns:a16="http://schemas.microsoft.com/office/drawing/2014/main" id="{7BFAAD4D-4E93-A283-7C25-725B31DE6EB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052457"/>
                <a:ext cx="200239" cy="300593"/>
              </a:xfrm>
              <a:prstGeom prst="rect">
                <a:avLst/>
              </a:prstGeom>
            </p:spPr>
          </p:pic>
          <p:pic>
            <p:nvPicPr>
              <p:cNvPr id="1307" name="Picture 1306">
                <a:extLst>
                  <a:ext uri="{FF2B5EF4-FFF2-40B4-BE49-F238E27FC236}">
                    <a16:creationId xmlns:a16="http://schemas.microsoft.com/office/drawing/2014/main" id="{69963961-079C-6B10-BD9C-3B1F8B5085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052457"/>
                <a:ext cx="200239" cy="300593"/>
              </a:xfrm>
              <a:prstGeom prst="rect">
                <a:avLst/>
              </a:prstGeom>
            </p:spPr>
          </p:pic>
          <p:pic>
            <p:nvPicPr>
              <p:cNvPr id="1308" name="Picture 1307">
                <a:extLst>
                  <a:ext uri="{FF2B5EF4-FFF2-40B4-BE49-F238E27FC236}">
                    <a16:creationId xmlns:a16="http://schemas.microsoft.com/office/drawing/2014/main" id="{6FA3E51E-2110-0A5D-477A-953F503FEEE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052457"/>
                <a:ext cx="200239" cy="300593"/>
              </a:xfrm>
              <a:prstGeom prst="rect">
                <a:avLst/>
              </a:prstGeom>
            </p:spPr>
          </p:pic>
          <p:pic>
            <p:nvPicPr>
              <p:cNvPr id="1310" name="Picture 1309">
                <a:extLst>
                  <a:ext uri="{FF2B5EF4-FFF2-40B4-BE49-F238E27FC236}">
                    <a16:creationId xmlns:a16="http://schemas.microsoft.com/office/drawing/2014/main" id="{7AC32D5E-C8C9-508F-F1A1-E1E8AA74B63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363553"/>
                <a:ext cx="200239" cy="300593"/>
              </a:xfrm>
              <a:prstGeom prst="rect">
                <a:avLst/>
              </a:prstGeom>
            </p:spPr>
          </p:pic>
          <p:pic>
            <p:nvPicPr>
              <p:cNvPr id="1311" name="Picture 1310">
                <a:extLst>
                  <a:ext uri="{FF2B5EF4-FFF2-40B4-BE49-F238E27FC236}">
                    <a16:creationId xmlns:a16="http://schemas.microsoft.com/office/drawing/2014/main" id="{FE3F67B6-4CE8-7F33-CAE9-6830B31A023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363555"/>
                <a:ext cx="200239" cy="300593"/>
              </a:xfrm>
              <a:prstGeom prst="rect">
                <a:avLst/>
              </a:prstGeom>
            </p:spPr>
          </p:pic>
          <p:pic>
            <p:nvPicPr>
              <p:cNvPr id="1312" name="Picture 1311">
                <a:extLst>
                  <a:ext uri="{FF2B5EF4-FFF2-40B4-BE49-F238E27FC236}">
                    <a16:creationId xmlns:a16="http://schemas.microsoft.com/office/drawing/2014/main" id="{C0AE4998-F578-25D4-4982-6543BFF413E9}"/>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363555"/>
                <a:ext cx="200239" cy="300593"/>
              </a:xfrm>
              <a:prstGeom prst="rect">
                <a:avLst/>
              </a:prstGeom>
            </p:spPr>
          </p:pic>
          <p:pic>
            <p:nvPicPr>
              <p:cNvPr id="1313" name="Picture 1312">
                <a:extLst>
                  <a:ext uri="{FF2B5EF4-FFF2-40B4-BE49-F238E27FC236}">
                    <a16:creationId xmlns:a16="http://schemas.microsoft.com/office/drawing/2014/main" id="{25249B44-F30F-0432-3417-CCE9C7B657D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363554"/>
                <a:ext cx="200239" cy="300593"/>
              </a:xfrm>
              <a:prstGeom prst="rect">
                <a:avLst/>
              </a:prstGeom>
            </p:spPr>
          </p:pic>
          <p:pic>
            <p:nvPicPr>
              <p:cNvPr id="1314" name="Picture 1313">
                <a:extLst>
                  <a:ext uri="{FF2B5EF4-FFF2-40B4-BE49-F238E27FC236}">
                    <a16:creationId xmlns:a16="http://schemas.microsoft.com/office/drawing/2014/main" id="{4BDA7802-8840-6D87-BB84-5432790FE91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363552"/>
                <a:ext cx="200239" cy="300593"/>
              </a:xfrm>
              <a:prstGeom prst="rect">
                <a:avLst/>
              </a:prstGeom>
            </p:spPr>
          </p:pic>
          <p:pic>
            <p:nvPicPr>
              <p:cNvPr id="1315" name="Picture 1314">
                <a:extLst>
                  <a:ext uri="{FF2B5EF4-FFF2-40B4-BE49-F238E27FC236}">
                    <a16:creationId xmlns:a16="http://schemas.microsoft.com/office/drawing/2014/main" id="{15086A3A-578F-585F-1CD3-4FE96A5880C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363552"/>
                <a:ext cx="200239" cy="300593"/>
              </a:xfrm>
              <a:prstGeom prst="rect">
                <a:avLst/>
              </a:prstGeom>
            </p:spPr>
          </p:pic>
          <p:pic>
            <p:nvPicPr>
              <p:cNvPr id="1316" name="Picture 1315">
                <a:extLst>
                  <a:ext uri="{FF2B5EF4-FFF2-40B4-BE49-F238E27FC236}">
                    <a16:creationId xmlns:a16="http://schemas.microsoft.com/office/drawing/2014/main" id="{79163DC1-68FD-2AC4-3C91-0B3F2A391C0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363552"/>
                <a:ext cx="200239" cy="300593"/>
              </a:xfrm>
              <a:prstGeom prst="rect">
                <a:avLst/>
              </a:prstGeom>
            </p:spPr>
          </p:pic>
          <p:pic>
            <p:nvPicPr>
              <p:cNvPr id="1317" name="Picture 1316">
                <a:extLst>
                  <a:ext uri="{FF2B5EF4-FFF2-40B4-BE49-F238E27FC236}">
                    <a16:creationId xmlns:a16="http://schemas.microsoft.com/office/drawing/2014/main" id="{5781F180-23E2-F903-7118-40A41AD2BB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363552"/>
                <a:ext cx="200239" cy="300593"/>
              </a:xfrm>
              <a:prstGeom prst="rect">
                <a:avLst/>
              </a:prstGeom>
            </p:spPr>
          </p:pic>
          <p:pic>
            <p:nvPicPr>
              <p:cNvPr id="1318" name="Picture 1317">
                <a:extLst>
                  <a:ext uri="{FF2B5EF4-FFF2-40B4-BE49-F238E27FC236}">
                    <a16:creationId xmlns:a16="http://schemas.microsoft.com/office/drawing/2014/main" id="{CFB307E3-2E41-6C59-F319-7975FAC80CD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363552"/>
                <a:ext cx="200239" cy="300593"/>
              </a:xfrm>
              <a:prstGeom prst="rect">
                <a:avLst/>
              </a:prstGeom>
            </p:spPr>
          </p:pic>
          <p:pic>
            <p:nvPicPr>
              <p:cNvPr id="1319" name="Picture 1318">
                <a:extLst>
                  <a:ext uri="{FF2B5EF4-FFF2-40B4-BE49-F238E27FC236}">
                    <a16:creationId xmlns:a16="http://schemas.microsoft.com/office/drawing/2014/main" id="{AF92BE19-AE6D-A97E-2479-68CD5762B73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363552"/>
                <a:ext cx="200239" cy="300593"/>
              </a:xfrm>
              <a:prstGeom prst="rect">
                <a:avLst/>
              </a:prstGeom>
            </p:spPr>
          </p:pic>
          <p:pic>
            <p:nvPicPr>
              <p:cNvPr id="1320" name="Picture 1319">
                <a:extLst>
                  <a:ext uri="{FF2B5EF4-FFF2-40B4-BE49-F238E27FC236}">
                    <a16:creationId xmlns:a16="http://schemas.microsoft.com/office/drawing/2014/main" id="{A1A7B311-F263-1937-11A4-F8899D3C1D7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363552"/>
                <a:ext cx="200239" cy="300593"/>
              </a:xfrm>
              <a:prstGeom prst="rect">
                <a:avLst/>
              </a:prstGeom>
            </p:spPr>
          </p:pic>
          <p:pic>
            <p:nvPicPr>
              <p:cNvPr id="1321" name="Picture 1320">
                <a:extLst>
                  <a:ext uri="{FF2B5EF4-FFF2-40B4-BE49-F238E27FC236}">
                    <a16:creationId xmlns:a16="http://schemas.microsoft.com/office/drawing/2014/main" id="{4173C31F-6EB7-4C7E-ABE9-6A9EF7C5E6B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363552"/>
                <a:ext cx="200239" cy="300593"/>
              </a:xfrm>
              <a:prstGeom prst="rect">
                <a:avLst/>
              </a:prstGeom>
            </p:spPr>
          </p:pic>
          <p:pic>
            <p:nvPicPr>
              <p:cNvPr id="1322" name="Picture 1321">
                <a:extLst>
                  <a:ext uri="{FF2B5EF4-FFF2-40B4-BE49-F238E27FC236}">
                    <a16:creationId xmlns:a16="http://schemas.microsoft.com/office/drawing/2014/main" id="{84844B2B-B85B-D6C3-54B1-CA03CB2ECD0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23644" y="3365658"/>
                <a:ext cx="200239" cy="300593"/>
              </a:xfrm>
              <a:prstGeom prst="rect">
                <a:avLst/>
              </a:prstGeom>
            </p:spPr>
          </p:pic>
          <p:pic>
            <p:nvPicPr>
              <p:cNvPr id="1323" name="Picture 1322">
                <a:extLst>
                  <a:ext uri="{FF2B5EF4-FFF2-40B4-BE49-F238E27FC236}">
                    <a16:creationId xmlns:a16="http://schemas.microsoft.com/office/drawing/2014/main" id="{EC826AB8-9E47-EB0C-45CB-999F54DA16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404342" y="3365660"/>
                <a:ext cx="200239" cy="300593"/>
              </a:xfrm>
              <a:prstGeom prst="rect">
                <a:avLst/>
              </a:prstGeom>
            </p:spPr>
          </p:pic>
          <p:pic>
            <p:nvPicPr>
              <p:cNvPr id="1324" name="Picture 1323">
                <a:extLst>
                  <a:ext uri="{FF2B5EF4-FFF2-40B4-BE49-F238E27FC236}">
                    <a16:creationId xmlns:a16="http://schemas.microsoft.com/office/drawing/2014/main" id="{430E929F-3725-3DC5-E7B0-F2E71A8C26F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365660"/>
                <a:ext cx="200239" cy="300593"/>
              </a:xfrm>
              <a:prstGeom prst="rect">
                <a:avLst/>
              </a:prstGeom>
            </p:spPr>
          </p:pic>
          <p:pic>
            <p:nvPicPr>
              <p:cNvPr id="1325" name="Picture 1324">
                <a:extLst>
                  <a:ext uri="{FF2B5EF4-FFF2-40B4-BE49-F238E27FC236}">
                    <a16:creationId xmlns:a16="http://schemas.microsoft.com/office/drawing/2014/main" id="{57D8CBE3-1717-63AC-472B-EE658A867F5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365659"/>
                <a:ext cx="200239" cy="300593"/>
              </a:xfrm>
              <a:prstGeom prst="rect">
                <a:avLst/>
              </a:prstGeom>
            </p:spPr>
          </p:pic>
          <p:pic>
            <p:nvPicPr>
              <p:cNvPr id="1326" name="Picture 1325">
                <a:extLst>
                  <a:ext uri="{FF2B5EF4-FFF2-40B4-BE49-F238E27FC236}">
                    <a16:creationId xmlns:a16="http://schemas.microsoft.com/office/drawing/2014/main" id="{9F0B1830-AEBB-9E44-4991-9B7D7BB1CA0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365657"/>
                <a:ext cx="200239" cy="300593"/>
              </a:xfrm>
              <a:prstGeom prst="rect">
                <a:avLst/>
              </a:prstGeom>
            </p:spPr>
          </p:pic>
          <p:pic>
            <p:nvPicPr>
              <p:cNvPr id="1327" name="Picture 1326">
                <a:extLst>
                  <a:ext uri="{FF2B5EF4-FFF2-40B4-BE49-F238E27FC236}">
                    <a16:creationId xmlns:a16="http://schemas.microsoft.com/office/drawing/2014/main" id="{EB48D6FE-AC1F-2B99-AB12-1F4ED013F09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365657"/>
                <a:ext cx="200239" cy="300593"/>
              </a:xfrm>
              <a:prstGeom prst="rect">
                <a:avLst/>
              </a:prstGeom>
            </p:spPr>
          </p:pic>
          <p:pic>
            <p:nvPicPr>
              <p:cNvPr id="1328" name="Picture 1327">
                <a:extLst>
                  <a:ext uri="{FF2B5EF4-FFF2-40B4-BE49-F238E27FC236}">
                    <a16:creationId xmlns:a16="http://schemas.microsoft.com/office/drawing/2014/main" id="{34E2ADBC-F805-571C-70DF-12556B39288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365657"/>
                <a:ext cx="200239" cy="300593"/>
              </a:xfrm>
              <a:prstGeom prst="rect">
                <a:avLst/>
              </a:prstGeom>
            </p:spPr>
          </p:pic>
          <p:pic>
            <p:nvPicPr>
              <p:cNvPr id="1329" name="Picture 1328">
                <a:extLst>
                  <a:ext uri="{FF2B5EF4-FFF2-40B4-BE49-F238E27FC236}">
                    <a16:creationId xmlns:a16="http://schemas.microsoft.com/office/drawing/2014/main" id="{ABB256AC-481E-F822-4446-8B4A9DBFD87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365657"/>
                <a:ext cx="200239" cy="300593"/>
              </a:xfrm>
              <a:prstGeom prst="rect">
                <a:avLst/>
              </a:prstGeom>
            </p:spPr>
          </p:pic>
          <p:pic>
            <p:nvPicPr>
              <p:cNvPr id="1330" name="Picture 1329">
                <a:extLst>
                  <a:ext uri="{FF2B5EF4-FFF2-40B4-BE49-F238E27FC236}">
                    <a16:creationId xmlns:a16="http://schemas.microsoft.com/office/drawing/2014/main" id="{FF70B5A2-6F9B-C4CA-B7BF-CB2FE2A6962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365657"/>
                <a:ext cx="200239" cy="300593"/>
              </a:xfrm>
              <a:prstGeom prst="rect">
                <a:avLst/>
              </a:prstGeom>
            </p:spPr>
          </p:pic>
          <p:pic>
            <p:nvPicPr>
              <p:cNvPr id="1331" name="Picture 1330">
                <a:extLst>
                  <a:ext uri="{FF2B5EF4-FFF2-40B4-BE49-F238E27FC236}">
                    <a16:creationId xmlns:a16="http://schemas.microsoft.com/office/drawing/2014/main" id="{A1FB859D-2F86-5A93-B043-35B23EC658A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365657"/>
                <a:ext cx="200239" cy="300593"/>
              </a:xfrm>
              <a:prstGeom prst="rect">
                <a:avLst/>
              </a:prstGeom>
            </p:spPr>
          </p:pic>
          <p:pic>
            <p:nvPicPr>
              <p:cNvPr id="1332" name="Picture 1331">
                <a:extLst>
                  <a:ext uri="{FF2B5EF4-FFF2-40B4-BE49-F238E27FC236}">
                    <a16:creationId xmlns:a16="http://schemas.microsoft.com/office/drawing/2014/main" id="{78930543-8636-AC69-8A9A-332ACDBC649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365657"/>
                <a:ext cx="200239" cy="300593"/>
              </a:xfrm>
              <a:prstGeom prst="rect">
                <a:avLst/>
              </a:prstGeom>
            </p:spPr>
          </p:pic>
          <p:pic>
            <p:nvPicPr>
              <p:cNvPr id="1333" name="Picture 1332">
                <a:extLst>
                  <a:ext uri="{FF2B5EF4-FFF2-40B4-BE49-F238E27FC236}">
                    <a16:creationId xmlns:a16="http://schemas.microsoft.com/office/drawing/2014/main" id="{35E8B9B8-F942-492B-01AE-B68B68947F2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365657"/>
                <a:ext cx="200239" cy="300593"/>
              </a:xfrm>
              <a:prstGeom prst="rect">
                <a:avLst/>
              </a:prstGeom>
            </p:spPr>
          </p:pic>
          <p:pic>
            <p:nvPicPr>
              <p:cNvPr id="1335" name="Picture 1334">
                <a:extLst>
                  <a:ext uri="{FF2B5EF4-FFF2-40B4-BE49-F238E27FC236}">
                    <a16:creationId xmlns:a16="http://schemas.microsoft.com/office/drawing/2014/main" id="{B591B636-992F-D55E-2CC2-015121D242D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73089" y="3676753"/>
                <a:ext cx="200239" cy="300593"/>
              </a:xfrm>
              <a:prstGeom prst="rect">
                <a:avLst/>
              </a:prstGeom>
            </p:spPr>
          </p:pic>
          <p:pic>
            <p:nvPicPr>
              <p:cNvPr id="1336" name="Picture 1335">
                <a:extLst>
                  <a:ext uri="{FF2B5EF4-FFF2-40B4-BE49-F238E27FC236}">
                    <a16:creationId xmlns:a16="http://schemas.microsoft.com/office/drawing/2014/main" id="{9A8F285D-F178-7037-6218-0274C3B923D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53787" y="3676755"/>
                <a:ext cx="200239" cy="300593"/>
              </a:xfrm>
              <a:prstGeom prst="rect">
                <a:avLst/>
              </a:prstGeom>
            </p:spPr>
          </p:pic>
          <p:pic>
            <p:nvPicPr>
              <p:cNvPr id="1337" name="Picture 1336">
                <a:extLst>
                  <a:ext uri="{FF2B5EF4-FFF2-40B4-BE49-F238E27FC236}">
                    <a16:creationId xmlns:a16="http://schemas.microsoft.com/office/drawing/2014/main" id="{066BF73F-51DE-3176-438B-D7C7D0EE74A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3676755"/>
                <a:ext cx="200239" cy="300593"/>
              </a:xfrm>
              <a:prstGeom prst="rect">
                <a:avLst/>
              </a:prstGeom>
            </p:spPr>
          </p:pic>
          <p:pic>
            <p:nvPicPr>
              <p:cNvPr id="1338" name="Picture 1337">
                <a:extLst>
                  <a:ext uri="{FF2B5EF4-FFF2-40B4-BE49-F238E27FC236}">
                    <a16:creationId xmlns:a16="http://schemas.microsoft.com/office/drawing/2014/main" id="{B9B42536-5739-0F07-5203-7BA3AA2CD12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3676754"/>
                <a:ext cx="200239" cy="300593"/>
              </a:xfrm>
              <a:prstGeom prst="rect">
                <a:avLst/>
              </a:prstGeom>
            </p:spPr>
          </p:pic>
          <p:pic>
            <p:nvPicPr>
              <p:cNvPr id="1339" name="Picture 1338">
                <a:extLst>
                  <a:ext uri="{FF2B5EF4-FFF2-40B4-BE49-F238E27FC236}">
                    <a16:creationId xmlns:a16="http://schemas.microsoft.com/office/drawing/2014/main" id="{F253D4A1-FE94-B0A4-8215-8F9CAC12198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3676752"/>
                <a:ext cx="200239" cy="300593"/>
              </a:xfrm>
              <a:prstGeom prst="rect">
                <a:avLst/>
              </a:prstGeom>
            </p:spPr>
          </p:pic>
          <p:pic>
            <p:nvPicPr>
              <p:cNvPr id="1340" name="Picture 1339">
                <a:extLst>
                  <a:ext uri="{FF2B5EF4-FFF2-40B4-BE49-F238E27FC236}">
                    <a16:creationId xmlns:a16="http://schemas.microsoft.com/office/drawing/2014/main" id="{FF540D6E-FD02-A4A9-612A-3842C0E2C17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3676752"/>
                <a:ext cx="200239" cy="300593"/>
              </a:xfrm>
              <a:prstGeom prst="rect">
                <a:avLst/>
              </a:prstGeom>
            </p:spPr>
          </p:pic>
          <p:pic>
            <p:nvPicPr>
              <p:cNvPr id="1341" name="Picture 1340">
                <a:extLst>
                  <a:ext uri="{FF2B5EF4-FFF2-40B4-BE49-F238E27FC236}">
                    <a16:creationId xmlns:a16="http://schemas.microsoft.com/office/drawing/2014/main" id="{008F5AE7-F4AE-A235-4F4B-9BB059FCD3F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3676752"/>
                <a:ext cx="200239" cy="300593"/>
              </a:xfrm>
              <a:prstGeom prst="rect">
                <a:avLst/>
              </a:prstGeom>
            </p:spPr>
          </p:pic>
          <p:pic>
            <p:nvPicPr>
              <p:cNvPr id="1342" name="Picture 1341">
                <a:extLst>
                  <a:ext uri="{FF2B5EF4-FFF2-40B4-BE49-F238E27FC236}">
                    <a16:creationId xmlns:a16="http://schemas.microsoft.com/office/drawing/2014/main" id="{CC5F63C7-B816-D92C-D8B8-D225B9BEBD6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3676752"/>
                <a:ext cx="200239" cy="300593"/>
              </a:xfrm>
              <a:prstGeom prst="rect">
                <a:avLst/>
              </a:prstGeom>
            </p:spPr>
          </p:pic>
          <p:pic>
            <p:nvPicPr>
              <p:cNvPr id="1343" name="Picture 1342">
                <a:extLst>
                  <a:ext uri="{FF2B5EF4-FFF2-40B4-BE49-F238E27FC236}">
                    <a16:creationId xmlns:a16="http://schemas.microsoft.com/office/drawing/2014/main" id="{189B320F-7B8B-AA4C-9B53-430777B107FE}"/>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3676752"/>
                <a:ext cx="200239" cy="300593"/>
              </a:xfrm>
              <a:prstGeom prst="rect">
                <a:avLst/>
              </a:prstGeom>
            </p:spPr>
          </p:pic>
          <p:pic>
            <p:nvPicPr>
              <p:cNvPr id="1344" name="Picture 1343">
                <a:extLst>
                  <a:ext uri="{FF2B5EF4-FFF2-40B4-BE49-F238E27FC236}">
                    <a16:creationId xmlns:a16="http://schemas.microsoft.com/office/drawing/2014/main" id="{7997E7DE-DF2D-9B6C-E741-86C817B382B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3676752"/>
                <a:ext cx="200239" cy="300593"/>
              </a:xfrm>
              <a:prstGeom prst="rect">
                <a:avLst/>
              </a:prstGeom>
            </p:spPr>
          </p:pic>
          <p:pic>
            <p:nvPicPr>
              <p:cNvPr id="1345" name="Picture 1344">
                <a:extLst>
                  <a:ext uri="{FF2B5EF4-FFF2-40B4-BE49-F238E27FC236}">
                    <a16:creationId xmlns:a16="http://schemas.microsoft.com/office/drawing/2014/main" id="{49A8211F-8222-5A28-47F1-44E0ECBC4E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3676752"/>
                <a:ext cx="200239" cy="300593"/>
              </a:xfrm>
              <a:prstGeom prst="rect">
                <a:avLst/>
              </a:prstGeom>
            </p:spPr>
          </p:pic>
          <p:pic>
            <p:nvPicPr>
              <p:cNvPr id="1346" name="Picture 1345">
                <a:extLst>
                  <a:ext uri="{FF2B5EF4-FFF2-40B4-BE49-F238E27FC236}">
                    <a16:creationId xmlns:a16="http://schemas.microsoft.com/office/drawing/2014/main" id="{ECE5016C-1668-FAB1-AE01-5EBCED69D9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3676752"/>
                <a:ext cx="200239" cy="300593"/>
              </a:xfrm>
              <a:prstGeom prst="rect">
                <a:avLst/>
              </a:prstGeom>
            </p:spPr>
          </p:pic>
          <p:pic>
            <p:nvPicPr>
              <p:cNvPr id="1347" name="Picture 1346">
                <a:extLst>
                  <a:ext uri="{FF2B5EF4-FFF2-40B4-BE49-F238E27FC236}">
                    <a16:creationId xmlns:a16="http://schemas.microsoft.com/office/drawing/2014/main" id="{0D1EA2CF-9D50-105F-BD0F-59E6974FD7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052460"/>
                <a:ext cx="200239" cy="300593"/>
              </a:xfrm>
              <a:prstGeom prst="rect">
                <a:avLst/>
              </a:prstGeom>
            </p:spPr>
          </p:pic>
          <p:pic>
            <p:nvPicPr>
              <p:cNvPr id="1348" name="Picture 1347">
                <a:extLst>
                  <a:ext uri="{FF2B5EF4-FFF2-40B4-BE49-F238E27FC236}">
                    <a16:creationId xmlns:a16="http://schemas.microsoft.com/office/drawing/2014/main" id="{F5F041B0-2C03-9CB9-12B1-E6D05221773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3366000"/>
                <a:ext cx="200239" cy="300593"/>
              </a:xfrm>
              <a:prstGeom prst="rect">
                <a:avLst/>
              </a:prstGeom>
            </p:spPr>
          </p:pic>
          <p:pic>
            <p:nvPicPr>
              <p:cNvPr id="1349" name="Picture 1348">
                <a:extLst>
                  <a:ext uri="{FF2B5EF4-FFF2-40B4-BE49-F238E27FC236}">
                    <a16:creationId xmlns:a16="http://schemas.microsoft.com/office/drawing/2014/main" id="{5EF680BF-71DF-39C3-AC2F-A801C3C5B5C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7205" y="3678860"/>
                <a:ext cx="200239" cy="300593"/>
              </a:xfrm>
              <a:prstGeom prst="rect">
                <a:avLst/>
              </a:prstGeom>
            </p:spPr>
          </p:pic>
          <p:pic>
            <p:nvPicPr>
              <p:cNvPr id="1350" name="Picture 1349">
                <a:extLst>
                  <a:ext uri="{FF2B5EF4-FFF2-40B4-BE49-F238E27FC236}">
                    <a16:creationId xmlns:a16="http://schemas.microsoft.com/office/drawing/2014/main" id="{44AE466E-1825-747B-4735-FFED71546044}"/>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6373" y="3678859"/>
                <a:ext cx="200239" cy="300593"/>
              </a:xfrm>
              <a:prstGeom prst="rect">
                <a:avLst/>
              </a:prstGeom>
            </p:spPr>
          </p:pic>
          <p:pic>
            <p:nvPicPr>
              <p:cNvPr id="1351" name="Picture 1350">
                <a:extLst>
                  <a:ext uri="{FF2B5EF4-FFF2-40B4-BE49-F238E27FC236}">
                    <a16:creationId xmlns:a16="http://schemas.microsoft.com/office/drawing/2014/main" id="{DACFB2E0-37DA-7AA0-B807-07EB561A67E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283789" y="3678857"/>
                <a:ext cx="200239" cy="300593"/>
              </a:xfrm>
              <a:prstGeom prst="rect">
                <a:avLst/>
              </a:prstGeom>
            </p:spPr>
          </p:pic>
          <p:pic>
            <p:nvPicPr>
              <p:cNvPr id="1352" name="Picture 1351">
                <a:extLst>
                  <a:ext uri="{FF2B5EF4-FFF2-40B4-BE49-F238E27FC236}">
                    <a16:creationId xmlns:a16="http://schemas.microsoft.com/office/drawing/2014/main" id="{DFD7913F-6953-C627-404E-3269A12E204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494622" y="3678857"/>
                <a:ext cx="200239" cy="300593"/>
              </a:xfrm>
              <a:prstGeom prst="rect">
                <a:avLst/>
              </a:prstGeom>
            </p:spPr>
          </p:pic>
          <p:pic>
            <p:nvPicPr>
              <p:cNvPr id="1353" name="Picture 1352">
                <a:extLst>
                  <a:ext uri="{FF2B5EF4-FFF2-40B4-BE49-F238E27FC236}">
                    <a16:creationId xmlns:a16="http://schemas.microsoft.com/office/drawing/2014/main" id="{EE4DAE39-7A3E-032B-08CC-F0C6BB4AF29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705455" y="3678857"/>
                <a:ext cx="200239" cy="300593"/>
              </a:xfrm>
              <a:prstGeom prst="rect">
                <a:avLst/>
              </a:prstGeom>
            </p:spPr>
          </p:pic>
          <p:pic>
            <p:nvPicPr>
              <p:cNvPr id="1354" name="Picture 1353">
                <a:extLst>
                  <a:ext uri="{FF2B5EF4-FFF2-40B4-BE49-F238E27FC236}">
                    <a16:creationId xmlns:a16="http://schemas.microsoft.com/office/drawing/2014/main" id="{A8E16345-9EEA-38E3-3C4A-BB1AD6764B1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916288" y="3678857"/>
                <a:ext cx="200239" cy="300593"/>
              </a:xfrm>
              <a:prstGeom prst="rect">
                <a:avLst/>
              </a:prstGeom>
            </p:spPr>
          </p:pic>
          <p:pic>
            <p:nvPicPr>
              <p:cNvPr id="1355" name="Picture 1354">
                <a:extLst>
                  <a:ext uri="{FF2B5EF4-FFF2-40B4-BE49-F238E27FC236}">
                    <a16:creationId xmlns:a16="http://schemas.microsoft.com/office/drawing/2014/main" id="{B05C7B83-BCEE-46FB-8125-F1863A9BEED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127121" y="3678857"/>
                <a:ext cx="200239" cy="300593"/>
              </a:xfrm>
              <a:prstGeom prst="rect">
                <a:avLst/>
              </a:prstGeom>
            </p:spPr>
          </p:pic>
          <p:pic>
            <p:nvPicPr>
              <p:cNvPr id="1356" name="Picture 1355">
                <a:extLst>
                  <a:ext uri="{FF2B5EF4-FFF2-40B4-BE49-F238E27FC236}">
                    <a16:creationId xmlns:a16="http://schemas.microsoft.com/office/drawing/2014/main" id="{32722AF0-7F96-CDD9-8077-0D503CCCF76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8909" y="3678857"/>
                <a:ext cx="200239" cy="300593"/>
              </a:xfrm>
              <a:prstGeom prst="rect">
                <a:avLst/>
              </a:prstGeom>
            </p:spPr>
          </p:pic>
          <p:pic>
            <p:nvPicPr>
              <p:cNvPr id="1357" name="Picture 1356">
                <a:extLst>
                  <a:ext uri="{FF2B5EF4-FFF2-40B4-BE49-F238E27FC236}">
                    <a16:creationId xmlns:a16="http://schemas.microsoft.com/office/drawing/2014/main" id="{8502E000-03DE-CD53-DAD5-D132BF450A3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9742" y="3678857"/>
                <a:ext cx="200239" cy="300593"/>
              </a:xfrm>
              <a:prstGeom prst="rect">
                <a:avLst/>
              </a:prstGeom>
            </p:spPr>
          </p:pic>
          <p:pic>
            <p:nvPicPr>
              <p:cNvPr id="1358" name="Picture 1357">
                <a:extLst>
                  <a:ext uri="{FF2B5EF4-FFF2-40B4-BE49-F238E27FC236}">
                    <a16:creationId xmlns:a16="http://schemas.microsoft.com/office/drawing/2014/main" id="{CF06F43D-C253-41B6-B09C-60C9F884096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60575" y="3678857"/>
                <a:ext cx="200239" cy="300593"/>
              </a:xfrm>
              <a:prstGeom prst="rect">
                <a:avLst/>
              </a:prstGeom>
            </p:spPr>
          </p:pic>
          <p:pic>
            <p:nvPicPr>
              <p:cNvPr id="1361" name="Picture 1360">
                <a:extLst>
                  <a:ext uri="{FF2B5EF4-FFF2-40B4-BE49-F238E27FC236}">
                    <a16:creationId xmlns:a16="http://schemas.microsoft.com/office/drawing/2014/main" id="{276350E4-B046-C351-A20D-4EBDCF5A1C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1797552"/>
                <a:ext cx="200239" cy="300593"/>
              </a:xfrm>
              <a:prstGeom prst="rect">
                <a:avLst/>
              </a:prstGeom>
            </p:spPr>
          </p:pic>
          <p:pic>
            <p:nvPicPr>
              <p:cNvPr id="1363" name="Picture 1362">
                <a:extLst>
                  <a:ext uri="{FF2B5EF4-FFF2-40B4-BE49-F238E27FC236}">
                    <a16:creationId xmlns:a16="http://schemas.microsoft.com/office/drawing/2014/main" id="{CE67275C-7D23-7E82-E360-DF840AAB22D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114352"/>
                <a:ext cx="200239" cy="300593"/>
              </a:xfrm>
              <a:prstGeom prst="rect">
                <a:avLst/>
              </a:prstGeom>
            </p:spPr>
          </p:pic>
          <p:pic>
            <p:nvPicPr>
              <p:cNvPr id="1365" name="Picture 1364">
                <a:extLst>
                  <a:ext uri="{FF2B5EF4-FFF2-40B4-BE49-F238E27FC236}">
                    <a16:creationId xmlns:a16="http://schemas.microsoft.com/office/drawing/2014/main" id="{47F5528D-492A-4213-18AF-12C378D60FE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427552"/>
                <a:ext cx="200239" cy="300593"/>
              </a:xfrm>
              <a:prstGeom prst="rect">
                <a:avLst/>
              </a:prstGeom>
            </p:spPr>
          </p:pic>
          <p:pic>
            <p:nvPicPr>
              <p:cNvPr id="1367" name="Picture 1366">
                <a:extLst>
                  <a:ext uri="{FF2B5EF4-FFF2-40B4-BE49-F238E27FC236}">
                    <a16:creationId xmlns:a16="http://schemas.microsoft.com/office/drawing/2014/main" id="{4825B305-3A9D-0361-8DCF-EA228C0263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38034" y="2740752"/>
                <a:ext cx="200239" cy="300593"/>
              </a:xfrm>
              <a:prstGeom prst="rect">
                <a:avLst/>
              </a:prstGeom>
            </p:spPr>
          </p:pic>
        </p:grpSp>
      </p:grpSp>
      <p:grpSp>
        <p:nvGrpSpPr>
          <p:cNvPr id="1402" name="Group 1401">
            <a:extLst>
              <a:ext uri="{FF2B5EF4-FFF2-40B4-BE49-F238E27FC236}">
                <a16:creationId xmlns:a16="http://schemas.microsoft.com/office/drawing/2014/main" id="{1797FB16-3B5C-D837-A47D-F338D02063FF}"/>
              </a:ext>
            </a:extLst>
          </p:cNvPr>
          <p:cNvGrpSpPr/>
          <p:nvPr/>
        </p:nvGrpSpPr>
        <p:grpSpPr>
          <a:xfrm>
            <a:off x="7423865" y="3952800"/>
            <a:ext cx="3455102" cy="2242487"/>
            <a:chOff x="7423865" y="3952800"/>
            <a:chExt cx="3455102" cy="2242487"/>
          </a:xfrm>
        </p:grpSpPr>
        <p:grpSp>
          <p:nvGrpSpPr>
            <p:cNvPr id="1386" name="Group 1385">
              <a:extLst>
                <a:ext uri="{FF2B5EF4-FFF2-40B4-BE49-F238E27FC236}">
                  <a16:creationId xmlns:a16="http://schemas.microsoft.com/office/drawing/2014/main" id="{804F926C-0969-5466-47E6-0C54F1F2253B}"/>
                </a:ext>
              </a:extLst>
            </p:cNvPr>
            <p:cNvGrpSpPr/>
            <p:nvPr/>
          </p:nvGrpSpPr>
          <p:grpSpPr>
            <a:xfrm>
              <a:off x="7677816" y="3952800"/>
              <a:ext cx="3201151" cy="2242487"/>
              <a:chOff x="8755927" y="3706524"/>
              <a:chExt cx="3201151" cy="2242487"/>
            </a:xfrm>
          </p:grpSpPr>
          <p:grpSp>
            <p:nvGrpSpPr>
              <p:cNvPr id="1387" name="Group 1386">
                <a:extLst>
                  <a:ext uri="{FF2B5EF4-FFF2-40B4-BE49-F238E27FC236}">
                    <a16:creationId xmlns:a16="http://schemas.microsoft.com/office/drawing/2014/main" id="{94327811-25D9-2EDC-D07B-C885A6810729}"/>
                  </a:ext>
                </a:extLst>
              </p:cNvPr>
              <p:cNvGrpSpPr/>
              <p:nvPr/>
            </p:nvGrpSpPr>
            <p:grpSpPr>
              <a:xfrm>
                <a:off x="8755928" y="3706524"/>
                <a:ext cx="2131116" cy="1461600"/>
                <a:chOff x="8755928" y="3706524"/>
                <a:chExt cx="2131116" cy="1461600"/>
              </a:xfrm>
            </p:grpSpPr>
            <p:sp>
              <p:nvSpPr>
                <p:cNvPr id="1389" name="Rounded Rectangle 60">
                  <a:extLst>
                    <a:ext uri="{FF2B5EF4-FFF2-40B4-BE49-F238E27FC236}">
                      <a16:creationId xmlns:a16="http://schemas.microsoft.com/office/drawing/2014/main" id="{5F032C59-944D-41A3-943E-9B4EA37C5211}"/>
                    </a:ext>
                  </a:extLst>
                </p:cNvPr>
                <p:cNvSpPr/>
                <p:nvPr/>
              </p:nvSpPr>
              <p:spPr>
                <a:xfrm>
                  <a:off x="8755928" y="4228524"/>
                  <a:ext cx="2131116" cy="9396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rgbClr val="333639"/>
                    </a:solidFill>
                  </a:endParaRPr>
                </a:p>
              </p:txBody>
            </p:sp>
            <p:sp>
              <p:nvSpPr>
                <p:cNvPr id="1390" name="TextBox 1389">
                  <a:extLst>
                    <a:ext uri="{FF2B5EF4-FFF2-40B4-BE49-F238E27FC236}">
                      <a16:creationId xmlns:a16="http://schemas.microsoft.com/office/drawing/2014/main" id="{62EE331B-8DFF-2571-476B-F21E81570DD7}"/>
                    </a:ext>
                  </a:extLst>
                </p:cNvPr>
                <p:cNvSpPr txBox="1"/>
                <p:nvPr/>
              </p:nvSpPr>
              <p:spPr>
                <a:xfrm>
                  <a:off x="8755928" y="3706524"/>
                  <a:ext cx="1324402" cy="369332"/>
                </a:xfrm>
                <a:prstGeom prst="rect">
                  <a:avLst/>
                </a:prstGeom>
                <a:noFill/>
              </p:spPr>
              <p:txBody>
                <a:bodyPr wrap="none" rtlCol="0">
                  <a:spAutoFit/>
                </a:bodyPr>
                <a:lstStyle/>
                <a:p>
                  <a:r>
                    <a:rPr lang="nl-BE" b="1" dirty="0"/>
                    <a:t>Login </a:t>
                  </a:r>
                  <a:r>
                    <a:rPr lang="nl-BE" b="1" dirty="0" err="1"/>
                    <a:t>nodes</a:t>
                  </a:r>
                  <a:endParaRPr lang="nl-BE" b="1" dirty="0"/>
                </a:p>
              </p:txBody>
            </p:sp>
            <p:pic>
              <p:nvPicPr>
                <p:cNvPr id="1391" name="Picture 1390">
                  <a:extLst>
                    <a:ext uri="{FF2B5EF4-FFF2-40B4-BE49-F238E27FC236}">
                      <a16:creationId xmlns:a16="http://schemas.microsoft.com/office/drawing/2014/main" id="{9205EE80-74F3-A037-AB42-2A3192A936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950955" y="4453124"/>
                  <a:ext cx="271663" cy="407813"/>
                </a:xfrm>
                <a:prstGeom prst="rect">
                  <a:avLst/>
                </a:prstGeom>
              </p:spPr>
            </p:pic>
            <p:pic>
              <p:nvPicPr>
                <p:cNvPr id="1392" name="Picture 1391">
                  <a:extLst>
                    <a:ext uri="{FF2B5EF4-FFF2-40B4-BE49-F238E27FC236}">
                      <a16:creationId xmlns:a16="http://schemas.microsoft.com/office/drawing/2014/main" id="{964E4818-0130-DE6C-F9A7-97DFD87668B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0689" y="4464277"/>
                  <a:ext cx="271663" cy="407813"/>
                </a:xfrm>
                <a:prstGeom prst="rect">
                  <a:avLst/>
                </a:prstGeom>
              </p:spPr>
            </p:pic>
            <p:pic>
              <p:nvPicPr>
                <p:cNvPr id="1393" name="Picture 2" descr="iOS icon">
                  <a:extLst>
                    <a:ext uri="{FF2B5EF4-FFF2-40B4-BE49-F238E27FC236}">
                      <a16:creationId xmlns:a16="http://schemas.microsoft.com/office/drawing/2014/main" id="{91EBF74C-FF5F-6EFF-304F-3FD27BFB05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2288" y="449225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4" name="Picture 1393">
                  <a:extLst>
                    <a:ext uri="{FF2B5EF4-FFF2-40B4-BE49-F238E27FC236}">
                      <a16:creationId xmlns:a16="http://schemas.microsoft.com/office/drawing/2014/main" id="{FB82FE0B-88EB-10D0-3164-A630F559CB4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282772" y="4465793"/>
                  <a:ext cx="271663" cy="407813"/>
                </a:xfrm>
                <a:prstGeom prst="rect">
                  <a:avLst/>
                </a:prstGeom>
              </p:spPr>
            </p:pic>
            <p:pic>
              <p:nvPicPr>
                <p:cNvPr id="1395" name="Picture 2" descr="iOS icon">
                  <a:extLst>
                    <a:ext uri="{FF2B5EF4-FFF2-40B4-BE49-F238E27FC236}">
                      <a16:creationId xmlns:a16="http://schemas.microsoft.com/office/drawing/2014/main" id="{BC42F831-6183-1DEE-E96E-D31D87B2880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574371" y="4493768"/>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396" name="Picture 1395">
                  <a:extLst>
                    <a:ext uri="{FF2B5EF4-FFF2-40B4-BE49-F238E27FC236}">
                      <a16:creationId xmlns:a16="http://schemas.microsoft.com/office/drawing/2014/main" id="{87F580D8-E30B-0A9F-CEF7-C793F3F30CD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395822" y="4465793"/>
                  <a:ext cx="271663" cy="407813"/>
                </a:xfrm>
                <a:prstGeom prst="rect">
                  <a:avLst/>
                </a:prstGeom>
              </p:spPr>
            </p:pic>
          </p:grpSp>
          <p:sp>
            <p:nvSpPr>
              <p:cNvPr id="1388" name="TextBox 1387">
                <a:extLst>
                  <a:ext uri="{FF2B5EF4-FFF2-40B4-BE49-F238E27FC236}">
                    <a16:creationId xmlns:a16="http://schemas.microsoft.com/office/drawing/2014/main" id="{D223FC95-6F87-F032-A9FE-652B1CB19B97}"/>
                  </a:ext>
                </a:extLst>
              </p:cNvPr>
              <p:cNvSpPr txBox="1"/>
              <p:nvPr/>
            </p:nvSpPr>
            <p:spPr>
              <a:xfrm>
                <a:off x="8755927" y="5210347"/>
                <a:ext cx="3201151" cy="738664"/>
              </a:xfrm>
              <a:prstGeom prst="rect">
                <a:avLst/>
              </a:prstGeom>
              <a:noFill/>
            </p:spPr>
            <p:txBody>
              <a:bodyPr wrap="square" rtlCol="0">
                <a:spAutoFit/>
              </a:bodyPr>
              <a:lstStyle/>
              <a:p>
                <a:r>
                  <a:rPr lang="nl-BE" sz="1400" dirty="0"/>
                  <a:t>2x </a:t>
                </a:r>
                <a:r>
                  <a:rPr lang="nl-BE" sz="1400" dirty="0" err="1"/>
                  <a:t>SkyLake</a:t>
                </a:r>
                <a:r>
                  <a:rPr lang="nl-BE" sz="1400" dirty="0"/>
                  <a:t> 36c 377 </a:t>
                </a:r>
                <a:r>
                  <a:rPr lang="nl-BE" sz="1400" dirty="0" err="1"/>
                  <a:t>GiB</a:t>
                </a:r>
                <a:br>
                  <a:rPr lang="nl-BE" sz="1400" dirty="0"/>
                </a:br>
                <a:r>
                  <a:rPr lang="nl-BE" sz="1400" dirty="0"/>
                  <a:t>2x </a:t>
                </a:r>
                <a:r>
                  <a:rPr lang="nl-BE" sz="1400" dirty="0" err="1"/>
                  <a:t>SkyLake</a:t>
                </a:r>
                <a:r>
                  <a:rPr lang="nl-BE" sz="1400" dirty="0"/>
                  <a:t> 36c 377 </a:t>
                </a:r>
                <a:r>
                  <a:rPr lang="nl-BE" sz="1400" dirty="0" err="1"/>
                  <a:t>GiB</a:t>
                </a:r>
                <a:r>
                  <a:rPr lang="nl-BE" sz="1400" dirty="0"/>
                  <a:t> + P6000 24 </a:t>
                </a:r>
                <a:r>
                  <a:rPr lang="nl-BE" sz="1400" dirty="0" err="1"/>
                  <a:t>GiB</a:t>
                </a:r>
                <a:br>
                  <a:rPr lang="nl-BE" sz="1400" dirty="0"/>
                </a:br>
                <a:endParaRPr lang="nl-BE" sz="1400" dirty="0"/>
              </a:p>
            </p:txBody>
          </p:sp>
        </p:grpSp>
        <p:sp>
          <p:nvSpPr>
            <p:cNvPr id="1401" name="Rectangle: Rounded Corners 1400">
              <a:extLst>
                <a:ext uri="{FF2B5EF4-FFF2-40B4-BE49-F238E27FC236}">
                  <a16:creationId xmlns:a16="http://schemas.microsoft.com/office/drawing/2014/main" id="{BFF548E0-A1F3-A8E2-C750-6BAF590D4B69}"/>
                </a:ext>
              </a:extLst>
            </p:cNvPr>
            <p:cNvSpPr/>
            <p:nvPr/>
          </p:nvSpPr>
          <p:spPr>
            <a:xfrm>
              <a:off x="7423865" y="3952800"/>
              <a:ext cx="3455102" cy="2085153"/>
            </a:xfrm>
            <a:prstGeom prst="roundRect">
              <a:avLst>
                <a:gd name="adj" fmla="val 9967"/>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grpSp>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41F0F-CE51-2FBF-9F88-26A71709C047}"/>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BED10E6B-801E-C6A5-51BA-EEBF7CA2D626}"/>
              </a:ext>
            </a:extLst>
          </p:cNvPr>
          <p:cNvGrpSpPr/>
          <p:nvPr/>
        </p:nvGrpSpPr>
        <p:grpSpPr>
          <a:xfrm>
            <a:off x="8612783" y="1306760"/>
            <a:ext cx="2091729" cy="2426005"/>
            <a:chOff x="8057035" y="1937625"/>
            <a:chExt cx="2091729" cy="2426005"/>
          </a:xfrm>
        </p:grpSpPr>
        <p:grpSp>
          <p:nvGrpSpPr>
            <p:cNvPr id="19" name="Group 18">
              <a:extLst>
                <a:ext uri="{FF2B5EF4-FFF2-40B4-BE49-F238E27FC236}">
                  <a16:creationId xmlns:a16="http://schemas.microsoft.com/office/drawing/2014/main" id="{57B22E5B-BB63-11B3-00FE-962E570476D5}"/>
                </a:ext>
              </a:extLst>
            </p:cNvPr>
            <p:cNvGrpSpPr/>
            <p:nvPr/>
          </p:nvGrpSpPr>
          <p:grpSpPr>
            <a:xfrm>
              <a:off x="8066143" y="1937625"/>
              <a:ext cx="2082621" cy="1814936"/>
              <a:chOff x="9407721" y="1690379"/>
              <a:chExt cx="2082621" cy="1814936"/>
            </a:xfrm>
          </p:grpSpPr>
          <p:sp>
            <p:nvSpPr>
              <p:cNvPr id="440" name="TextBox 439">
                <a:extLst>
                  <a:ext uri="{FF2B5EF4-FFF2-40B4-BE49-F238E27FC236}">
                    <a16:creationId xmlns:a16="http://schemas.microsoft.com/office/drawing/2014/main" id="{95C1FE83-86D2-0FC1-23DE-E9A907973411}"/>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89A958BB-AEBE-32C3-031D-4A0DB77E7F25}"/>
                  </a:ext>
                </a:extLst>
              </p:cNvPr>
              <p:cNvSpPr/>
              <p:nvPr/>
            </p:nvSpPr>
            <p:spPr>
              <a:xfrm>
                <a:off x="9479846" y="2184430"/>
                <a:ext cx="1890000" cy="132088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23BCC26C-AB28-8434-8A89-549B478303FA}"/>
                  </a:ext>
                </a:extLst>
              </p:cNvPr>
              <p:cNvGrpSpPr/>
              <p:nvPr/>
            </p:nvGrpSpPr>
            <p:grpSpPr>
              <a:xfrm>
                <a:off x="10439924" y="2329725"/>
                <a:ext cx="416838" cy="407813"/>
                <a:chOff x="10438638" y="2342635"/>
                <a:chExt cx="416838" cy="407813"/>
              </a:xfrm>
            </p:grpSpPr>
            <p:pic>
              <p:nvPicPr>
                <p:cNvPr id="512" name="Picture 511">
                  <a:extLst>
                    <a:ext uri="{FF2B5EF4-FFF2-40B4-BE49-F238E27FC236}">
                      <a16:creationId xmlns:a16="http://schemas.microsoft.com/office/drawing/2014/main" id="{5A98DA3F-A006-7C91-0F70-677BDBAB47D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342635"/>
                  <a:ext cx="271663" cy="407813"/>
                </a:xfrm>
                <a:prstGeom prst="rect">
                  <a:avLst/>
                </a:prstGeom>
              </p:spPr>
            </p:pic>
            <p:pic>
              <p:nvPicPr>
                <p:cNvPr id="230" name="Picture 2" descr="iOS icon">
                  <a:extLst>
                    <a:ext uri="{FF2B5EF4-FFF2-40B4-BE49-F238E27FC236}">
                      <a16:creationId xmlns:a16="http://schemas.microsoft.com/office/drawing/2014/main" id="{6A988300-0C30-C238-4884-7D335B8ECB0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370610"/>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a:extLst>
                  <a:ext uri="{FF2B5EF4-FFF2-40B4-BE49-F238E27FC236}">
                    <a16:creationId xmlns:a16="http://schemas.microsoft.com/office/drawing/2014/main" id="{6396C2BD-02AC-A811-520D-55444982322E}"/>
                  </a:ext>
                </a:extLst>
              </p:cNvPr>
              <p:cNvGrpSpPr/>
              <p:nvPr/>
            </p:nvGrpSpPr>
            <p:grpSpPr>
              <a:xfrm>
                <a:off x="10004959" y="2331416"/>
                <a:ext cx="416838" cy="407813"/>
                <a:chOff x="9562877" y="3103983"/>
                <a:chExt cx="416838" cy="407813"/>
              </a:xfrm>
            </p:grpSpPr>
            <p:pic>
              <p:nvPicPr>
                <p:cNvPr id="293" name="Picture 292">
                  <a:extLst>
                    <a:ext uri="{FF2B5EF4-FFF2-40B4-BE49-F238E27FC236}">
                      <a16:creationId xmlns:a16="http://schemas.microsoft.com/office/drawing/2014/main" id="{7242232B-5D94-1C88-EA21-A8F3C7FDB3E8}"/>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103983"/>
                  <a:ext cx="271663" cy="407813"/>
                </a:xfrm>
                <a:prstGeom prst="rect">
                  <a:avLst/>
                </a:prstGeom>
              </p:spPr>
            </p:pic>
            <p:pic>
              <p:nvPicPr>
                <p:cNvPr id="294" name="Picture 2" descr="iOS icon">
                  <a:extLst>
                    <a:ext uri="{FF2B5EF4-FFF2-40B4-BE49-F238E27FC236}">
                      <a16:creationId xmlns:a16="http://schemas.microsoft.com/office/drawing/2014/main" id="{DE0739F9-EF54-5C3D-5569-DAAEA93F735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13195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a:extLst>
                  <a:ext uri="{FF2B5EF4-FFF2-40B4-BE49-F238E27FC236}">
                    <a16:creationId xmlns:a16="http://schemas.microsoft.com/office/drawing/2014/main" id="{40A0C9E3-CDB4-C15D-B1C1-E7EE1ECBA537}"/>
                  </a:ext>
                </a:extLst>
              </p:cNvPr>
              <p:cNvGrpSpPr/>
              <p:nvPr/>
            </p:nvGrpSpPr>
            <p:grpSpPr>
              <a:xfrm>
                <a:off x="10004959" y="2823871"/>
                <a:ext cx="416838" cy="407813"/>
                <a:chOff x="10004960" y="3215448"/>
                <a:chExt cx="416838" cy="407813"/>
              </a:xfrm>
            </p:grpSpPr>
            <p:pic>
              <p:nvPicPr>
                <p:cNvPr id="296" name="Picture 295">
                  <a:extLst>
                    <a:ext uri="{FF2B5EF4-FFF2-40B4-BE49-F238E27FC236}">
                      <a16:creationId xmlns:a16="http://schemas.microsoft.com/office/drawing/2014/main" id="{55BAACDC-E66C-86F0-6287-90547D07D56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297" name="Picture 2" descr="iOS icon">
                  <a:extLst>
                    <a:ext uri="{FF2B5EF4-FFF2-40B4-BE49-F238E27FC236}">
                      <a16:creationId xmlns:a16="http://schemas.microsoft.com/office/drawing/2014/main" id="{9D72C9FE-DFE2-0835-EEA9-62FB42F5D25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a:extLst>
                  <a:ext uri="{FF2B5EF4-FFF2-40B4-BE49-F238E27FC236}">
                    <a16:creationId xmlns:a16="http://schemas.microsoft.com/office/drawing/2014/main" id="{561C51A7-D7AF-52A7-30E1-D13D8E18454F}"/>
                  </a:ext>
                </a:extLst>
              </p:cNvPr>
              <p:cNvGrpSpPr/>
              <p:nvPr/>
            </p:nvGrpSpPr>
            <p:grpSpPr>
              <a:xfrm>
                <a:off x="10447042" y="2825387"/>
                <a:ext cx="416838" cy="407813"/>
                <a:chOff x="10004960" y="3215448"/>
                <a:chExt cx="416838" cy="407813"/>
              </a:xfrm>
            </p:grpSpPr>
            <p:pic>
              <p:nvPicPr>
                <p:cNvPr id="299" name="Picture 298">
                  <a:extLst>
                    <a:ext uri="{FF2B5EF4-FFF2-40B4-BE49-F238E27FC236}">
                      <a16:creationId xmlns:a16="http://schemas.microsoft.com/office/drawing/2014/main" id="{CEB22ECE-3703-73F1-BD83-E3F10E32962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04960" y="3215448"/>
                  <a:ext cx="271663" cy="407813"/>
                </a:xfrm>
                <a:prstGeom prst="rect">
                  <a:avLst/>
                </a:prstGeom>
              </p:spPr>
            </p:pic>
            <p:pic>
              <p:nvPicPr>
                <p:cNvPr id="300" name="Picture 2" descr="iOS icon">
                  <a:extLst>
                    <a:ext uri="{FF2B5EF4-FFF2-40B4-BE49-F238E27FC236}">
                      <a16:creationId xmlns:a16="http://schemas.microsoft.com/office/drawing/2014/main" id="{6443E052-11E1-37BE-8D88-9633E252A68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296559" y="3243423"/>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a:extLst>
                <a:ext uri="{FF2B5EF4-FFF2-40B4-BE49-F238E27FC236}">
                  <a16:creationId xmlns:a16="http://schemas.microsoft.com/office/drawing/2014/main" id="{519FE4AF-C548-8AAF-2D73-21A2172E32E8}"/>
                </a:ext>
              </a:extLst>
            </p:cNvPr>
            <p:cNvSpPr txBox="1"/>
            <p:nvPr/>
          </p:nvSpPr>
          <p:spPr>
            <a:xfrm>
              <a:off x="8057035" y="3840410"/>
              <a:ext cx="2082621" cy="523220"/>
            </a:xfrm>
            <a:prstGeom prst="rect">
              <a:avLst/>
            </a:prstGeom>
            <a:noFill/>
          </p:spPr>
          <p:txBody>
            <a:bodyPr wrap="square" rtlCol="0">
              <a:spAutoFit/>
            </a:bodyPr>
            <a:lstStyle/>
            <a:p>
              <a:r>
                <a:rPr lang="nl-BE" sz="1400" dirty="0"/>
                <a:t>4x </a:t>
              </a:r>
              <a:r>
                <a:rPr lang="nl-BE" sz="1400" dirty="0" err="1"/>
                <a:t>IceLake</a:t>
              </a:r>
              <a:r>
                <a:rPr lang="nl-BE" sz="1400" dirty="0"/>
                <a:t> 64c 512 </a:t>
              </a:r>
              <a:r>
                <a:rPr lang="nl-BE" sz="1400" dirty="0" err="1"/>
                <a:t>GiB</a:t>
              </a:r>
              <a:endParaRPr lang="nl-BE" sz="1400" dirty="0"/>
            </a:p>
            <a:p>
              <a:r>
                <a:rPr lang="nl-BE" sz="1400" dirty="0"/>
                <a:t>1 A100 80GB</a:t>
              </a:r>
            </a:p>
          </p:txBody>
        </p:sp>
      </p:grpSp>
      <p:sp>
        <p:nvSpPr>
          <p:cNvPr id="407" name="Slide Number Placeholder 4">
            <a:extLst>
              <a:ext uri="{FF2B5EF4-FFF2-40B4-BE49-F238E27FC236}">
                <a16:creationId xmlns:a16="http://schemas.microsoft.com/office/drawing/2014/main" id="{38B466BA-8768-96C6-D08E-010B62D785D2}"/>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21</a:t>
            </a:fld>
            <a:endParaRPr lang="nl-BE" sz="900" dirty="0">
              <a:solidFill>
                <a:schemeClr val="bg1"/>
              </a:solidFill>
            </a:endParaRPr>
          </a:p>
        </p:txBody>
      </p:sp>
      <p:sp>
        <p:nvSpPr>
          <p:cNvPr id="261" name="Rectangle 2">
            <a:extLst>
              <a:ext uri="{FF2B5EF4-FFF2-40B4-BE49-F238E27FC236}">
                <a16:creationId xmlns:a16="http://schemas.microsoft.com/office/drawing/2014/main" id="{0306B549-8CF3-0BCB-3B86-2D7532C8E5A7}"/>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GPU</a:t>
            </a:r>
          </a:p>
        </p:txBody>
      </p:sp>
      <p:grpSp>
        <p:nvGrpSpPr>
          <p:cNvPr id="30" name="Group 29">
            <a:extLst>
              <a:ext uri="{FF2B5EF4-FFF2-40B4-BE49-F238E27FC236}">
                <a16:creationId xmlns:a16="http://schemas.microsoft.com/office/drawing/2014/main" id="{525070C1-00FE-74D4-0B0E-53106AB89089}"/>
              </a:ext>
            </a:extLst>
          </p:cNvPr>
          <p:cNvGrpSpPr/>
          <p:nvPr/>
        </p:nvGrpSpPr>
        <p:grpSpPr>
          <a:xfrm>
            <a:off x="540000" y="3826760"/>
            <a:ext cx="2665398" cy="2050512"/>
            <a:chOff x="8039113" y="1931376"/>
            <a:chExt cx="2665398" cy="2050512"/>
          </a:xfrm>
        </p:grpSpPr>
        <p:sp>
          <p:nvSpPr>
            <p:cNvPr id="169" name="Rounded Rectangle 168">
              <a:extLst>
                <a:ext uri="{FF2B5EF4-FFF2-40B4-BE49-F238E27FC236}">
                  <a16:creationId xmlns:a16="http://schemas.microsoft.com/office/drawing/2014/main" id="{1081C5F1-3A4F-9A30-A75A-2A447519F7FF}"/>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a:extLst>
                <a:ext uri="{FF2B5EF4-FFF2-40B4-BE49-F238E27FC236}">
                  <a16:creationId xmlns:a16="http://schemas.microsoft.com/office/drawing/2014/main" id="{658348E4-6D70-87A1-27FE-AE5048D0867A}"/>
                </a:ext>
              </a:extLst>
            </p:cNvPr>
            <p:cNvSpPr txBox="1"/>
            <p:nvPr/>
          </p:nvSpPr>
          <p:spPr>
            <a:xfrm>
              <a:off x="8039113" y="1931376"/>
              <a:ext cx="1779654" cy="369332"/>
            </a:xfrm>
            <a:prstGeom prst="rect">
              <a:avLst/>
            </a:prstGeom>
            <a:noFill/>
          </p:spPr>
          <p:txBody>
            <a:bodyPr wrap="none" rtlCol="0">
              <a:spAutoFit/>
            </a:bodyPr>
            <a:lstStyle/>
            <a:p>
              <a:r>
                <a:rPr lang="nl-BE" b="1" dirty="0"/>
                <a:t>A100 GPU </a:t>
              </a:r>
              <a:r>
                <a:rPr lang="nl-BE" b="1" dirty="0" err="1"/>
                <a:t>nodes</a:t>
              </a:r>
              <a:endParaRPr lang="nl-BE" b="1" dirty="0"/>
            </a:p>
          </p:txBody>
        </p:sp>
        <p:sp>
          <p:nvSpPr>
            <p:cNvPr id="308" name="TextBox 307">
              <a:extLst>
                <a:ext uri="{FF2B5EF4-FFF2-40B4-BE49-F238E27FC236}">
                  <a16:creationId xmlns:a16="http://schemas.microsoft.com/office/drawing/2014/main" id="{243E7AE0-ADAC-F956-9A99-73C0863E1DAB}"/>
                </a:ext>
              </a:extLst>
            </p:cNvPr>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a:t>
              </a:r>
              <a:r>
                <a:rPr lang="nl-BE" sz="1400" dirty="0" err="1"/>
                <a:t>GiB</a:t>
              </a:r>
              <a:endParaRPr lang="nl-BE" sz="1400" dirty="0"/>
            </a:p>
            <a:p>
              <a:r>
                <a:rPr lang="nl-BE" sz="1400" dirty="0"/>
                <a:t>4 A100 SXM4 80 </a:t>
              </a:r>
              <a:r>
                <a:rPr lang="nl-BE" sz="1400" dirty="0" err="1"/>
                <a:t>GiB</a:t>
              </a:r>
              <a:endParaRPr lang="nl-BE" sz="1400" dirty="0"/>
            </a:p>
          </p:txBody>
        </p:sp>
        <p:grpSp>
          <p:nvGrpSpPr>
            <p:cNvPr id="27" name="Group 26">
              <a:extLst>
                <a:ext uri="{FF2B5EF4-FFF2-40B4-BE49-F238E27FC236}">
                  <a16:creationId xmlns:a16="http://schemas.microsoft.com/office/drawing/2014/main" id="{E013C255-B9C3-6A19-A376-088CA734199F}"/>
                </a:ext>
              </a:extLst>
            </p:cNvPr>
            <p:cNvGrpSpPr>
              <a:grpSpLocks noChangeAspect="1"/>
            </p:cNvGrpSpPr>
            <p:nvPr/>
          </p:nvGrpSpPr>
          <p:grpSpPr>
            <a:xfrm>
              <a:off x="8413303" y="2713482"/>
              <a:ext cx="1996629" cy="386708"/>
              <a:chOff x="8203827" y="2625187"/>
              <a:chExt cx="2350457" cy="455238"/>
            </a:xfrm>
          </p:grpSpPr>
          <p:grpSp>
            <p:nvGrpSpPr>
              <p:cNvPr id="25" name="Group 24">
                <a:extLst>
                  <a:ext uri="{FF2B5EF4-FFF2-40B4-BE49-F238E27FC236}">
                    <a16:creationId xmlns:a16="http://schemas.microsoft.com/office/drawing/2014/main" id="{5C907A04-5683-791A-2B42-CCF4FEE85AF6}"/>
                  </a:ext>
                </a:extLst>
              </p:cNvPr>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341C7122-ED68-A433-8AAC-F04E1BC8A4F4}"/>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8DCC9922-9DF2-A9FE-ECA7-42719376531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DBB30616-0D25-2401-04F5-B7461FC51A1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92768D38-C72F-C3AE-45C7-E8D9BC12B28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899830BB-B709-3267-6086-84F0B624A06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a:extLst>
                    <a:ext uri="{FF2B5EF4-FFF2-40B4-BE49-F238E27FC236}">
                      <a16:creationId xmlns:a16="http://schemas.microsoft.com/office/drawing/2014/main" id="{5493E27F-B97F-0C28-7813-ED6181F2B356}"/>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a:extLst>
                  <a:ext uri="{FF2B5EF4-FFF2-40B4-BE49-F238E27FC236}">
                    <a16:creationId xmlns:a16="http://schemas.microsoft.com/office/drawing/2014/main" id="{4348224A-4A04-72F1-A819-49F4B41CEEE3}"/>
                  </a:ext>
                </a:extLst>
              </p:cNvPr>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CE7E634D-6E08-8FBE-6E46-E2F32BCE3AC6}"/>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3C30018C-2A35-99A1-41B2-416817C475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02F06BCA-009B-8DCC-7637-A7084D3E87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93122E63-FDC6-E75C-ECBB-2FE27A64415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43540657-E9DA-13ED-994D-E97A62EF11E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a:extLst>
                    <a:ext uri="{FF2B5EF4-FFF2-40B4-BE49-F238E27FC236}">
                      <a16:creationId xmlns:a16="http://schemas.microsoft.com/office/drawing/2014/main" id="{58318EC9-F6DE-52D8-647B-EFD28C46793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a:extLst>
                  <a:ext uri="{FF2B5EF4-FFF2-40B4-BE49-F238E27FC236}">
                    <a16:creationId xmlns:a16="http://schemas.microsoft.com/office/drawing/2014/main" id="{56691EF9-377F-1DA4-DF57-153E631406FD}"/>
                  </a:ext>
                </a:extLst>
              </p:cNvPr>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51B923D3-40FE-E6F0-B23B-3B7AD58503DB}"/>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42E2AECB-3BE0-3154-18C8-BA515CA7E6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BBD9C0C5-E532-AD54-4E9F-F22D53AE608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D39A1FDF-8A52-10FD-DF2E-A6791E78E0C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ED772EBC-9997-D8CC-C6D7-AC207F6B697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a:extLst>
                    <a:ext uri="{FF2B5EF4-FFF2-40B4-BE49-F238E27FC236}">
                      <a16:creationId xmlns:a16="http://schemas.microsoft.com/office/drawing/2014/main" id="{17FAFAB4-FE0D-495B-7BE4-BA4F5F0A932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a:extLst>
                  <a:ext uri="{FF2B5EF4-FFF2-40B4-BE49-F238E27FC236}">
                    <a16:creationId xmlns:a16="http://schemas.microsoft.com/office/drawing/2014/main" id="{1E37D7B5-55FA-3960-6481-CA2263AE4A24}"/>
                  </a:ext>
                </a:extLst>
              </p:cNvPr>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7246039-04E8-4595-0F9E-4410ED7FCF9F}"/>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567F8B5E-C08B-8D16-8096-677EF660646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378183F9-4D1B-3275-D99C-95F92BA0352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B4F66946-09F3-DAF2-F07D-46AB3BB1E65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B6BEDAEC-4430-A241-DFA8-7836070B3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a:extLst>
                    <a:ext uri="{FF2B5EF4-FFF2-40B4-BE49-F238E27FC236}">
                      <a16:creationId xmlns:a16="http://schemas.microsoft.com/office/drawing/2014/main" id="{9A6E3C55-EAEB-73A9-59D5-0640BDABCAB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2" name="Group 1">
            <a:extLst>
              <a:ext uri="{FF2B5EF4-FFF2-40B4-BE49-F238E27FC236}">
                <a16:creationId xmlns:a16="http://schemas.microsoft.com/office/drawing/2014/main" id="{8E790003-F000-74D9-100D-D76A73671B5D}"/>
              </a:ext>
            </a:extLst>
          </p:cNvPr>
          <p:cNvGrpSpPr/>
          <p:nvPr/>
        </p:nvGrpSpPr>
        <p:grpSpPr>
          <a:xfrm>
            <a:off x="3863752" y="3826760"/>
            <a:ext cx="2665398" cy="2050512"/>
            <a:chOff x="8039113" y="1931376"/>
            <a:chExt cx="2665398" cy="2050512"/>
          </a:xfrm>
        </p:grpSpPr>
        <p:sp>
          <p:nvSpPr>
            <p:cNvPr id="3" name="Rounded Rectangle 168">
              <a:extLst>
                <a:ext uri="{FF2B5EF4-FFF2-40B4-BE49-F238E27FC236}">
                  <a16:creationId xmlns:a16="http://schemas.microsoft.com/office/drawing/2014/main" id="{F877A7D7-2D59-2CB3-34AA-9D71E9876801}"/>
                </a:ext>
              </a:extLst>
            </p:cNvPr>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FA49D30-5AA5-CDA3-4A7B-0DC0B9691C0E}"/>
                </a:ext>
              </a:extLst>
            </p:cNvPr>
            <p:cNvSpPr txBox="1"/>
            <p:nvPr/>
          </p:nvSpPr>
          <p:spPr>
            <a:xfrm>
              <a:off x="8039113" y="1931376"/>
              <a:ext cx="1786066" cy="369332"/>
            </a:xfrm>
            <a:prstGeom prst="rect">
              <a:avLst/>
            </a:prstGeom>
            <a:noFill/>
          </p:spPr>
          <p:txBody>
            <a:bodyPr wrap="none" rtlCol="0">
              <a:spAutoFit/>
            </a:bodyPr>
            <a:lstStyle/>
            <a:p>
              <a:r>
                <a:rPr lang="nl-BE" b="1" dirty="0"/>
                <a:t>H100 GPU </a:t>
              </a:r>
              <a:r>
                <a:rPr lang="nl-BE" b="1" dirty="0" err="1"/>
                <a:t>nodes</a:t>
              </a:r>
              <a:endParaRPr lang="nl-BE" b="1" dirty="0"/>
            </a:p>
          </p:txBody>
        </p:sp>
        <p:sp>
          <p:nvSpPr>
            <p:cNvPr id="5" name="TextBox 4">
              <a:extLst>
                <a:ext uri="{FF2B5EF4-FFF2-40B4-BE49-F238E27FC236}">
                  <a16:creationId xmlns:a16="http://schemas.microsoft.com/office/drawing/2014/main" id="{3EC67401-9F61-51F6-1A96-1C4C2077A0FA}"/>
                </a:ext>
              </a:extLst>
            </p:cNvPr>
            <p:cNvSpPr txBox="1"/>
            <p:nvPr/>
          </p:nvSpPr>
          <p:spPr>
            <a:xfrm>
              <a:off x="8125244" y="3458668"/>
              <a:ext cx="2579267" cy="523220"/>
            </a:xfrm>
            <a:prstGeom prst="rect">
              <a:avLst/>
            </a:prstGeom>
            <a:noFill/>
          </p:spPr>
          <p:txBody>
            <a:bodyPr wrap="square" rtlCol="0">
              <a:spAutoFit/>
            </a:bodyPr>
            <a:lstStyle/>
            <a:p>
              <a:r>
                <a:rPr lang="nl-BE" sz="1400" dirty="0"/>
                <a:t>4x AMD </a:t>
              </a:r>
              <a:r>
                <a:rPr lang="nl-BE" sz="1400" dirty="0" err="1"/>
                <a:t>Genoa</a:t>
              </a:r>
              <a:r>
                <a:rPr lang="nl-BE" sz="1400" dirty="0"/>
                <a:t> 64c 768 </a:t>
              </a:r>
              <a:r>
                <a:rPr lang="nl-BE" sz="1400" dirty="0" err="1"/>
                <a:t>GiB</a:t>
              </a:r>
              <a:endParaRPr lang="nl-BE" sz="1400" dirty="0"/>
            </a:p>
            <a:p>
              <a:r>
                <a:rPr lang="nl-BE" sz="1400" dirty="0"/>
                <a:t>4 H100 SXM5 80 </a:t>
              </a:r>
              <a:r>
                <a:rPr lang="nl-BE" sz="1400" dirty="0" err="1"/>
                <a:t>GiB</a:t>
              </a:r>
              <a:endParaRPr lang="nl-BE" sz="1400" dirty="0"/>
            </a:p>
          </p:txBody>
        </p:sp>
        <p:grpSp>
          <p:nvGrpSpPr>
            <p:cNvPr id="8" name="Group 7">
              <a:extLst>
                <a:ext uri="{FF2B5EF4-FFF2-40B4-BE49-F238E27FC236}">
                  <a16:creationId xmlns:a16="http://schemas.microsoft.com/office/drawing/2014/main" id="{7C297DE8-7E06-C85D-2C28-853A67C7E34E}"/>
                </a:ext>
              </a:extLst>
            </p:cNvPr>
            <p:cNvGrpSpPr>
              <a:grpSpLocks noChangeAspect="1"/>
            </p:cNvGrpSpPr>
            <p:nvPr/>
          </p:nvGrpSpPr>
          <p:grpSpPr>
            <a:xfrm>
              <a:off x="8413303" y="2713482"/>
              <a:ext cx="1996629" cy="386708"/>
              <a:chOff x="8203827" y="2625187"/>
              <a:chExt cx="2350457" cy="455238"/>
            </a:xfrm>
          </p:grpSpPr>
          <p:grpSp>
            <p:nvGrpSpPr>
              <p:cNvPr id="9" name="Group 8">
                <a:extLst>
                  <a:ext uri="{FF2B5EF4-FFF2-40B4-BE49-F238E27FC236}">
                    <a16:creationId xmlns:a16="http://schemas.microsoft.com/office/drawing/2014/main" id="{3578663D-F250-030C-64E0-A7F1EA959167}"/>
                  </a:ext>
                </a:extLst>
              </p:cNvPr>
              <p:cNvGrpSpPr/>
              <p:nvPr/>
            </p:nvGrpSpPr>
            <p:grpSpPr>
              <a:xfrm>
                <a:off x="8203827" y="2629031"/>
                <a:ext cx="524138" cy="451394"/>
                <a:chOff x="8203827" y="2629031"/>
                <a:chExt cx="524138" cy="451394"/>
              </a:xfrm>
            </p:grpSpPr>
            <p:grpSp>
              <p:nvGrpSpPr>
                <p:cNvPr id="43" name="Group 42">
                  <a:extLst>
                    <a:ext uri="{FF2B5EF4-FFF2-40B4-BE49-F238E27FC236}">
                      <a16:creationId xmlns:a16="http://schemas.microsoft.com/office/drawing/2014/main" id="{B3839D57-4ACE-3B54-D687-A339861044BE}"/>
                    </a:ext>
                  </a:extLst>
                </p:cNvPr>
                <p:cNvGrpSpPr/>
                <p:nvPr/>
              </p:nvGrpSpPr>
              <p:grpSpPr>
                <a:xfrm>
                  <a:off x="8229800" y="2636912"/>
                  <a:ext cx="478570" cy="443513"/>
                  <a:chOff x="6442484" y="1620572"/>
                  <a:chExt cx="271664" cy="260710"/>
                </a:xfrm>
              </p:grpSpPr>
              <p:pic>
                <p:nvPicPr>
                  <p:cNvPr id="45" name="Picture 2" descr="iOS icon">
                    <a:extLst>
                      <a:ext uri="{FF2B5EF4-FFF2-40B4-BE49-F238E27FC236}">
                        <a16:creationId xmlns:a16="http://schemas.microsoft.com/office/drawing/2014/main" id="{0F7FFA40-C638-5E78-313B-A54502137B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OS icon">
                    <a:extLst>
                      <a:ext uri="{FF2B5EF4-FFF2-40B4-BE49-F238E27FC236}">
                        <a16:creationId xmlns:a16="http://schemas.microsoft.com/office/drawing/2014/main" id="{AC0ECEF4-75E2-1BAD-4E87-ADAD99A1C5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2" descr="iOS icon">
                    <a:extLst>
                      <a:ext uri="{FF2B5EF4-FFF2-40B4-BE49-F238E27FC236}">
                        <a16:creationId xmlns:a16="http://schemas.microsoft.com/office/drawing/2014/main" id="{8CD2A9A6-26BA-73B9-2938-CD7D395B9B4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iOS icon">
                    <a:extLst>
                      <a:ext uri="{FF2B5EF4-FFF2-40B4-BE49-F238E27FC236}">
                        <a16:creationId xmlns:a16="http://schemas.microsoft.com/office/drawing/2014/main" id="{EA540579-AC6D-8628-D57A-CEA7497798C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4" name="Rectangle 43">
                  <a:extLst>
                    <a:ext uri="{FF2B5EF4-FFF2-40B4-BE49-F238E27FC236}">
                      <a16:creationId xmlns:a16="http://schemas.microsoft.com/office/drawing/2014/main" id="{9A877D71-F9E4-A03A-E543-1FC329CC9AD8}"/>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0" name="Group 9">
                <a:extLst>
                  <a:ext uri="{FF2B5EF4-FFF2-40B4-BE49-F238E27FC236}">
                    <a16:creationId xmlns:a16="http://schemas.microsoft.com/office/drawing/2014/main" id="{5E5AAAE2-58F4-16AD-7C3B-9D1E694F7D8D}"/>
                  </a:ext>
                </a:extLst>
              </p:cNvPr>
              <p:cNvGrpSpPr/>
              <p:nvPr/>
            </p:nvGrpSpPr>
            <p:grpSpPr>
              <a:xfrm>
                <a:off x="8812600" y="2629031"/>
                <a:ext cx="524138" cy="451394"/>
                <a:chOff x="8203827" y="2629031"/>
                <a:chExt cx="524138" cy="451394"/>
              </a:xfrm>
            </p:grpSpPr>
            <p:grpSp>
              <p:nvGrpSpPr>
                <p:cNvPr id="37" name="Group 36">
                  <a:extLst>
                    <a:ext uri="{FF2B5EF4-FFF2-40B4-BE49-F238E27FC236}">
                      <a16:creationId xmlns:a16="http://schemas.microsoft.com/office/drawing/2014/main" id="{9CF0EEC8-7310-D03D-9C39-A5F79FF62926}"/>
                    </a:ext>
                  </a:extLst>
                </p:cNvPr>
                <p:cNvGrpSpPr/>
                <p:nvPr/>
              </p:nvGrpSpPr>
              <p:grpSpPr>
                <a:xfrm>
                  <a:off x="8229800" y="2636912"/>
                  <a:ext cx="478570" cy="443513"/>
                  <a:chOff x="6442484" y="1620572"/>
                  <a:chExt cx="271664" cy="260710"/>
                </a:xfrm>
              </p:grpSpPr>
              <p:pic>
                <p:nvPicPr>
                  <p:cNvPr id="39" name="Picture 2" descr="iOS icon">
                    <a:extLst>
                      <a:ext uri="{FF2B5EF4-FFF2-40B4-BE49-F238E27FC236}">
                        <a16:creationId xmlns:a16="http://schemas.microsoft.com/office/drawing/2014/main" id="{BB1E464B-1B11-6F3F-A794-C7F385E3F10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OS icon">
                    <a:extLst>
                      <a:ext uri="{FF2B5EF4-FFF2-40B4-BE49-F238E27FC236}">
                        <a16:creationId xmlns:a16="http://schemas.microsoft.com/office/drawing/2014/main" id="{BCA143EF-D366-3EA7-63E5-75A8647DF99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OS icon">
                    <a:extLst>
                      <a:ext uri="{FF2B5EF4-FFF2-40B4-BE49-F238E27FC236}">
                        <a16:creationId xmlns:a16="http://schemas.microsoft.com/office/drawing/2014/main" id="{D2854718-6004-3E40-1DB6-8FB21183773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OS icon">
                    <a:extLst>
                      <a:ext uri="{FF2B5EF4-FFF2-40B4-BE49-F238E27FC236}">
                        <a16:creationId xmlns:a16="http://schemas.microsoft.com/office/drawing/2014/main" id="{E4C0A501-A8FD-26CF-292C-FCE297007C2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ectangle 37">
                  <a:extLst>
                    <a:ext uri="{FF2B5EF4-FFF2-40B4-BE49-F238E27FC236}">
                      <a16:creationId xmlns:a16="http://schemas.microsoft.com/office/drawing/2014/main" id="{F2EEBF5F-FB71-8FAE-B473-EF049BC142C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AE485BBD-FCBC-3FC6-8DC8-EB641AC72592}"/>
                  </a:ext>
                </a:extLst>
              </p:cNvPr>
              <p:cNvGrpSpPr/>
              <p:nvPr/>
            </p:nvGrpSpPr>
            <p:grpSpPr>
              <a:xfrm>
                <a:off x="9421373" y="2625187"/>
                <a:ext cx="524138" cy="451394"/>
                <a:chOff x="8203827" y="2629031"/>
                <a:chExt cx="524138" cy="451394"/>
              </a:xfrm>
            </p:grpSpPr>
            <p:grpSp>
              <p:nvGrpSpPr>
                <p:cNvPr id="31" name="Group 30">
                  <a:extLst>
                    <a:ext uri="{FF2B5EF4-FFF2-40B4-BE49-F238E27FC236}">
                      <a16:creationId xmlns:a16="http://schemas.microsoft.com/office/drawing/2014/main" id="{42D99827-6050-C469-5FE0-85CB5DB1C549}"/>
                    </a:ext>
                  </a:extLst>
                </p:cNvPr>
                <p:cNvGrpSpPr/>
                <p:nvPr/>
              </p:nvGrpSpPr>
              <p:grpSpPr>
                <a:xfrm>
                  <a:off x="8229800" y="2636912"/>
                  <a:ext cx="478570" cy="443513"/>
                  <a:chOff x="6442484" y="1620572"/>
                  <a:chExt cx="271664" cy="260710"/>
                </a:xfrm>
              </p:grpSpPr>
              <p:pic>
                <p:nvPicPr>
                  <p:cNvPr id="33" name="Picture 2" descr="iOS icon">
                    <a:extLst>
                      <a:ext uri="{FF2B5EF4-FFF2-40B4-BE49-F238E27FC236}">
                        <a16:creationId xmlns:a16="http://schemas.microsoft.com/office/drawing/2014/main" id="{60205B65-1929-3F70-1F55-DC15FE1491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iOS icon">
                    <a:extLst>
                      <a:ext uri="{FF2B5EF4-FFF2-40B4-BE49-F238E27FC236}">
                        <a16:creationId xmlns:a16="http://schemas.microsoft.com/office/drawing/2014/main" id="{54226BE7-F6D5-C4BD-214E-48DD84DC746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 descr="iOS icon">
                    <a:extLst>
                      <a:ext uri="{FF2B5EF4-FFF2-40B4-BE49-F238E27FC236}">
                        <a16:creationId xmlns:a16="http://schemas.microsoft.com/office/drawing/2014/main" id="{BFD05019-0A8B-1892-BECA-6C60496C406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iOS icon">
                    <a:extLst>
                      <a:ext uri="{FF2B5EF4-FFF2-40B4-BE49-F238E27FC236}">
                        <a16:creationId xmlns:a16="http://schemas.microsoft.com/office/drawing/2014/main" id="{BE3E3C00-9575-CDE5-24C8-DA47D28421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2" name="Rectangle 31">
                  <a:extLst>
                    <a:ext uri="{FF2B5EF4-FFF2-40B4-BE49-F238E27FC236}">
                      <a16:creationId xmlns:a16="http://schemas.microsoft.com/office/drawing/2014/main" id="{DD372432-3D64-98A5-1C73-A223F597F3D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3" name="Group 12">
                <a:extLst>
                  <a:ext uri="{FF2B5EF4-FFF2-40B4-BE49-F238E27FC236}">
                    <a16:creationId xmlns:a16="http://schemas.microsoft.com/office/drawing/2014/main" id="{854955A3-A5D9-9DF4-B4DC-0BE6362550EF}"/>
                  </a:ext>
                </a:extLst>
              </p:cNvPr>
              <p:cNvGrpSpPr/>
              <p:nvPr/>
            </p:nvGrpSpPr>
            <p:grpSpPr>
              <a:xfrm>
                <a:off x="10030146" y="2625187"/>
                <a:ext cx="524138" cy="451394"/>
                <a:chOff x="8203827" y="2629031"/>
                <a:chExt cx="524138" cy="451394"/>
              </a:xfrm>
            </p:grpSpPr>
            <p:grpSp>
              <p:nvGrpSpPr>
                <p:cNvPr id="14" name="Group 13">
                  <a:extLst>
                    <a:ext uri="{FF2B5EF4-FFF2-40B4-BE49-F238E27FC236}">
                      <a16:creationId xmlns:a16="http://schemas.microsoft.com/office/drawing/2014/main" id="{AB427B23-0465-AB9D-3EF2-591168A4BCBD}"/>
                    </a:ext>
                  </a:extLst>
                </p:cNvPr>
                <p:cNvGrpSpPr/>
                <p:nvPr/>
              </p:nvGrpSpPr>
              <p:grpSpPr>
                <a:xfrm>
                  <a:off x="8229800" y="2636912"/>
                  <a:ext cx="478570" cy="443513"/>
                  <a:chOff x="6442484" y="1620572"/>
                  <a:chExt cx="271664" cy="260710"/>
                </a:xfrm>
              </p:grpSpPr>
              <p:pic>
                <p:nvPicPr>
                  <p:cNvPr id="20" name="Picture 2" descr="iOS icon">
                    <a:extLst>
                      <a:ext uri="{FF2B5EF4-FFF2-40B4-BE49-F238E27FC236}">
                        <a16:creationId xmlns:a16="http://schemas.microsoft.com/office/drawing/2014/main" id="{18BDCC96-066E-5549-2FF7-E7768165BBE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iOS icon">
                    <a:extLst>
                      <a:ext uri="{FF2B5EF4-FFF2-40B4-BE49-F238E27FC236}">
                        <a16:creationId xmlns:a16="http://schemas.microsoft.com/office/drawing/2014/main" id="{5C0C2466-5821-EFBD-4495-4BF13C0784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iOS icon">
                    <a:extLst>
                      <a:ext uri="{FF2B5EF4-FFF2-40B4-BE49-F238E27FC236}">
                        <a16:creationId xmlns:a16="http://schemas.microsoft.com/office/drawing/2014/main" id="{EB6FA8B1-4670-CAF4-8336-E13AD4762F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 descr="iOS icon">
                    <a:extLst>
                      <a:ext uri="{FF2B5EF4-FFF2-40B4-BE49-F238E27FC236}">
                        <a16:creationId xmlns:a16="http://schemas.microsoft.com/office/drawing/2014/main" id="{A2C64C56-7729-87CC-2BF3-8481211325C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7" name="Rectangle 16">
                  <a:extLst>
                    <a:ext uri="{FF2B5EF4-FFF2-40B4-BE49-F238E27FC236}">
                      <a16:creationId xmlns:a16="http://schemas.microsoft.com/office/drawing/2014/main" id="{3FFF75BD-68A1-0556-CB34-04B88DCB15B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nvGrpSpPr>
          <p:cNvPr id="442" name="Group 441">
            <a:extLst>
              <a:ext uri="{FF2B5EF4-FFF2-40B4-BE49-F238E27FC236}">
                <a16:creationId xmlns:a16="http://schemas.microsoft.com/office/drawing/2014/main" id="{34D50271-739B-FDEF-8249-E2ABEDA55D17}"/>
              </a:ext>
            </a:extLst>
          </p:cNvPr>
          <p:cNvGrpSpPr/>
          <p:nvPr/>
        </p:nvGrpSpPr>
        <p:grpSpPr>
          <a:xfrm>
            <a:off x="4926118" y="1306760"/>
            <a:ext cx="2579267" cy="2431220"/>
            <a:chOff x="5024751" y="3600000"/>
            <a:chExt cx="2579267" cy="2431220"/>
          </a:xfrm>
        </p:grpSpPr>
        <p:sp>
          <p:nvSpPr>
            <p:cNvPr id="186" name="TextBox 185">
              <a:extLst>
                <a:ext uri="{FF2B5EF4-FFF2-40B4-BE49-F238E27FC236}">
                  <a16:creationId xmlns:a16="http://schemas.microsoft.com/office/drawing/2014/main" id="{5F0BD14E-A035-016D-C03F-6E91C6D44CDB}"/>
                </a:ext>
              </a:extLst>
            </p:cNvPr>
            <p:cNvSpPr txBox="1"/>
            <p:nvPr/>
          </p:nvSpPr>
          <p:spPr>
            <a:xfrm>
              <a:off x="5024751" y="3600000"/>
              <a:ext cx="1776448" cy="369332"/>
            </a:xfrm>
            <a:prstGeom prst="rect">
              <a:avLst/>
            </a:prstGeom>
            <a:noFill/>
          </p:spPr>
          <p:txBody>
            <a:bodyPr wrap="none" rtlCol="0">
              <a:spAutoFit/>
            </a:bodyPr>
            <a:lstStyle/>
            <a:p>
              <a:r>
                <a:rPr lang="nl-BE" b="1" dirty="0"/>
                <a:t>V100 GPU </a:t>
              </a:r>
              <a:r>
                <a:rPr lang="nl-BE" b="1" dirty="0" err="1"/>
                <a:t>nodes</a:t>
              </a:r>
              <a:endParaRPr lang="nl-BE" b="1" dirty="0"/>
            </a:p>
          </p:txBody>
        </p:sp>
        <p:sp>
          <p:nvSpPr>
            <p:cNvPr id="191" name="TextBox 190">
              <a:extLst>
                <a:ext uri="{FF2B5EF4-FFF2-40B4-BE49-F238E27FC236}">
                  <a16:creationId xmlns:a16="http://schemas.microsoft.com/office/drawing/2014/main" id="{760F36AA-99DB-AB5A-ABE5-7BED57B3D996}"/>
                </a:ext>
              </a:extLst>
            </p:cNvPr>
            <p:cNvSpPr txBox="1"/>
            <p:nvPr/>
          </p:nvSpPr>
          <p:spPr>
            <a:xfrm>
              <a:off x="5024751" y="5508000"/>
              <a:ext cx="2579267" cy="523220"/>
            </a:xfrm>
            <a:prstGeom prst="rect">
              <a:avLst/>
            </a:prstGeom>
            <a:noFill/>
          </p:spPr>
          <p:txBody>
            <a:bodyPr wrap="square" rtlCol="0">
              <a:spAutoFit/>
            </a:bodyPr>
            <a:lstStyle/>
            <a:p>
              <a:r>
                <a:rPr lang="nl-BE" sz="1400" dirty="0"/>
                <a:t>2x </a:t>
              </a:r>
              <a:r>
                <a:rPr lang="nl-BE" sz="1400" dirty="0" err="1"/>
                <a:t>CascadeLake</a:t>
              </a:r>
              <a:r>
                <a:rPr lang="nl-BE" sz="1400" dirty="0"/>
                <a:t> 36c 256 </a:t>
              </a:r>
              <a:r>
                <a:rPr lang="nl-BE" sz="1400" dirty="0" err="1"/>
                <a:t>GiB</a:t>
              </a:r>
              <a:endParaRPr lang="nl-BE" sz="1400" dirty="0"/>
            </a:p>
            <a:p>
              <a:r>
                <a:rPr lang="nl-BE" sz="1400" dirty="0"/>
                <a:t>8 V100 SXM2 32 </a:t>
              </a:r>
              <a:r>
                <a:rPr lang="nl-BE" sz="1400" dirty="0" err="1"/>
                <a:t>GiB</a:t>
              </a:r>
              <a:endParaRPr lang="nl-BE" sz="1400" dirty="0"/>
            </a:p>
          </p:txBody>
        </p:sp>
        <p:grpSp>
          <p:nvGrpSpPr>
            <p:cNvPr id="441" name="Group 440">
              <a:extLst>
                <a:ext uri="{FF2B5EF4-FFF2-40B4-BE49-F238E27FC236}">
                  <a16:creationId xmlns:a16="http://schemas.microsoft.com/office/drawing/2014/main" id="{AD4FAA8A-C02A-DFF8-A00F-E0BFD7FEA275}"/>
                </a:ext>
              </a:extLst>
            </p:cNvPr>
            <p:cNvGrpSpPr/>
            <p:nvPr/>
          </p:nvGrpSpPr>
          <p:grpSpPr>
            <a:xfrm>
              <a:off x="5085656" y="4089600"/>
              <a:ext cx="1546909" cy="1324800"/>
              <a:chOff x="5085656" y="4089600"/>
              <a:chExt cx="1546909" cy="1301280"/>
            </a:xfrm>
          </p:grpSpPr>
          <p:sp>
            <p:nvSpPr>
              <p:cNvPr id="1025" name="Rounded Rectangle 168">
                <a:extLst>
                  <a:ext uri="{FF2B5EF4-FFF2-40B4-BE49-F238E27FC236}">
                    <a16:creationId xmlns:a16="http://schemas.microsoft.com/office/drawing/2014/main" id="{120BFBE3-5C72-24AE-FE60-416022724EB5}"/>
                  </a:ext>
                </a:extLst>
              </p:cNvPr>
              <p:cNvSpPr/>
              <p:nvPr/>
            </p:nvSpPr>
            <p:spPr>
              <a:xfrm>
                <a:off x="5085656" y="4089600"/>
                <a:ext cx="1546909" cy="1301280"/>
              </a:xfrm>
              <a:prstGeom prst="roundRect">
                <a:avLst>
                  <a:gd name="adj" fmla="val 1223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89" name="Group 288">
                <a:extLst>
                  <a:ext uri="{FF2B5EF4-FFF2-40B4-BE49-F238E27FC236}">
                    <a16:creationId xmlns:a16="http://schemas.microsoft.com/office/drawing/2014/main" id="{9A4F5802-ED54-08A6-13CD-DEF7BAE55EFF}"/>
                  </a:ext>
                </a:extLst>
              </p:cNvPr>
              <p:cNvGrpSpPr/>
              <p:nvPr/>
            </p:nvGrpSpPr>
            <p:grpSpPr>
              <a:xfrm>
                <a:off x="5324677" y="4323435"/>
                <a:ext cx="445236" cy="864096"/>
                <a:chOff x="3859669" y="2564905"/>
                <a:chExt cx="445236" cy="864096"/>
              </a:xfrm>
            </p:grpSpPr>
            <p:pic>
              <p:nvPicPr>
                <p:cNvPr id="1042" name="Picture 2" descr="iOS icon">
                  <a:extLst>
                    <a:ext uri="{FF2B5EF4-FFF2-40B4-BE49-F238E27FC236}">
                      <a16:creationId xmlns:a16="http://schemas.microsoft.com/office/drawing/2014/main" id="{FBC4311D-344D-3DAC-C2FF-E0CDB7D18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3" name="Picture 2" descr="iOS icon">
                  <a:extLst>
                    <a:ext uri="{FF2B5EF4-FFF2-40B4-BE49-F238E27FC236}">
                      <a16:creationId xmlns:a16="http://schemas.microsoft.com/office/drawing/2014/main" id="{49380304-F378-E220-1790-240CCA6CF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 descr="iOS icon">
                  <a:extLst>
                    <a:ext uri="{FF2B5EF4-FFF2-40B4-BE49-F238E27FC236}">
                      <a16:creationId xmlns:a16="http://schemas.microsoft.com/office/drawing/2014/main" id="{903B9212-9F8D-84F5-23F6-829F7162DE7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1045" name="Picture 2" descr="iOS icon">
                  <a:extLst>
                    <a:ext uri="{FF2B5EF4-FFF2-40B4-BE49-F238E27FC236}">
                      <a16:creationId xmlns:a16="http://schemas.microsoft.com/office/drawing/2014/main" id="{65AD240F-88FD-0187-D3D6-DE8A1330D7E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1041" name="Rectangle 1040">
                  <a:extLst>
                    <a:ext uri="{FF2B5EF4-FFF2-40B4-BE49-F238E27FC236}">
                      <a16:creationId xmlns:a16="http://schemas.microsoft.com/office/drawing/2014/main" id="{7D646DD5-6173-A976-ED40-4B98E5A42B71}"/>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85" name="Picture 2" descr="iOS icon">
                  <a:extLst>
                    <a:ext uri="{FF2B5EF4-FFF2-40B4-BE49-F238E27FC236}">
                      <a16:creationId xmlns:a16="http://schemas.microsoft.com/office/drawing/2014/main" id="{E38B0D54-9FEB-B028-354D-0015AA2623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6" name="Picture 2" descr="iOS icon">
                  <a:extLst>
                    <a:ext uri="{FF2B5EF4-FFF2-40B4-BE49-F238E27FC236}">
                      <a16:creationId xmlns:a16="http://schemas.microsoft.com/office/drawing/2014/main" id="{EEDD1839-10B4-FF2D-24D5-391F9CF46C7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7" name="Picture 2" descr="iOS icon">
                  <a:extLst>
                    <a:ext uri="{FF2B5EF4-FFF2-40B4-BE49-F238E27FC236}">
                      <a16:creationId xmlns:a16="http://schemas.microsoft.com/office/drawing/2014/main" id="{71010BE6-42FB-1684-DE57-3A8D044113F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288" name="Picture 2" descr="iOS icon">
                  <a:extLst>
                    <a:ext uri="{FF2B5EF4-FFF2-40B4-BE49-F238E27FC236}">
                      <a16:creationId xmlns:a16="http://schemas.microsoft.com/office/drawing/2014/main" id="{1F754035-7C20-AEBC-8911-8AEA52F4F84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0" name="Group 289">
                <a:extLst>
                  <a:ext uri="{FF2B5EF4-FFF2-40B4-BE49-F238E27FC236}">
                    <a16:creationId xmlns:a16="http://schemas.microsoft.com/office/drawing/2014/main" id="{6E6628D8-6000-99C0-8107-04F61BB54989}"/>
                  </a:ext>
                </a:extLst>
              </p:cNvPr>
              <p:cNvGrpSpPr/>
              <p:nvPr/>
            </p:nvGrpSpPr>
            <p:grpSpPr>
              <a:xfrm>
                <a:off x="5956683" y="4323435"/>
                <a:ext cx="445236" cy="864096"/>
                <a:chOff x="3859669" y="2564905"/>
                <a:chExt cx="445236" cy="864096"/>
              </a:xfrm>
            </p:grpSpPr>
            <p:pic>
              <p:nvPicPr>
                <p:cNvPr id="291" name="Picture 2" descr="iOS icon">
                  <a:extLst>
                    <a:ext uri="{FF2B5EF4-FFF2-40B4-BE49-F238E27FC236}">
                      <a16:creationId xmlns:a16="http://schemas.microsoft.com/office/drawing/2014/main" id="{90EF85AA-1FA1-7CC3-DE81-3CE3710A2E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3024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4" name="Picture 2" descr="iOS icon">
                  <a:extLst>
                    <a:ext uri="{FF2B5EF4-FFF2-40B4-BE49-F238E27FC236}">
                      <a16:creationId xmlns:a16="http://schemas.microsoft.com/office/drawing/2014/main" id="{657197AC-90F1-29D2-637C-9FE3C63ED5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09" name="Picture 2" descr="iOS icon">
                  <a:extLst>
                    <a:ext uri="{FF2B5EF4-FFF2-40B4-BE49-F238E27FC236}">
                      <a16:creationId xmlns:a16="http://schemas.microsoft.com/office/drawing/2014/main" id="{AFD23E6C-DF25-7309-8AF0-5C29EE21B10D}"/>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3240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0" name="Picture 2" descr="iOS icon">
                  <a:extLst>
                    <a:ext uri="{FF2B5EF4-FFF2-40B4-BE49-F238E27FC236}">
                      <a16:creationId xmlns:a16="http://schemas.microsoft.com/office/drawing/2014/main" id="{45F43242-1385-8584-ECD5-01A93F3ADC6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3024000"/>
                  <a:ext cx="187412" cy="180981"/>
                </a:xfrm>
                <a:prstGeom prst="rect">
                  <a:avLst/>
                </a:prstGeom>
                <a:noFill/>
                <a:extLst>
                  <a:ext uri="{909E8E84-426E-40DD-AFC4-6F175D3DCCD1}">
                    <a14:hiddenFill xmlns:a14="http://schemas.microsoft.com/office/drawing/2010/main">
                      <a:solidFill>
                        <a:srgbClr val="FFFFFF"/>
                      </a:solidFill>
                    </a14:hiddenFill>
                  </a:ext>
                </a:extLst>
              </p:spPr>
            </p:pic>
            <p:sp>
              <p:nvSpPr>
                <p:cNvPr id="311" name="Rectangle 310">
                  <a:extLst>
                    <a:ext uri="{FF2B5EF4-FFF2-40B4-BE49-F238E27FC236}">
                      <a16:creationId xmlns:a16="http://schemas.microsoft.com/office/drawing/2014/main" id="{420A383D-E825-C010-4671-C110AF9D0AE4}"/>
                    </a:ext>
                  </a:extLst>
                </p:cNvPr>
                <p:cNvSpPr/>
                <p:nvPr/>
              </p:nvSpPr>
              <p:spPr>
                <a:xfrm>
                  <a:off x="3859669" y="2564905"/>
                  <a:ext cx="445236" cy="864096"/>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12" name="Picture 2" descr="iOS icon">
                  <a:extLst>
                    <a:ext uri="{FF2B5EF4-FFF2-40B4-BE49-F238E27FC236}">
                      <a16:creationId xmlns:a16="http://schemas.microsoft.com/office/drawing/2014/main" id="{FF9D8FCC-379B-616E-3123-E760065CA06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3" y="2592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3" name="Picture 2" descr="iOS icon">
                  <a:extLst>
                    <a:ext uri="{FF2B5EF4-FFF2-40B4-BE49-F238E27FC236}">
                      <a16:creationId xmlns:a16="http://schemas.microsoft.com/office/drawing/2014/main" id="{7AA2E55B-5AA3-7887-D569-2EBDCC75BFF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8"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4" name="Picture 2" descr="iOS icon">
                  <a:extLst>
                    <a:ext uri="{FF2B5EF4-FFF2-40B4-BE49-F238E27FC236}">
                      <a16:creationId xmlns:a16="http://schemas.microsoft.com/office/drawing/2014/main" id="{3586697B-A1FB-86FB-DD16-7CB06872ACF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3881732" y="2808000"/>
                  <a:ext cx="187412" cy="180981"/>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2" descr="iOS icon">
                  <a:extLst>
                    <a:ext uri="{FF2B5EF4-FFF2-40B4-BE49-F238E27FC236}">
                      <a16:creationId xmlns:a16="http://schemas.microsoft.com/office/drawing/2014/main" id="{7E7899E5-F3B7-1C97-9DE1-5D3BDB776FA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100846" y="2592000"/>
                  <a:ext cx="187412" cy="180981"/>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438" name="Group 437">
            <a:extLst>
              <a:ext uri="{FF2B5EF4-FFF2-40B4-BE49-F238E27FC236}">
                <a16:creationId xmlns:a16="http://schemas.microsoft.com/office/drawing/2014/main" id="{C2EA602B-2007-BCC0-FF22-E631EA6F48AF}"/>
              </a:ext>
            </a:extLst>
          </p:cNvPr>
          <p:cNvGrpSpPr/>
          <p:nvPr/>
        </p:nvGrpSpPr>
        <p:grpSpPr>
          <a:xfrm>
            <a:off x="540000" y="1306760"/>
            <a:ext cx="4114578" cy="2429785"/>
            <a:chOff x="644913" y="3573922"/>
            <a:chExt cx="4114578" cy="2429785"/>
          </a:xfrm>
        </p:grpSpPr>
        <p:sp>
          <p:nvSpPr>
            <p:cNvPr id="449" name="TextBox 448">
              <a:extLst>
                <a:ext uri="{FF2B5EF4-FFF2-40B4-BE49-F238E27FC236}">
                  <a16:creationId xmlns:a16="http://schemas.microsoft.com/office/drawing/2014/main" id="{45DA7FDB-E748-7833-382B-11945567B9E0}"/>
                </a:ext>
              </a:extLst>
            </p:cNvPr>
            <p:cNvSpPr txBox="1"/>
            <p:nvPr/>
          </p:nvSpPr>
          <p:spPr>
            <a:xfrm>
              <a:off x="644913" y="3573922"/>
              <a:ext cx="1763624" cy="369332"/>
            </a:xfrm>
            <a:prstGeom prst="rect">
              <a:avLst/>
            </a:prstGeom>
            <a:noFill/>
          </p:spPr>
          <p:txBody>
            <a:bodyPr wrap="none" rtlCol="0">
              <a:spAutoFit/>
            </a:bodyPr>
            <a:lstStyle/>
            <a:p>
              <a:r>
                <a:rPr lang="nl-BE" b="1" dirty="0"/>
                <a:t>P100 GPU </a:t>
              </a:r>
              <a:r>
                <a:rPr lang="nl-BE" b="1" dirty="0" err="1"/>
                <a:t>nodes</a:t>
              </a:r>
              <a:endParaRPr lang="nl-BE" b="1" dirty="0"/>
            </a:p>
          </p:txBody>
        </p:sp>
        <p:sp>
          <p:nvSpPr>
            <p:cNvPr id="450" name="TextBox 449">
              <a:extLst>
                <a:ext uri="{FF2B5EF4-FFF2-40B4-BE49-F238E27FC236}">
                  <a16:creationId xmlns:a16="http://schemas.microsoft.com/office/drawing/2014/main" id="{FC7FC945-EE62-7DAF-6A75-8B3F7B3B5D64}"/>
                </a:ext>
              </a:extLst>
            </p:cNvPr>
            <p:cNvSpPr txBox="1"/>
            <p:nvPr/>
          </p:nvSpPr>
          <p:spPr>
            <a:xfrm>
              <a:off x="687385" y="5480487"/>
              <a:ext cx="2579267" cy="523220"/>
            </a:xfrm>
            <a:prstGeom prst="rect">
              <a:avLst/>
            </a:prstGeom>
            <a:noFill/>
          </p:spPr>
          <p:txBody>
            <a:bodyPr wrap="square" rtlCol="0">
              <a:spAutoFit/>
            </a:bodyPr>
            <a:lstStyle/>
            <a:p>
              <a:r>
                <a:rPr lang="nl-BE" sz="1400" dirty="0"/>
                <a:t>14x </a:t>
              </a:r>
              <a:r>
                <a:rPr lang="nl-BE" sz="1400" dirty="0" err="1"/>
                <a:t>SkyLake</a:t>
              </a:r>
              <a:r>
                <a:rPr lang="nl-BE" sz="1400" dirty="0"/>
                <a:t> 36c 256 </a:t>
              </a:r>
              <a:r>
                <a:rPr lang="nl-BE" sz="1400" dirty="0" err="1"/>
                <a:t>GiB</a:t>
              </a:r>
              <a:endParaRPr lang="nl-BE" sz="1400" dirty="0"/>
            </a:p>
            <a:p>
              <a:r>
                <a:rPr lang="nl-BE" sz="1400" dirty="0"/>
                <a:t>4 P100 SXM2 16 </a:t>
              </a:r>
              <a:r>
                <a:rPr lang="nl-BE" sz="1400" dirty="0" err="1"/>
                <a:t>GiB</a:t>
              </a:r>
              <a:endParaRPr lang="nl-BE" sz="1400" dirty="0"/>
            </a:p>
          </p:txBody>
        </p:sp>
        <p:sp>
          <p:nvSpPr>
            <p:cNvPr id="448" name="Rounded Rectangle 168">
              <a:extLst>
                <a:ext uri="{FF2B5EF4-FFF2-40B4-BE49-F238E27FC236}">
                  <a16:creationId xmlns:a16="http://schemas.microsoft.com/office/drawing/2014/main" id="{1F4F2CEB-5478-C9B7-06A1-C9316D4B1643}"/>
                </a:ext>
              </a:extLst>
            </p:cNvPr>
            <p:cNvSpPr/>
            <p:nvPr/>
          </p:nvSpPr>
          <p:spPr>
            <a:xfrm>
              <a:off x="725964" y="4063522"/>
              <a:ext cx="4033527" cy="1325336"/>
            </a:xfrm>
            <a:prstGeom prst="roundRect">
              <a:avLst>
                <a:gd name="adj" fmla="val 9191"/>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5" name="Group 434">
              <a:extLst>
                <a:ext uri="{FF2B5EF4-FFF2-40B4-BE49-F238E27FC236}">
                  <a16:creationId xmlns:a16="http://schemas.microsoft.com/office/drawing/2014/main" id="{EBBA15CD-96E2-097B-A929-D471E1AACDA8}"/>
                </a:ext>
              </a:extLst>
            </p:cNvPr>
            <p:cNvGrpSpPr/>
            <p:nvPr/>
          </p:nvGrpSpPr>
          <p:grpSpPr>
            <a:xfrm>
              <a:off x="966947" y="4294800"/>
              <a:ext cx="3548035" cy="855249"/>
              <a:chOff x="7200000" y="900000"/>
              <a:chExt cx="3548035" cy="855249"/>
            </a:xfrm>
          </p:grpSpPr>
          <p:grpSp>
            <p:nvGrpSpPr>
              <p:cNvPr id="321" name="Group 320">
                <a:extLst>
                  <a:ext uri="{FF2B5EF4-FFF2-40B4-BE49-F238E27FC236}">
                    <a16:creationId xmlns:a16="http://schemas.microsoft.com/office/drawing/2014/main" id="{74B927C2-D34E-5BC2-33A6-A925FDC3F2A2}"/>
                  </a:ext>
                </a:extLst>
              </p:cNvPr>
              <p:cNvGrpSpPr/>
              <p:nvPr/>
            </p:nvGrpSpPr>
            <p:grpSpPr>
              <a:xfrm>
                <a:off x="7200000" y="900000"/>
                <a:ext cx="3548035" cy="387249"/>
                <a:chOff x="7311623" y="982258"/>
                <a:chExt cx="3548035" cy="387249"/>
              </a:xfrm>
            </p:grpSpPr>
            <p:grpSp>
              <p:nvGrpSpPr>
                <p:cNvPr id="452" name="Group 451">
                  <a:extLst>
                    <a:ext uri="{FF2B5EF4-FFF2-40B4-BE49-F238E27FC236}">
                      <a16:creationId xmlns:a16="http://schemas.microsoft.com/office/drawing/2014/main" id="{B2449E96-AD96-04DD-1382-308D768E3DBF}"/>
                    </a:ext>
                  </a:extLst>
                </p:cNvPr>
                <p:cNvGrpSpPr/>
                <p:nvPr/>
              </p:nvGrpSpPr>
              <p:grpSpPr>
                <a:xfrm>
                  <a:off x="8863023" y="985522"/>
                  <a:ext cx="445236" cy="383443"/>
                  <a:chOff x="8203827" y="2629031"/>
                  <a:chExt cx="524138" cy="451394"/>
                </a:xfrm>
              </p:grpSpPr>
              <p:grpSp>
                <p:nvGrpSpPr>
                  <p:cNvPr id="525" name="Group 524">
                    <a:extLst>
                      <a:ext uri="{FF2B5EF4-FFF2-40B4-BE49-F238E27FC236}">
                        <a16:creationId xmlns:a16="http://schemas.microsoft.com/office/drawing/2014/main" id="{70149FC7-88DA-D102-741E-BA09CCECCC6C}"/>
                      </a:ext>
                    </a:extLst>
                  </p:cNvPr>
                  <p:cNvGrpSpPr/>
                  <p:nvPr/>
                </p:nvGrpSpPr>
                <p:grpSpPr>
                  <a:xfrm>
                    <a:off x="8229800" y="2636912"/>
                    <a:ext cx="478570" cy="443513"/>
                    <a:chOff x="6442484" y="1620572"/>
                    <a:chExt cx="271664" cy="260710"/>
                  </a:xfrm>
                </p:grpSpPr>
                <p:pic>
                  <p:nvPicPr>
                    <p:cNvPr id="527" name="Picture 2" descr="iOS icon">
                      <a:extLst>
                        <a:ext uri="{FF2B5EF4-FFF2-40B4-BE49-F238E27FC236}">
                          <a16:creationId xmlns:a16="http://schemas.microsoft.com/office/drawing/2014/main" id="{18905481-180A-ABFE-EA1C-00058E62E2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8" name="Picture 2" descr="iOS icon">
                      <a:extLst>
                        <a:ext uri="{FF2B5EF4-FFF2-40B4-BE49-F238E27FC236}">
                          <a16:creationId xmlns:a16="http://schemas.microsoft.com/office/drawing/2014/main" id="{3B65B7C2-D70F-45DC-FB56-068B0D4C04B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9" name="Picture 2" descr="iOS icon">
                      <a:extLst>
                        <a:ext uri="{FF2B5EF4-FFF2-40B4-BE49-F238E27FC236}">
                          <a16:creationId xmlns:a16="http://schemas.microsoft.com/office/drawing/2014/main" id="{DFD8C96A-3F15-F01F-5F1E-08B4CE8895C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30" name="Picture 2" descr="iOS icon">
                      <a:extLst>
                        <a:ext uri="{FF2B5EF4-FFF2-40B4-BE49-F238E27FC236}">
                          <a16:creationId xmlns:a16="http://schemas.microsoft.com/office/drawing/2014/main" id="{BECCCB6C-B318-E1B5-4298-2C972EC404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6" name="Rectangle 525">
                    <a:extLst>
                      <a:ext uri="{FF2B5EF4-FFF2-40B4-BE49-F238E27FC236}">
                        <a16:creationId xmlns:a16="http://schemas.microsoft.com/office/drawing/2014/main" id="{975EE585-241D-2689-F5E4-ABF4D076F81D}"/>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3" name="Group 452">
                  <a:extLst>
                    <a:ext uri="{FF2B5EF4-FFF2-40B4-BE49-F238E27FC236}">
                      <a16:creationId xmlns:a16="http://schemas.microsoft.com/office/drawing/2014/main" id="{20E2BFEF-2F0F-391A-1993-A6D976424877}"/>
                    </a:ext>
                  </a:extLst>
                </p:cNvPr>
                <p:cNvGrpSpPr/>
                <p:nvPr/>
              </p:nvGrpSpPr>
              <p:grpSpPr>
                <a:xfrm>
                  <a:off x="9380152" y="985521"/>
                  <a:ext cx="445236" cy="383443"/>
                  <a:chOff x="8203827" y="2629031"/>
                  <a:chExt cx="524138" cy="451394"/>
                </a:xfrm>
              </p:grpSpPr>
              <p:grpSp>
                <p:nvGrpSpPr>
                  <p:cNvPr id="514" name="Group 513">
                    <a:extLst>
                      <a:ext uri="{FF2B5EF4-FFF2-40B4-BE49-F238E27FC236}">
                        <a16:creationId xmlns:a16="http://schemas.microsoft.com/office/drawing/2014/main" id="{9C131876-5FE0-CEB5-F725-8BDA21D60362}"/>
                      </a:ext>
                    </a:extLst>
                  </p:cNvPr>
                  <p:cNvGrpSpPr/>
                  <p:nvPr/>
                </p:nvGrpSpPr>
                <p:grpSpPr>
                  <a:xfrm>
                    <a:off x="8229800" y="2636912"/>
                    <a:ext cx="478570" cy="443513"/>
                    <a:chOff x="6442484" y="1620572"/>
                    <a:chExt cx="271664" cy="260710"/>
                  </a:xfrm>
                </p:grpSpPr>
                <p:pic>
                  <p:nvPicPr>
                    <p:cNvPr id="521" name="Picture 2" descr="iOS icon">
                      <a:extLst>
                        <a:ext uri="{FF2B5EF4-FFF2-40B4-BE49-F238E27FC236}">
                          <a16:creationId xmlns:a16="http://schemas.microsoft.com/office/drawing/2014/main" id="{D7DE1B24-7CE6-E186-AE7E-A952A8E0D9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2" name="Picture 2" descr="iOS icon">
                      <a:extLst>
                        <a:ext uri="{FF2B5EF4-FFF2-40B4-BE49-F238E27FC236}">
                          <a16:creationId xmlns:a16="http://schemas.microsoft.com/office/drawing/2014/main" id="{28A49AC4-5703-A99C-AD25-A2E70527802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3" name="Picture 2" descr="iOS icon">
                      <a:extLst>
                        <a:ext uri="{FF2B5EF4-FFF2-40B4-BE49-F238E27FC236}">
                          <a16:creationId xmlns:a16="http://schemas.microsoft.com/office/drawing/2014/main" id="{B69CFA63-B7C1-22DD-7CA2-FBCBA4EB1F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24" name="Picture 2" descr="iOS icon">
                      <a:extLst>
                        <a:ext uri="{FF2B5EF4-FFF2-40B4-BE49-F238E27FC236}">
                          <a16:creationId xmlns:a16="http://schemas.microsoft.com/office/drawing/2014/main" id="{22F6D1C5-00A9-7A1B-C97F-A76B573E12E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520" name="Rectangle 519">
                    <a:extLst>
                      <a:ext uri="{FF2B5EF4-FFF2-40B4-BE49-F238E27FC236}">
                        <a16:creationId xmlns:a16="http://schemas.microsoft.com/office/drawing/2014/main" id="{43D88D9D-287A-C084-CAF1-CC5B829DBEB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4" name="Group 453">
                  <a:extLst>
                    <a:ext uri="{FF2B5EF4-FFF2-40B4-BE49-F238E27FC236}">
                      <a16:creationId xmlns:a16="http://schemas.microsoft.com/office/drawing/2014/main" id="{88BB0478-C10C-1509-9BAE-F2C0EAC54A41}"/>
                    </a:ext>
                  </a:extLst>
                </p:cNvPr>
                <p:cNvGrpSpPr/>
                <p:nvPr/>
              </p:nvGrpSpPr>
              <p:grpSpPr>
                <a:xfrm>
                  <a:off x="9897283" y="982258"/>
                  <a:ext cx="445236" cy="383443"/>
                  <a:chOff x="8203827" y="2629031"/>
                  <a:chExt cx="524138" cy="451394"/>
                </a:xfrm>
              </p:grpSpPr>
              <p:grpSp>
                <p:nvGrpSpPr>
                  <p:cNvPr id="467" name="Group 466">
                    <a:extLst>
                      <a:ext uri="{FF2B5EF4-FFF2-40B4-BE49-F238E27FC236}">
                        <a16:creationId xmlns:a16="http://schemas.microsoft.com/office/drawing/2014/main" id="{38DABCF5-FD57-50CB-5EC5-2FAB85E778E7}"/>
                      </a:ext>
                    </a:extLst>
                  </p:cNvPr>
                  <p:cNvGrpSpPr/>
                  <p:nvPr/>
                </p:nvGrpSpPr>
                <p:grpSpPr>
                  <a:xfrm>
                    <a:off x="8229800" y="2636912"/>
                    <a:ext cx="478570" cy="443513"/>
                    <a:chOff x="6442484" y="1620572"/>
                    <a:chExt cx="271664" cy="260710"/>
                  </a:xfrm>
                </p:grpSpPr>
                <p:pic>
                  <p:nvPicPr>
                    <p:cNvPr id="469" name="Picture 2" descr="iOS icon">
                      <a:extLst>
                        <a:ext uri="{FF2B5EF4-FFF2-40B4-BE49-F238E27FC236}">
                          <a16:creationId xmlns:a16="http://schemas.microsoft.com/office/drawing/2014/main" id="{10B5BE78-4786-CA80-EC0E-89C5F23479F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0" name="Picture 2" descr="iOS icon">
                      <a:extLst>
                        <a:ext uri="{FF2B5EF4-FFF2-40B4-BE49-F238E27FC236}">
                          <a16:creationId xmlns:a16="http://schemas.microsoft.com/office/drawing/2014/main" id="{54BB0D15-3216-83ED-6CA4-E7FE98DA95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1" name="Picture 2" descr="iOS icon">
                      <a:extLst>
                        <a:ext uri="{FF2B5EF4-FFF2-40B4-BE49-F238E27FC236}">
                          <a16:creationId xmlns:a16="http://schemas.microsoft.com/office/drawing/2014/main" id="{321C6391-5387-46A6-4889-735997227B6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513" name="Picture 2" descr="iOS icon">
                      <a:extLst>
                        <a:ext uri="{FF2B5EF4-FFF2-40B4-BE49-F238E27FC236}">
                          <a16:creationId xmlns:a16="http://schemas.microsoft.com/office/drawing/2014/main" id="{036B18FD-34DD-E634-CA3D-C2CD37EC23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68" name="Rectangle 467">
                    <a:extLst>
                      <a:ext uri="{FF2B5EF4-FFF2-40B4-BE49-F238E27FC236}">
                        <a16:creationId xmlns:a16="http://schemas.microsoft.com/office/drawing/2014/main" id="{FC5AFEB0-DBB0-6860-8E15-F2ED4AFD836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55" name="Group 454">
                  <a:extLst>
                    <a:ext uri="{FF2B5EF4-FFF2-40B4-BE49-F238E27FC236}">
                      <a16:creationId xmlns:a16="http://schemas.microsoft.com/office/drawing/2014/main" id="{CF6B16D2-AEB2-0D65-36A8-313A3AA6C754}"/>
                    </a:ext>
                  </a:extLst>
                </p:cNvPr>
                <p:cNvGrpSpPr/>
                <p:nvPr/>
              </p:nvGrpSpPr>
              <p:grpSpPr>
                <a:xfrm>
                  <a:off x="10414422" y="982260"/>
                  <a:ext cx="445236" cy="383443"/>
                  <a:chOff x="8203827" y="2629031"/>
                  <a:chExt cx="524138" cy="451394"/>
                </a:xfrm>
              </p:grpSpPr>
              <p:grpSp>
                <p:nvGrpSpPr>
                  <p:cNvPr id="456" name="Group 455">
                    <a:extLst>
                      <a:ext uri="{FF2B5EF4-FFF2-40B4-BE49-F238E27FC236}">
                        <a16:creationId xmlns:a16="http://schemas.microsoft.com/office/drawing/2014/main" id="{D6A9BF91-8A1F-03B4-26EA-FA51E8032490}"/>
                      </a:ext>
                    </a:extLst>
                  </p:cNvPr>
                  <p:cNvGrpSpPr/>
                  <p:nvPr/>
                </p:nvGrpSpPr>
                <p:grpSpPr>
                  <a:xfrm>
                    <a:off x="8229800" y="2636912"/>
                    <a:ext cx="478570" cy="443513"/>
                    <a:chOff x="6442484" y="1620572"/>
                    <a:chExt cx="271664" cy="260710"/>
                  </a:xfrm>
                </p:grpSpPr>
                <p:pic>
                  <p:nvPicPr>
                    <p:cNvPr id="462" name="Picture 2" descr="iOS icon">
                      <a:extLst>
                        <a:ext uri="{FF2B5EF4-FFF2-40B4-BE49-F238E27FC236}">
                          <a16:creationId xmlns:a16="http://schemas.microsoft.com/office/drawing/2014/main" id="{3D0BD7B6-C9DC-47E5-045A-0AED4B4DC1F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4" name="Picture 2" descr="iOS icon">
                      <a:extLst>
                        <a:ext uri="{FF2B5EF4-FFF2-40B4-BE49-F238E27FC236}">
                          <a16:creationId xmlns:a16="http://schemas.microsoft.com/office/drawing/2014/main" id="{3D55D866-678E-B9A1-FBC0-4A834A2B299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5" name="Picture 2" descr="iOS icon">
                      <a:extLst>
                        <a:ext uri="{FF2B5EF4-FFF2-40B4-BE49-F238E27FC236}">
                          <a16:creationId xmlns:a16="http://schemas.microsoft.com/office/drawing/2014/main" id="{87095E40-C2A9-9F45-8208-F6CCA0371E3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66" name="Picture 2" descr="iOS icon">
                      <a:extLst>
                        <a:ext uri="{FF2B5EF4-FFF2-40B4-BE49-F238E27FC236}">
                          <a16:creationId xmlns:a16="http://schemas.microsoft.com/office/drawing/2014/main" id="{91169393-B867-B8C6-0CA6-21AF092C386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57" name="Rectangle 456">
                    <a:extLst>
                      <a:ext uri="{FF2B5EF4-FFF2-40B4-BE49-F238E27FC236}">
                        <a16:creationId xmlns:a16="http://schemas.microsoft.com/office/drawing/2014/main" id="{CC84260E-2427-0766-8F11-990F872396E4}"/>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5" name="Group 564">
                  <a:extLst>
                    <a:ext uri="{FF2B5EF4-FFF2-40B4-BE49-F238E27FC236}">
                      <a16:creationId xmlns:a16="http://schemas.microsoft.com/office/drawing/2014/main" id="{5B998FA9-5DA7-D8D3-D88E-90C5E6974715}"/>
                    </a:ext>
                  </a:extLst>
                </p:cNvPr>
                <p:cNvGrpSpPr/>
                <p:nvPr/>
              </p:nvGrpSpPr>
              <p:grpSpPr>
                <a:xfrm>
                  <a:off x="7311623" y="986064"/>
                  <a:ext cx="445236" cy="383443"/>
                  <a:chOff x="8203827" y="2629031"/>
                  <a:chExt cx="524138" cy="451394"/>
                </a:xfrm>
              </p:grpSpPr>
              <p:grpSp>
                <p:nvGrpSpPr>
                  <p:cNvPr id="113" name="Group 112">
                    <a:extLst>
                      <a:ext uri="{FF2B5EF4-FFF2-40B4-BE49-F238E27FC236}">
                        <a16:creationId xmlns:a16="http://schemas.microsoft.com/office/drawing/2014/main" id="{5F9C4512-CEB6-990B-6556-31B6AD8BAF6F}"/>
                      </a:ext>
                    </a:extLst>
                  </p:cNvPr>
                  <p:cNvGrpSpPr/>
                  <p:nvPr/>
                </p:nvGrpSpPr>
                <p:grpSpPr>
                  <a:xfrm>
                    <a:off x="8229800" y="2636912"/>
                    <a:ext cx="478570" cy="443513"/>
                    <a:chOff x="6442484" y="1620572"/>
                    <a:chExt cx="271664" cy="260710"/>
                  </a:xfrm>
                </p:grpSpPr>
                <p:pic>
                  <p:nvPicPr>
                    <p:cNvPr id="116" name="Picture 2" descr="iOS icon">
                      <a:extLst>
                        <a:ext uri="{FF2B5EF4-FFF2-40B4-BE49-F238E27FC236}">
                          <a16:creationId xmlns:a16="http://schemas.microsoft.com/office/drawing/2014/main" id="{2447D8ED-3B27-B29A-D053-DBCF4B0A91A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OS icon">
                      <a:extLst>
                        <a:ext uri="{FF2B5EF4-FFF2-40B4-BE49-F238E27FC236}">
                          <a16:creationId xmlns:a16="http://schemas.microsoft.com/office/drawing/2014/main" id="{9D88AC07-12F8-3A09-9F54-75F3FDE2C70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8" name="Picture 2" descr="iOS icon">
                      <a:extLst>
                        <a:ext uri="{FF2B5EF4-FFF2-40B4-BE49-F238E27FC236}">
                          <a16:creationId xmlns:a16="http://schemas.microsoft.com/office/drawing/2014/main" id="{29274471-AE19-AA79-A000-8FFEF39B6FA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9" name="Picture 2" descr="iOS icon">
                      <a:extLst>
                        <a:ext uri="{FF2B5EF4-FFF2-40B4-BE49-F238E27FC236}">
                          <a16:creationId xmlns:a16="http://schemas.microsoft.com/office/drawing/2014/main" id="{2EC8A03A-D5C0-11D5-846C-78AFEAE11A7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14" name="Rectangle 113">
                    <a:extLst>
                      <a:ext uri="{FF2B5EF4-FFF2-40B4-BE49-F238E27FC236}">
                        <a16:creationId xmlns:a16="http://schemas.microsoft.com/office/drawing/2014/main" id="{03923FFB-9777-2DEA-FD83-81329716E9B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6" name="Group 565">
                  <a:extLst>
                    <a:ext uri="{FF2B5EF4-FFF2-40B4-BE49-F238E27FC236}">
                      <a16:creationId xmlns:a16="http://schemas.microsoft.com/office/drawing/2014/main" id="{0B771779-E527-1E7A-5D0E-9B87FA788D90}"/>
                    </a:ext>
                  </a:extLst>
                </p:cNvPr>
                <p:cNvGrpSpPr/>
                <p:nvPr/>
              </p:nvGrpSpPr>
              <p:grpSpPr>
                <a:xfrm>
                  <a:off x="7828752" y="986063"/>
                  <a:ext cx="445236" cy="383443"/>
                  <a:chOff x="8203827" y="2629031"/>
                  <a:chExt cx="524138" cy="451394"/>
                </a:xfrm>
              </p:grpSpPr>
              <p:grpSp>
                <p:nvGrpSpPr>
                  <p:cNvPr id="107" name="Group 106">
                    <a:extLst>
                      <a:ext uri="{FF2B5EF4-FFF2-40B4-BE49-F238E27FC236}">
                        <a16:creationId xmlns:a16="http://schemas.microsoft.com/office/drawing/2014/main" id="{476A44D0-B103-7971-3A0F-1AE30AECCAED}"/>
                      </a:ext>
                    </a:extLst>
                  </p:cNvPr>
                  <p:cNvGrpSpPr/>
                  <p:nvPr/>
                </p:nvGrpSpPr>
                <p:grpSpPr>
                  <a:xfrm>
                    <a:off x="8229800" y="2636912"/>
                    <a:ext cx="478570" cy="443513"/>
                    <a:chOff x="6442484" y="1620572"/>
                    <a:chExt cx="271664" cy="260710"/>
                  </a:xfrm>
                </p:grpSpPr>
                <p:pic>
                  <p:nvPicPr>
                    <p:cNvPr id="109" name="Picture 2" descr="iOS icon">
                      <a:extLst>
                        <a:ext uri="{FF2B5EF4-FFF2-40B4-BE49-F238E27FC236}">
                          <a16:creationId xmlns:a16="http://schemas.microsoft.com/office/drawing/2014/main" id="{C28A5B62-64B3-32E5-3994-00B7D8A11E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 descr="iOS icon">
                      <a:extLst>
                        <a:ext uri="{FF2B5EF4-FFF2-40B4-BE49-F238E27FC236}">
                          <a16:creationId xmlns:a16="http://schemas.microsoft.com/office/drawing/2014/main" id="{0CE1BD3F-F1FE-DAC3-F218-B458AD2648C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1" name="Picture 2" descr="iOS icon">
                      <a:extLst>
                        <a:ext uri="{FF2B5EF4-FFF2-40B4-BE49-F238E27FC236}">
                          <a16:creationId xmlns:a16="http://schemas.microsoft.com/office/drawing/2014/main" id="{31E0570A-91AA-0CCF-72FB-34C58786324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12" name="Picture 2" descr="iOS icon">
                      <a:extLst>
                        <a:ext uri="{FF2B5EF4-FFF2-40B4-BE49-F238E27FC236}">
                          <a16:creationId xmlns:a16="http://schemas.microsoft.com/office/drawing/2014/main" id="{81A64A50-036F-AEDF-161A-88310C95C70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8" name="Rectangle 107">
                    <a:extLst>
                      <a:ext uri="{FF2B5EF4-FFF2-40B4-BE49-F238E27FC236}">
                        <a16:creationId xmlns:a16="http://schemas.microsoft.com/office/drawing/2014/main" id="{42D950FC-0917-0BFE-6D7F-DB9943C81A7C}"/>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567" name="Group 566">
                  <a:extLst>
                    <a:ext uri="{FF2B5EF4-FFF2-40B4-BE49-F238E27FC236}">
                      <a16:creationId xmlns:a16="http://schemas.microsoft.com/office/drawing/2014/main" id="{4C1AAE04-CBBF-A92F-018E-3BC9B38BC12C}"/>
                    </a:ext>
                  </a:extLst>
                </p:cNvPr>
                <p:cNvGrpSpPr/>
                <p:nvPr/>
              </p:nvGrpSpPr>
              <p:grpSpPr>
                <a:xfrm>
                  <a:off x="8345883" y="982800"/>
                  <a:ext cx="445236" cy="383443"/>
                  <a:chOff x="8203827" y="2629031"/>
                  <a:chExt cx="524138" cy="451394"/>
                </a:xfrm>
              </p:grpSpPr>
              <p:grpSp>
                <p:nvGrpSpPr>
                  <p:cNvPr id="575" name="Group 574">
                    <a:extLst>
                      <a:ext uri="{FF2B5EF4-FFF2-40B4-BE49-F238E27FC236}">
                        <a16:creationId xmlns:a16="http://schemas.microsoft.com/office/drawing/2014/main" id="{926469D7-6610-D7E7-3CDF-1EEA4CD3E842}"/>
                      </a:ext>
                    </a:extLst>
                  </p:cNvPr>
                  <p:cNvGrpSpPr/>
                  <p:nvPr/>
                </p:nvGrpSpPr>
                <p:grpSpPr>
                  <a:xfrm>
                    <a:off x="8229800" y="2636912"/>
                    <a:ext cx="478570" cy="443513"/>
                    <a:chOff x="6442484" y="1620572"/>
                    <a:chExt cx="271664" cy="260710"/>
                  </a:xfrm>
                </p:grpSpPr>
                <p:pic>
                  <p:nvPicPr>
                    <p:cNvPr id="103" name="Picture 2" descr="iOS icon">
                      <a:extLst>
                        <a:ext uri="{FF2B5EF4-FFF2-40B4-BE49-F238E27FC236}">
                          <a16:creationId xmlns:a16="http://schemas.microsoft.com/office/drawing/2014/main" id="{B91FE6B1-D2C9-BBF7-CCD3-97469537B72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2" descr="iOS icon">
                      <a:extLst>
                        <a:ext uri="{FF2B5EF4-FFF2-40B4-BE49-F238E27FC236}">
                          <a16:creationId xmlns:a16="http://schemas.microsoft.com/office/drawing/2014/main" id="{34DE0C36-5F62-E2EB-0FD3-955A13C032F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2" descr="iOS icon">
                      <a:extLst>
                        <a:ext uri="{FF2B5EF4-FFF2-40B4-BE49-F238E27FC236}">
                          <a16:creationId xmlns:a16="http://schemas.microsoft.com/office/drawing/2014/main" id="{0188E5BA-B66D-3AB1-42C0-99FCC36155F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2" descr="iOS icon">
                      <a:extLst>
                        <a:ext uri="{FF2B5EF4-FFF2-40B4-BE49-F238E27FC236}">
                          <a16:creationId xmlns:a16="http://schemas.microsoft.com/office/drawing/2014/main" id="{838AAAE4-31CA-A164-395E-C8BC1B77B1B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102" name="Rectangle 101">
                    <a:extLst>
                      <a:ext uri="{FF2B5EF4-FFF2-40B4-BE49-F238E27FC236}">
                        <a16:creationId xmlns:a16="http://schemas.microsoft.com/office/drawing/2014/main" id="{046599BA-6C42-7B98-4ABA-DAD2BE0495A3}"/>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322" name="Group 321">
                <a:extLst>
                  <a:ext uri="{FF2B5EF4-FFF2-40B4-BE49-F238E27FC236}">
                    <a16:creationId xmlns:a16="http://schemas.microsoft.com/office/drawing/2014/main" id="{67290ABB-F633-CFE8-8CEC-5AD25D0F428D}"/>
                  </a:ext>
                </a:extLst>
              </p:cNvPr>
              <p:cNvGrpSpPr/>
              <p:nvPr/>
            </p:nvGrpSpPr>
            <p:grpSpPr>
              <a:xfrm>
                <a:off x="7200000" y="1368000"/>
                <a:ext cx="3548035" cy="387249"/>
                <a:chOff x="7311623" y="982258"/>
                <a:chExt cx="3548035" cy="387249"/>
              </a:xfrm>
            </p:grpSpPr>
            <p:grpSp>
              <p:nvGrpSpPr>
                <p:cNvPr id="323" name="Group 322">
                  <a:extLst>
                    <a:ext uri="{FF2B5EF4-FFF2-40B4-BE49-F238E27FC236}">
                      <a16:creationId xmlns:a16="http://schemas.microsoft.com/office/drawing/2014/main" id="{FDD2209A-B5F7-6F94-3E5C-226BB6DB8217}"/>
                    </a:ext>
                  </a:extLst>
                </p:cNvPr>
                <p:cNvGrpSpPr/>
                <p:nvPr/>
              </p:nvGrpSpPr>
              <p:grpSpPr>
                <a:xfrm>
                  <a:off x="8863023" y="985522"/>
                  <a:ext cx="445236" cy="383443"/>
                  <a:chOff x="8203827" y="2629031"/>
                  <a:chExt cx="524138" cy="451394"/>
                </a:xfrm>
              </p:grpSpPr>
              <p:grpSp>
                <p:nvGrpSpPr>
                  <p:cNvPr id="429" name="Group 428">
                    <a:extLst>
                      <a:ext uri="{FF2B5EF4-FFF2-40B4-BE49-F238E27FC236}">
                        <a16:creationId xmlns:a16="http://schemas.microsoft.com/office/drawing/2014/main" id="{05FB0F5A-70E9-2B5F-B57A-FC5BAE1131FE}"/>
                      </a:ext>
                    </a:extLst>
                  </p:cNvPr>
                  <p:cNvGrpSpPr/>
                  <p:nvPr/>
                </p:nvGrpSpPr>
                <p:grpSpPr>
                  <a:xfrm>
                    <a:off x="8229800" y="2636912"/>
                    <a:ext cx="478570" cy="443513"/>
                    <a:chOff x="6442484" y="1620572"/>
                    <a:chExt cx="271664" cy="260710"/>
                  </a:xfrm>
                </p:grpSpPr>
                <p:pic>
                  <p:nvPicPr>
                    <p:cNvPr id="431" name="Picture 2" descr="iOS icon">
                      <a:extLst>
                        <a:ext uri="{FF2B5EF4-FFF2-40B4-BE49-F238E27FC236}">
                          <a16:creationId xmlns:a16="http://schemas.microsoft.com/office/drawing/2014/main" id="{214FE38F-A02C-F0A0-68B5-E7D8F3C0C10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2" name="Picture 2" descr="iOS icon">
                      <a:extLst>
                        <a:ext uri="{FF2B5EF4-FFF2-40B4-BE49-F238E27FC236}">
                          <a16:creationId xmlns:a16="http://schemas.microsoft.com/office/drawing/2014/main" id="{0CDE6A2C-836C-FFC9-BFDE-00D84C3BA40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3" name="Picture 2" descr="iOS icon">
                      <a:extLst>
                        <a:ext uri="{FF2B5EF4-FFF2-40B4-BE49-F238E27FC236}">
                          <a16:creationId xmlns:a16="http://schemas.microsoft.com/office/drawing/2014/main" id="{68D314C1-F33C-06A1-D83C-F6411FF3948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34" name="Picture 2" descr="iOS icon">
                      <a:extLst>
                        <a:ext uri="{FF2B5EF4-FFF2-40B4-BE49-F238E27FC236}">
                          <a16:creationId xmlns:a16="http://schemas.microsoft.com/office/drawing/2014/main" id="{266F540B-6CC7-A2F8-1010-960CAA88A93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30" name="Rectangle 429">
                    <a:extLst>
                      <a:ext uri="{FF2B5EF4-FFF2-40B4-BE49-F238E27FC236}">
                        <a16:creationId xmlns:a16="http://schemas.microsoft.com/office/drawing/2014/main" id="{64818804-6288-515E-92E1-4AA879921041}"/>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24" name="Group 323">
                  <a:extLst>
                    <a:ext uri="{FF2B5EF4-FFF2-40B4-BE49-F238E27FC236}">
                      <a16:creationId xmlns:a16="http://schemas.microsoft.com/office/drawing/2014/main" id="{B34410C2-542B-46DB-EEC9-CF555015850C}"/>
                    </a:ext>
                  </a:extLst>
                </p:cNvPr>
                <p:cNvGrpSpPr/>
                <p:nvPr/>
              </p:nvGrpSpPr>
              <p:grpSpPr>
                <a:xfrm>
                  <a:off x="9380152" y="985521"/>
                  <a:ext cx="445236" cy="383443"/>
                  <a:chOff x="8203827" y="2629031"/>
                  <a:chExt cx="524138" cy="451394"/>
                </a:xfrm>
              </p:grpSpPr>
              <p:grpSp>
                <p:nvGrpSpPr>
                  <p:cNvPr id="423" name="Group 422">
                    <a:extLst>
                      <a:ext uri="{FF2B5EF4-FFF2-40B4-BE49-F238E27FC236}">
                        <a16:creationId xmlns:a16="http://schemas.microsoft.com/office/drawing/2014/main" id="{E6AF729C-79BE-320F-A12E-8E04B00938CF}"/>
                      </a:ext>
                    </a:extLst>
                  </p:cNvPr>
                  <p:cNvGrpSpPr/>
                  <p:nvPr/>
                </p:nvGrpSpPr>
                <p:grpSpPr>
                  <a:xfrm>
                    <a:off x="8229800" y="2636912"/>
                    <a:ext cx="478570" cy="443513"/>
                    <a:chOff x="6442484" y="1620572"/>
                    <a:chExt cx="271664" cy="260710"/>
                  </a:xfrm>
                </p:grpSpPr>
                <p:pic>
                  <p:nvPicPr>
                    <p:cNvPr id="425" name="Picture 2" descr="iOS icon">
                      <a:extLst>
                        <a:ext uri="{FF2B5EF4-FFF2-40B4-BE49-F238E27FC236}">
                          <a16:creationId xmlns:a16="http://schemas.microsoft.com/office/drawing/2014/main" id="{0E38B8DE-BB36-F38D-E700-BF8D5F5916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6" name="Picture 2" descr="iOS icon">
                      <a:extLst>
                        <a:ext uri="{FF2B5EF4-FFF2-40B4-BE49-F238E27FC236}">
                          <a16:creationId xmlns:a16="http://schemas.microsoft.com/office/drawing/2014/main" id="{0362AE59-7E8F-E9AD-97F5-BBF84E0433E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7" name="Picture 2" descr="iOS icon">
                      <a:extLst>
                        <a:ext uri="{FF2B5EF4-FFF2-40B4-BE49-F238E27FC236}">
                          <a16:creationId xmlns:a16="http://schemas.microsoft.com/office/drawing/2014/main" id="{D264F1BF-62F6-C906-4419-3DD5C0F46D0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8" name="Picture 2" descr="iOS icon">
                      <a:extLst>
                        <a:ext uri="{FF2B5EF4-FFF2-40B4-BE49-F238E27FC236}">
                          <a16:creationId xmlns:a16="http://schemas.microsoft.com/office/drawing/2014/main" id="{E476FC4B-95D1-5579-AD55-5A22A6A5925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24" name="Rectangle 423">
                    <a:extLst>
                      <a:ext uri="{FF2B5EF4-FFF2-40B4-BE49-F238E27FC236}">
                        <a16:creationId xmlns:a16="http://schemas.microsoft.com/office/drawing/2014/main" id="{484337A2-07CD-A7FF-8CEE-8346058663E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6" name="Group 365">
                  <a:extLst>
                    <a:ext uri="{FF2B5EF4-FFF2-40B4-BE49-F238E27FC236}">
                      <a16:creationId xmlns:a16="http://schemas.microsoft.com/office/drawing/2014/main" id="{93658AAE-2AF3-9CB1-586B-BD0172F16798}"/>
                    </a:ext>
                  </a:extLst>
                </p:cNvPr>
                <p:cNvGrpSpPr/>
                <p:nvPr/>
              </p:nvGrpSpPr>
              <p:grpSpPr>
                <a:xfrm>
                  <a:off x="9897283" y="982258"/>
                  <a:ext cx="445236" cy="383443"/>
                  <a:chOff x="8203827" y="2629031"/>
                  <a:chExt cx="524138" cy="451394"/>
                </a:xfrm>
              </p:grpSpPr>
              <p:grpSp>
                <p:nvGrpSpPr>
                  <p:cNvPr id="417" name="Group 416">
                    <a:extLst>
                      <a:ext uri="{FF2B5EF4-FFF2-40B4-BE49-F238E27FC236}">
                        <a16:creationId xmlns:a16="http://schemas.microsoft.com/office/drawing/2014/main" id="{077561C9-0033-B250-8958-5D487C0AEB5A}"/>
                      </a:ext>
                    </a:extLst>
                  </p:cNvPr>
                  <p:cNvGrpSpPr/>
                  <p:nvPr/>
                </p:nvGrpSpPr>
                <p:grpSpPr>
                  <a:xfrm>
                    <a:off x="8229800" y="2636912"/>
                    <a:ext cx="478570" cy="443513"/>
                    <a:chOff x="6442484" y="1620572"/>
                    <a:chExt cx="271664" cy="260710"/>
                  </a:xfrm>
                </p:grpSpPr>
                <p:pic>
                  <p:nvPicPr>
                    <p:cNvPr id="419" name="Picture 2" descr="iOS icon">
                      <a:extLst>
                        <a:ext uri="{FF2B5EF4-FFF2-40B4-BE49-F238E27FC236}">
                          <a16:creationId xmlns:a16="http://schemas.microsoft.com/office/drawing/2014/main" id="{0790CA4A-989F-6882-1CB7-D137DCE511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0" name="Picture 2" descr="iOS icon">
                      <a:extLst>
                        <a:ext uri="{FF2B5EF4-FFF2-40B4-BE49-F238E27FC236}">
                          <a16:creationId xmlns:a16="http://schemas.microsoft.com/office/drawing/2014/main" id="{AE9AD638-27A6-F4C6-BFC6-C704C9DC8BE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1" name="Picture 2" descr="iOS icon">
                      <a:extLst>
                        <a:ext uri="{FF2B5EF4-FFF2-40B4-BE49-F238E27FC236}">
                          <a16:creationId xmlns:a16="http://schemas.microsoft.com/office/drawing/2014/main" id="{172870F6-5203-3BA5-1CD7-38F99F86057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22" name="Picture 2" descr="iOS icon">
                      <a:extLst>
                        <a:ext uri="{FF2B5EF4-FFF2-40B4-BE49-F238E27FC236}">
                          <a16:creationId xmlns:a16="http://schemas.microsoft.com/office/drawing/2014/main" id="{2149096F-6921-0AA8-1A34-7378CEA0DB9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8" name="Rectangle 417">
                    <a:extLst>
                      <a:ext uri="{FF2B5EF4-FFF2-40B4-BE49-F238E27FC236}">
                        <a16:creationId xmlns:a16="http://schemas.microsoft.com/office/drawing/2014/main" id="{511EBC56-B241-F2BF-6EF4-3810A033D18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7" name="Group 366">
                  <a:extLst>
                    <a:ext uri="{FF2B5EF4-FFF2-40B4-BE49-F238E27FC236}">
                      <a16:creationId xmlns:a16="http://schemas.microsoft.com/office/drawing/2014/main" id="{221E1E94-5697-9FE1-58FF-C397A4FC5D70}"/>
                    </a:ext>
                  </a:extLst>
                </p:cNvPr>
                <p:cNvGrpSpPr/>
                <p:nvPr/>
              </p:nvGrpSpPr>
              <p:grpSpPr>
                <a:xfrm>
                  <a:off x="10414422" y="982260"/>
                  <a:ext cx="445236" cy="383443"/>
                  <a:chOff x="8203827" y="2629031"/>
                  <a:chExt cx="524138" cy="451394"/>
                </a:xfrm>
              </p:grpSpPr>
              <p:grpSp>
                <p:nvGrpSpPr>
                  <p:cNvPr id="411" name="Group 410">
                    <a:extLst>
                      <a:ext uri="{FF2B5EF4-FFF2-40B4-BE49-F238E27FC236}">
                        <a16:creationId xmlns:a16="http://schemas.microsoft.com/office/drawing/2014/main" id="{3FB9310F-4577-C32B-3063-803569A20FFB}"/>
                      </a:ext>
                    </a:extLst>
                  </p:cNvPr>
                  <p:cNvGrpSpPr/>
                  <p:nvPr/>
                </p:nvGrpSpPr>
                <p:grpSpPr>
                  <a:xfrm>
                    <a:off x="8229800" y="2636912"/>
                    <a:ext cx="478570" cy="443513"/>
                    <a:chOff x="6442484" y="1620572"/>
                    <a:chExt cx="271664" cy="260710"/>
                  </a:xfrm>
                </p:grpSpPr>
                <p:pic>
                  <p:nvPicPr>
                    <p:cNvPr id="413" name="Picture 2" descr="iOS icon">
                      <a:extLst>
                        <a:ext uri="{FF2B5EF4-FFF2-40B4-BE49-F238E27FC236}">
                          <a16:creationId xmlns:a16="http://schemas.microsoft.com/office/drawing/2014/main" id="{46BD806D-3544-B169-6DCB-3B752227E8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4" name="Picture 2" descr="iOS icon">
                      <a:extLst>
                        <a:ext uri="{FF2B5EF4-FFF2-40B4-BE49-F238E27FC236}">
                          <a16:creationId xmlns:a16="http://schemas.microsoft.com/office/drawing/2014/main" id="{017365C9-1059-4246-B7AF-46909EA3D87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2" descr="iOS icon">
                      <a:extLst>
                        <a:ext uri="{FF2B5EF4-FFF2-40B4-BE49-F238E27FC236}">
                          <a16:creationId xmlns:a16="http://schemas.microsoft.com/office/drawing/2014/main" id="{40CEB073-E60B-6C92-D38A-EC19E4A6F03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2" descr="iOS icon">
                      <a:extLst>
                        <a:ext uri="{FF2B5EF4-FFF2-40B4-BE49-F238E27FC236}">
                          <a16:creationId xmlns:a16="http://schemas.microsoft.com/office/drawing/2014/main" id="{FEB08D31-4321-536B-3F1A-BAC66DC94FF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12" name="Rectangle 411">
                    <a:extLst>
                      <a:ext uri="{FF2B5EF4-FFF2-40B4-BE49-F238E27FC236}">
                        <a16:creationId xmlns:a16="http://schemas.microsoft.com/office/drawing/2014/main" id="{E2F60C7A-F70B-EA4B-36CF-AD0663412D17}"/>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8" name="Group 367">
                  <a:extLst>
                    <a:ext uri="{FF2B5EF4-FFF2-40B4-BE49-F238E27FC236}">
                      <a16:creationId xmlns:a16="http://schemas.microsoft.com/office/drawing/2014/main" id="{D40765F8-C317-0637-5526-2B69241BAC98}"/>
                    </a:ext>
                  </a:extLst>
                </p:cNvPr>
                <p:cNvGrpSpPr/>
                <p:nvPr/>
              </p:nvGrpSpPr>
              <p:grpSpPr>
                <a:xfrm>
                  <a:off x="7311623" y="986064"/>
                  <a:ext cx="445236" cy="383443"/>
                  <a:chOff x="8203827" y="2629031"/>
                  <a:chExt cx="524138" cy="451394"/>
                </a:xfrm>
              </p:grpSpPr>
              <p:grpSp>
                <p:nvGrpSpPr>
                  <p:cNvPr id="390" name="Group 389">
                    <a:extLst>
                      <a:ext uri="{FF2B5EF4-FFF2-40B4-BE49-F238E27FC236}">
                        <a16:creationId xmlns:a16="http://schemas.microsoft.com/office/drawing/2014/main" id="{303A62FB-779A-2DA8-FB98-81638C9D9133}"/>
                      </a:ext>
                    </a:extLst>
                  </p:cNvPr>
                  <p:cNvGrpSpPr/>
                  <p:nvPr/>
                </p:nvGrpSpPr>
                <p:grpSpPr>
                  <a:xfrm>
                    <a:off x="8229800" y="2636912"/>
                    <a:ext cx="478570" cy="443513"/>
                    <a:chOff x="6442484" y="1620572"/>
                    <a:chExt cx="271664" cy="260710"/>
                  </a:xfrm>
                </p:grpSpPr>
                <p:pic>
                  <p:nvPicPr>
                    <p:cNvPr id="392" name="Picture 2" descr="iOS icon">
                      <a:extLst>
                        <a:ext uri="{FF2B5EF4-FFF2-40B4-BE49-F238E27FC236}">
                          <a16:creationId xmlns:a16="http://schemas.microsoft.com/office/drawing/2014/main" id="{545DBA90-C5AD-E366-F7A5-095D6544829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2" descr="iOS icon">
                      <a:extLst>
                        <a:ext uri="{FF2B5EF4-FFF2-40B4-BE49-F238E27FC236}">
                          <a16:creationId xmlns:a16="http://schemas.microsoft.com/office/drawing/2014/main" id="{417652B5-931F-C9E8-72AC-0F6FFE985F1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2" descr="iOS icon">
                      <a:extLst>
                        <a:ext uri="{FF2B5EF4-FFF2-40B4-BE49-F238E27FC236}">
                          <a16:creationId xmlns:a16="http://schemas.microsoft.com/office/drawing/2014/main" id="{9B82C6EC-DA34-D46E-6B6C-1B434BB8A68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10" name="Picture 2" descr="iOS icon">
                      <a:extLst>
                        <a:ext uri="{FF2B5EF4-FFF2-40B4-BE49-F238E27FC236}">
                          <a16:creationId xmlns:a16="http://schemas.microsoft.com/office/drawing/2014/main" id="{5366524A-99E9-23CE-982E-A60B5656D54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1" name="Rectangle 390">
                    <a:extLst>
                      <a:ext uri="{FF2B5EF4-FFF2-40B4-BE49-F238E27FC236}">
                        <a16:creationId xmlns:a16="http://schemas.microsoft.com/office/drawing/2014/main" id="{735786BE-F8DD-452C-6D93-EED4C9BD4E69}"/>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9" name="Group 368">
                  <a:extLst>
                    <a:ext uri="{FF2B5EF4-FFF2-40B4-BE49-F238E27FC236}">
                      <a16:creationId xmlns:a16="http://schemas.microsoft.com/office/drawing/2014/main" id="{F9F39E6D-2342-6FD7-5CF2-FA3974F50D42}"/>
                    </a:ext>
                  </a:extLst>
                </p:cNvPr>
                <p:cNvGrpSpPr/>
                <p:nvPr/>
              </p:nvGrpSpPr>
              <p:grpSpPr>
                <a:xfrm>
                  <a:off x="7828752" y="986063"/>
                  <a:ext cx="445236" cy="383443"/>
                  <a:chOff x="8203827" y="2629031"/>
                  <a:chExt cx="524138" cy="451394"/>
                </a:xfrm>
              </p:grpSpPr>
              <p:grpSp>
                <p:nvGrpSpPr>
                  <p:cNvPr id="384" name="Group 383">
                    <a:extLst>
                      <a:ext uri="{FF2B5EF4-FFF2-40B4-BE49-F238E27FC236}">
                        <a16:creationId xmlns:a16="http://schemas.microsoft.com/office/drawing/2014/main" id="{2BFB15AE-8804-3B0B-47E5-13F614F27FDE}"/>
                      </a:ext>
                    </a:extLst>
                  </p:cNvPr>
                  <p:cNvGrpSpPr/>
                  <p:nvPr/>
                </p:nvGrpSpPr>
                <p:grpSpPr>
                  <a:xfrm>
                    <a:off x="8229800" y="2636912"/>
                    <a:ext cx="478570" cy="443513"/>
                    <a:chOff x="6442484" y="1620572"/>
                    <a:chExt cx="271664" cy="260710"/>
                  </a:xfrm>
                </p:grpSpPr>
                <p:pic>
                  <p:nvPicPr>
                    <p:cNvPr id="386" name="Picture 2" descr="iOS icon">
                      <a:extLst>
                        <a:ext uri="{FF2B5EF4-FFF2-40B4-BE49-F238E27FC236}">
                          <a16:creationId xmlns:a16="http://schemas.microsoft.com/office/drawing/2014/main" id="{CCD887A7-C072-E70D-B65A-3D7CF831311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2" descr="iOS icon">
                      <a:extLst>
                        <a:ext uri="{FF2B5EF4-FFF2-40B4-BE49-F238E27FC236}">
                          <a16:creationId xmlns:a16="http://schemas.microsoft.com/office/drawing/2014/main" id="{BE6FC7C5-F7DB-2CF7-FECD-7AD35BA44C4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2" descr="iOS icon">
                      <a:extLst>
                        <a:ext uri="{FF2B5EF4-FFF2-40B4-BE49-F238E27FC236}">
                          <a16:creationId xmlns:a16="http://schemas.microsoft.com/office/drawing/2014/main" id="{C3B2B878-867E-70DB-FCB2-72311A872A8A}"/>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 descr="iOS icon">
                      <a:extLst>
                        <a:ext uri="{FF2B5EF4-FFF2-40B4-BE49-F238E27FC236}">
                          <a16:creationId xmlns:a16="http://schemas.microsoft.com/office/drawing/2014/main" id="{2A54AD63-B7A6-0C13-2F91-07145049EC94}"/>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85" name="Rectangle 384">
                    <a:extLst>
                      <a:ext uri="{FF2B5EF4-FFF2-40B4-BE49-F238E27FC236}">
                        <a16:creationId xmlns:a16="http://schemas.microsoft.com/office/drawing/2014/main" id="{6FD1B2C2-448B-DE0E-375E-6296CA54E88F}"/>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0" name="Group 369">
                  <a:extLst>
                    <a:ext uri="{FF2B5EF4-FFF2-40B4-BE49-F238E27FC236}">
                      <a16:creationId xmlns:a16="http://schemas.microsoft.com/office/drawing/2014/main" id="{97ABDAA1-EF1A-668D-D0C0-3A7816B4851A}"/>
                    </a:ext>
                  </a:extLst>
                </p:cNvPr>
                <p:cNvGrpSpPr/>
                <p:nvPr/>
              </p:nvGrpSpPr>
              <p:grpSpPr>
                <a:xfrm>
                  <a:off x="8345883" y="982800"/>
                  <a:ext cx="445236" cy="383443"/>
                  <a:chOff x="8203827" y="2629031"/>
                  <a:chExt cx="524138" cy="451394"/>
                </a:xfrm>
              </p:grpSpPr>
              <p:grpSp>
                <p:nvGrpSpPr>
                  <p:cNvPr id="371" name="Group 370">
                    <a:extLst>
                      <a:ext uri="{FF2B5EF4-FFF2-40B4-BE49-F238E27FC236}">
                        <a16:creationId xmlns:a16="http://schemas.microsoft.com/office/drawing/2014/main" id="{5E50CE3C-E34A-7208-219B-92AA58C8AD54}"/>
                      </a:ext>
                    </a:extLst>
                  </p:cNvPr>
                  <p:cNvGrpSpPr/>
                  <p:nvPr/>
                </p:nvGrpSpPr>
                <p:grpSpPr>
                  <a:xfrm>
                    <a:off x="8229800" y="2636912"/>
                    <a:ext cx="478570" cy="443513"/>
                    <a:chOff x="6442484" y="1620572"/>
                    <a:chExt cx="271664" cy="260710"/>
                  </a:xfrm>
                </p:grpSpPr>
                <p:pic>
                  <p:nvPicPr>
                    <p:cNvPr id="380" name="Picture 2" descr="iOS icon">
                      <a:extLst>
                        <a:ext uri="{FF2B5EF4-FFF2-40B4-BE49-F238E27FC236}">
                          <a16:creationId xmlns:a16="http://schemas.microsoft.com/office/drawing/2014/main" id="{00C47B1D-8EBB-7503-3872-B6C4885AD67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2" descr="iOS icon">
                      <a:extLst>
                        <a:ext uri="{FF2B5EF4-FFF2-40B4-BE49-F238E27FC236}">
                          <a16:creationId xmlns:a16="http://schemas.microsoft.com/office/drawing/2014/main" id="{A7B6A1F0-E6F2-6B27-6147-D38DC0A7E1C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2" descr="iOS icon">
                      <a:extLst>
                        <a:ext uri="{FF2B5EF4-FFF2-40B4-BE49-F238E27FC236}">
                          <a16:creationId xmlns:a16="http://schemas.microsoft.com/office/drawing/2014/main" id="{A5FAB6A0-9CDE-173E-AB2C-423E9584A8A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2" descr="iOS icon">
                      <a:extLst>
                        <a:ext uri="{FF2B5EF4-FFF2-40B4-BE49-F238E27FC236}">
                          <a16:creationId xmlns:a16="http://schemas.microsoft.com/office/drawing/2014/main" id="{2BF042AF-EE46-3822-CEE0-D506AF5AA79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9" name="Rectangle 378">
                    <a:extLst>
                      <a:ext uri="{FF2B5EF4-FFF2-40B4-BE49-F238E27FC236}">
                        <a16:creationId xmlns:a16="http://schemas.microsoft.com/office/drawing/2014/main" id="{9DD862AB-2D45-846A-4B89-45886CDF0260}"/>
                      </a:ext>
                    </a:extLst>
                  </p:cNvPr>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grpSp>
      <p:grpSp>
        <p:nvGrpSpPr>
          <p:cNvPr id="445" name="Group 444">
            <a:extLst>
              <a:ext uri="{FF2B5EF4-FFF2-40B4-BE49-F238E27FC236}">
                <a16:creationId xmlns:a16="http://schemas.microsoft.com/office/drawing/2014/main" id="{0B988A72-6B8C-1D0F-6288-8A758F3DD063}"/>
              </a:ext>
            </a:extLst>
          </p:cNvPr>
          <p:cNvGrpSpPr/>
          <p:nvPr/>
        </p:nvGrpSpPr>
        <p:grpSpPr>
          <a:xfrm>
            <a:off x="8584927" y="3826760"/>
            <a:ext cx="2082621" cy="2050512"/>
            <a:chOff x="8413081" y="1937625"/>
            <a:chExt cx="2082621" cy="2050512"/>
          </a:xfrm>
        </p:grpSpPr>
        <p:grpSp>
          <p:nvGrpSpPr>
            <p:cNvPr id="446" name="Group 445">
              <a:extLst>
                <a:ext uri="{FF2B5EF4-FFF2-40B4-BE49-F238E27FC236}">
                  <a16:creationId xmlns:a16="http://schemas.microsoft.com/office/drawing/2014/main" id="{B7D9CEC2-5868-0974-4968-1972DD2A57D8}"/>
                </a:ext>
              </a:extLst>
            </p:cNvPr>
            <p:cNvGrpSpPr/>
            <p:nvPr/>
          </p:nvGrpSpPr>
          <p:grpSpPr>
            <a:xfrm>
              <a:off x="8450045" y="1937625"/>
              <a:ext cx="1888942" cy="1425616"/>
              <a:chOff x="9791623" y="1690379"/>
              <a:chExt cx="1888942" cy="1425616"/>
            </a:xfrm>
          </p:grpSpPr>
          <p:sp>
            <p:nvSpPr>
              <p:cNvPr id="1088" name="TextBox 1087">
                <a:extLst>
                  <a:ext uri="{FF2B5EF4-FFF2-40B4-BE49-F238E27FC236}">
                    <a16:creationId xmlns:a16="http://schemas.microsoft.com/office/drawing/2014/main" id="{73D8D01C-D109-A9AE-C331-B8EDCF316320}"/>
                  </a:ext>
                </a:extLst>
              </p:cNvPr>
              <p:cNvSpPr txBox="1"/>
              <p:nvPr/>
            </p:nvSpPr>
            <p:spPr>
              <a:xfrm>
                <a:off x="9793190" y="1690379"/>
                <a:ext cx="1883849" cy="369332"/>
              </a:xfrm>
              <a:prstGeom prst="rect">
                <a:avLst/>
              </a:prstGeom>
              <a:noFill/>
            </p:spPr>
            <p:txBody>
              <a:bodyPr wrap="none" rtlCol="0">
                <a:spAutoFit/>
              </a:bodyPr>
              <a:lstStyle/>
              <a:p>
                <a:r>
                  <a:rPr lang="nl-BE" b="1" dirty="0"/>
                  <a:t>A100 Debug node</a:t>
                </a:r>
              </a:p>
            </p:txBody>
          </p:sp>
          <p:sp>
            <p:nvSpPr>
              <p:cNvPr id="1089" name="Rounded Rectangle 167">
                <a:extLst>
                  <a:ext uri="{FF2B5EF4-FFF2-40B4-BE49-F238E27FC236}">
                    <a16:creationId xmlns:a16="http://schemas.microsoft.com/office/drawing/2014/main" id="{46227BD6-13A4-B53A-C401-2C4FB1B4E90A}"/>
                  </a:ext>
                </a:extLst>
              </p:cNvPr>
              <p:cNvSpPr/>
              <p:nvPr/>
            </p:nvSpPr>
            <p:spPr>
              <a:xfrm>
                <a:off x="9791623" y="2184430"/>
                <a:ext cx="1888942" cy="931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91" name="Group 1090">
                <a:extLst>
                  <a:ext uri="{FF2B5EF4-FFF2-40B4-BE49-F238E27FC236}">
                    <a16:creationId xmlns:a16="http://schemas.microsoft.com/office/drawing/2014/main" id="{16EE81C6-1024-3A6C-E4A5-C067BF67723B}"/>
                  </a:ext>
                </a:extLst>
              </p:cNvPr>
              <p:cNvGrpSpPr/>
              <p:nvPr/>
            </p:nvGrpSpPr>
            <p:grpSpPr>
              <a:xfrm>
                <a:off x="10569448" y="2449885"/>
                <a:ext cx="416838" cy="407813"/>
                <a:chOff x="10127366" y="3222452"/>
                <a:chExt cx="416838" cy="407813"/>
              </a:xfrm>
            </p:grpSpPr>
            <p:pic>
              <p:nvPicPr>
                <p:cNvPr id="1101" name="Picture 1100">
                  <a:extLst>
                    <a:ext uri="{FF2B5EF4-FFF2-40B4-BE49-F238E27FC236}">
                      <a16:creationId xmlns:a16="http://schemas.microsoft.com/office/drawing/2014/main" id="{C6FF9B35-B9CE-C535-2135-BF010B80296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127366" y="3222452"/>
                  <a:ext cx="271663" cy="407813"/>
                </a:xfrm>
                <a:prstGeom prst="rect">
                  <a:avLst/>
                </a:prstGeom>
              </p:spPr>
            </p:pic>
            <p:pic>
              <p:nvPicPr>
                <p:cNvPr id="1102" name="Picture 2" descr="iOS icon">
                  <a:extLst>
                    <a:ext uri="{FF2B5EF4-FFF2-40B4-BE49-F238E27FC236}">
                      <a16:creationId xmlns:a16="http://schemas.microsoft.com/office/drawing/2014/main" id="{01AFFDFD-A2B0-E9A7-068F-CD699C604D6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418965" y="325042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447" name="TextBox 446">
              <a:extLst>
                <a:ext uri="{FF2B5EF4-FFF2-40B4-BE49-F238E27FC236}">
                  <a16:creationId xmlns:a16="http://schemas.microsoft.com/office/drawing/2014/main" id="{A4770B6B-E6B3-E160-ED2F-C683998EC86C}"/>
                </a:ext>
              </a:extLst>
            </p:cNvPr>
            <p:cNvSpPr txBox="1"/>
            <p:nvPr/>
          </p:nvSpPr>
          <p:spPr>
            <a:xfrm>
              <a:off x="8413081" y="3464917"/>
              <a:ext cx="2082621" cy="523220"/>
            </a:xfrm>
            <a:prstGeom prst="rect">
              <a:avLst/>
            </a:prstGeom>
            <a:noFill/>
          </p:spPr>
          <p:txBody>
            <a:bodyPr wrap="square" rtlCol="0">
              <a:spAutoFit/>
            </a:bodyPr>
            <a:lstStyle/>
            <a:p>
              <a:r>
                <a:rPr lang="nl-BE" sz="1400" dirty="0"/>
                <a:t>1x </a:t>
              </a:r>
              <a:r>
                <a:rPr lang="nl-BE" sz="1400" dirty="0" err="1"/>
                <a:t>IceLake</a:t>
              </a:r>
              <a:r>
                <a:rPr lang="nl-BE" sz="1400" dirty="0"/>
                <a:t> 64c 512 </a:t>
              </a:r>
              <a:r>
                <a:rPr lang="nl-BE" sz="1400" dirty="0" err="1"/>
                <a:t>GiB</a:t>
              </a:r>
              <a:endParaRPr lang="nl-BE" sz="1400" dirty="0"/>
            </a:p>
            <a:p>
              <a:r>
                <a:rPr lang="nl-BE" sz="1400" dirty="0"/>
                <a:t>1 A100 80GB</a:t>
              </a:r>
            </a:p>
          </p:txBody>
        </p:sp>
      </p:grpSp>
    </p:spTree>
    <p:extLst>
      <p:ext uri="{BB962C8B-B14F-4D97-AF65-F5344CB8AC3E}">
        <p14:creationId xmlns:p14="http://schemas.microsoft.com/office/powerpoint/2010/main" val="1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C45B7-FF1D-A1CF-0A2E-B4183930F02C}"/>
            </a:ext>
          </a:extLst>
        </p:cNvPr>
        <p:cNvGrpSpPr/>
        <p:nvPr/>
      </p:nvGrpSpPr>
      <p:grpSpPr>
        <a:xfrm>
          <a:off x="0" y="0"/>
          <a:ext cx="0" cy="0"/>
          <a:chOff x="0" y="0"/>
          <a:chExt cx="0" cy="0"/>
        </a:xfrm>
      </p:grpSpPr>
      <p:sp>
        <p:nvSpPr>
          <p:cNvPr id="407" name="Slide Number Placeholder 4">
            <a:extLst>
              <a:ext uri="{FF2B5EF4-FFF2-40B4-BE49-F238E27FC236}">
                <a16:creationId xmlns:a16="http://schemas.microsoft.com/office/drawing/2014/main" id="{1499B04E-D65B-9816-B2DC-FDE91648CC7F}"/>
              </a:ext>
            </a:extLst>
          </p:cNvPr>
          <p:cNvSpPr txBox="1">
            <a:spLocks/>
          </p:cNvSpPr>
          <p:nvPr/>
        </p:nvSpPr>
        <p:spPr>
          <a:xfrm>
            <a:off x="5521692"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a:extLst>
              <a:ext uri="{FF2B5EF4-FFF2-40B4-BE49-F238E27FC236}">
                <a16:creationId xmlns:a16="http://schemas.microsoft.com/office/drawing/2014/main" id="{4BB53BD5-FBB4-8A72-BB2F-F873BAA211EE}"/>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Mindwell</a:t>
            </a:r>
            <a:r>
              <a:rPr lang="en-US" altLang="en-US" sz="3200" dirty="0"/>
              <a:t> CPU</a:t>
            </a:r>
          </a:p>
        </p:txBody>
      </p:sp>
      <p:grpSp>
        <p:nvGrpSpPr>
          <p:cNvPr id="92" name="Group 91">
            <a:extLst>
              <a:ext uri="{FF2B5EF4-FFF2-40B4-BE49-F238E27FC236}">
                <a16:creationId xmlns:a16="http://schemas.microsoft.com/office/drawing/2014/main" id="{F7EC7F2A-8B54-3445-E279-14CB5B305EFD}"/>
              </a:ext>
            </a:extLst>
          </p:cNvPr>
          <p:cNvGrpSpPr/>
          <p:nvPr/>
        </p:nvGrpSpPr>
        <p:grpSpPr>
          <a:xfrm>
            <a:off x="540000" y="1306800"/>
            <a:ext cx="2685480" cy="2672812"/>
            <a:chOff x="540000" y="1080000"/>
            <a:chExt cx="2685480" cy="2672812"/>
          </a:xfrm>
        </p:grpSpPr>
        <p:sp>
          <p:nvSpPr>
            <p:cNvPr id="115" name="TextBox 114">
              <a:extLst>
                <a:ext uri="{FF2B5EF4-FFF2-40B4-BE49-F238E27FC236}">
                  <a16:creationId xmlns:a16="http://schemas.microsoft.com/office/drawing/2014/main" id="{958E7CF9-5D09-8DF0-6F80-B7463A1C0C78}"/>
                </a:ext>
              </a:extLst>
            </p:cNvPr>
            <p:cNvSpPr txBox="1"/>
            <p:nvPr/>
          </p:nvSpPr>
          <p:spPr>
            <a:xfrm>
              <a:off x="540000" y="1080000"/>
              <a:ext cx="2685480" cy="369332"/>
            </a:xfrm>
            <a:prstGeom prst="rect">
              <a:avLst/>
            </a:prstGeom>
            <a:noFill/>
          </p:spPr>
          <p:txBody>
            <a:bodyPr wrap="none" rtlCol="0">
              <a:spAutoFit/>
            </a:bodyPr>
            <a:lstStyle/>
            <a:p>
              <a:pPr algn="ctr"/>
              <a:r>
                <a:rPr lang="nl-BE" b="1" dirty="0" err="1"/>
                <a:t>Granite</a:t>
              </a:r>
              <a:r>
                <a:rPr lang="nl-BE" b="1" dirty="0"/>
                <a:t> Rapids </a:t>
              </a:r>
              <a:r>
                <a:rPr lang="nl-BE" b="1" dirty="0" err="1"/>
                <a:t>Thin</a:t>
              </a:r>
              <a:r>
                <a:rPr lang="nl-BE" b="1" dirty="0"/>
                <a:t> </a:t>
              </a:r>
              <a:r>
                <a:rPr lang="nl-BE" b="1" dirty="0" err="1"/>
                <a:t>nodes</a:t>
              </a:r>
              <a:endParaRPr lang="nl-BE" b="1" dirty="0"/>
            </a:p>
          </p:txBody>
        </p:sp>
        <p:sp>
          <p:nvSpPr>
            <p:cNvPr id="305" name="TextBox 304">
              <a:extLst>
                <a:ext uri="{FF2B5EF4-FFF2-40B4-BE49-F238E27FC236}">
                  <a16:creationId xmlns:a16="http://schemas.microsoft.com/office/drawing/2014/main" id="{69A24726-8A72-EDC9-155D-793C11FB8A62}"/>
                </a:ext>
              </a:extLst>
            </p:cNvPr>
            <p:cNvSpPr txBox="1"/>
            <p:nvPr/>
          </p:nvSpPr>
          <p:spPr>
            <a:xfrm>
              <a:off x="540000" y="3229592"/>
              <a:ext cx="2685479" cy="523220"/>
            </a:xfrm>
            <a:prstGeom prst="rect">
              <a:avLst/>
            </a:prstGeom>
            <a:noFill/>
          </p:spPr>
          <p:txBody>
            <a:bodyPr wrap="square" rtlCol="0">
              <a:spAutoFit/>
            </a:bodyPr>
            <a:lstStyle/>
            <a:p>
              <a:r>
                <a:rPr lang="nl-BE" sz="1400" dirty="0"/>
                <a:t>40x </a:t>
              </a:r>
              <a:r>
                <a:rPr lang="nl-BE" sz="1400" dirty="0" err="1"/>
                <a:t>Granite</a:t>
              </a:r>
              <a:r>
                <a:rPr lang="nl-BE" sz="1400" dirty="0"/>
                <a:t> Rapids 192c 768 </a:t>
              </a:r>
              <a:r>
                <a:rPr lang="nl-BE" sz="1400" dirty="0" err="1"/>
                <a:t>GiB</a:t>
              </a:r>
              <a:br>
                <a:rPr lang="nl-BE" sz="1400" dirty="0"/>
              </a:br>
              <a:endParaRPr lang="nl-BE" sz="1400" dirty="0"/>
            </a:p>
          </p:txBody>
        </p:sp>
        <p:grpSp>
          <p:nvGrpSpPr>
            <p:cNvPr id="91" name="Group 90">
              <a:extLst>
                <a:ext uri="{FF2B5EF4-FFF2-40B4-BE49-F238E27FC236}">
                  <a16:creationId xmlns:a16="http://schemas.microsoft.com/office/drawing/2014/main" id="{39E0D769-7D74-FDC1-269D-CBF91A4132C4}"/>
                </a:ext>
              </a:extLst>
            </p:cNvPr>
            <p:cNvGrpSpPr/>
            <p:nvPr/>
          </p:nvGrpSpPr>
          <p:grpSpPr>
            <a:xfrm>
              <a:off x="540000" y="1569333"/>
              <a:ext cx="2518638" cy="1634613"/>
              <a:chOff x="540000" y="1569333"/>
              <a:chExt cx="2518638" cy="1634613"/>
            </a:xfrm>
          </p:grpSpPr>
          <p:sp>
            <p:nvSpPr>
              <p:cNvPr id="61" name="Rounded Rectangle 60">
                <a:extLst>
                  <a:ext uri="{FF2B5EF4-FFF2-40B4-BE49-F238E27FC236}">
                    <a16:creationId xmlns:a16="http://schemas.microsoft.com/office/drawing/2014/main" id="{0125D461-665D-0996-B9FC-F961B051D8D0}"/>
                  </a:ext>
                </a:extLst>
              </p:cNvPr>
              <p:cNvSpPr/>
              <p:nvPr/>
            </p:nvSpPr>
            <p:spPr>
              <a:xfrm>
                <a:off x="540000" y="1569333"/>
                <a:ext cx="2518638" cy="1634613"/>
              </a:xfrm>
              <a:prstGeom prst="roundRect">
                <a:avLst>
                  <a:gd name="adj" fmla="val 10983"/>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03C28A52-96C4-51A8-ADD7-E9E1F9B39E14}"/>
                  </a:ext>
                </a:extLst>
              </p:cNvPr>
              <p:cNvGrpSpPr/>
              <p:nvPr/>
            </p:nvGrpSpPr>
            <p:grpSpPr>
              <a:xfrm>
                <a:off x="733234" y="1796547"/>
                <a:ext cx="2103655" cy="1241201"/>
                <a:chOff x="733234" y="1796547"/>
                <a:chExt cx="2103655" cy="1241201"/>
              </a:xfrm>
            </p:grpSpPr>
            <p:pic>
              <p:nvPicPr>
                <p:cNvPr id="460" name="Picture 459">
                  <a:extLst>
                    <a:ext uri="{FF2B5EF4-FFF2-40B4-BE49-F238E27FC236}">
                      <a16:creationId xmlns:a16="http://schemas.microsoft.com/office/drawing/2014/main" id="{B2D5E54A-9A3B-148D-7072-380CD5CC014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1796550"/>
                  <a:ext cx="200239" cy="300593"/>
                </a:xfrm>
                <a:prstGeom prst="rect">
                  <a:avLst/>
                </a:prstGeom>
              </p:spPr>
            </p:pic>
            <p:pic>
              <p:nvPicPr>
                <p:cNvPr id="461" name="Picture 460">
                  <a:extLst>
                    <a:ext uri="{FF2B5EF4-FFF2-40B4-BE49-F238E27FC236}">
                      <a16:creationId xmlns:a16="http://schemas.microsoft.com/office/drawing/2014/main" id="{B1005D1A-FD6B-EC91-FCBA-C0B34B6C8B26}"/>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1796549"/>
                  <a:ext cx="200239" cy="300593"/>
                </a:xfrm>
                <a:prstGeom prst="rect">
                  <a:avLst/>
                </a:prstGeom>
              </p:spPr>
            </p:pic>
            <p:pic>
              <p:nvPicPr>
                <p:cNvPr id="253" name="Picture 252">
                  <a:extLst>
                    <a:ext uri="{FF2B5EF4-FFF2-40B4-BE49-F238E27FC236}">
                      <a16:creationId xmlns:a16="http://schemas.microsoft.com/office/drawing/2014/main" id="{BE571FAA-388D-331A-53C8-6DD16EF23F0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1796547"/>
                  <a:ext cx="200239" cy="300593"/>
                </a:xfrm>
                <a:prstGeom prst="rect">
                  <a:avLst/>
                </a:prstGeom>
              </p:spPr>
            </p:pic>
            <p:pic>
              <p:nvPicPr>
                <p:cNvPr id="254" name="Picture 253">
                  <a:extLst>
                    <a:ext uri="{FF2B5EF4-FFF2-40B4-BE49-F238E27FC236}">
                      <a16:creationId xmlns:a16="http://schemas.microsoft.com/office/drawing/2014/main" id="{7960A00E-C381-1A05-29CB-B6D5CEE50FA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1796547"/>
                  <a:ext cx="200239" cy="300593"/>
                </a:xfrm>
                <a:prstGeom prst="rect">
                  <a:avLst/>
                </a:prstGeom>
              </p:spPr>
            </p:pic>
            <p:pic>
              <p:nvPicPr>
                <p:cNvPr id="255" name="Picture 254">
                  <a:extLst>
                    <a:ext uri="{FF2B5EF4-FFF2-40B4-BE49-F238E27FC236}">
                      <a16:creationId xmlns:a16="http://schemas.microsoft.com/office/drawing/2014/main" id="{6FB6CC00-5522-C6F6-1B4B-857606C4B1A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1796547"/>
                  <a:ext cx="200239" cy="300593"/>
                </a:xfrm>
                <a:prstGeom prst="rect">
                  <a:avLst/>
                </a:prstGeom>
              </p:spPr>
            </p:pic>
            <p:pic>
              <p:nvPicPr>
                <p:cNvPr id="256" name="Picture 255">
                  <a:extLst>
                    <a:ext uri="{FF2B5EF4-FFF2-40B4-BE49-F238E27FC236}">
                      <a16:creationId xmlns:a16="http://schemas.microsoft.com/office/drawing/2014/main" id="{CF3F2A36-DA8D-7B41-CDBE-B913A474E25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1796547"/>
                  <a:ext cx="200239" cy="300593"/>
                </a:xfrm>
                <a:prstGeom prst="rect">
                  <a:avLst/>
                </a:prstGeom>
              </p:spPr>
            </p:pic>
            <p:pic>
              <p:nvPicPr>
                <p:cNvPr id="257" name="Picture 256">
                  <a:extLst>
                    <a:ext uri="{FF2B5EF4-FFF2-40B4-BE49-F238E27FC236}">
                      <a16:creationId xmlns:a16="http://schemas.microsoft.com/office/drawing/2014/main" id="{17047F3F-4E57-141A-809B-CEA12CF1D4F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1796547"/>
                  <a:ext cx="200239" cy="300593"/>
                </a:xfrm>
                <a:prstGeom prst="rect">
                  <a:avLst/>
                </a:prstGeom>
              </p:spPr>
            </p:pic>
            <p:pic>
              <p:nvPicPr>
                <p:cNvPr id="258" name="Picture 257">
                  <a:extLst>
                    <a:ext uri="{FF2B5EF4-FFF2-40B4-BE49-F238E27FC236}">
                      <a16:creationId xmlns:a16="http://schemas.microsoft.com/office/drawing/2014/main" id="{0990F2B1-3B42-0FB9-BF7D-30300CBB944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1796547"/>
                  <a:ext cx="200239" cy="300593"/>
                </a:xfrm>
                <a:prstGeom prst="rect">
                  <a:avLst/>
                </a:prstGeom>
              </p:spPr>
            </p:pic>
            <p:pic>
              <p:nvPicPr>
                <p:cNvPr id="259" name="Picture 258">
                  <a:extLst>
                    <a:ext uri="{FF2B5EF4-FFF2-40B4-BE49-F238E27FC236}">
                      <a16:creationId xmlns:a16="http://schemas.microsoft.com/office/drawing/2014/main" id="{92BE58D5-6404-99CD-949A-B07498D6521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1796547"/>
                  <a:ext cx="200239" cy="300593"/>
                </a:xfrm>
                <a:prstGeom prst="rect">
                  <a:avLst/>
                </a:prstGeom>
              </p:spPr>
            </p:pic>
            <p:pic>
              <p:nvPicPr>
                <p:cNvPr id="260" name="Picture 259">
                  <a:extLst>
                    <a:ext uri="{FF2B5EF4-FFF2-40B4-BE49-F238E27FC236}">
                      <a16:creationId xmlns:a16="http://schemas.microsoft.com/office/drawing/2014/main" id="{95D8F12D-5AC3-F9FB-992B-C860D23C58C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1796547"/>
                  <a:ext cx="200239" cy="300593"/>
                </a:xfrm>
                <a:prstGeom prst="rect">
                  <a:avLst/>
                </a:prstGeom>
              </p:spPr>
            </p:pic>
            <p:pic>
              <p:nvPicPr>
                <p:cNvPr id="1212" name="Picture 1211">
                  <a:extLst>
                    <a:ext uri="{FF2B5EF4-FFF2-40B4-BE49-F238E27FC236}">
                      <a16:creationId xmlns:a16="http://schemas.microsoft.com/office/drawing/2014/main" id="{BDA52B28-7E11-FC2C-BA54-216462625CEB}"/>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110755"/>
                  <a:ext cx="200239" cy="300593"/>
                </a:xfrm>
                <a:prstGeom prst="rect">
                  <a:avLst/>
                </a:prstGeom>
              </p:spPr>
            </p:pic>
            <p:pic>
              <p:nvPicPr>
                <p:cNvPr id="1213" name="Picture 1212">
                  <a:extLst>
                    <a:ext uri="{FF2B5EF4-FFF2-40B4-BE49-F238E27FC236}">
                      <a16:creationId xmlns:a16="http://schemas.microsoft.com/office/drawing/2014/main" id="{A5C8E072-C1A9-1C90-F203-61D9B05CC06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110754"/>
                  <a:ext cx="200239" cy="300593"/>
                </a:xfrm>
                <a:prstGeom prst="rect">
                  <a:avLst/>
                </a:prstGeom>
              </p:spPr>
            </p:pic>
            <p:pic>
              <p:nvPicPr>
                <p:cNvPr id="1214" name="Picture 1213">
                  <a:extLst>
                    <a:ext uri="{FF2B5EF4-FFF2-40B4-BE49-F238E27FC236}">
                      <a16:creationId xmlns:a16="http://schemas.microsoft.com/office/drawing/2014/main" id="{7C80F998-18EC-B42D-A128-9175F5B655B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110752"/>
                  <a:ext cx="200239" cy="300593"/>
                </a:xfrm>
                <a:prstGeom prst="rect">
                  <a:avLst/>
                </a:prstGeom>
              </p:spPr>
            </p:pic>
            <p:pic>
              <p:nvPicPr>
                <p:cNvPr id="1215" name="Picture 1214">
                  <a:extLst>
                    <a:ext uri="{FF2B5EF4-FFF2-40B4-BE49-F238E27FC236}">
                      <a16:creationId xmlns:a16="http://schemas.microsoft.com/office/drawing/2014/main" id="{E1399B6B-78B6-C9D4-7E35-C323E113EB5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110752"/>
                  <a:ext cx="200239" cy="300593"/>
                </a:xfrm>
                <a:prstGeom prst="rect">
                  <a:avLst/>
                </a:prstGeom>
              </p:spPr>
            </p:pic>
            <p:pic>
              <p:nvPicPr>
                <p:cNvPr id="1216" name="Picture 1215">
                  <a:extLst>
                    <a:ext uri="{FF2B5EF4-FFF2-40B4-BE49-F238E27FC236}">
                      <a16:creationId xmlns:a16="http://schemas.microsoft.com/office/drawing/2014/main" id="{EA147C83-5AB6-B493-F4AF-86D5EF75B11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110752"/>
                  <a:ext cx="200239" cy="300593"/>
                </a:xfrm>
                <a:prstGeom prst="rect">
                  <a:avLst/>
                </a:prstGeom>
              </p:spPr>
            </p:pic>
            <p:pic>
              <p:nvPicPr>
                <p:cNvPr id="1217" name="Picture 1216">
                  <a:extLst>
                    <a:ext uri="{FF2B5EF4-FFF2-40B4-BE49-F238E27FC236}">
                      <a16:creationId xmlns:a16="http://schemas.microsoft.com/office/drawing/2014/main" id="{60C03BDD-441C-C45F-0EC2-8FD225AF2D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110752"/>
                  <a:ext cx="200239" cy="300593"/>
                </a:xfrm>
                <a:prstGeom prst="rect">
                  <a:avLst/>
                </a:prstGeom>
              </p:spPr>
            </p:pic>
            <p:pic>
              <p:nvPicPr>
                <p:cNvPr id="1218" name="Picture 1217">
                  <a:extLst>
                    <a:ext uri="{FF2B5EF4-FFF2-40B4-BE49-F238E27FC236}">
                      <a16:creationId xmlns:a16="http://schemas.microsoft.com/office/drawing/2014/main" id="{873B7D89-FEC0-A6E5-402F-2540064F439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110752"/>
                  <a:ext cx="200239" cy="300593"/>
                </a:xfrm>
                <a:prstGeom prst="rect">
                  <a:avLst/>
                </a:prstGeom>
              </p:spPr>
            </p:pic>
            <p:pic>
              <p:nvPicPr>
                <p:cNvPr id="1219" name="Picture 1218">
                  <a:extLst>
                    <a:ext uri="{FF2B5EF4-FFF2-40B4-BE49-F238E27FC236}">
                      <a16:creationId xmlns:a16="http://schemas.microsoft.com/office/drawing/2014/main" id="{134D68C5-F3B5-13EF-393B-17883153C0D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110752"/>
                  <a:ext cx="200239" cy="300593"/>
                </a:xfrm>
                <a:prstGeom prst="rect">
                  <a:avLst/>
                </a:prstGeom>
              </p:spPr>
            </p:pic>
            <p:pic>
              <p:nvPicPr>
                <p:cNvPr id="1220" name="Picture 1219">
                  <a:extLst>
                    <a:ext uri="{FF2B5EF4-FFF2-40B4-BE49-F238E27FC236}">
                      <a16:creationId xmlns:a16="http://schemas.microsoft.com/office/drawing/2014/main" id="{E03D8A29-37A7-BAED-A0A2-BBE0A5241C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110752"/>
                  <a:ext cx="200239" cy="300593"/>
                </a:xfrm>
                <a:prstGeom prst="rect">
                  <a:avLst/>
                </a:prstGeom>
              </p:spPr>
            </p:pic>
            <p:pic>
              <p:nvPicPr>
                <p:cNvPr id="1221" name="Picture 1220">
                  <a:extLst>
                    <a:ext uri="{FF2B5EF4-FFF2-40B4-BE49-F238E27FC236}">
                      <a16:creationId xmlns:a16="http://schemas.microsoft.com/office/drawing/2014/main" id="{E85F3DDF-2242-E46B-478A-693DDD93CFD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110752"/>
                  <a:ext cx="200239" cy="300593"/>
                </a:xfrm>
                <a:prstGeom prst="rect">
                  <a:avLst/>
                </a:prstGeom>
              </p:spPr>
            </p:pic>
            <p:pic>
              <p:nvPicPr>
                <p:cNvPr id="1237" name="Picture 1236">
                  <a:extLst>
                    <a:ext uri="{FF2B5EF4-FFF2-40B4-BE49-F238E27FC236}">
                      <a16:creationId xmlns:a16="http://schemas.microsoft.com/office/drawing/2014/main" id="{3F9121FD-D2A4-ED81-B6CB-50141D7FE53A}"/>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423955"/>
                  <a:ext cx="200239" cy="300593"/>
                </a:xfrm>
                <a:prstGeom prst="rect">
                  <a:avLst/>
                </a:prstGeom>
              </p:spPr>
            </p:pic>
            <p:pic>
              <p:nvPicPr>
                <p:cNvPr id="1238" name="Picture 1237">
                  <a:extLst>
                    <a:ext uri="{FF2B5EF4-FFF2-40B4-BE49-F238E27FC236}">
                      <a16:creationId xmlns:a16="http://schemas.microsoft.com/office/drawing/2014/main" id="{FBFE27A6-08DC-E44C-DCDE-2243B5E6B1CC}"/>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423954"/>
                  <a:ext cx="200239" cy="300593"/>
                </a:xfrm>
                <a:prstGeom prst="rect">
                  <a:avLst/>
                </a:prstGeom>
              </p:spPr>
            </p:pic>
            <p:pic>
              <p:nvPicPr>
                <p:cNvPr id="1239" name="Picture 1238">
                  <a:extLst>
                    <a:ext uri="{FF2B5EF4-FFF2-40B4-BE49-F238E27FC236}">
                      <a16:creationId xmlns:a16="http://schemas.microsoft.com/office/drawing/2014/main" id="{DB17F9EC-B6AB-57AA-6B39-C0589D9F928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423952"/>
                  <a:ext cx="200239" cy="300593"/>
                </a:xfrm>
                <a:prstGeom prst="rect">
                  <a:avLst/>
                </a:prstGeom>
              </p:spPr>
            </p:pic>
            <p:pic>
              <p:nvPicPr>
                <p:cNvPr id="1240" name="Picture 1239">
                  <a:extLst>
                    <a:ext uri="{FF2B5EF4-FFF2-40B4-BE49-F238E27FC236}">
                      <a16:creationId xmlns:a16="http://schemas.microsoft.com/office/drawing/2014/main" id="{F2DA2B59-5C86-A3A6-AAAB-844289BC7FF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423952"/>
                  <a:ext cx="200239" cy="300593"/>
                </a:xfrm>
                <a:prstGeom prst="rect">
                  <a:avLst/>
                </a:prstGeom>
              </p:spPr>
            </p:pic>
            <p:pic>
              <p:nvPicPr>
                <p:cNvPr id="1241" name="Picture 1240">
                  <a:extLst>
                    <a:ext uri="{FF2B5EF4-FFF2-40B4-BE49-F238E27FC236}">
                      <a16:creationId xmlns:a16="http://schemas.microsoft.com/office/drawing/2014/main" id="{29964C2D-F995-C9CC-CA37-E555E1F07F92}"/>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423952"/>
                  <a:ext cx="200239" cy="300593"/>
                </a:xfrm>
                <a:prstGeom prst="rect">
                  <a:avLst/>
                </a:prstGeom>
              </p:spPr>
            </p:pic>
            <p:pic>
              <p:nvPicPr>
                <p:cNvPr id="1242" name="Picture 1241">
                  <a:extLst>
                    <a:ext uri="{FF2B5EF4-FFF2-40B4-BE49-F238E27FC236}">
                      <a16:creationId xmlns:a16="http://schemas.microsoft.com/office/drawing/2014/main" id="{D709A709-6470-65FB-4EC3-613F9DAEB95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423952"/>
                  <a:ext cx="200239" cy="300593"/>
                </a:xfrm>
                <a:prstGeom prst="rect">
                  <a:avLst/>
                </a:prstGeom>
              </p:spPr>
            </p:pic>
            <p:pic>
              <p:nvPicPr>
                <p:cNvPr id="1243" name="Picture 1242">
                  <a:extLst>
                    <a:ext uri="{FF2B5EF4-FFF2-40B4-BE49-F238E27FC236}">
                      <a16:creationId xmlns:a16="http://schemas.microsoft.com/office/drawing/2014/main" id="{155C1104-C1AD-1181-F009-721A51346B4D}"/>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423952"/>
                  <a:ext cx="200239" cy="300593"/>
                </a:xfrm>
                <a:prstGeom prst="rect">
                  <a:avLst/>
                </a:prstGeom>
              </p:spPr>
            </p:pic>
            <p:pic>
              <p:nvPicPr>
                <p:cNvPr id="1244" name="Picture 1243">
                  <a:extLst>
                    <a:ext uri="{FF2B5EF4-FFF2-40B4-BE49-F238E27FC236}">
                      <a16:creationId xmlns:a16="http://schemas.microsoft.com/office/drawing/2014/main" id="{95C542BD-22B9-0CB1-A6D7-14E154ADDD85}"/>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423952"/>
                  <a:ext cx="200239" cy="300593"/>
                </a:xfrm>
                <a:prstGeom prst="rect">
                  <a:avLst/>
                </a:prstGeom>
              </p:spPr>
            </p:pic>
            <p:pic>
              <p:nvPicPr>
                <p:cNvPr id="1245" name="Picture 1244">
                  <a:extLst>
                    <a:ext uri="{FF2B5EF4-FFF2-40B4-BE49-F238E27FC236}">
                      <a16:creationId xmlns:a16="http://schemas.microsoft.com/office/drawing/2014/main" id="{0A1DE4DE-547D-C0F3-9200-AB54562F9FC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423952"/>
                  <a:ext cx="200239" cy="300593"/>
                </a:xfrm>
                <a:prstGeom prst="rect">
                  <a:avLst/>
                </a:prstGeom>
              </p:spPr>
            </p:pic>
            <p:pic>
              <p:nvPicPr>
                <p:cNvPr id="1246" name="Picture 1245">
                  <a:extLst>
                    <a:ext uri="{FF2B5EF4-FFF2-40B4-BE49-F238E27FC236}">
                      <a16:creationId xmlns:a16="http://schemas.microsoft.com/office/drawing/2014/main" id="{809595D4-4018-095C-01A0-F533247AAD4C}"/>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423952"/>
                  <a:ext cx="200239" cy="300593"/>
                </a:xfrm>
                <a:prstGeom prst="rect">
                  <a:avLst/>
                </a:prstGeom>
              </p:spPr>
            </p:pic>
            <p:pic>
              <p:nvPicPr>
                <p:cNvPr id="1262" name="Picture 1261">
                  <a:extLst>
                    <a:ext uri="{FF2B5EF4-FFF2-40B4-BE49-F238E27FC236}">
                      <a16:creationId xmlns:a16="http://schemas.microsoft.com/office/drawing/2014/main" id="{7EA6C0F2-BBAE-2F91-F5A7-C106276C5480}"/>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36650" y="2737155"/>
                  <a:ext cx="200239" cy="300593"/>
                </a:xfrm>
                <a:prstGeom prst="rect">
                  <a:avLst/>
                </a:prstGeom>
              </p:spPr>
            </p:pic>
            <p:pic>
              <p:nvPicPr>
                <p:cNvPr id="1263" name="Picture 1262">
                  <a:extLst>
                    <a:ext uri="{FF2B5EF4-FFF2-40B4-BE49-F238E27FC236}">
                      <a16:creationId xmlns:a16="http://schemas.microsoft.com/office/drawing/2014/main" id="{9DEFC264-33F7-6565-77F7-BCEAA9918ADE}"/>
                    </a:ext>
                  </a:extLst>
                </p:cNvPr>
                <p:cNvPicPr>
                  <a:picLocks noChangeAspect="1"/>
                </p:cNvPicPr>
                <p:nvPr/>
              </p:nvPicPr>
              <p:blipFill rotWithShape="1">
                <a:blip r:embed="rId3">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25818" y="2737154"/>
                  <a:ext cx="200239" cy="300593"/>
                </a:xfrm>
                <a:prstGeom prst="rect">
                  <a:avLst/>
                </a:prstGeom>
              </p:spPr>
            </p:pic>
            <p:pic>
              <p:nvPicPr>
                <p:cNvPr id="1264" name="Picture 1263">
                  <a:extLst>
                    <a:ext uri="{FF2B5EF4-FFF2-40B4-BE49-F238E27FC236}">
                      <a16:creationId xmlns:a16="http://schemas.microsoft.com/office/drawing/2014/main" id="{7FDB47D1-6D18-F050-9F85-D536623564B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33234" y="2737152"/>
                  <a:ext cx="200239" cy="300593"/>
                </a:xfrm>
                <a:prstGeom prst="rect">
                  <a:avLst/>
                </a:prstGeom>
              </p:spPr>
            </p:pic>
            <p:pic>
              <p:nvPicPr>
                <p:cNvPr id="1265" name="Picture 1264">
                  <a:extLst>
                    <a:ext uri="{FF2B5EF4-FFF2-40B4-BE49-F238E27FC236}">
                      <a16:creationId xmlns:a16="http://schemas.microsoft.com/office/drawing/2014/main" id="{453A2228-2EA3-D379-8360-1E8ED862742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44067" y="2737152"/>
                  <a:ext cx="200239" cy="300593"/>
                </a:xfrm>
                <a:prstGeom prst="rect">
                  <a:avLst/>
                </a:prstGeom>
              </p:spPr>
            </p:pic>
            <p:pic>
              <p:nvPicPr>
                <p:cNvPr id="1266" name="Picture 1265">
                  <a:extLst>
                    <a:ext uri="{FF2B5EF4-FFF2-40B4-BE49-F238E27FC236}">
                      <a16:creationId xmlns:a16="http://schemas.microsoft.com/office/drawing/2014/main" id="{31215497-A984-4A0A-A165-79B9CCA21E71}"/>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54900" y="2737152"/>
                  <a:ext cx="200239" cy="300593"/>
                </a:xfrm>
                <a:prstGeom prst="rect">
                  <a:avLst/>
                </a:prstGeom>
              </p:spPr>
            </p:pic>
            <p:pic>
              <p:nvPicPr>
                <p:cNvPr id="1267" name="Picture 1266">
                  <a:extLst>
                    <a:ext uri="{FF2B5EF4-FFF2-40B4-BE49-F238E27FC236}">
                      <a16:creationId xmlns:a16="http://schemas.microsoft.com/office/drawing/2014/main" id="{9325CC36-9447-D0B9-E62B-2A959B7F7E7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65733" y="2737152"/>
                  <a:ext cx="200239" cy="300593"/>
                </a:xfrm>
                <a:prstGeom prst="rect">
                  <a:avLst/>
                </a:prstGeom>
              </p:spPr>
            </p:pic>
            <p:pic>
              <p:nvPicPr>
                <p:cNvPr id="1268" name="Picture 1267">
                  <a:extLst>
                    <a:ext uri="{FF2B5EF4-FFF2-40B4-BE49-F238E27FC236}">
                      <a16:creationId xmlns:a16="http://schemas.microsoft.com/office/drawing/2014/main" id="{2CEF10C9-C074-DB9D-3064-3F0C7E1411B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76566" y="2737152"/>
                  <a:ext cx="200239" cy="300593"/>
                </a:xfrm>
                <a:prstGeom prst="rect">
                  <a:avLst/>
                </a:prstGeom>
              </p:spPr>
            </p:pic>
            <p:pic>
              <p:nvPicPr>
                <p:cNvPr id="1269" name="Picture 1268">
                  <a:extLst>
                    <a:ext uri="{FF2B5EF4-FFF2-40B4-BE49-F238E27FC236}">
                      <a16:creationId xmlns:a16="http://schemas.microsoft.com/office/drawing/2014/main" id="{FB364ED6-2770-E40A-DDF7-B9EDC05EE09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88354" y="2737152"/>
                  <a:ext cx="200239" cy="300593"/>
                </a:xfrm>
                <a:prstGeom prst="rect">
                  <a:avLst/>
                </a:prstGeom>
              </p:spPr>
            </p:pic>
            <p:pic>
              <p:nvPicPr>
                <p:cNvPr id="1270" name="Picture 1269">
                  <a:extLst>
                    <a:ext uri="{FF2B5EF4-FFF2-40B4-BE49-F238E27FC236}">
                      <a16:creationId xmlns:a16="http://schemas.microsoft.com/office/drawing/2014/main" id="{13787CBB-5FFA-57DE-B193-AE2E7F644C3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99187" y="2737152"/>
                  <a:ext cx="200239" cy="300593"/>
                </a:xfrm>
                <a:prstGeom prst="rect">
                  <a:avLst/>
                </a:prstGeom>
              </p:spPr>
            </p:pic>
            <p:pic>
              <p:nvPicPr>
                <p:cNvPr id="1271" name="Picture 1270">
                  <a:extLst>
                    <a:ext uri="{FF2B5EF4-FFF2-40B4-BE49-F238E27FC236}">
                      <a16:creationId xmlns:a16="http://schemas.microsoft.com/office/drawing/2014/main" id="{7A2F8529-207E-ECA8-FFDA-D66F702F9AB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0020" y="2737152"/>
                  <a:ext cx="200239" cy="300593"/>
                </a:xfrm>
                <a:prstGeom prst="rect">
                  <a:avLst/>
                </a:prstGeom>
              </p:spPr>
            </p:pic>
          </p:grpSp>
        </p:grpSp>
      </p:grpSp>
      <p:grpSp>
        <p:nvGrpSpPr>
          <p:cNvPr id="15" name="Group 14">
            <a:extLst>
              <a:ext uri="{FF2B5EF4-FFF2-40B4-BE49-F238E27FC236}">
                <a16:creationId xmlns:a16="http://schemas.microsoft.com/office/drawing/2014/main" id="{C708DF86-C0AC-1334-D764-AAA2C1FB8AD6}"/>
              </a:ext>
            </a:extLst>
          </p:cNvPr>
          <p:cNvGrpSpPr/>
          <p:nvPr/>
        </p:nvGrpSpPr>
        <p:grpSpPr>
          <a:xfrm>
            <a:off x="540000" y="3981600"/>
            <a:ext cx="2667026" cy="2556508"/>
            <a:chOff x="540000" y="3752812"/>
            <a:chExt cx="2667026" cy="2556508"/>
          </a:xfrm>
        </p:grpSpPr>
        <p:sp>
          <p:nvSpPr>
            <p:cNvPr id="175" name="TextBox 174">
              <a:extLst>
                <a:ext uri="{FF2B5EF4-FFF2-40B4-BE49-F238E27FC236}">
                  <a16:creationId xmlns:a16="http://schemas.microsoft.com/office/drawing/2014/main" id="{A8848BF7-1D28-CAB1-A36B-1FB36B1359BF}"/>
                </a:ext>
              </a:extLst>
            </p:cNvPr>
            <p:cNvSpPr txBox="1"/>
            <p:nvPr/>
          </p:nvSpPr>
          <p:spPr>
            <a:xfrm>
              <a:off x="540000" y="3752812"/>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sp>
          <p:nvSpPr>
            <p:cNvPr id="306" name="TextBox 305">
              <a:extLst>
                <a:ext uri="{FF2B5EF4-FFF2-40B4-BE49-F238E27FC236}">
                  <a16:creationId xmlns:a16="http://schemas.microsoft.com/office/drawing/2014/main" id="{0E082F65-F899-66A1-00AB-F187AC738C71}"/>
                </a:ext>
              </a:extLst>
            </p:cNvPr>
            <p:cNvSpPr txBox="1"/>
            <p:nvPr/>
          </p:nvSpPr>
          <p:spPr>
            <a:xfrm>
              <a:off x="578599" y="5786100"/>
              <a:ext cx="2628427" cy="523220"/>
            </a:xfrm>
            <a:prstGeom prst="rect">
              <a:avLst/>
            </a:prstGeom>
            <a:noFill/>
          </p:spPr>
          <p:txBody>
            <a:bodyPr wrap="square" rtlCol="0">
              <a:spAutoFit/>
            </a:bodyPr>
            <a:lstStyle/>
            <a:p>
              <a:r>
                <a:rPr lang="nl-BE" sz="1400" dirty="0"/>
                <a:t>10x </a:t>
              </a:r>
              <a:r>
                <a:rPr lang="nl-BE" sz="1400" dirty="0" err="1"/>
                <a:t>Granite</a:t>
              </a:r>
              <a:r>
                <a:rPr lang="nl-BE" sz="1400" dirty="0"/>
                <a:t> Rapids 192c  1.5 </a:t>
              </a:r>
              <a:r>
                <a:rPr lang="nl-BE" sz="1400" dirty="0" err="1"/>
                <a:t>TiB</a:t>
              </a:r>
              <a:br>
                <a:rPr lang="nl-BE" sz="1400" dirty="0"/>
              </a:br>
              <a:endParaRPr lang="nl-BE" sz="1400" dirty="0"/>
            </a:p>
          </p:txBody>
        </p:sp>
        <p:grpSp>
          <p:nvGrpSpPr>
            <p:cNvPr id="14" name="Group 13">
              <a:extLst>
                <a:ext uri="{FF2B5EF4-FFF2-40B4-BE49-F238E27FC236}">
                  <a16:creationId xmlns:a16="http://schemas.microsoft.com/office/drawing/2014/main" id="{37BD9711-21D2-EDF5-EC6F-C97F9A5EB93C}"/>
                </a:ext>
              </a:extLst>
            </p:cNvPr>
            <p:cNvGrpSpPr/>
            <p:nvPr/>
          </p:nvGrpSpPr>
          <p:grpSpPr>
            <a:xfrm>
              <a:off x="578599" y="4238873"/>
              <a:ext cx="2418885" cy="1475219"/>
              <a:chOff x="578599" y="4238873"/>
              <a:chExt cx="2418885" cy="1475219"/>
            </a:xfrm>
          </p:grpSpPr>
          <p:sp>
            <p:nvSpPr>
              <p:cNvPr id="168" name="Rounded Rectangle 167">
                <a:extLst>
                  <a:ext uri="{FF2B5EF4-FFF2-40B4-BE49-F238E27FC236}">
                    <a16:creationId xmlns:a16="http://schemas.microsoft.com/office/drawing/2014/main" id="{56886EAE-223C-70ED-C9DA-A6D5C873F002}"/>
                  </a:ext>
                </a:extLst>
              </p:cNvPr>
              <p:cNvSpPr/>
              <p:nvPr/>
            </p:nvSpPr>
            <p:spPr>
              <a:xfrm>
                <a:off x="578599" y="4238873"/>
                <a:ext cx="2418885" cy="1475219"/>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E217CC1F-77AF-0BDC-49CF-AE818F246842}"/>
                  </a:ext>
                </a:extLst>
              </p:cNvPr>
              <p:cNvGrpSpPr/>
              <p:nvPr/>
            </p:nvGrpSpPr>
            <p:grpSpPr>
              <a:xfrm>
                <a:off x="823011" y="4447905"/>
                <a:ext cx="1873332" cy="1046015"/>
                <a:chOff x="823011" y="4447905"/>
                <a:chExt cx="1873332" cy="1046015"/>
              </a:xfrm>
            </p:grpSpPr>
            <p:pic>
              <p:nvPicPr>
                <p:cNvPr id="515" name="Picture 514">
                  <a:extLst>
                    <a:ext uri="{FF2B5EF4-FFF2-40B4-BE49-F238E27FC236}">
                      <a16:creationId xmlns:a16="http://schemas.microsoft.com/office/drawing/2014/main" id="{A9BB0601-B158-4935-B3A0-BAFEED2FE9F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3011" y="4448113"/>
                  <a:ext cx="345543" cy="518720"/>
                </a:xfrm>
                <a:prstGeom prst="rect">
                  <a:avLst/>
                </a:prstGeom>
              </p:spPr>
            </p:pic>
            <p:pic>
              <p:nvPicPr>
                <p:cNvPr id="516" name="Picture 515">
                  <a:extLst>
                    <a:ext uri="{FF2B5EF4-FFF2-40B4-BE49-F238E27FC236}">
                      <a16:creationId xmlns:a16="http://schemas.microsoft.com/office/drawing/2014/main" id="{8AFF2247-FBFB-27DA-FD64-A110638F1147}"/>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4046" y="4448113"/>
                  <a:ext cx="345543" cy="518720"/>
                </a:xfrm>
                <a:prstGeom prst="rect">
                  <a:avLst/>
                </a:prstGeom>
              </p:spPr>
            </p:pic>
            <p:pic>
              <p:nvPicPr>
                <p:cNvPr id="517" name="Picture 516">
                  <a:extLst>
                    <a:ext uri="{FF2B5EF4-FFF2-40B4-BE49-F238E27FC236}">
                      <a16:creationId xmlns:a16="http://schemas.microsoft.com/office/drawing/2014/main" id="{E2541E44-91E0-FE1A-EEB1-0846FC85995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7920" y="4448113"/>
                  <a:ext cx="345543" cy="518720"/>
                </a:xfrm>
                <a:prstGeom prst="rect">
                  <a:avLst/>
                </a:prstGeom>
              </p:spPr>
            </p:pic>
            <p:pic>
              <p:nvPicPr>
                <p:cNvPr id="518" name="Picture 517">
                  <a:extLst>
                    <a:ext uri="{FF2B5EF4-FFF2-40B4-BE49-F238E27FC236}">
                      <a16:creationId xmlns:a16="http://schemas.microsoft.com/office/drawing/2014/main" id="{8DB46717-08E3-42F1-811C-B8C4A9BBACC0}"/>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48955" y="4448113"/>
                  <a:ext cx="345543" cy="518720"/>
                </a:xfrm>
                <a:prstGeom prst="rect">
                  <a:avLst/>
                </a:prstGeom>
              </p:spPr>
            </p:pic>
            <p:pic>
              <p:nvPicPr>
                <p:cNvPr id="519" name="Picture 518">
                  <a:extLst>
                    <a:ext uri="{FF2B5EF4-FFF2-40B4-BE49-F238E27FC236}">
                      <a16:creationId xmlns:a16="http://schemas.microsoft.com/office/drawing/2014/main" id="{453E4DD1-4B91-AD50-86DC-EC9F358D4386}"/>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862" y="4447905"/>
                  <a:ext cx="345543" cy="518720"/>
                </a:xfrm>
                <a:prstGeom prst="rect">
                  <a:avLst/>
                </a:prstGeom>
              </p:spPr>
            </p:pic>
            <p:pic>
              <p:nvPicPr>
                <p:cNvPr id="3" name="Picture 2">
                  <a:extLst>
                    <a:ext uri="{FF2B5EF4-FFF2-40B4-BE49-F238E27FC236}">
                      <a16:creationId xmlns:a16="http://schemas.microsoft.com/office/drawing/2014/main" id="{8420A29A-60F9-AA9E-E590-F883CC82511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824400" y="4975200"/>
                  <a:ext cx="345543" cy="518720"/>
                </a:xfrm>
                <a:prstGeom prst="rect">
                  <a:avLst/>
                </a:prstGeom>
              </p:spPr>
            </p:pic>
            <p:pic>
              <p:nvPicPr>
                <p:cNvPr id="5" name="Picture 4">
                  <a:extLst>
                    <a:ext uri="{FF2B5EF4-FFF2-40B4-BE49-F238E27FC236}">
                      <a16:creationId xmlns:a16="http://schemas.microsoft.com/office/drawing/2014/main" id="{95E07AF1-78D9-B44B-C799-A0C5F2C1A1DF}"/>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206000" y="4975200"/>
                  <a:ext cx="345543" cy="518720"/>
                </a:xfrm>
                <a:prstGeom prst="rect">
                  <a:avLst/>
                </a:prstGeom>
              </p:spPr>
            </p:pic>
            <p:pic>
              <p:nvPicPr>
                <p:cNvPr id="7" name="Picture 6">
                  <a:extLst>
                    <a:ext uri="{FF2B5EF4-FFF2-40B4-BE49-F238E27FC236}">
                      <a16:creationId xmlns:a16="http://schemas.microsoft.com/office/drawing/2014/main" id="{BB3B0D08-07D7-CD7D-F41E-5B3C93799A79}"/>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9200" y="4975200"/>
                  <a:ext cx="345543" cy="518720"/>
                </a:xfrm>
                <a:prstGeom prst="rect">
                  <a:avLst/>
                </a:prstGeom>
              </p:spPr>
            </p:pic>
            <p:pic>
              <p:nvPicPr>
                <p:cNvPr id="9" name="Picture 8">
                  <a:extLst>
                    <a:ext uri="{FF2B5EF4-FFF2-40B4-BE49-F238E27FC236}">
                      <a16:creationId xmlns:a16="http://schemas.microsoft.com/office/drawing/2014/main" id="{317A23B9-F183-4F06-A446-22013788F31B}"/>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50800" y="4975200"/>
                  <a:ext cx="345543" cy="518720"/>
                </a:xfrm>
                <a:prstGeom prst="rect">
                  <a:avLst/>
                </a:prstGeom>
              </p:spPr>
            </p:pic>
            <p:pic>
              <p:nvPicPr>
                <p:cNvPr id="12" name="Picture 11">
                  <a:extLst>
                    <a:ext uri="{FF2B5EF4-FFF2-40B4-BE49-F238E27FC236}">
                      <a16:creationId xmlns:a16="http://schemas.microsoft.com/office/drawing/2014/main" id="{265A1D50-C9F9-2864-4A24-B3F7D13F4F83}"/>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7600" y="4975200"/>
                  <a:ext cx="345543" cy="518720"/>
                </a:xfrm>
                <a:prstGeom prst="rect">
                  <a:avLst/>
                </a:prstGeom>
              </p:spPr>
            </p:pic>
          </p:grpSp>
        </p:grpSp>
      </p:grpSp>
      <p:grpSp>
        <p:nvGrpSpPr>
          <p:cNvPr id="93" name="Group 92">
            <a:extLst>
              <a:ext uri="{FF2B5EF4-FFF2-40B4-BE49-F238E27FC236}">
                <a16:creationId xmlns:a16="http://schemas.microsoft.com/office/drawing/2014/main" id="{8077CAAD-38EF-5A0C-38EF-E75CB802FCA0}"/>
              </a:ext>
            </a:extLst>
          </p:cNvPr>
          <p:cNvGrpSpPr/>
          <p:nvPr/>
        </p:nvGrpSpPr>
        <p:grpSpPr>
          <a:xfrm>
            <a:off x="3888000" y="1306800"/>
            <a:ext cx="2665398" cy="2557220"/>
            <a:chOff x="3718634" y="3751200"/>
            <a:chExt cx="2665398" cy="2557220"/>
          </a:xfrm>
        </p:grpSpPr>
        <p:sp>
          <p:nvSpPr>
            <p:cNvPr id="17" name="Rounded Rectangle 168">
              <a:extLst>
                <a:ext uri="{FF2B5EF4-FFF2-40B4-BE49-F238E27FC236}">
                  <a16:creationId xmlns:a16="http://schemas.microsoft.com/office/drawing/2014/main" id="{451F6DCD-9264-837C-BDCC-E3A7DE6B6018}"/>
                </a:ext>
              </a:extLst>
            </p:cNvPr>
            <p:cNvSpPr/>
            <p:nvPr/>
          </p:nvSpPr>
          <p:spPr>
            <a:xfrm>
              <a:off x="3804765" y="4240800"/>
              <a:ext cx="2075211" cy="1476000"/>
            </a:xfrm>
            <a:prstGeom prst="roundRect">
              <a:avLst>
                <a:gd name="adj" fmla="val 1322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A9AA44-B960-E8A1-25D9-0CC7B43772E6}"/>
                </a:ext>
              </a:extLst>
            </p:cNvPr>
            <p:cNvSpPr txBox="1"/>
            <p:nvPr/>
          </p:nvSpPr>
          <p:spPr>
            <a:xfrm>
              <a:off x="3718634" y="3751200"/>
              <a:ext cx="1770036" cy="369332"/>
            </a:xfrm>
            <a:prstGeom prst="rect">
              <a:avLst/>
            </a:prstGeom>
            <a:noFill/>
          </p:spPr>
          <p:txBody>
            <a:bodyPr wrap="none" rtlCol="0">
              <a:spAutoFit/>
            </a:bodyPr>
            <a:lstStyle/>
            <a:p>
              <a:r>
                <a:rPr lang="nl-BE" b="1" dirty="0"/>
                <a:t>B200 GPU </a:t>
              </a:r>
              <a:r>
                <a:rPr lang="nl-BE" b="1" dirty="0" err="1"/>
                <a:t>nodes</a:t>
              </a:r>
              <a:endParaRPr lang="nl-BE" b="1" dirty="0"/>
            </a:p>
          </p:txBody>
        </p:sp>
        <p:sp>
          <p:nvSpPr>
            <p:cNvPr id="19" name="TextBox 18">
              <a:extLst>
                <a:ext uri="{FF2B5EF4-FFF2-40B4-BE49-F238E27FC236}">
                  <a16:creationId xmlns:a16="http://schemas.microsoft.com/office/drawing/2014/main" id="{41EF716B-8690-6D33-F0DF-68815EDF6DB5}"/>
                </a:ext>
              </a:extLst>
            </p:cNvPr>
            <p:cNvSpPr txBox="1"/>
            <p:nvPr/>
          </p:nvSpPr>
          <p:spPr>
            <a:xfrm>
              <a:off x="3804765" y="5785200"/>
              <a:ext cx="2579267" cy="523220"/>
            </a:xfrm>
            <a:prstGeom prst="rect">
              <a:avLst/>
            </a:prstGeom>
            <a:noFill/>
          </p:spPr>
          <p:txBody>
            <a:bodyPr wrap="square" rtlCol="0">
              <a:spAutoFit/>
            </a:bodyPr>
            <a:lstStyle/>
            <a:p>
              <a:r>
                <a:rPr lang="nl-BE" sz="1400" dirty="0"/>
                <a:t>3x AMD </a:t>
              </a:r>
              <a:r>
                <a:rPr lang="nl-BE" sz="1400" dirty="0" err="1"/>
                <a:t>Turin</a:t>
              </a:r>
              <a:r>
                <a:rPr lang="nl-BE" sz="1400" dirty="0"/>
                <a:t> 192c 1.5 </a:t>
              </a:r>
              <a:r>
                <a:rPr lang="nl-BE" sz="1400" dirty="0" err="1"/>
                <a:t>TiB</a:t>
              </a:r>
              <a:endParaRPr lang="nl-BE" sz="1400" dirty="0"/>
            </a:p>
            <a:p>
              <a:r>
                <a:rPr lang="nl-BE" sz="1400" dirty="0"/>
                <a:t>8 B200 SXM6 192 </a:t>
              </a:r>
              <a:r>
                <a:rPr lang="nl-BE" sz="1400" dirty="0" err="1"/>
                <a:t>GiB</a:t>
              </a:r>
              <a:endParaRPr lang="nl-BE" sz="1400" dirty="0"/>
            </a:p>
          </p:txBody>
        </p:sp>
        <p:grpSp>
          <p:nvGrpSpPr>
            <p:cNvPr id="69" name="Group 68">
              <a:extLst>
                <a:ext uri="{FF2B5EF4-FFF2-40B4-BE49-F238E27FC236}">
                  <a16:creationId xmlns:a16="http://schemas.microsoft.com/office/drawing/2014/main" id="{FE3E6AE4-3EBA-4741-F40A-17DF79037DE5}"/>
                </a:ext>
              </a:extLst>
            </p:cNvPr>
            <p:cNvGrpSpPr/>
            <p:nvPr/>
          </p:nvGrpSpPr>
          <p:grpSpPr>
            <a:xfrm>
              <a:off x="4007768" y="4536000"/>
              <a:ext cx="445236" cy="879714"/>
              <a:chOff x="5226044" y="1807661"/>
              <a:chExt cx="445236" cy="879714"/>
            </a:xfrm>
          </p:grpSpPr>
          <p:pic>
            <p:nvPicPr>
              <p:cNvPr id="51" name="Picture 2" descr="iOS icon">
                <a:extLst>
                  <a:ext uri="{FF2B5EF4-FFF2-40B4-BE49-F238E27FC236}">
                    <a16:creationId xmlns:a16="http://schemas.microsoft.com/office/drawing/2014/main" id="{33099E59-4BA1-83A1-C66F-1058A3F7843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OS icon">
                <a:extLst>
                  <a:ext uri="{FF2B5EF4-FFF2-40B4-BE49-F238E27FC236}">
                    <a16:creationId xmlns:a16="http://schemas.microsoft.com/office/drawing/2014/main" id="{DF0C33B2-AA52-70C5-31F6-90668FABADD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OS icon">
                <a:extLst>
                  <a:ext uri="{FF2B5EF4-FFF2-40B4-BE49-F238E27FC236}">
                    <a16:creationId xmlns:a16="http://schemas.microsoft.com/office/drawing/2014/main" id="{CC30714F-9B8F-0F7C-B45F-E5B1362608F7}"/>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2" descr="iOS icon">
                <a:extLst>
                  <a:ext uri="{FF2B5EF4-FFF2-40B4-BE49-F238E27FC236}">
                    <a16:creationId xmlns:a16="http://schemas.microsoft.com/office/drawing/2014/main" id="{D6322D5D-2334-1464-3AC2-CBE67FCD7AB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59" name="Rectangle 58">
                <a:extLst>
                  <a:ext uri="{FF2B5EF4-FFF2-40B4-BE49-F238E27FC236}">
                    <a16:creationId xmlns:a16="http://schemas.microsoft.com/office/drawing/2014/main" id="{C2C1C8CF-64C1-1C80-0511-339B73B7AE36}"/>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2" name="Picture 2" descr="iOS icon">
                <a:extLst>
                  <a:ext uri="{FF2B5EF4-FFF2-40B4-BE49-F238E27FC236}">
                    <a16:creationId xmlns:a16="http://schemas.microsoft.com/office/drawing/2014/main" id="{C31E103D-5B16-A0D0-C1B1-6F9B0D8627B8}"/>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 descr="iOS icon">
                <a:extLst>
                  <a:ext uri="{FF2B5EF4-FFF2-40B4-BE49-F238E27FC236}">
                    <a16:creationId xmlns:a16="http://schemas.microsoft.com/office/drawing/2014/main" id="{C50CDF49-B210-9138-1DFE-B3AC80711E8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2" descr="iOS icon">
                <a:extLst>
                  <a:ext uri="{FF2B5EF4-FFF2-40B4-BE49-F238E27FC236}">
                    <a16:creationId xmlns:a16="http://schemas.microsoft.com/office/drawing/2014/main" id="{14093593-67E5-8851-84A8-E0BB519ACD5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2" descr="iOS icon">
                <a:extLst>
                  <a:ext uri="{FF2B5EF4-FFF2-40B4-BE49-F238E27FC236}">
                    <a16:creationId xmlns:a16="http://schemas.microsoft.com/office/drawing/2014/main" id="{C9B9FE35-C2AF-546E-6A94-5C3245444570}"/>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0" name="Group 69">
              <a:extLst>
                <a:ext uri="{FF2B5EF4-FFF2-40B4-BE49-F238E27FC236}">
                  <a16:creationId xmlns:a16="http://schemas.microsoft.com/office/drawing/2014/main" id="{D24F2C9E-AE73-D6ED-A8F5-27BDB5770267}"/>
                </a:ext>
              </a:extLst>
            </p:cNvPr>
            <p:cNvGrpSpPr/>
            <p:nvPr/>
          </p:nvGrpSpPr>
          <p:grpSpPr>
            <a:xfrm>
              <a:off x="4619752" y="4536000"/>
              <a:ext cx="445236" cy="879714"/>
              <a:chOff x="5226044" y="1807661"/>
              <a:chExt cx="445236" cy="879714"/>
            </a:xfrm>
          </p:grpSpPr>
          <p:pic>
            <p:nvPicPr>
              <p:cNvPr id="71" name="Picture 2" descr="iOS icon">
                <a:extLst>
                  <a:ext uri="{FF2B5EF4-FFF2-40B4-BE49-F238E27FC236}">
                    <a16:creationId xmlns:a16="http://schemas.microsoft.com/office/drawing/2014/main" id="{5A87FDBD-0307-9F08-ED60-7B269CEDBC6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iOS icon">
                <a:extLst>
                  <a:ext uri="{FF2B5EF4-FFF2-40B4-BE49-F238E27FC236}">
                    <a16:creationId xmlns:a16="http://schemas.microsoft.com/office/drawing/2014/main" id="{72C78DE3-15F2-988C-732D-9FD63EC9BFF9}"/>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OS icon">
                <a:extLst>
                  <a:ext uri="{FF2B5EF4-FFF2-40B4-BE49-F238E27FC236}">
                    <a16:creationId xmlns:a16="http://schemas.microsoft.com/office/drawing/2014/main" id="{A72A23D1-4DCF-D5DD-7B89-51F0E94158B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iOS icon">
                <a:extLst>
                  <a:ext uri="{FF2B5EF4-FFF2-40B4-BE49-F238E27FC236}">
                    <a16:creationId xmlns:a16="http://schemas.microsoft.com/office/drawing/2014/main" id="{10696C0E-F8C3-1724-BAAE-6B3B7272ADA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75" name="Rectangle 74">
                <a:extLst>
                  <a:ext uri="{FF2B5EF4-FFF2-40B4-BE49-F238E27FC236}">
                    <a16:creationId xmlns:a16="http://schemas.microsoft.com/office/drawing/2014/main" id="{7257085A-DF59-2D0E-6AE6-C1DA0189592D}"/>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6" name="Picture 2" descr="iOS icon">
                <a:extLst>
                  <a:ext uri="{FF2B5EF4-FFF2-40B4-BE49-F238E27FC236}">
                    <a16:creationId xmlns:a16="http://schemas.microsoft.com/office/drawing/2014/main" id="{0B3BC020-CD76-A625-B537-E95C48F1659C}"/>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iOS icon">
                <a:extLst>
                  <a:ext uri="{FF2B5EF4-FFF2-40B4-BE49-F238E27FC236}">
                    <a16:creationId xmlns:a16="http://schemas.microsoft.com/office/drawing/2014/main" id="{8F512ACE-71B3-0AF7-9E9C-B181208B9686}"/>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 descr="iOS icon">
                <a:extLst>
                  <a:ext uri="{FF2B5EF4-FFF2-40B4-BE49-F238E27FC236}">
                    <a16:creationId xmlns:a16="http://schemas.microsoft.com/office/drawing/2014/main" id="{CF93FD11-7BDE-61E7-C1FD-76C03AC1161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 descr="iOS icon">
                <a:extLst>
                  <a:ext uri="{FF2B5EF4-FFF2-40B4-BE49-F238E27FC236}">
                    <a16:creationId xmlns:a16="http://schemas.microsoft.com/office/drawing/2014/main" id="{AAB2C2E9-C5B5-4281-29E7-1B732478A61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80" name="Group 79">
              <a:extLst>
                <a:ext uri="{FF2B5EF4-FFF2-40B4-BE49-F238E27FC236}">
                  <a16:creationId xmlns:a16="http://schemas.microsoft.com/office/drawing/2014/main" id="{D16367C7-D3D6-2632-C379-44F7652E2DA5}"/>
                </a:ext>
              </a:extLst>
            </p:cNvPr>
            <p:cNvGrpSpPr/>
            <p:nvPr/>
          </p:nvGrpSpPr>
          <p:grpSpPr>
            <a:xfrm>
              <a:off x="5228900" y="4536000"/>
              <a:ext cx="445236" cy="879714"/>
              <a:chOff x="5226044" y="1807661"/>
              <a:chExt cx="445236" cy="879714"/>
            </a:xfrm>
          </p:grpSpPr>
          <p:pic>
            <p:nvPicPr>
              <p:cNvPr id="81" name="Picture 2" descr="iOS icon">
                <a:extLst>
                  <a:ext uri="{FF2B5EF4-FFF2-40B4-BE49-F238E27FC236}">
                    <a16:creationId xmlns:a16="http://schemas.microsoft.com/office/drawing/2014/main" id="{DFD4E6FA-1B50-0672-41F0-A5306F49B71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2275054"/>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 descr="iOS icon">
                <a:extLst>
                  <a:ext uri="{FF2B5EF4-FFF2-40B4-BE49-F238E27FC236}">
                    <a16:creationId xmlns:a16="http://schemas.microsoft.com/office/drawing/2014/main" id="{00FCB746-9194-9F32-689E-139912AF82D1}"/>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 descr="iOS icon">
                <a:extLst>
                  <a:ext uri="{FF2B5EF4-FFF2-40B4-BE49-F238E27FC236}">
                    <a16:creationId xmlns:a16="http://schemas.microsoft.com/office/drawing/2014/main" id="{AD0DED6D-8F0C-137E-801B-93DD563966D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494958"/>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 descr="iOS icon">
                <a:extLst>
                  <a:ext uri="{FF2B5EF4-FFF2-40B4-BE49-F238E27FC236}">
                    <a16:creationId xmlns:a16="http://schemas.microsoft.com/office/drawing/2014/main" id="{3B428AB0-55EC-4D80-5A5A-D96F6915220E}"/>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2275054"/>
                <a:ext cx="187412" cy="184252"/>
              </a:xfrm>
              <a:prstGeom prst="rect">
                <a:avLst/>
              </a:prstGeom>
              <a:noFill/>
              <a:extLst>
                <a:ext uri="{909E8E84-426E-40DD-AFC4-6F175D3DCCD1}">
                  <a14:hiddenFill xmlns:a14="http://schemas.microsoft.com/office/drawing/2010/main">
                    <a:solidFill>
                      <a:srgbClr val="FFFFFF"/>
                    </a:solidFill>
                  </a14:hiddenFill>
                </a:ext>
              </a:extLst>
            </p:spPr>
          </p:pic>
          <p:sp>
            <p:nvSpPr>
              <p:cNvPr id="85" name="Rectangle 84">
                <a:extLst>
                  <a:ext uri="{FF2B5EF4-FFF2-40B4-BE49-F238E27FC236}">
                    <a16:creationId xmlns:a16="http://schemas.microsoft.com/office/drawing/2014/main" id="{E1E005BD-8C84-0F44-A3B3-FCE3716DBE88}"/>
                  </a:ext>
                </a:extLst>
              </p:cNvPr>
              <p:cNvSpPr/>
              <p:nvPr/>
            </p:nvSpPr>
            <p:spPr>
              <a:xfrm>
                <a:off x="5226044" y="1807661"/>
                <a:ext cx="445236" cy="879714"/>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6" name="Picture 2" descr="iOS icon">
                <a:extLst>
                  <a:ext uri="{FF2B5EF4-FFF2-40B4-BE49-F238E27FC236}">
                    <a16:creationId xmlns:a16="http://schemas.microsoft.com/office/drawing/2014/main" id="{D8CF2DC5-5EB1-31EA-5EE3-3E4FC7658F82}"/>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8" y="1835246"/>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iOS icon">
                <a:extLst>
                  <a:ext uri="{FF2B5EF4-FFF2-40B4-BE49-F238E27FC236}">
                    <a16:creationId xmlns:a16="http://schemas.microsoft.com/office/drawing/2014/main" id="{20A9F080-1D0D-0440-6ADF-E8A20FCC215B}"/>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3"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 descr="iOS icon">
                <a:extLst>
                  <a:ext uri="{FF2B5EF4-FFF2-40B4-BE49-F238E27FC236}">
                    <a16:creationId xmlns:a16="http://schemas.microsoft.com/office/drawing/2014/main" id="{4C3E1667-685E-0BEC-B96C-11384FF72F8F}"/>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248107" y="2055150"/>
                <a:ext cx="187412" cy="18425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 descr="iOS icon">
                <a:extLst>
                  <a:ext uri="{FF2B5EF4-FFF2-40B4-BE49-F238E27FC236}">
                    <a16:creationId xmlns:a16="http://schemas.microsoft.com/office/drawing/2014/main" id="{277D5D9F-8318-A4DF-AAC9-9900FE6DCC13}"/>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467221" y="1835246"/>
                <a:ext cx="187412" cy="184252"/>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11" name="Group 110">
            <a:extLst>
              <a:ext uri="{FF2B5EF4-FFF2-40B4-BE49-F238E27FC236}">
                <a16:creationId xmlns:a16="http://schemas.microsoft.com/office/drawing/2014/main" id="{B4C9AF4C-2B6C-D28B-9189-BA6653FF3B47}"/>
              </a:ext>
            </a:extLst>
          </p:cNvPr>
          <p:cNvGrpSpPr/>
          <p:nvPr/>
        </p:nvGrpSpPr>
        <p:grpSpPr>
          <a:xfrm>
            <a:off x="3888000" y="3981600"/>
            <a:ext cx="2628427" cy="1967680"/>
            <a:chOff x="8057035" y="1937625"/>
            <a:chExt cx="2628427" cy="1967680"/>
          </a:xfrm>
        </p:grpSpPr>
        <p:grpSp>
          <p:nvGrpSpPr>
            <p:cNvPr id="112" name="Group 111">
              <a:extLst>
                <a:ext uri="{FF2B5EF4-FFF2-40B4-BE49-F238E27FC236}">
                  <a16:creationId xmlns:a16="http://schemas.microsoft.com/office/drawing/2014/main" id="{7F367FA6-EE59-E973-3CB7-90C261A983BF}"/>
                </a:ext>
              </a:extLst>
            </p:cNvPr>
            <p:cNvGrpSpPr/>
            <p:nvPr/>
          </p:nvGrpSpPr>
          <p:grpSpPr>
            <a:xfrm>
              <a:off x="8066143" y="1937625"/>
              <a:ext cx="2082621" cy="1391616"/>
              <a:chOff x="9407721" y="1690379"/>
              <a:chExt cx="2082621" cy="1391616"/>
            </a:xfrm>
          </p:grpSpPr>
          <p:sp>
            <p:nvSpPr>
              <p:cNvPr id="114" name="TextBox 113">
                <a:extLst>
                  <a:ext uri="{FF2B5EF4-FFF2-40B4-BE49-F238E27FC236}">
                    <a16:creationId xmlns:a16="http://schemas.microsoft.com/office/drawing/2014/main" id="{05204442-6937-FE0B-8C5A-F80ED34D2FDD}"/>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116" name="Rounded Rectangle 167">
                <a:extLst>
                  <a:ext uri="{FF2B5EF4-FFF2-40B4-BE49-F238E27FC236}">
                    <a16:creationId xmlns:a16="http://schemas.microsoft.com/office/drawing/2014/main" id="{4330A1CC-83F2-A393-2A4C-372C853630E1}"/>
                  </a:ext>
                </a:extLst>
              </p:cNvPr>
              <p:cNvSpPr/>
              <p:nvPr/>
            </p:nvSpPr>
            <p:spPr>
              <a:xfrm>
                <a:off x="9479846" y="2184430"/>
                <a:ext cx="1890000" cy="89756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7" name="Group 116">
                <a:extLst>
                  <a:ext uri="{FF2B5EF4-FFF2-40B4-BE49-F238E27FC236}">
                    <a16:creationId xmlns:a16="http://schemas.microsoft.com/office/drawing/2014/main" id="{F29699B5-F019-49F3-789A-03CC14F772E1}"/>
                  </a:ext>
                </a:extLst>
              </p:cNvPr>
              <p:cNvGrpSpPr/>
              <p:nvPr/>
            </p:nvGrpSpPr>
            <p:grpSpPr>
              <a:xfrm>
                <a:off x="10439924" y="2433923"/>
                <a:ext cx="416838" cy="407813"/>
                <a:chOff x="10438638" y="2446833"/>
                <a:chExt cx="416838" cy="407813"/>
              </a:xfrm>
            </p:grpSpPr>
            <p:pic>
              <p:nvPicPr>
                <p:cNvPr id="127" name="Picture 126">
                  <a:extLst>
                    <a:ext uri="{FF2B5EF4-FFF2-40B4-BE49-F238E27FC236}">
                      <a16:creationId xmlns:a16="http://schemas.microsoft.com/office/drawing/2014/main" id="{01883F53-BFC4-1E12-0B7C-1E984715F154}"/>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438638" y="2446833"/>
                  <a:ext cx="271663" cy="407813"/>
                </a:xfrm>
                <a:prstGeom prst="rect">
                  <a:avLst/>
                </a:prstGeom>
              </p:spPr>
            </p:pic>
            <p:pic>
              <p:nvPicPr>
                <p:cNvPr id="128" name="Picture 2" descr="iOS icon">
                  <a:extLst>
                    <a:ext uri="{FF2B5EF4-FFF2-40B4-BE49-F238E27FC236}">
                      <a16:creationId xmlns:a16="http://schemas.microsoft.com/office/drawing/2014/main" id="{F62A04E2-6328-4A9B-DE52-7EF2EC3365B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730237" y="2474808"/>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8" name="Group 117">
                <a:extLst>
                  <a:ext uri="{FF2B5EF4-FFF2-40B4-BE49-F238E27FC236}">
                    <a16:creationId xmlns:a16="http://schemas.microsoft.com/office/drawing/2014/main" id="{5B971E89-5581-B4C3-35A0-267DC2D954EC}"/>
                  </a:ext>
                </a:extLst>
              </p:cNvPr>
              <p:cNvGrpSpPr/>
              <p:nvPr/>
            </p:nvGrpSpPr>
            <p:grpSpPr>
              <a:xfrm>
                <a:off x="10004959" y="2435614"/>
                <a:ext cx="416838" cy="407813"/>
                <a:chOff x="9562877" y="3208181"/>
                <a:chExt cx="416838" cy="407813"/>
              </a:xfrm>
            </p:grpSpPr>
            <p:pic>
              <p:nvPicPr>
                <p:cNvPr id="125" name="Picture 124">
                  <a:extLst>
                    <a:ext uri="{FF2B5EF4-FFF2-40B4-BE49-F238E27FC236}">
                      <a16:creationId xmlns:a16="http://schemas.microsoft.com/office/drawing/2014/main" id="{0368638F-17F5-B853-C58D-9C915A8A676A}"/>
                    </a:ext>
                  </a:extLst>
                </p:cNvPr>
                <p:cNvPicPr>
                  <a:picLocks noChangeAspect="1"/>
                </p:cNvPicPr>
                <p:nvPr/>
              </p:nvPicPr>
              <p:blipFill rotWithShape="1">
                <a:blip r:embed="rId3">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62877" y="3208181"/>
                  <a:ext cx="271663" cy="407813"/>
                </a:xfrm>
                <a:prstGeom prst="rect">
                  <a:avLst/>
                </a:prstGeom>
              </p:spPr>
            </p:pic>
            <p:pic>
              <p:nvPicPr>
                <p:cNvPr id="126" name="Picture 2" descr="iOS icon">
                  <a:extLst>
                    <a:ext uri="{FF2B5EF4-FFF2-40B4-BE49-F238E27FC236}">
                      <a16:creationId xmlns:a16="http://schemas.microsoft.com/office/drawing/2014/main" id="{4C85CCEF-26F1-FA30-540E-795953C33B95}"/>
                    </a:ext>
                  </a:extLst>
                </p:cNvPr>
                <p:cNvPicPr>
                  <a:picLocks noChangeAspect="1" noChangeArrowheads="1"/>
                </p:cNvPicPr>
                <p:nvPr/>
              </p:nvPicPr>
              <p:blipFill>
                <a:blip r:embed="rId4"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854476" y="3236156"/>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113" name="TextBox 112">
              <a:extLst>
                <a:ext uri="{FF2B5EF4-FFF2-40B4-BE49-F238E27FC236}">
                  <a16:creationId xmlns:a16="http://schemas.microsoft.com/office/drawing/2014/main" id="{FF524C3F-45BE-212E-4A88-0E98BC5FC199}"/>
                </a:ext>
              </a:extLst>
            </p:cNvPr>
            <p:cNvSpPr txBox="1"/>
            <p:nvPr/>
          </p:nvSpPr>
          <p:spPr>
            <a:xfrm>
              <a:off x="8057035" y="3382085"/>
              <a:ext cx="2628427" cy="523220"/>
            </a:xfrm>
            <a:prstGeom prst="rect">
              <a:avLst/>
            </a:prstGeom>
            <a:noFill/>
          </p:spPr>
          <p:txBody>
            <a:bodyPr wrap="square" rtlCol="0">
              <a:spAutoFit/>
            </a:bodyPr>
            <a:lstStyle/>
            <a:p>
              <a:r>
                <a:rPr lang="nl-BE" sz="1400" dirty="0"/>
                <a:t>2x </a:t>
              </a:r>
              <a:r>
                <a:rPr lang="nl-BE" sz="1400" dirty="0" err="1"/>
                <a:t>Granite</a:t>
              </a:r>
              <a:r>
                <a:rPr lang="nl-BE" sz="1400" dirty="0"/>
                <a:t> Rapids 192c 768 </a:t>
              </a:r>
              <a:r>
                <a:rPr lang="nl-BE" sz="1400" dirty="0" err="1"/>
                <a:t>GiB</a:t>
              </a:r>
              <a:endParaRPr lang="nl-BE" sz="1400" dirty="0"/>
            </a:p>
            <a:p>
              <a:r>
                <a:rPr lang="nl-BE" sz="1400" dirty="0"/>
                <a:t>2 RTX5000 32 </a:t>
              </a:r>
              <a:r>
                <a:rPr lang="nl-BE" sz="1400" dirty="0" err="1"/>
                <a:t>GiB</a:t>
              </a:r>
              <a:endParaRPr lang="nl-BE" sz="1400" dirty="0"/>
            </a:p>
          </p:txBody>
        </p:sp>
      </p:grpSp>
      <p:grpSp>
        <p:nvGrpSpPr>
          <p:cNvPr id="146" name="Group 145">
            <a:extLst>
              <a:ext uri="{FF2B5EF4-FFF2-40B4-BE49-F238E27FC236}">
                <a16:creationId xmlns:a16="http://schemas.microsoft.com/office/drawing/2014/main" id="{D3A1704D-CEE2-9F79-37BE-B68DC1FEA130}"/>
              </a:ext>
            </a:extLst>
          </p:cNvPr>
          <p:cNvGrpSpPr/>
          <p:nvPr/>
        </p:nvGrpSpPr>
        <p:grpSpPr>
          <a:xfrm>
            <a:off x="7678800" y="3981600"/>
            <a:ext cx="2131116" cy="1836216"/>
            <a:chOff x="9243692" y="1306800"/>
            <a:chExt cx="2131116" cy="1836216"/>
          </a:xfrm>
        </p:grpSpPr>
        <p:sp>
          <p:nvSpPr>
            <p:cNvPr id="145" name="Cross 144">
              <a:extLst>
                <a:ext uri="{FF2B5EF4-FFF2-40B4-BE49-F238E27FC236}">
                  <a16:creationId xmlns:a16="http://schemas.microsoft.com/office/drawing/2014/main" id="{706EAE44-93AF-6302-E058-6451FB86E19B}"/>
                </a:ext>
              </a:extLst>
            </p:cNvPr>
            <p:cNvSpPr>
              <a:spLocks noChangeAspect="1"/>
            </p:cNvSpPr>
            <p:nvPr/>
          </p:nvSpPr>
          <p:spPr>
            <a:xfrm rot="2696149">
              <a:off x="9376892" y="1343016"/>
              <a:ext cx="1800000" cy="1800000"/>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nl-B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GB"/>
            </a:p>
          </p:txBody>
        </p:sp>
        <p:grpSp>
          <p:nvGrpSpPr>
            <p:cNvPr id="135" name="Group 134">
              <a:extLst>
                <a:ext uri="{FF2B5EF4-FFF2-40B4-BE49-F238E27FC236}">
                  <a16:creationId xmlns:a16="http://schemas.microsoft.com/office/drawing/2014/main" id="{4EC8D132-8164-C4A2-6C1B-81CC2997E9DE}"/>
                </a:ext>
              </a:extLst>
            </p:cNvPr>
            <p:cNvGrpSpPr/>
            <p:nvPr/>
          </p:nvGrpSpPr>
          <p:grpSpPr>
            <a:xfrm>
              <a:off x="9243692" y="1306800"/>
              <a:ext cx="2131116" cy="1389600"/>
              <a:chOff x="9666728" y="3716763"/>
              <a:chExt cx="2131116" cy="1389600"/>
            </a:xfrm>
          </p:grpSpPr>
          <p:sp>
            <p:nvSpPr>
              <p:cNvPr id="137" name="Rounded Rectangle 60">
                <a:extLst>
                  <a:ext uri="{FF2B5EF4-FFF2-40B4-BE49-F238E27FC236}">
                    <a16:creationId xmlns:a16="http://schemas.microsoft.com/office/drawing/2014/main" id="{5012CF27-26CA-01CF-D231-3C617505080A}"/>
                  </a:ext>
                </a:extLst>
              </p:cNvPr>
              <p:cNvSpPr/>
              <p:nvPr/>
            </p:nvSpPr>
            <p:spPr>
              <a:xfrm>
                <a:off x="9666728" y="4209963"/>
                <a:ext cx="2131116" cy="896400"/>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a:t>
                </a:r>
              </a:p>
              <a:p>
                <a:pPr algn="ctr"/>
                <a:r>
                  <a:rPr lang="en-US" b="1" dirty="0">
                    <a:solidFill>
                      <a:srgbClr val="333639"/>
                    </a:solidFill>
                  </a:rPr>
                  <a:t>Login Nodes</a:t>
                </a:r>
              </a:p>
            </p:txBody>
          </p:sp>
          <p:sp>
            <p:nvSpPr>
              <p:cNvPr id="138" name="TextBox 137">
                <a:extLst>
                  <a:ext uri="{FF2B5EF4-FFF2-40B4-BE49-F238E27FC236}">
                    <a16:creationId xmlns:a16="http://schemas.microsoft.com/office/drawing/2014/main" id="{75AFB2E9-66D8-7120-8D93-688717926566}"/>
                  </a:ext>
                </a:extLst>
              </p:cNvPr>
              <p:cNvSpPr txBox="1"/>
              <p:nvPr/>
            </p:nvSpPr>
            <p:spPr>
              <a:xfrm>
                <a:off x="9666728" y="3716763"/>
                <a:ext cx="1324402" cy="369332"/>
              </a:xfrm>
              <a:prstGeom prst="rect">
                <a:avLst/>
              </a:prstGeom>
              <a:noFill/>
            </p:spPr>
            <p:txBody>
              <a:bodyPr wrap="none" rtlCol="0">
                <a:spAutoFit/>
              </a:bodyPr>
              <a:lstStyle/>
              <a:p>
                <a:r>
                  <a:rPr lang="nl-BE" b="1" dirty="0"/>
                  <a:t>Login </a:t>
                </a:r>
                <a:r>
                  <a:rPr lang="nl-BE" b="1" dirty="0" err="1"/>
                  <a:t>nodes</a:t>
                </a:r>
                <a:endParaRPr lang="nl-BE" b="1" dirty="0"/>
              </a:p>
            </p:txBody>
          </p:sp>
        </p:grpSp>
      </p:grpSp>
    </p:spTree>
    <p:extLst>
      <p:ext uri="{BB962C8B-B14F-4D97-AF65-F5344CB8AC3E}">
        <p14:creationId xmlns:p14="http://schemas.microsoft.com/office/powerpoint/2010/main" val="1235958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D46A2-20F9-CD21-7F48-E7D9A0D29EA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198C90-BAB1-E1A2-3C8D-29D0024FE6E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2B22CD50-5085-C519-0438-4AA13C12A501}"/>
              </a:ext>
            </a:extLst>
          </p:cNvPr>
          <p:cNvGraphicFramePr>
            <a:graphicFrameLocks noGrp="1"/>
          </p:cNvGraphicFramePr>
          <p:nvPr>
            <p:extLst>
              <p:ext uri="{D42A27DB-BD31-4B8C-83A1-F6EECF244321}">
                <p14:modId xmlns:p14="http://schemas.microsoft.com/office/powerpoint/2010/main" val="251374708"/>
              </p:ext>
            </p:extLst>
          </p:nvPr>
        </p:nvGraphicFramePr>
        <p:xfrm>
          <a:off x="695400" y="1080000"/>
          <a:ext cx="10585176" cy="2285717"/>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huge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sp>
        <p:nvSpPr>
          <p:cNvPr id="7" name="Rectangle 2">
            <a:extLst>
              <a:ext uri="{FF2B5EF4-FFF2-40B4-BE49-F238E27FC236}">
                <a16:creationId xmlns:a16="http://schemas.microsoft.com/office/drawing/2014/main" id="{E28418C3-A59D-BF42-C04B-0F0064E6CA84}"/>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lang="en-US" altLang="en-US" sz="3200" dirty="0">
                <a:solidFill>
                  <a:srgbClr val="333639"/>
                </a:solidFill>
                <a:latin typeface="FlandersArtSans-Bold"/>
              </a:rPr>
              <a:t>C</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PU</a:t>
            </a:r>
          </a:p>
        </p:txBody>
      </p:sp>
      <p:grpSp>
        <p:nvGrpSpPr>
          <p:cNvPr id="8" name="Group 7">
            <a:extLst>
              <a:ext uri="{FF2B5EF4-FFF2-40B4-BE49-F238E27FC236}">
                <a16:creationId xmlns:a16="http://schemas.microsoft.com/office/drawing/2014/main" id="{9DDBEFF5-35B3-C627-8D6E-EF91E853CE5B}"/>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FB72873D-9E93-CAE4-4E07-D365830C42D4}"/>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p:txBody>
        </p:sp>
        <p:sp>
          <p:nvSpPr>
            <p:cNvPr id="10" name="TextBox 2">
              <a:extLst>
                <a:ext uri="{FF2B5EF4-FFF2-40B4-BE49-F238E27FC236}">
                  <a16:creationId xmlns:a16="http://schemas.microsoft.com/office/drawing/2014/main" id="{C7ACE16A-2ED1-213C-3083-A4BA92FB89C3}"/>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748460693"/>
      </p:ext>
    </p:extLst>
  </p:cSld>
  <p:clrMapOvr>
    <a:masterClrMapping/>
  </p:clrMapOvr>
  <mc:AlternateContent xmlns:mc="http://schemas.openxmlformats.org/markup-compatibility/2006">
    <mc:Choice xmlns:p14="http://schemas.microsoft.com/office/powerpoint/2010/main" Requires="p14">
      <p:transition spd="slow" p14:dur="2000" advTm="177485"/>
    </mc:Choice>
    <mc:Fallback>
      <p:transition spd="slow" advTm="177485"/>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2ACC-4742-EF5E-5EA8-FC904F10F7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47A94D3-D3C3-2BB2-5DC5-EC5EE4BF9B1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6CC5FADE-B942-70FC-E6A9-626EDFEE1293}"/>
              </a:ext>
            </a:extLst>
          </p:cNvPr>
          <p:cNvGraphicFramePr>
            <a:graphicFrameLocks noGrp="1"/>
          </p:cNvGraphicFramePr>
          <p:nvPr>
            <p:extLst>
              <p:ext uri="{D42A27DB-BD31-4B8C-83A1-F6EECF244321}">
                <p14:modId xmlns:p14="http://schemas.microsoft.com/office/powerpoint/2010/main" val="4166394610"/>
              </p:ext>
            </p:extLst>
          </p:nvPr>
        </p:nvGraphicFramePr>
        <p:xfrm>
          <a:off x="695400" y="1080000"/>
          <a:ext cx="10585176" cy="40153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16224">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444941">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&amp; GPU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Skylake P100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4xP100</a:t>
                      </a:r>
                      <a:r>
                        <a:rPr lang="en-US" sz="1800" u="none" strike="noStrike" dirty="0">
                          <a:effectLst/>
                        </a:rPr>
                        <a:t> SXM2 16GB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u="none" strike="noStrike" dirty="0">
                          <a:effectLst/>
                        </a:rPr>
                        <a:t>192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5000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gpu_p100</a:t>
                      </a:r>
                    </a:p>
                  </a:txBody>
                  <a:tcPr marL="9525" marR="9525" marT="9525" marB="0" anchor="ctr"/>
                </a:tc>
                <a:extLst>
                  <a:ext uri="{0D108BD9-81ED-4DB2-BD59-A6C34878D82A}">
                    <a16:rowId xmlns:a16="http://schemas.microsoft.com/office/drawing/2014/main" val="250230070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err="1">
                          <a:solidFill>
                            <a:srgbClr val="000000"/>
                          </a:solidFill>
                          <a:effectLst/>
                          <a:latin typeface="Calibri" panose="020F0502020204030204" pitchFamily="34" charset="0"/>
                        </a:rPr>
                        <a:t>Cascadelake</a:t>
                      </a:r>
                      <a:r>
                        <a:rPr lang="en-US" sz="1800" b="0" i="0" u="none" strike="noStrike" dirty="0">
                          <a:solidFill>
                            <a:srgbClr val="000000"/>
                          </a:solidFill>
                          <a:effectLst/>
                          <a:latin typeface="Calibri" panose="020F0502020204030204" pitchFamily="34" charset="0"/>
                        </a:rPr>
                        <a:t> V100 </a:t>
                      </a:r>
                      <a:r>
                        <a:rPr lang="en-US" sz="18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b="0" i="0" u="none" strike="noStrike" dirty="0">
                          <a:solidFill>
                            <a:srgbClr val="000000"/>
                          </a:solidFill>
                          <a:effectLst/>
                          <a:latin typeface="Calibri" panose="020F0502020204030204" pitchFamily="34" charset="0"/>
                        </a:rPr>
                        <a:t>Xeon Gold 6240</a:t>
                      </a:r>
                      <a:br>
                        <a:rPr lang="en-US" sz="1800" b="0" i="0" u="none" strike="noStrike" dirty="0">
                          <a:solidFill>
                            <a:srgbClr val="000000"/>
                          </a:solidFill>
                          <a:effectLst/>
                          <a:latin typeface="Calibri" panose="020F0502020204030204" pitchFamily="34" charset="0"/>
                        </a:rPr>
                      </a:br>
                      <a:r>
                        <a:rPr lang="en-US" sz="1800" b="1" i="0" u="none" strike="noStrike" dirty="0">
                          <a:solidFill>
                            <a:srgbClr val="000000"/>
                          </a:solidFill>
                          <a:effectLst/>
                          <a:latin typeface="Calibri" panose="020F0502020204030204" pitchFamily="34" charset="0"/>
                        </a:rPr>
                        <a:t>8xV100</a:t>
                      </a:r>
                      <a:r>
                        <a:rPr lang="en-US" sz="18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768 GiB</a:t>
                      </a: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gpu_v100</a:t>
                      </a: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br>
                        <a:rPr kumimoji="0" lang="nl-BE" sz="1800" b="0" i="0" u="none" strike="noStrike" kern="1200" cap="none" spc="0" normalizeH="0" baseline="0" noProof="0" dirty="0">
                          <a:ln>
                            <a:noFill/>
                          </a:ln>
                          <a:solidFill>
                            <a:srgbClr val="333639"/>
                          </a:solidFill>
                          <a:effectLst/>
                          <a:uLnTx/>
                          <a:uFillTx/>
                          <a:latin typeface="+mn-lt"/>
                          <a:ea typeface="+mn-ea"/>
                          <a:cs typeface="+mn-cs"/>
                        </a:rPr>
                      </a:b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1" i="0" u="none" strike="noStrike" dirty="0">
                          <a:solidFill>
                            <a:schemeClr val="tx1"/>
                          </a:solidFill>
                          <a:effectLst/>
                          <a:latin typeface="+mn-lt"/>
                        </a:rPr>
                        <a:t>11700</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US" sz="1800" b="0" i="0" u="none" strike="noStrike" dirty="0">
                          <a:solidFill>
                            <a:schemeClr val="tx1"/>
                          </a:solidFill>
                          <a:effectLst/>
                          <a:latin typeface="+mn-lt"/>
                        </a:rPr>
                        <a:t>gpu_h100</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u="none" strike="noStrike" dirty="0">
                          <a:effectLst/>
                        </a:rPr>
                        <a:t>Xeon 8358</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1xA100</a:t>
                      </a:r>
                      <a:r>
                        <a:rPr lang="en-US" sz="1800" u="none" strike="noStrike" dirty="0">
                          <a:effectLst/>
                        </a:rPr>
                        <a:t> SXM4 80GB</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u="none" strike="noStrike" dirty="0">
                          <a:effectLst/>
                        </a:rPr>
                        <a:t>512 GiB</a:t>
                      </a:r>
                      <a:endParaRPr lang="en-US" sz="1800" b="1"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1" i="0" u="none" strike="noStrike" dirty="0">
                          <a:solidFill>
                            <a:srgbClr val="000000"/>
                          </a:solidFill>
                          <a:effectLst/>
                          <a:latin typeface="Calibri" panose="020F0502020204030204" pitchFamily="34" charset="0"/>
                        </a:rPr>
                        <a:t>2000</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debug</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SXM4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GiB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gpu_a100_debug</a:t>
                      </a:r>
                      <a:endParaRPr lang="en-US" sz="1800" b="0" i="0" u="none" strike="noStrike" dirty="0">
                        <a:solidFill>
                          <a:schemeClr val="tx1"/>
                        </a:solidFill>
                        <a:effectLst/>
                        <a:latin typeface="+mn-lt"/>
                      </a:endParaRPr>
                    </a:p>
                  </a:txBody>
                  <a:tcPr marL="9525" marR="9525" marT="9525" marB="0" anchor="ctr"/>
                </a:tc>
                <a:extLst>
                  <a:ext uri="{0D108BD9-81ED-4DB2-BD59-A6C34878D82A}">
                    <a16:rowId xmlns:a16="http://schemas.microsoft.com/office/drawing/2014/main" val="3876089204"/>
                  </a:ext>
                </a:extLst>
              </a:tr>
            </a:tbl>
          </a:graphicData>
        </a:graphic>
      </p:graphicFrame>
      <p:sp>
        <p:nvSpPr>
          <p:cNvPr id="7" name="Rectangle 2">
            <a:extLst>
              <a:ext uri="{FF2B5EF4-FFF2-40B4-BE49-F238E27FC236}">
                <a16:creationId xmlns:a16="http://schemas.microsoft.com/office/drawing/2014/main" id="{E24F05E7-5F5B-8070-11CC-CE228F4A79F1}"/>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GPU</a:t>
            </a:r>
          </a:p>
        </p:txBody>
      </p:sp>
      <p:grpSp>
        <p:nvGrpSpPr>
          <p:cNvPr id="8" name="Group 7">
            <a:extLst>
              <a:ext uri="{FF2B5EF4-FFF2-40B4-BE49-F238E27FC236}">
                <a16:creationId xmlns:a16="http://schemas.microsoft.com/office/drawing/2014/main" id="{AF1BEB5B-8568-7E90-A9C6-8F622202DBF1}"/>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3F5D30BA-5C66-B3FB-12B7-DE14AAA86AF3}"/>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CDEA78A6-AD9C-D924-DB13-DDD7E0D26591}"/>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791660777"/>
      </p:ext>
    </p:extLst>
  </p:cSld>
  <p:clrMapOvr>
    <a:masterClrMapping/>
  </p:clrMapOvr>
  <mc:AlternateContent xmlns:mc="http://schemas.openxmlformats.org/markup-compatibility/2006">
    <mc:Choice xmlns:p14="http://schemas.microsoft.com/office/powerpoint/2010/main" Requires="p14">
      <p:transition spd="slow" p14:dur="2000" advTm="177485"/>
    </mc:Choice>
    <mc:Fallback>
      <p:transition spd="slow" advTm="177485"/>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28AD9-AAE6-9C8C-FD7C-CE9C1ADE99B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A18CA2-75E9-2C0E-7199-A18704041A9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a:extLst>
              <a:ext uri="{FF2B5EF4-FFF2-40B4-BE49-F238E27FC236}">
                <a16:creationId xmlns:a16="http://schemas.microsoft.com/office/drawing/2014/main" id="{199820FD-360C-E8DA-40EB-A5301C88DADA}"/>
              </a:ext>
            </a:extLst>
          </p:cNvPr>
          <p:cNvGraphicFramePr>
            <a:graphicFrameLocks noGrp="1"/>
          </p:cNvGraphicFramePr>
          <p:nvPr>
            <p:extLst>
              <p:ext uri="{D42A27DB-BD31-4B8C-83A1-F6EECF244321}">
                <p14:modId xmlns:p14="http://schemas.microsoft.com/office/powerpoint/2010/main" val="298358798"/>
              </p:ext>
            </p:extLst>
          </p:nvPr>
        </p:nvGraphicFramePr>
        <p:xfrm>
          <a:off x="695400" y="1080000"/>
          <a:ext cx="10585176" cy="2522991"/>
        </p:xfrm>
        <a:graphic>
          <a:graphicData uri="http://schemas.openxmlformats.org/drawingml/2006/table">
            <a:tbl>
              <a:tblPr>
                <a:tableStyleId>{5C22544A-7EE6-4342-B048-85BDC9FD1C3A}</a:tableStyleId>
              </a:tblPr>
              <a:tblGrid>
                <a:gridCol w="2376264">
                  <a:extLst>
                    <a:ext uri="{9D8B030D-6E8A-4147-A177-3AD203B41FA5}">
                      <a16:colId xmlns:a16="http://schemas.microsoft.com/office/drawing/2014/main" val="1052959117"/>
                    </a:ext>
                  </a:extLst>
                </a:gridCol>
                <a:gridCol w="2088232">
                  <a:extLst>
                    <a:ext uri="{9D8B030D-6E8A-4147-A177-3AD203B41FA5}">
                      <a16:colId xmlns:a16="http://schemas.microsoft.com/office/drawing/2014/main" val="44479686"/>
                    </a:ext>
                  </a:extLst>
                </a:gridCol>
                <a:gridCol w="864096">
                  <a:extLst>
                    <a:ext uri="{9D8B030D-6E8A-4147-A177-3AD203B41FA5}">
                      <a16:colId xmlns:a16="http://schemas.microsoft.com/office/drawing/2014/main" val="2291407436"/>
                    </a:ext>
                  </a:extLst>
                </a:gridCol>
                <a:gridCol w="1372933">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2195931">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(MiB)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a:effectLst/>
                        </a:rPr>
                        <a:t>Granite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192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4000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batch_graniterapids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EPYC 9655</a:t>
                      </a:r>
                      <a:br>
                        <a:rPr lang="en-US" sz="1800" u="none" strike="noStrike" dirty="0">
                          <a:effectLst/>
                        </a:rPr>
                      </a:br>
                      <a:r>
                        <a:rPr lang="en-US" sz="1800" b="1" u="none" strike="noStrike" dirty="0">
                          <a:effectLst/>
                        </a:rPr>
                        <a:t>8xB200 SXM6 192GiB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1.5 TiB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8000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gpu_b100</a:t>
                      </a:r>
                    </a:p>
                  </a:txBody>
                  <a:tcPr marL="9525" marR="9525" marT="9525" marB="0" anchor="ctr"/>
                </a:tc>
                <a:extLst>
                  <a:ext uri="{0D108BD9-81ED-4DB2-BD59-A6C34878D82A}">
                    <a16:rowId xmlns:a16="http://schemas.microsoft.com/office/drawing/2014/main" val="881392732"/>
                  </a:ext>
                </a:extLst>
              </a:tr>
              <a:tr h="439528">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u="none" strike="noStrike" dirty="0">
                          <a:effectLst/>
                        </a:rPr>
                        <a:t>interactive</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marL="0" marR="0" lvl="0" indent="0" algn="ctr" defTabSz="685800" rtl="0" eaLnBrk="1" fontAlgn="b" latinLnBrk="0" hangingPunct="1">
                        <a:lnSpc>
                          <a:spcPct val="100000"/>
                        </a:lnSpc>
                        <a:spcBef>
                          <a:spcPts val="0"/>
                        </a:spcBef>
                        <a:spcAft>
                          <a:spcPts val="0"/>
                        </a:spcAft>
                        <a:buClrTx/>
                        <a:buSzTx/>
                        <a:buFontTx/>
                        <a:buNone/>
                        <a:tabLst/>
                        <a:defRPr/>
                      </a:pPr>
                      <a:r>
                        <a:rPr lang="en-US" sz="1800" u="none" strike="noStrike" dirty="0">
                          <a:effectLst/>
                        </a:rPr>
                        <a:t>Xeon 6972P</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2x RTX5000</a:t>
                      </a:r>
                      <a:r>
                        <a:rPr lang="en-US" sz="1800" u="none" strike="noStrike" dirty="0">
                          <a:effectLst/>
                        </a:rPr>
                        <a:t> 32GiB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192</a:t>
                      </a:r>
                    </a:p>
                  </a:txBody>
                  <a:tcPr marL="9525" marR="9525" marT="9525" marB="0" anchor="ctr"/>
                </a:tc>
                <a:tc>
                  <a:txBody>
                    <a:bodyPr/>
                    <a:lstStyle/>
                    <a:p>
                      <a:pPr algn="ctr" fontAlgn="b"/>
                      <a:r>
                        <a:rPr lang="en-US" sz="1800" b="1" u="none" strike="noStrike" dirty="0">
                          <a:effectLst/>
                        </a:rPr>
                        <a:t>768 GiB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4000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bl>
          </a:graphicData>
        </a:graphic>
      </p:graphicFrame>
      <p:sp>
        <p:nvSpPr>
          <p:cNvPr id="7" name="Rectangle 2">
            <a:extLst>
              <a:ext uri="{FF2B5EF4-FFF2-40B4-BE49-F238E27FC236}">
                <a16:creationId xmlns:a16="http://schemas.microsoft.com/office/drawing/2014/main" id="{1E4D6440-CD41-716B-7E37-F53FC084E281}"/>
              </a:ext>
            </a:extLst>
          </p:cNvPr>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Mindwell</a:t>
            </a:r>
            <a:endPar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endParaRPr>
          </a:p>
        </p:txBody>
      </p:sp>
      <p:grpSp>
        <p:nvGrpSpPr>
          <p:cNvPr id="2" name="Group 1">
            <a:extLst>
              <a:ext uri="{FF2B5EF4-FFF2-40B4-BE49-F238E27FC236}">
                <a16:creationId xmlns:a16="http://schemas.microsoft.com/office/drawing/2014/main" id="{FDF46083-76DA-A048-6D01-B679776741BC}"/>
              </a:ext>
            </a:extLst>
          </p:cNvPr>
          <p:cNvGrpSpPr/>
          <p:nvPr/>
        </p:nvGrpSpPr>
        <p:grpSpPr>
          <a:xfrm>
            <a:off x="695400" y="5238492"/>
            <a:ext cx="10081119" cy="923330"/>
            <a:chOff x="946173" y="5005393"/>
            <a:chExt cx="9645355" cy="923330"/>
          </a:xfrm>
        </p:grpSpPr>
        <p:sp>
          <p:nvSpPr>
            <p:cNvPr id="3" name="TextBox 1">
              <a:extLst>
                <a:ext uri="{FF2B5EF4-FFF2-40B4-BE49-F238E27FC236}">
                  <a16:creationId xmlns:a16="http://schemas.microsoft.com/office/drawing/2014/main" id="{1DEBFF01-17FB-2CE8-C713-10CEB3745051}"/>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NDR (400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5" name="TextBox 2">
              <a:extLst>
                <a:ext uri="{FF2B5EF4-FFF2-40B4-BE49-F238E27FC236}">
                  <a16:creationId xmlns:a16="http://schemas.microsoft.com/office/drawing/2014/main" id="{FF3AF287-6295-DB06-1088-49E32E83C182}"/>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778955991"/>
      </p:ext>
    </p:extLst>
  </p:cSld>
  <p:clrMapOvr>
    <a:masterClrMapping/>
  </p:clrMapOvr>
  <mc:AlternateContent xmlns:mc="http://schemas.openxmlformats.org/markup-compatibility/2006">
    <mc:Choice xmlns:p14="http://schemas.microsoft.com/office/powerpoint/2010/main" Requires="p14">
      <p:transition spd="slow" p14:dur="2000" advTm="177485"/>
    </mc:Choice>
    <mc:Fallback>
      <p:transition spd="slow" advTm="177485"/>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26</a:t>
            </a:fld>
            <a:endParaRPr lang="en-US"/>
          </a:p>
        </p:txBody>
      </p:sp>
    </p:spTree>
    <p:extLst>
      <p:ext uri="{BB962C8B-B14F-4D97-AF65-F5344CB8AC3E}">
        <p14:creationId xmlns:p14="http://schemas.microsoft.com/office/powerpoint/2010/main" val="31748541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27</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request </a:t>
            </a:r>
            <a:r>
              <a:rPr lang="en-US" sz="2200" dirty="0">
                <a:latin typeface="Courier New" panose="02070309020205020404" pitchFamily="49" charset="0"/>
                <a:cs typeface="Courier New" panose="02070309020205020404" pitchFamily="49" charset="0"/>
              </a:rPr>
              <a:t>staging</a:t>
            </a:r>
            <a:r>
              <a:rPr lang="en-US" sz="2200" dirty="0"/>
              <a:t> storage</a:t>
            </a:r>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4"/>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3392" y="1331052"/>
            <a:ext cx="6552728" cy="3276364"/>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latin typeface="Courier New" panose="02070309020205020404" pitchFamily="49" charset="0"/>
                <a:cs typeface="Courier New" panose="02070309020205020404" pitchFamily="49" charset="0"/>
              </a:rPr>
              <a:t> ($TMPDIR)</a:t>
            </a:r>
            <a:r>
              <a:rPr lang="en-US" sz="2200" b="1" dirty="0">
                <a:solidFill>
                  <a:schemeClr val="tx2"/>
                </a:solidFill>
              </a:rPr>
              <a:t>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a:t>
            </a:r>
            <a:br>
              <a:rPr lang="en-US" sz="2200" dirty="0"/>
            </a:br>
            <a:r>
              <a:rPr lang="en-US" sz="2200" dirty="0">
                <a:latin typeface="Courier New" panose="02070309020205020404" pitchFamily="49" charset="0"/>
                <a:cs typeface="Courier New" panose="02070309020205020404" pitchFamily="49" charset="0"/>
              </a:rPr>
              <a:t>$ cd $VSC_DATA</a:t>
            </a:r>
          </a:p>
          <a:p>
            <a:pPr marL="324000" indent="-324000">
              <a:buClr>
                <a:srgbClr val="DB6C30"/>
              </a:buClr>
              <a:buFont typeface="Wingdings" panose="05000000000000000000" pitchFamily="2" charset="2"/>
              <a:buChar char="q"/>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endParaRPr lang="nl-BE" sz="2200" dirty="0"/>
          </a:p>
        </p:txBody>
      </p:sp>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Example</a:t>
              </a:r>
              <a:endParaRPr lang="nl-BE"/>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104456" cy="1446550"/>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5034982"/>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1382800944"/>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510181831"/>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953420933"/>
              </p:ext>
            </p:extLst>
          </p:nvPr>
        </p:nvGraphicFramePr>
        <p:xfrm>
          <a:off x="5150096" y="188909"/>
          <a:ext cx="5986464" cy="595205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 </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a:t>
                      </a:r>
                      <a:r>
                        <a:rPr lang="en-US" sz="2000" baseline="0" dirty="0">
                          <a:latin typeface="Courier New" panose="02070309020205020404" pitchFamily="49" charset="0"/>
                          <a:cs typeface="Courier New" panose="02070309020205020404" pitchFamily="49" charset="0"/>
                        </a:rPr>
                        <a: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8891675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2576463486"/>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150651311"/>
              </p:ext>
            </p:extLst>
          </p:nvPr>
        </p:nvGraphicFramePr>
        <p:xfrm>
          <a:off x="5150096" y="188909"/>
          <a:ext cx="5986464" cy="587689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$VSC_SCRATCH_LUSTRE1</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$VSC_SCRATCH_GPFS1</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459236">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432048">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432048">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432048">
                <a:tc>
                  <a:txBody>
                    <a:bodyPr/>
                    <a:lstStyle/>
                    <a:p>
                      <a:r>
                        <a:rPr lang="en-US" sz="1800" b="1" dirty="0"/>
                        <a:t>Default </a:t>
                      </a:r>
                      <a:r>
                        <a:rPr lang="en-US" sz="1800" b="1" dirty="0" err="1"/>
                        <a:t>quotum</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Recommended storage for all jobs</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6" name="Group 5">
            <a:extLst>
              <a:ext uri="{FF2B5EF4-FFF2-40B4-BE49-F238E27FC236}">
                <a16:creationId xmlns:a16="http://schemas.microsoft.com/office/drawing/2014/main" id="{F2E42395-7681-CFAE-0BFD-485E153D0D3B}"/>
              </a:ext>
            </a:extLst>
          </p:cNvPr>
          <p:cNvGrpSpPr/>
          <p:nvPr/>
        </p:nvGrpSpPr>
        <p:grpSpPr>
          <a:xfrm>
            <a:off x="176674" y="4743779"/>
            <a:ext cx="4413512" cy="1449894"/>
            <a:chOff x="176674" y="4743779"/>
            <a:chExt cx="4413512" cy="1449894"/>
          </a:xfrm>
        </p:grpSpPr>
        <p:sp>
          <p:nvSpPr>
            <p:cNvPr id="2" name="TextBox 1">
              <a:extLst>
                <a:ext uri="{FF2B5EF4-FFF2-40B4-BE49-F238E27FC236}">
                  <a16:creationId xmlns:a16="http://schemas.microsoft.com/office/drawing/2014/main" id="{2A7E9164-7C5B-DA81-0FA5-87B34FC305D8}"/>
                </a:ext>
              </a:extLst>
            </p:cNvPr>
            <p:cNvSpPr txBox="1"/>
            <p:nvPr/>
          </p:nvSpPr>
          <p:spPr>
            <a:xfrm>
              <a:off x="176674" y="5270343"/>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4" name="Picture 3">
              <a:extLst>
                <a:ext uri="{FF2B5EF4-FFF2-40B4-BE49-F238E27FC236}">
                  <a16:creationId xmlns:a16="http://schemas.microsoft.com/office/drawing/2014/main" id="{F50CD4A3-C45B-E1C3-6A7F-7B873D74BF07}"/>
                </a:ext>
              </a:extLst>
            </p:cNvPr>
            <p:cNvPicPr>
              <a:picLocks noChangeAspect="1"/>
            </p:cNvPicPr>
            <p:nvPr/>
          </p:nvPicPr>
          <p:blipFill>
            <a:blip r:embed="rId8"/>
            <a:stretch>
              <a:fillRect/>
            </a:stretch>
          </p:blipFill>
          <p:spPr>
            <a:xfrm>
              <a:off x="4063622" y="4743779"/>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2543551049"/>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799400300"/>
              </p:ext>
            </p:extLst>
          </p:nvPr>
        </p:nvGraphicFramePr>
        <p:xfrm>
          <a:off x="5150096" y="188909"/>
          <a:ext cx="5986464" cy="5832376"/>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591 GB</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hlinkClick r:id="rId7"/>
                        </a:rPr>
                        <a:t>Read</a:t>
                      </a:r>
                      <a:r>
                        <a:rPr lang="en-US" sz="1800" baseline="0" dirty="0">
                          <a:hlinkClick r:id="rId7"/>
                        </a:rPr>
                        <a:t> about </a:t>
                      </a:r>
                      <a:r>
                        <a:rPr lang="en-US" sz="1800" baseline="0" dirty="0" err="1">
                          <a:hlinkClick r:id="rId7"/>
                        </a:rPr>
                        <a:t>beeOND</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staging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142770513"/>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4288225019"/>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project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/lustre1/project/stg_000XX</a:t>
                      </a:r>
                      <a:br>
                        <a:rPr lang="en-US" sz="1800" dirty="0">
                          <a:latin typeface="Courier New" panose="02070309020205020404" pitchFamily="49" charset="0"/>
                          <a:cs typeface="Courier New" panose="02070309020205020404" pitchFamily="49" charset="0"/>
                        </a:rPr>
                      </a:br>
                      <a:r>
                        <a:rPr lang="en-US" sz="1800" dirty="0">
                          <a:latin typeface="Courier New" panose="02070309020205020404" pitchFamily="49" charset="0"/>
                          <a:cs typeface="Courier New" panose="02070309020205020404" pitchFamily="49" charset="0"/>
                        </a:rPr>
                        <a:t>/gpfs1/project/stg_000XX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demand, only Tier-2@KUL</a:t>
                      </a:r>
                      <a:r>
                        <a:rPr lang="en-US" sz="1800" baseline="0" dirty="0"/>
                        <a:t> </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t>On</a:t>
                      </a:r>
                      <a:r>
                        <a:rPr lang="en-US" sz="1800" baseline="0" dirty="0"/>
                        <a:t> purchase, 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33</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7"/>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21" name="Group 20">
            <a:extLst>
              <a:ext uri="{FF2B5EF4-FFF2-40B4-BE49-F238E27FC236}">
                <a16:creationId xmlns:a16="http://schemas.microsoft.com/office/drawing/2014/main" id="{A00080C5-0DF6-8DC4-4F78-67E37EF6A32A}"/>
              </a:ext>
            </a:extLst>
          </p:cNvPr>
          <p:cNvGrpSpPr/>
          <p:nvPr/>
        </p:nvGrpSpPr>
        <p:grpSpPr>
          <a:xfrm>
            <a:off x="769220" y="2094957"/>
            <a:ext cx="2208731" cy="2259486"/>
            <a:chOff x="769220" y="2094957"/>
            <a:chExt cx="2208731" cy="2259486"/>
          </a:xfrm>
        </p:grpSpPr>
        <p:sp>
          <p:nvSpPr>
            <p:cNvPr id="3" name="Freeform: Shape 2">
              <a:extLst>
                <a:ext uri="{FF2B5EF4-FFF2-40B4-BE49-F238E27FC236}">
                  <a16:creationId xmlns:a16="http://schemas.microsoft.com/office/drawing/2014/main" id="{034F2C36-31F5-8D31-C8EB-375F925952E5}"/>
                </a:ext>
              </a:extLst>
            </p:cNvPr>
            <p:cNvSpPr/>
            <p:nvPr/>
          </p:nvSpPr>
          <p:spPr>
            <a:xfrm>
              <a:off x="797876" y="2164733"/>
              <a:ext cx="2180057" cy="2180057"/>
            </a:xfrm>
            <a:custGeom>
              <a:avLst/>
              <a:gdLst>
                <a:gd name="connsiteX0" fmla="*/ 1090028 w 2180057"/>
                <a:gd name="connsiteY0" fmla="*/ 0 h 2180057"/>
                <a:gd name="connsiteX1" fmla="*/ 2034021 w 2180057"/>
                <a:gd name="connsiteY1" fmla="*/ 545014 h 2180057"/>
                <a:gd name="connsiteX2" fmla="*/ 1090029 w 2180057"/>
                <a:gd name="connsiteY2" fmla="*/ 1090029 h 2180057"/>
                <a:gd name="connsiteX3" fmla="*/ 1090028 w 2180057"/>
                <a:gd name="connsiteY3" fmla="*/ 0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8" y="0"/>
                  </a:moveTo>
                  <a:cubicBezTo>
                    <a:pt x="1479458" y="0"/>
                    <a:pt x="1839306" y="207758"/>
                    <a:pt x="2034021" y="545014"/>
                  </a:cubicBezTo>
                  <a:lnTo>
                    <a:pt x="1090029" y="1090029"/>
                  </a:lnTo>
                  <a:cubicBezTo>
                    <a:pt x="1090029" y="726686"/>
                    <a:pt x="1090028" y="363343"/>
                    <a:pt x="1090028" y="0"/>
                  </a:cubicBez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7" tIns="252628" rIns="449871"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p:txBody>
        </p:sp>
        <p:sp>
          <p:nvSpPr>
            <p:cNvPr id="4" name="Freeform: Shape 3">
              <a:extLst>
                <a:ext uri="{FF2B5EF4-FFF2-40B4-BE49-F238E27FC236}">
                  <a16:creationId xmlns:a16="http://schemas.microsoft.com/office/drawing/2014/main" id="{9329582C-55B6-70CB-8E2B-D14A2962B31C}"/>
                </a:ext>
              </a:extLst>
            </p:cNvPr>
            <p:cNvSpPr/>
            <p:nvPr/>
          </p:nvSpPr>
          <p:spPr>
            <a:xfrm>
              <a:off x="797894" y="2164728"/>
              <a:ext cx="2180057" cy="2180057"/>
            </a:xfrm>
            <a:custGeom>
              <a:avLst/>
              <a:gdLst>
                <a:gd name="connsiteX0" fmla="*/ 2034021 w 2180057"/>
                <a:gd name="connsiteY0" fmla="*/ 545014 h 2180057"/>
                <a:gd name="connsiteX1" fmla="*/ 2034021 w 2180057"/>
                <a:gd name="connsiteY1" fmla="*/ 1635043 h 2180057"/>
                <a:gd name="connsiteX2" fmla="*/ 1090029 w 2180057"/>
                <a:gd name="connsiteY2" fmla="*/ 1090029 h 2180057"/>
                <a:gd name="connsiteX3" fmla="*/ 2034021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545014"/>
                  </a:moveTo>
                  <a:cubicBezTo>
                    <a:pt x="2228736" y="882270"/>
                    <a:pt x="2228736" y="1297787"/>
                    <a:pt x="2034021" y="1635043"/>
                  </a:cubicBezTo>
                  <a:lnTo>
                    <a:pt x="1090029" y="1090029"/>
                  </a:lnTo>
                  <a:lnTo>
                    <a:pt x="2034021" y="545014"/>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511351" tIns="888477" rIns="47599" bIns="888478"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p:txBody>
        </p:sp>
        <p:sp>
          <p:nvSpPr>
            <p:cNvPr id="6" name="Freeform: Shape 5">
              <a:extLst>
                <a:ext uri="{FF2B5EF4-FFF2-40B4-BE49-F238E27FC236}">
                  <a16:creationId xmlns:a16="http://schemas.microsoft.com/office/drawing/2014/main" id="{41CCD509-0CF8-3EF7-1FEB-D8E22EB8295B}"/>
                </a:ext>
              </a:extLst>
            </p:cNvPr>
            <p:cNvSpPr/>
            <p:nvPr/>
          </p:nvSpPr>
          <p:spPr>
            <a:xfrm>
              <a:off x="797066" y="2163703"/>
              <a:ext cx="2180057" cy="2180057"/>
            </a:xfrm>
            <a:custGeom>
              <a:avLst/>
              <a:gdLst>
                <a:gd name="connsiteX0" fmla="*/ 2034021 w 2180057"/>
                <a:gd name="connsiteY0" fmla="*/ 1635043 h 2180057"/>
                <a:gd name="connsiteX1" fmla="*/ 1090028 w 2180057"/>
                <a:gd name="connsiteY1" fmla="*/ 2180058 h 2180057"/>
                <a:gd name="connsiteX2" fmla="*/ 1090029 w 2180057"/>
                <a:gd name="connsiteY2" fmla="*/ 1090029 h 2180057"/>
                <a:gd name="connsiteX3" fmla="*/ 2034021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1635043"/>
                  </a:moveTo>
                  <a:cubicBezTo>
                    <a:pt x="1839306" y="1972299"/>
                    <a:pt x="1479458" y="2180058"/>
                    <a:pt x="1090028" y="2180058"/>
                  </a:cubicBezTo>
                  <a:cubicBezTo>
                    <a:pt x="1090028" y="1816715"/>
                    <a:pt x="1090029" y="1453372"/>
                    <a:pt x="1090029" y="1090029"/>
                  </a:cubicBezTo>
                  <a:lnTo>
                    <a:pt x="2034021"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6" tIns="1498375" rIns="449872" bIns="252627"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p:txBody>
        </p:sp>
        <p:sp>
          <p:nvSpPr>
            <p:cNvPr id="16" name="Freeform: Shape 15">
              <a:extLst>
                <a:ext uri="{FF2B5EF4-FFF2-40B4-BE49-F238E27FC236}">
                  <a16:creationId xmlns:a16="http://schemas.microsoft.com/office/drawing/2014/main" id="{DA26DAFC-1342-DA17-7EAF-EC556DD7DE47}"/>
                </a:ext>
              </a:extLst>
            </p:cNvPr>
            <p:cNvSpPr/>
            <p:nvPr/>
          </p:nvSpPr>
          <p:spPr>
            <a:xfrm>
              <a:off x="787735" y="2174386"/>
              <a:ext cx="2180057" cy="2180057"/>
            </a:xfrm>
            <a:custGeom>
              <a:avLst/>
              <a:gdLst>
                <a:gd name="connsiteX0" fmla="*/ 1090029 w 2180057"/>
                <a:gd name="connsiteY0" fmla="*/ 2180057 h 2180057"/>
                <a:gd name="connsiteX1" fmla="*/ 146036 w 2180057"/>
                <a:gd name="connsiteY1" fmla="*/ 1635043 h 2180057"/>
                <a:gd name="connsiteX2" fmla="*/ 1090029 w 2180057"/>
                <a:gd name="connsiteY2" fmla="*/ 1090029 h 2180057"/>
                <a:gd name="connsiteX3" fmla="*/ 1090029 w 2180057"/>
                <a:gd name="connsiteY3" fmla="*/ 2180057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9" y="2180057"/>
                  </a:moveTo>
                  <a:cubicBezTo>
                    <a:pt x="700599" y="2180057"/>
                    <a:pt x="340751" y="1972299"/>
                    <a:pt x="146036" y="1635043"/>
                  </a:cubicBezTo>
                  <a:lnTo>
                    <a:pt x="1090029" y="1090029"/>
                  </a:lnTo>
                  <a:lnTo>
                    <a:pt x="1090029" y="2180057"/>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1" tIns="1498374" rIns="1132437" bIns="252628"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p:txBody>
        </p:sp>
        <p:sp>
          <p:nvSpPr>
            <p:cNvPr id="19" name="Freeform: Shape 18">
              <a:extLst>
                <a:ext uri="{FF2B5EF4-FFF2-40B4-BE49-F238E27FC236}">
                  <a16:creationId xmlns:a16="http://schemas.microsoft.com/office/drawing/2014/main" id="{33C6357D-886A-A026-FD5A-7F84D8F6CA5C}"/>
                </a:ext>
              </a:extLst>
            </p:cNvPr>
            <p:cNvSpPr/>
            <p:nvPr/>
          </p:nvSpPr>
          <p:spPr>
            <a:xfrm>
              <a:off x="773620" y="2153020"/>
              <a:ext cx="2180057" cy="2180057"/>
            </a:xfrm>
            <a:custGeom>
              <a:avLst/>
              <a:gdLst>
                <a:gd name="connsiteX0" fmla="*/ 146036 w 2180057"/>
                <a:gd name="connsiteY0" fmla="*/ 1635043 h 2180057"/>
                <a:gd name="connsiteX1" fmla="*/ 146036 w 2180057"/>
                <a:gd name="connsiteY1" fmla="*/ 545014 h 2180057"/>
                <a:gd name="connsiteX2" fmla="*/ 1090029 w 2180057"/>
                <a:gd name="connsiteY2" fmla="*/ 1090029 h 2180057"/>
                <a:gd name="connsiteX3" fmla="*/ 146036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1635043"/>
                  </a:moveTo>
                  <a:cubicBezTo>
                    <a:pt x="-48679" y="1297787"/>
                    <a:pt x="-48679" y="882270"/>
                    <a:pt x="146036" y="545014"/>
                  </a:cubicBezTo>
                  <a:lnTo>
                    <a:pt x="1090029" y="1090029"/>
                  </a:lnTo>
                  <a:lnTo>
                    <a:pt x="146036"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2789" tIns="888478" rIns="1506161" bIns="888477" numCol="1" spcCol="1270" anchor="ctr" anchorCtr="0">
              <a:noAutofit/>
            </a:bodyPr>
            <a:lstStyle/>
            <a:p>
              <a:pPr algn="ctr" defTabSz="666750">
                <a:lnSpc>
                  <a:spcPct val="90000"/>
                </a:lnSpc>
                <a:spcBef>
                  <a:spcPct val="0"/>
                </a:spcBef>
                <a:spcAft>
                  <a:spcPct val="35000"/>
                </a:spcAft>
              </a:pPr>
              <a:r>
                <a:rPr lang="en-US" sz="1600" dirty="0"/>
                <a:t>project</a:t>
              </a:r>
              <a:endParaRPr lang="nl-BE" sz="1600" dirty="0"/>
            </a:p>
          </p:txBody>
        </p:sp>
        <p:sp>
          <p:nvSpPr>
            <p:cNvPr id="20" name="Freeform: Shape 19">
              <a:extLst>
                <a:ext uri="{FF2B5EF4-FFF2-40B4-BE49-F238E27FC236}">
                  <a16:creationId xmlns:a16="http://schemas.microsoft.com/office/drawing/2014/main" id="{322D0F0F-310C-A008-5435-72F369935EAB}"/>
                </a:ext>
              </a:extLst>
            </p:cNvPr>
            <p:cNvSpPr/>
            <p:nvPr/>
          </p:nvSpPr>
          <p:spPr>
            <a:xfrm>
              <a:off x="769220" y="2094957"/>
              <a:ext cx="2180057" cy="2180057"/>
            </a:xfrm>
            <a:custGeom>
              <a:avLst/>
              <a:gdLst>
                <a:gd name="connsiteX0" fmla="*/ 146036 w 2180057"/>
                <a:gd name="connsiteY0" fmla="*/ 545014 h 2180057"/>
                <a:gd name="connsiteX1" fmla="*/ 1090029 w 2180057"/>
                <a:gd name="connsiteY1" fmla="*/ -1 h 2180057"/>
                <a:gd name="connsiteX2" fmla="*/ 1090029 w 2180057"/>
                <a:gd name="connsiteY2" fmla="*/ 1090029 h 2180057"/>
                <a:gd name="connsiteX3" fmla="*/ 146036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545014"/>
                  </a:moveTo>
                  <a:cubicBezTo>
                    <a:pt x="340751" y="207758"/>
                    <a:pt x="700599" y="-1"/>
                    <a:pt x="1090029" y="-1"/>
                  </a:cubicBezTo>
                  <a:lnTo>
                    <a:pt x="1090029" y="1090029"/>
                  </a:lnTo>
                  <a:lnTo>
                    <a:pt x="146036" y="545014"/>
                  </a:lnTo>
                  <a:close/>
                </a:path>
              </a:pathLst>
            </a:custGeom>
            <a:solidFill>
              <a:srgbClr val="DB6C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0" tIns="252628" rIns="1132438"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p:txBody>
        </p:sp>
      </p:grpSp>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34</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4" name="Content Placeholder 2">
            <a:extLst>
              <a:ext uri="{FF2B5EF4-FFF2-40B4-BE49-F238E27FC236}">
                <a16:creationId xmlns:a16="http://schemas.microsoft.com/office/drawing/2014/main" id="{7931979C-A5E3-1789-96C5-6ADB2DCBC7CD}"/>
              </a:ext>
            </a:extLst>
          </p:cNvPr>
          <p:cNvSpPr>
            <a:spLocks noGrp="1"/>
          </p:cNvSpPr>
          <p:nvPr>
            <p:ph idx="1"/>
          </p:nvPr>
        </p:nvSpPr>
        <p:spPr>
          <a:xfrm>
            <a:off x="5071810" y="952737"/>
            <a:ext cx="6168088" cy="4132447"/>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dirty="0">
                <a:solidFill>
                  <a:schemeClr val="tx2"/>
                </a:solidFill>
              </a:rPr>
              <a:t>VSC offers </a:t>
            </a:r>
            <a:r>
              <a:rPr lang="en-US" sz="2200" dirty="0">
                <a:solidFill>
                  <a:schemeClr val="tx2"/>
                </a:solidFill>
                <a:hlinkClick r:id="rId2"/>
              </a:rPr>
              <a:t>Tier-1 Data </a:t>
            </a:r>
            <a:r>
              <a:rPr lang="en-US" sz="2200" dirty="0">
                <a:solidFill>
                  <a:schemeClr val="tx2"/>
                </a:solidFill>
              </a:rPr>
              <a:t>as a large storage service</a:t>
            </a:r>
          </a:p>
          <a:p>
            <a:pPr marL="324000" indent="-324000">
              <a:buClr>
                <a:srgbClr val="DB6C30"/>
              </a:buClr>
              <a:buFont typeface="Wingdings" panose="05000000000000000000" pitchFamily="2" charset="2"/>
              <a:buChar char="q"/>
            </a:pPr>
            <a:r>
              <a:rPr lang="en-US" sz="2200" dirty="0">
                <a:solidFill>
                  <a:schemeClr val="tx2"/>
                </a:solidFill>
              </a:rPr>
              <a:t>Only for active data (no archiving)</a:t>
            </a:r>
          </a:p>
          <a:p>
            <a:pPr marL="324000" indent="-324000">
              <a:buClr>
                <a:srgbClr val="DB6C30"/>
              </a:buClr>
              <a:buFont typeface="Wingdings" panose="05000000000000000000" pitchFamily="2" charset="2"/>
              <a:buChar char="q"/>
            </a:pPr>
            <a:r>
              <a:rPr lang="en-US" sz="2200" dirty="0">
                <a:solidFill>
                  <a:schemeClr val="tx2"/>
                </a:solidFill>
              </a:rPr>
              <a:t>Supports metadata (search &amp; discover)</a:t>
            </a:r>
          </a:p>
          <a:p>
            <a:pPr marL="324000" indent="-324000">
              <a:buClr>
                <a:srgbClr val="DB6C30"/>
              </a:buClr>
              <a:buFont typeface="Wingdings" panose="05000000000000000000" pitchFamily="2" charset="2"/>
              <a:buChar char="q"/>
            </a:pPr>
            <a:r>
              <a:rPr lang="en-US" sz="2200" dirty="0">
                <a:solidFill>
                  <a:schemeClr val="tx2"/>
                </a:solidFill>
              </a:rPr>
              <a:t>Share within VSC (permission management)</a:t>
            </a:r>
          </a:p>
          <a:p>
            <a:pPr marL="324000" indent="-324000">
              <a:buClr>
                <a:srgbClr val="DB6C30"/>
              </a:buClr>
              <a:buFont typeface="Wingdings" panose="05000000000000000000" pitchFamily="2" charset="2"/>
              <a:buChar char="q"/>
            </a:pPr>
            <a:r>
              <a:rPr lang="en-US" sz="2200" dirty="0">
                <a:solidFill>
                  <a:schemeClr val="tx2"/>
                </a:solidFill>
              </a:rPr>
              <a:t>Share outside VSC (via </a:t>
            </a:r>
            <a:r>
              <a:rPr lang="en-US" sz="2200" dirty="0">
                <a:solidFill>
                  <a:schemeClr val="tx2"/>
                </a:solidFill>
                <a:hlinkClick r:id="rId3"/>
              </a:rPr>
              <a:t>Globus</a:t>
            </a:r>
            <a:r>
              <a:rPr lang="en-US" sz="2200" dirty="0">
                <a:solidFill>
                  <a:schemeClr val="tx2"/>
                </a:solidFill>
              </a:rPr>
              <a:t>)</a:t>
            </a:r>
          </a:p>
          <a:p>
            <a:pPr marL="324000" indent="-324000">
              <a:buClr>
                <a:srgbClr val="DB6C30"/>
              </a:buClr>
              <a:buFont typeface="Wingdings" panose="05000000000000000000" pitchFamily="2" charset="2"/>
              <a:buChar char="q"/>
            </a:pPr>
            <a:r>
              <a:rPr lang="en-US" sz="2200" dirty="0">
                <a:solidFill>
                  <a:schemeClr val="tx2"/>
                </a:solidFill>
              </a:rPr>
              <a:t>Stage-in/stage-out data workflow</a:t>
            </a:r>
          </a:p>
          <a:p>
            <a:pPr marL="324000" indent="-324000">
              <a:buClr>
                <a:srgbClr val="DB6C30"/>
              </a:buClr>
              <a:buFont typeface="Wingdings" panose="05000000000000000000" pitchFamily="2" charset="2"/>
              <a:buChar char="q"/>
            </a:pPr>
            <a:r>
              <a:rPr lang="en-US" sz="2200" dirty="0">
                <a:solidFill>
                  <a:schemeClr val="tx2"/>
                </a:solidFill>
              </a:rPr>
              <a:t>Free of charge for academic use</a:t>
            </a:r>
          </a:p>
          <a:p>
            <a:pPr marL="324000" indent="-324000">
              <a:buClr>
                <a:srgbClr val="DB6C30"/>
              </a:buClr>
              <a:buFont typeface="Wingdings" panose="05000000000000000000" pitchFamily="2" charset="2"/>
              <a:buChar char="q"/>
            </a:pPr>
            <a:r>
              <a:rPr lang="en-US" sz="2200" dirty="0">
                <a:solidFill>
                  <a:schemeClr val="tx2"/>
                </a:solidFill>
              </a:rPr>
              <a:t>Starting volume </a:t>
            </a:r>
            <a:r>
              <a:rPr lang="en-US" sz="2200">
                <a:solidFill>
                  <a:schemeClr val="tx2"/>
                </a:solidFill>
              </a:rPr>
              <a:t>is 5 TB</a:t>
            </a:r>
            <a:endParaRPr lang="en-US" sz="2200" dirty="0">
              <a:solidFill>
                <a:schemeClr val="tx2"/>
              </a:solidFill>
            </a:endParaRPr>
          </a:p>
          <a:p>
            <a:pPr marL="324000" indent="-324000">
              <a:buClr>
                <a:srgbClr val="DB6C30"/>
              </a:buClr>
              <a:buFont typeface="Wingdings" panose="05000000000000000000" pitchFamily="2" charset="2"/>
              <a:buChar char="q"/>
            </a:pPr>
            <a:r>
              <a:rPr lang="en-US" sz="2200" dirty="0">
                <a:solidFill>
                  <a:schemeClr val="tx2"/>
                </a:solidFill>
              </a:rPr>
              <a:t>Submit a proposal to get access</a:t>
            </a:r>
            <a:br>
              <a:rPr lang="en-US" sz="2200" dirty="0">
                <a:solidFill>
                  <a:schemeClr val="tx2"/>
                </a:solidFill>
              </a:rPr>
            </a:br>
            <a:r>
              <a:rPr lang="en-US" sz="2200" dirty="0">
                <a:solidFill>
                  <a:schemeClr val="tx2"/>
                </a:solidFill>
              </a:rPr>
              <a:t>You can apply at any time</a:t>
            </a:r>
            <a:endParaRPr lang="nl-BE" sz="2200" dirty="0"/>
          </a:p>
        </p:txBody>
      </p:sp>
    </p:spTree>
    <p:extLst>
      <p:ext uri="{BB962C8B-B14F-4D97-AF65-F5344CB8AC3E}">
        <p14:creationId xmlns:p14="http://schemas.microsoft.com/office/powerpoint/2010/main" val="355628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lstStyle/>
          <a:p>
            <a:r>
              <a:rPr lang="en-US" dirty="0"/>
              <a:t>Extra (KU Leuven) storage locations</a:t>
            </a:r>
            <a:endParaRPr lang="nl-BE"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9"/>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development</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0"/>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1055440" y="5805264"/>
            <a:ext cx="7344816" cy="369332"/>
          </a:xfrm>
          <a:prstGeom prst="rect">
            <a:avLst/>
          </a:prstGeom>
          <a:noFill/>
        </p:spPr>
        <p:txBody>
          <a:bodyPr wrap="square" rtlCol="0">
            <a:spAutoFit/>
          </a:bodyPr>
          <a:lstStyle/>
          <a:p>
            <a:r>
              <a:rPr lang="en-US" dirty="0"/>
              <a:t>Also see the </a:t>
            </a:r>
            <a:r>
              <a:rPr lang="en-US" dirty="0">
                <a:hlinkClick r:id="rId11"/>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36</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lstStyle/>
          <a:p>
            <a:r>
              <a:rPr lang="en-US" dirty="0" err="1"/>
              <a:t>ManGO</a:t>
            </a:r>
            <a:endParaRPr lang="nl-BE" dirty="0"/>
          </a:p>
        </p:txBody>
      </p:sp>
    </p:spTree>
    <p:extLst>
      <p:ext uri="{BB962C8B-B14F-4D97-AF65-F5344CB8AC3E}">
        <p14:creationId xmlns:p14="http://schemas.microsoft.com/office/powerpoint/2010/main" val="9933550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37</a:t>
            </a:fld>
            <a:endParaRPr lang="en-US"/>
          </a:p>
        </p:txBody>
      </p:sp>
    </p:spTree>
    <p:extLst>
      <p:ext uri="{BB962C8B-B14F-4D97-AF65-F5344CB8AC3E}">
        <p14:creationId xmlns:p14="http://schemas.microsoft.com/office/powerpoint/2010/main" val="40131060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9" name="Rectangle 3"/>
          <p:cNvSpPr>
            <a:spLocks noGrp="1" noChangeArrowheads="1"/>
          </p:cNvSpPr>
          <p:nvPr>
            <p:ph idx="1"/>
          </p:nvPr>
        </p:nvSpPr>
        <p:spPr>
          <a:xfrm>
            <a:off x="588268" y="1052736"/>
            <a:ext cx="6731868" cy="5086167"/>
          </a:xfrm>
          <a:ln w="38100">
            <a:solidFill>
              <a:schemeClr val="accent1"/>
            </a:solidFill>
          </a:ln>
        </p:spPr>
        <p:txBody>
          <a:bodyPr anchor="ctr"/>
          <a:lstStyle/>
          <a:p>
            <a:pPr marL="342900" lvl="1" indent="0">
              <a:buNone/>
            </a:pPr>
            <a:r>
              <a:rPr lang="en-US" altLang="en-US" sz="2200" dirty="0"/>
              <a:t>What?</a:t>
            </a:r>
          </a:p>
          <a:p>
            <a:pPr lvl="1"/>
            <a:r>
              <a:rPr lang="en-US" altLang="en-US" sz="2200" dirty="0"/>
              <a:t>Credits are a measure for compute resources</a:t>
            </a:r>
          </a:p>
          <a:p>
            <a:pPr lvl="1"/>
            <a:r>
              <a:rPr lang="en-US" altLang="en-US" sz="2200" dirty="0"/>
              <a:t>Mandatory for accessing these resources</a:t>
            </a:r>
          </a:p>
          <a:p>
            <a:pPr lvl="1"/>
            <a:r>
              <a:rPr lang="en-US" altLang="en-US" sz="2200" dirty="0"/>
              <a:t>Traceability and accountability</a:t>
            </a:r>
          </a:p>
          <a:p>
            <a:pPr lvl="1"/>
            <a:endParaRPr lang="en-US" altLang="en-US" sz="2200" dirty="0"/>
          </a:p>
          <a:p>
            <a:pPr marL="342900" lvl="1" indent="0">
              <a:buNone/>
            </a:pPr>
            <a:r>
              <a:rPr lang="en-US" altLang="en-US" sz="2200" dirty="0"/>
              <a:t>Why?</a:t>
            </a:r>
          </a:p>
          <a:p>
            <a:pPr lvl="1"/>
            <a:r>
              <a:rPr lang="en-US" altLang="en-US" sz="2200" dirty="0"/>
              <a:t>Incentive to optimize your code and workflow</a:t>
            </a:r>
          </a:p>
          <a:p>
            <a:pPr lvl="1"/>
            <a:endParaRPr lang="en-US" altLang="en-US" sz="2200" dirty="0"/>
          </a:p>
          <a:p>
            <a:pPr marL="342900" lvl="1" indent="0">
              <a:buNone/>
            </a:pPr>
            <a:r>
              <a:rPr lang="en-US" altLang="en-US" sz="2200" dirty="0"/>
              <a:t>How?</a:t>
            </a:r>
          </a:p>
          <a:p>
            <a:pPr lvl="1"/>
            <a:r>
              <a:rPr lang="en-US" altLang="en-US" sz="2200" dirty="0"/>
              <a:t>1 million credits = 3.5 EUR</a:t>
            </a:r>
          </a:p>
          <a:p>
            <a:pPr lvl="1"/>
            <a:r>
              <a:rPr lang="en-US" altLang="en-US" sz="2200" dirty="0"/>
              <a:t>Pay-as-you-go model</a:t>
            </a:r>
          </a:p>
          <a:p>
            <a:pPr lvl="1"/>
            <a:r>
              <a:rPr lang="en-US" altLang="en-US" sz="2200" dirty="0"/>
              <a:t>Credit rates on the right = for fully allocated nodes</a:t>
            </a:r>
            <a:br>
              <a:rPr lang="en-US" altLang="en-US" sz="2200" dirty="0"/>
            </a:br>
            <a:r>
              <a:rPr lang="en-US" altLang="en-US" sz="2200" dirty="0"/>
              <a:t>(if you request less cores, you also get billed less)</a:t>
            </a:r>
          </a:p>
          <a:p>
            <a:pPr lvl="1"/>
            <a:r>
              <a:rPr lang="nl-BE" sz="2200" dirty="0"/>
              <a:t>See </a:t>
            </a:r>
            <a:r>
              <a:rPr lang="nl-BE" sz="2200" dirty="0" err="1"/>
              <a:t>the</a:t>
            </a:r>
            <a:r>
              <a:rPr lang="nl-BE" sz="2200" dirty="0"/>
              <a:t> </a:t>
            </a:r>
            <a:r>
              <a:rPr lang="nl-BE" sz="2200" dirty="0">
                <a:hlinkClick r:id="rId4"/>
              </a:rPr>
              <a:t>ICTS service </a:t>
            </a:r>
            <a:r>
              <a:rPr lang="nl-BE" sz="2200" dirty="0" err="1">
                <a:hlinkClick r:id="rId4"/>
              </a:rPr>
              <a:t>catalog</a:t>
            </a:r>
            <a:r>
              <a:rPr lang="nl-BE" sz="2200" dirty="0"/>
              <a:t> </a:t>
            </a:r>
            <a:r>
              <a:rPr lang="nl-BE" sz="2200" dirty="0" err="1"/>
              <a:t>for</a:t>
            </a:r>
            <a:r>
              <a:rPr lang="nl-BE" sz="2200" dirty="0"/>
              <a:t> more info</a:t>
            </a: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3048645265"/>
              </p:ext>
            </p:extLst>
          </p:nvPr>
        </p:nvGraphicFramePr>
        <p:xfrm>
          <a:off x="7392144" y="518573"/>
          <a:ext cx="4439856" cy="3977640"/>
        </p:xfrm>
        <a:graphic>
          <a:graphicData uri="http://schemas.openxmlformats.org/drawingml/2006/table">
            <a:tbl>
              <a:tblPr firstRow="1" bandRow="1">
                <a:tableStyleId>{5C22544A-7EE6-4342-B048-85BDC9FD1C3A}</a:tableStyleId>
              </a:tblPr>
              <a:tblGrid>
                <a:gridCol w="3168352">
                  <a:extLst>
                    <a:ext uri="{9D8B030D-6E8A-4147-A177-3AD203B41FA5}">
                      <a16:colId xmlns:a16="http://schemas.microsoft.com/office/drawing/2014/main" val="346114"/>
                    </a:ext>
                  </a:extLst>
                </a:gridCol>
                <a:gridCol w="1271504">
                  <a:extLst>
                    <a:ext uri="{9D8B030D-6E8A-4147-A177-3AD203B41FA5}">
                      <a16:colId xmlns:a16="http://schemas.microsoft.com/office/drawing/2014/main" val="1760943923"/>
                    </a:ext>
                  </a:extLst>
                </a:gridCol>
              </a:tblGrid>
              <a:tr h="370840">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370840">
                <a:tc>
                  <a:txBody>
                    <a:bodyPr/>
                    <a:lstStyle/>
                    <a:p>
                      <a:r>
                        <a:rPr lang="en-US" sz="1800" dirty="0" err="1"/>
                        <a:t>wICE</a:t>
                      </a:r>
                      <a:r>
                        <a:rPr lang="en-US" sz="1800" dirty="0"/>
                        <a:t> Skylake 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326915842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Cascadelake</a:t>
                      </a:r>
                      <a:r>
                        <a:rPr lang="en-US" sz="1800" dirty="0"/>
                        <a:t> 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21121686"/>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thin</a:t>
                      </a:r>
                      <a:r>
                        <a:rPr lang="nl-BE" sz="1800" dirty="0"/>
                        <a:t> node</a:t>
                      </a:r>
                    </a:p>
                  </a:txBody>
                  <a:tcPr/>
                </a:tc>
                <a:tc>
                  <a:txBody>
                    <a:bodyPr/>
                    <a:lstStyle/>
                    <a:p>
                      <a:r>
                        <a:rPr lang="nl-BE" sz="1800" dirty="0"/>
                        <a:t>11 000</a:t>
                      </a:r>
                    </a:p>
                  </a:txBody>
                  <a:tcPr/>
                </a:tc>
                <a:extLst>
                  <a:ext uri="{0D108BD9-81ED-4DB2-BD59-A6C34878D82A}">
                    <a16:rowId xmlns:a16="http://schemas.microsoft.com/office/drawing/2014/main" val="227663860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GPU node</a:t>
                      </a:r>
                    </a:p>
                  </a:txBody>
                  <a:tcPr/>
                </a:tc>
                <a:tc>
                  <a:txBody>
                    <a:bodyPr/>
                    <a:lstStyle/>
                    <a:p>
                      <a:r>
                        <a:rPr lang="nl-BE" sz="1800" dirty="0"/>
                        <a:t>45 000</a:t>
                      </a:r>
                    </a:p>
                  </a:txBody>
                  <a:tcPr/>
                </a:tc>
                <a:extLst>
                  <a:ext uri="{0D108BD9-81ED-4DB2-BD59-A6C34878D82A}">
                    <a16:rowId xmlns:a16="http://schemas.microsoft.com/office/drawing/2014/main" val="391892541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interactive</a:t>
                      </a:r>
                      <a:r>
                        <a:rPr lang="nl-BE" sz="1800" dirty="0"/>
                        <a:t> node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IceLake</a:t>
                      </a:r>
                      <a:r>
                        <a:rPr lang="en-US" sz="1800" dirty="0"/>
                        <a:t> </a:t>
                      </a:r>
                      <a:r>
                        <a:rPr lang="en-US" sz="1800" dirty="0" err="1"/>
                        <a:t>hugemem</a:t>
                      </a:r>
                      <a:r>
                        <a:rPr lang="en-US" sz="1800" dirty="0"/>
                        <a:t> node</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87164174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Sapphire Rapids</a:t>
                      </a:r>
                      <a:endParaRPr lang="nl-BE" sz="1800" dirty="0"/>
                    </a:p>
                  </a:txBody>
                  <a:tcPr/>
                </a:tc>
                <a:tc>
                  <a:txBody>
                    <a:bodyPr/>
                    <a:lstStyle/>
                    <a:p>
                      <a:r>
                        <a:rPr lang="en-US" sz="1800" dirty="0"/>
                        <a:t>20 000</a:t>
                      </a:r>
                    </a:p>
                  </a:txBody>
                  <a:tcPr/>
                </a:tc>
                <a:extLst>
                  <a:ext uri="{0D108BD9-81ED-4DB2-BD59-A6C34878D82A}">
                    <a16:rowId xmlns:a16="http://schemas.microsoft.com/office/drawing/2014/main" val="199049332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AMD Zen-4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2653489448"/>
                  </a:ext>
                </a:extLst>
              </a:tr>
            </a:tbl>
          </a:graphicData>
        </a:graphic>
      </p:graphicFrame>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81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9" name="Rectangle 3"/>
          <p:cNvSpPr>
            <a:spLocks noGrp="1" noChangeArrowheads="1"/>
          </p:cNvSpPr>
          <p:nvPr>
            <p:ph idx="1"/>
          </p:nvPr>
        </p:nvSpPr>
        <p:spPr>
          <a:xfrm>
            <a:off x="720000" y="1349998"/>
            <a:ext cx="11112000" cy="5034347"/>
          </a:xfrm>
        </p:spPr>
        <p:txBody>
          <a:bodyPr vert="horz" lIns="0" tIns="0" rIns="0" bIns="0" rtlCol="0" anchor="t">
            <a:noAutofit/>
          </a:bodyPr>
          <a:lstStyle/>
          <a:p>
            <a:pPr eaLnBrk="1" hangingPunct="1">
              <a:lnSpc>
                <a:spcPct val="90000"/>
              </a:lnSpc>
            </a:pPr>
            <a:r>
              <a:rPr lang="en-US" altLang="en-US" sz="2000" dirty="0"/>
              <a:t>Request your introduction credits</a:t>
            </a:r>
          </a:p>
          <a:p>
            <a:pPr lvl="1"/>
            <a:r>
              <a:rPr lang="en-US" altLang="en-US" sz="1900" dirty="0"/>
              <a:t>Every new user can request them once</a:t>
            </a:r>
          </a:p>
          <a:p>
            <a:pPr lvl="1"/>
            <a:r>
              <a:rPr lang="en-US" altLang="en-US" sz="1900" dirty="0">
                <a:ea typeface="Open Sans Extrabold"/>
                <a:cs typeface="Open Sans Extrabold"/>
              </a:rPr>
              <a:t>Free of charge</a:t>
            </a:r>
            <a:endParaRPr lang="en-US" altLang="en-US" sz="1900" dirty="0"/>
          </a:p>
          <a:p>
            <a:pPr lvl="1"/>
            <a:r>
              <a:rPr lang="en-US" altLang="en-US" sz="1900" dirty="0"/>
              <a:t>6 months</a:t>
            </a:r>
          </a:p>
          <a:p>
            <a:pPr lvl="1"/>
            <a:endParaRPr lang="en-US" altLang="en-US" sz="1900" dirty="0"/>
          </a:p>
          <a:p>
            <a:r>
              <a:rPr lang="en-US" altLang="en-US" sz="2200" dirty="0"/>
              <a:t>Request permission to join a group</a:t>
            </a:r>
          </a:p>
          <a:p>
            <a:endParaRPr lang="en-US" altLang="en-US" sz="2200" dirty="0"/>
          </a:p>
          <a:p>
            <a:r>
              <a:rPr lang="en-US" altLang="en-US" sz="2200" dirty="0"/>
              <a:t>Request project credits</a:t>
            </a:r>
          </a:p>
          <a:p>
            <a:pPr lvl="1"/>
            <a:r>
              <a:rPr lang="en-US" altLang="en-US" sz="1900" dirty="0"/>
              <a:t>Create group on the VSC account page</a:t>
            </a:r>
          </a:p>
          <a:p>
            <a:pPr lvl="1"/>
            <a:r>
              <a:rPr lang="en-US" altLang="en-US" sz="1900" dirty="0"/>
              <a:t>Start the name preferably with </a:t>
            </a:r>
            <a:r>
              <a:rPr lang="en-US" altLang="en-US" sz="1900" b="1" dirty="0"/>
              <a:t>p_</a:t>
            </a:r>
          </a:p>
          <a:p>
            <a:pPr lvl="1"/>
            <a:r>
              <a:rPr lang="en-US" altLang="en-US" sz="1900" dirty="0"/>
              <a:t>Your group will start with </a:t>
            </a:r>
            <a:r>
              <a:rPr lang="en-US" altLang="en-US" sz="1900" b="1" dirty="0" err="1"/>
              <a:t>lp</a:t>
            </a:r>
            <a:r>
              <a:rPr lang="en-US" altLang="en-US" sz="1900" b="1" dirty="0"/>
              <a:t>_</a:t>
            </a:r>
          </a:p>
          <a:p>
            <a:pPr lvl="1"/>
            <a:r>
              <a:rPr lang="en-US" altLang="en-US" sz="1900" dirty="0"/>
              <a:t>Creator of the group can add and remove users</a:t>
            </a:r>
          </a:p>
          <a:p>
            <a:pPr lvl="1"/>
            <a:endParaRPr lang="en-US" altLang="en-US" sz="1900" dirty="0"/>
          </a:p>
          <a:p>
            <a:r>
              <a:rPr lang="en-US" altLang="en-US" sz="2200" dirty="0"/>
              <a:t>Tier-2 credits can be used on all (Leuven) Tier-2 clusters</a:t>
            </a:r>
            <a:endParaRPr lang="en-US" altLang="en-US" sz="2000" dirty="0"/>
          </a:p>
          <a:p>
            <a:endParaRPr lang="en-US" altLang="en-US" sz="2200" dirty="0"/>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pic>
        <p:nvPicPr>
          <p:cNvPr id="3" name="Picture 2"/>
          <p:cNvPicPr>
            <a:picLocks noChangeAspect="1"/>
          </p:cNvPicPr>
          <p:nvPr/>
        </p:nvPicPr>
        <p:blipFill>
          <a:blip r:embed="rId4"/>
          <a:stretch>
            <a:fillRect/>
          </a:stretch>
        </p:blipFill>
        <p:spPr>
          <a:xfrm>
            <a:off x="5807968" y="1840526"/>
            <a:ext cx="5911458" cy="1734722"/>
          </a:xfrm>
          <a:prstGeom prst="rect">
            <a:avLst/>
          </a:prstGeom>
        </p:spPr>
      </p:pic>
      <p:pic>
        <p:nvPicPr>
          <p:cNvPr id="7" name="Picture 6"/>
          <p:cNvPicPr>
            <a:picLocks noChangeAspect="1"/>
          </p:cNvPicPr>
          <p:nvPr/>
        </p:nvPicPr>
        <p:blipFill>
          <a:blip r:embed="rId5"/>
          <a:stretch>
            <a:fillRect/>
          </a:stretch>
        </p:blipFill>
        <p:spPr>
          <a:xfrm>
            <a:off x="5464304" y="3689083"/>
            <a:ext cx="6298877" cy="1429497"/>
          </a:xfrm>
          <a:prstGeom prst="rect">
            <a:avLst/>
          </a:prstGeom>
        </p:spPr>
      </p:pic>
      <p:sp>
        <p:nvSpPr>
          <p:cNvPr id="4" name="Oval 3"/>
          <p:cNvSpPr/>
          <p:nvPr/>
        </p:nvSpPr>
        <p:spPr>
          <a:xfrm>
            <a:off x="9458570" y="4462869"/>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8" name="Picture 7"/>
          <p:cNvPicPr>
            <a:picLocks noChangeAspect="1"/>
          </p:cNvPicPr>
          <p:nvPr/>
        </p:nvPicPr>
        <p:blipFill>
          <a:blip r:embed="rId6"/>
          <a:stretch>
            <a:fillRect/>
          </a:stretch>
        </p:blipFill>
        <p:spPr>
          <a:xfrm>
            <a:off x="8500165" y="5145401"/>
            <a:ext cx="3308886" cy="1421507"/>
          </a:xfrm>
          <a:prstGeom prst="rect">
            <a:avLst/>
          </a:prstGeom>
        </p:spPr>
      </p:pic>
      <p:sp>
        <p:nvSpPr>
          <p:cNvPr id="11" name="TextBox 10"/>
          <p:cNvSpPr txBox="1"/>
          <p:nvPr/>
        </p:nvSpPr>
        <p:spPr>
          <a:xfrm>
            <a:off x="7176120" y="1196752"/>
            <a:ext cx="4608512" cy="369332"/>
          </a:xfrm>
          <a:prstGeom prst="rect">
            <a:avLst/>
          </a:prstGeom>
          <a:noFill/>
        </p:spPr>
        <p:txBody>
          <a:bodyPr wrap="square" rtlCol="0">
            <a:spAutoFit/>
          </a:bodyPr>
          <a:lstStyle/>
          <a:p>
            <a:r>
              <a:rPr lang="nl-BE" dirty="0"/>
              <a:t>Check </a:t>
            </a:r>
            <a:r>
              <a:rPr lang="nl-BE" dirty="0" err="1"/>
              <a:t>the</a:t>
            </a:r>
            <a:r>
              <a:rPr lang="nl-BE" dirty="0"/>
              <a:t> </a:t>
            </a:r>
            <a:r>
              <a:rPr lang="nl-BE" dirty="0">
                <a:hlinkClick r:id="rId7"/>
              </a:rPr>
              <a:t>ICTS service </a:t>
            </a:r>
            <a:r>
              <a:rPr lang="nl-BE" dirty="0" err="1">
                <a:hlinkClick r:id="rId7"/>
              </a:rPr>
              <a:t>catalog</a:t>
            </a:r>
            <a:endParaRPr lang="nl-BE" dirty="0"/>
          </a:p>
        </p:txBody>
      </p:sp>
      <p:sp>
        <p:nvSpPr>
          <p:cNvPr id="9" name="Right Arrow 8"/>
          <p:cNvSpPr/>
          <p:nvPr/>
        </p:nvSpPr>
        <p:spPr>
          <a:xfrm rot="21347765">
            <a:off x="4954191" y="1293163"/>
            <a:ext cx="2160240" cy="3600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ight Arrow 11"/>
          <p:cNvSpPr/>
          <p:nvPr/>
        </p:nvSpPr>
        <p:spPr>
          <a:xfrm rot="19024342">
            <a:off x="3458607" y="2621496"/>
            <a:ext cx="4227443" cy="445315"/>
          </a:xfrm>
          <a:prstGeom prst="rightArrow">
            <a:avLst>
              <a:gd name="adj1" fmla="val 50357"/>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8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8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8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48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48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48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819">
                                            <p:txEl>
                                              <p:pRg st="13" end="1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9" grpId="0" animBg="1"/>
      <p:bldP spid="9" grpId="1" animBg="1"/>
      <p:bldP spid="12" grpId="0" animBg="1"/>
      <p:bldP spid="12"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40</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pPr eaLnBrk="1" hangingPunct="1">
              <a:lnSpc>
                <a:spcPct val="90000"/>
              </a:lnSpc>
            </a:pPr>
            <a:r>
              <a:rPr lang="en-US" altLang="en-US" sz="2200" dirty="0">
                <a:ea typeface="Open Sans Extrabold"/>
                <a:cs typeface="Open Sans Extrabold"/>
              </a:rPr>
              <a:t>Submit your jobs with a suitable credit account</a:t>
            </a:r>
          </a:p>
          <a:p>
            <a:pPr eaLnBrk="1" hangingPunct="1">
              <a:lnSpc>
                <a:spcPct val="90000"/>
              </a:lnSpc>
            </a:pPr>
            <a:endParaRPr lang="en-US" altLang="en-US" sz="2200" dirty="0">
              <a:ea typeface="Open Sans Extrabold"/>
              <a:cs typeface="Open Sans Extrabold"/>
            </a:endParaRPr>
          </a:p>
          <a:p>
            <a:pPr marL="342900" lvl="1" indent="0">
              <a:buNone/>
            </a:pPr>
            <a:r>
              <a:rPr lang="en-US" altLang="en-US" sz="2200" dirty="0">
                <a:ea typeface="Open Sans Extrabold"/>
                <a:cs typeface="Open Sans Extrabold"/>
              </a:rPr>
              <a:t>#SBATCH –A </a:t>
            </a:r>
            <a:r>
              <a:rPr lang="en-US" altLang="en-US" sz="2200" dirty="0" err="1">
                <a:ea typeface="Open Sans Extrabold"/>
                <a:cs typeface="Open Sans Extrabold"/>
              </a:rPr>
              <a:t>lp_myproject</a:t>
            </a:r>
            <a:endParaRPr lang="en-US" altLang="en-US" sz="2200" dirty="0">
              <a:ea typeface="Open Sans Extrabold"/>
              <a:cs typeface="Open Sans Extrabold"/>
            </a:endParaRPr>
          </a:p>
          <a:p>
            <a:pPr marL="342900" lvl="1" indent="0">
              <a:buNone/>
            </a:pPr>
            <a:endParaRPr lang="en-US" altLang="en-US" sz="2200" dirty="0">
              <a:ea typeface="Open Sans Extrabold"/>
              <a:cs typeface="Open Sans Extrabold"/>
            </a:endParaRPr>
          </a:p>
          <a:p>
            <a:pPr marL="342900" lvl="1" indent="0">
              <a:buNone/>
            </a:pPr>
            <a:r>
              <a:rPr lang="en-US" altLang="en-US" sz="2200" dirty="0" err="1">
                <a:ea typeface="Open Sans Extrabold"/>
                <a:cs typeface="Open Sans Extrabold"/>
              </a:rPr>
              <a:t>sbatch</a:t>
            </a:r>
            <a:r>
              <a:rPr lang="en-US" altLang="en-US" sz="2200" dirty="0">
                <a:ea typeface="Open Sans Extrabold"/>
                <a:cs typeface="Open Sans Extrabold"/>
              </a:rPr>
              <a:t> -A </a:t>
            </a:r>
            <a:r>
              <a:rPr lang="en-US" altLang="en-US" sz="2200" dirty="0" err="1">
                <a:ea typeface="Open Sans Extrabold"/>
                <a:cs typeface="Open Sans Extrabold"/>
              </a:rPr>
              <a:t>lp_myproject</a:t>
            </a:r>
            <a:r>
              <a:rPr lang="en-US" altLang="en-US" sz="2200" dirty="0">
                <a:ea typeface="Open Sans Extrabold"/>
                <a:cs typeface="Open Sans Extrabold"/>
              </a:rPr>
              <a:t> … </a:t>
            </a:r>
            <a:r>
              <a:rPr lang="en-US" altLang="en-US" sz="2200" dirty="0" err="1">
                <a:ea typeface="Open Sans Extrabold"/>
                <a:cs typeface="Open Sans Extrabold"/>
              </a:rPr>
              <a:t>myjob.slurm</a:t>
            </a:r>
            <a:endParaRPr lang="en-US" altLang="en-US" sz="2200" dirty="0">
              <a:ea typeface="Open Sans Extrabold"/>
              <a:cs typeface="Open Sans Extrabold"/>
            </a:endParaRPr>
          </a:p>
          <a:p>
            <a:pPr lvl="1"/>
            <a:endParaRPr lang="en-US" altLang="en-US" sz="2200" dirty="0">
              <a:ea typeface="Open Sans Extrabold"/>
              <a:cs typeface="Open Sans Extrabold"/>
            </a:endParaRPr>
          </a:p>
          <a:p>
            <a:r>
              <a:rPr lang="en-US" altLang="en-US" sz="2200" dirty="0">
                <a:ea typeface="Open Sans Extrabold"/>
                <a:cs typeface="Open Sans Extrabold"/>
              </a:rPr>
              <a:t>Before submitting the job, </a:t>
            </a:r>
            <a:r>
              <a:rPr lang="en-US" altLang="en-US" sz="2200" dirty="0" err="1">
                <a:ea typeface="Open Sans Extrabold"/>
                <a:cs typeface="Open Sans Extrabold"/>
              </a:rPr>
              <a:t>Slurm</a:t>
            </a:r>
            <a:r>
              <a:rPr lang="en-US" altLang="en-US" sz="2200" dirty="0">
                <a:ea typeface="Open Sans Extrabold"/>
                <a:cs typeface="Open Sans Extrabold"/>
              </a:rPr>
              <a:t> checks if the account has enough available credits for the job</a:t>
            </a:r>
            <a:br>
              <a:rPr lang="en-US" altLang="en-US" sz="2200" dirty="0">
                <a:ea typeface="Open Sans Extrabold"/>
                <a:cs typeface="Open Sans Extrabold"/>
              </a:rPr>
            </a:br>
            <a:r>
              <a:rPr lang="en-US" altLang="en-US" sz="2200" dirty="0">
                <a:ea typeface="Open Sans Extrabold"/>
                <a:cs typeface="Open Sans Extrabold"/>
              </a:rPr>
              <a:t>(in addition to any other already-running jobs)</a:t>
            </a:r>
          </a:p>
          <a:p>
            <a:pPr marL="0" indent="0">
              <a:buNone/>
            </a:pPr>
            <a:endParaRPr lang="en-US" altLang="en-US" sz="2200" dirty="0">
              <a:ea typeface="Open Sans Extrabold"/>
              <a:cs typeface="Open Sans Extrabold"/>
            </a:endParaRPr>
          </a:p>
          <a:p>
            <a:r>
              <a:rPr lang="en-US" altLang="en-US" sz="2200" dirty="0">
                <a:ea typeface="Open Sans Extrabold"/>
                <a:cs typeface="Open Sans Extrabold"/>
              </a:rPr>
              <a:t>Once a job start running, it starts consuming credits from the account</a:t>
            </a:r>
          </a:p>
          <a:p>
            <a:endParaRPr lang="en-US" altLang="en-US" sz="2200" dirty="0">
              <a:ea typeface="Open Sans Extrabold"/>
              <a:cs typeface="Open Sans Extrabold"/>
            </a:endParaRPr>
          </a:p>
          <a:p>
            <a:endParaRPr lang="en-US" altLang="en-US" sz="2200" dirty="0">
              <a:ea typeface="Open Sans Extrabold"/>
              <a:cs typeface="Open Sans Extrabold"/>
            </a:endParaRPr>
          </a:p>
          <a:p>
            <a:endParaRPr lang="en-US" altLang="en-US" sz="1900" dirty="0">
              <a:ea typeface="Open Sans Extrabold"/>
              <a:cs typeface="Open Sans Extrabold"/>
            </a:endParaRPr>
          </a:p>
          <a:p>
            <a:pPr lvl="1"/>
            <a:endParaRPr lang="en-US" altLang="en-US" sz="2200" dirty="0"/>
          </a:p>
        </p:txBody>
      </p:sp>
      <p:sp>
        <p:nvSpPr>
          <p:cNvPr id="34818" name="Rectangle 2"/>
          <p:cNvSpPr>
            <a:spLocks noGrp="1" noChangeArrowheads="1"/>
          </p:cNvSpPr>
          <p:nvPr>
            <p:ph type="title"/>
          </p:nvPr>
        </p:nvSpPr>
        <p:spPr/>
        <p:txBody>
          <a:bodyPr/>
          <a:lstStyle/>
          <a:p>
            <a:r>
              <a:rPr lang="en-US" altLang="en-US" dirty="0"/>
              <a:t>Tier-2 credit system – how</a:t>
            </a:r>
          </a:p>
        </p:txBody>
      </p:sp>
    </p:spTree>
    <p:extLst>
      <p:ext uri="{BB962C8B-B14F-4D97-AF65-F5344CB8AC3E}">
        <p14:creationId xmlns:p14="http://schemas.microsoft.com/office/powerpoint/2010/main" val="26808694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866019"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940764649"/>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Tree>
    <p:extLst>
      <p:ext uri="{BB962C8B-B14F-4D97-AF65-F5344CB8AC3E}">
        <p14:creationId xmlns:p14="http://schemas.microsoft.com/office/powerpoint/2010/main" val="27771205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896942"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42</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2991176652"/>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Tree>
    <p:extLst>
      <p:ext uri="{BB962C8B-B14F-4D97-AF65-F5344CB8AC3E}">
        <p14:creationId xmlns:p14="http://schemas.microsoft.com/office/powerpoint/2010/main" val="31907253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i="1"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marL="0" indent="0">
              <a:buNone/>
            </a:pP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701249451"/>
              </p:ext>
            </p:extLst>
          </p:nvPr>
        </p:nvGraphicFramePr>
        <p:xfrm>
          <a:off x="864813"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845390" y="3215787"/>
            <a:ext cx="10841795" cy="1005301"/>
          </a:xfrm>
          <a:prstGeom prst="rect">
            <a:avLst/>
          </a:prstGeom>
        </p:spPr>
      </p:pic>
    </p:spTree>
    <p:extLst>
      <p:ext uri="{BB962C8B-B14F-4D97-AF65-F5344CB8AC3E}">
        <p14:creationId xmlns:p14="http://schemas.microsoft.com/office/powerpoint/2010/main" val="18802408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4090"/>
          <a:stretch>
            <a:fillRect/>
          </a:stretch>
        </p:blipFill>
        <p:spPr>
          <a:xfrm>
            <a:off x="839416" y="3417800"/>
            <a:ext cx="5688632" cy="3187655"/>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44</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371690159"/>
              </p:ext>
            </p:extLst>
          </p:nvPr>
        </p:nvGraphicFramePr>
        <p:xfrm>
          <a:off x="864813"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Tree>
    <p:extLst>
      <p:ext uri="{BB962C8B-B14F-4D97-AF65-F5344CB8AC3E}">
        <p14:creationId xmlns:p14="http://schemas.microsoft.com/office/powerpoint/2010/main" val="25498477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45</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577381664"/>
              </p:ext>
            </p:extLst>
          </p:nvPr>
        </p:nvGraphicFramePr>
        <p:xfrm>
          <a:off x="864813"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Tree>
    <p:extLst>
      <p:ext uri="{BB962C8B-B14F-4D97-AF65-F5344CB8AC3E}">
        <p14:creationId xmlns:p14="http://schemas.microsoft.com/office/powerpoint/2010/main" val="29154834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46</a:t>
            </a:fld>
            <a:endParaRPr lang="en-US"/>
          </a:p>
        </p:txBody>
      </p:sp>
    </p:spTree>
    <p:extLst>
      <p:ext uri="{BB962C8B-B14F-4D97-AF65-F5344CB8AC3E}">
        <p14:creationId xmlns:p14="http://schemas.microsoft.com/office/powerpoint/2010/main" val="42113209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6988530" y="3994627"/>
            <a:ext cx="1058597" cy="2254184"/>
            <a:chOff x="5781249" y="4359400"/>
            <a:chExt cx="1058597" cy="2254184"/>
          </a:xfrm>
        </p:grpSpPr>
        <p:sp>
          <p:nvSpPr>
            <p:cNvPr id="172" name="Flowchart: Magnetic Disk 25"/>
            <p:cNvSpPr/>
            <p:nvPr/>
          </p:nvSpPr>
          <p:spPr>
            <a:xfrm>
              <a:off x="5781249" y="5089917"/>
              <a:ext cx="1051687" cy="1154335"/>
            </a:xfrm>
            <a:prstGeom prst="flowChartMagneticDisk">
              <a:avLst/>
            </a:prstGeom>
            <a:solidFill>
              <a:srgbClr val="F4DBAA"/>
            </a:solidFill>
            <a:ln>
              <a:solidFill>
                <a:srgbClr val="E8B6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5" name="Up-Down Arrow 29"/>
            <p:cNvSpPr/>
            <p:nvPr/>
          </p:nvSpPr>
          <p:spPr>
            <a:xfrm>
              <a:off x="6226909" y="4359400"/>
              <a:ext cx="198022" cy="648072"/>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9" name="TextBox 33"/>
            <p:cNvSpPr txBox="1"/>
            <p:nvPr/>
          </p:nvSpPr>
          <p:spPr>
            <a:xfrm>
              <a:off x="5824823" y="6244252"/>
              <a:ext cx="1015023" cy="369332"/>
            </a:xfrm>
            <a:prstGeom prst="rect">
              <a:avLst/>
            </a:prstGeom>
            <a:noFill/>
          </p:spPr>
          <p:txBody>
            <a:bodyPr wrap="square" rtlCol="0">
              <a:spAutoFit/>
            </a:bodyPr>
            <a:lstStyle/>
            <a:p>
              <a:pPr algn="ctr"/>
              <a:r>
                <a:rPr lang="en-US" dirty="0">
                  <a:solidFill>
                    <a:srgbClr val="00407A"/>
                  </a:solidFill>
                </a:rPr>
                <a:t>Storage</a:t>
              </a:r>
            </a:p>
          </p:txBody>
        </p:sp>
      </p:grpSp>
      <p:grpSp>
        <p:nvGrpSpPr>
          <p:cNvPr id="16" name="Group 15"/>
          <p:cNvGrpSpPr/>
          <p:nvPr/>
        </p:nvGrpSpPr>
        <p:grpSpPr>
          <a:xfrm>
            <a:off x="5008510" y="642174"/>
            <a:ext cx="5263954" cy="3015259"/>
            <a:chOff x="5008510" y="642174"/>
            <a:chExt cx="5263954" cy="3015259"/>
          </a:xfrm>
        </p:grpSpPr>
        <p:sp>
          <p:nvSpPr>
            <p:cNvPr id="128" name="Up-Down Arrow 115"/>
            <p:cNvSpPr/>
            <p:nvPr/>
          </p:nvSpPr>
          <p:spPr>
            <a:xfrm>
              <a:off x="6837699" y="3050963"/>
              <a:ext cx="198022" cy="606470"/>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p:cNvSpPr/>
            <p:nvPr/>
          </p:nvSpPr>
          <p:spPr>
            <a:xfrm>
              <a:off x="5008510" y="2810291"/>
              <a:ext cx="5263954"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grpSp>
          <p:nvGrpSpPr>
            <p:cNvPr id="2" name="Group 1"/>
            <p:cNvGrpSpPr/>
            <p:nvPr/>
          </p:nvGrpSpPr>
          <p:grpSpPr>
            <a:xfrm>
              <a:off x="5231903" y="642174"/>
              <a:ext cx="4608512" cy="2015956"/>
              <a:chOff x="5231903" y="642174"/>
              <a:chExt cx="4608512" cy="2015956"/>
            </a:xfrm>
          </p:grpSpPr>
          <p:grpSp>
            <p:nvGrpSpPr>
              <p:cNvPr id="146" name="Group 145"/>
              <p:cNvGrpSpPr/>
              <p:nvPr/>
            </p:nvGrpSpPr>
            <p:grpSpPr>
              <a:xfrm>
                <a:off x="8119727" y="1052736"/>
                <a:ext cx="1720688" cy="1605394"/>
                <a:chOff x="467544" y="1052736"/>
                <a:chExt cx="1720688" cy="1605394"/>
              </a:xfrm>
            </p:grpSpPr>
            <p:sp>
              <p:nvSpPr>
                <p:cNvPr id="147"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8"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9"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0"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1"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4"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7"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9"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120" name="Group 119"/>
              <p:cNvGrpSpPr/>
              <p:nvPr/>
            </p:nvGrpSpPr>
            <p:grpSpPr>
              <a:xfrm>
                <a:off x="7111615" y="1052736"/>
                <a:ext cx="1720688" cy="1605394"/>
                <a:chOff x="467544" y="1052736"/>
                <a:chExt cx="1720688" cy="1605394"/>
              </a:xfrm>
            </p:grpSpPr>
            <p:sp>
              <p:nvSpPr>
                <p:cNvPr id="12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2"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6"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9"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0"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1"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4"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5"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8" name="Group 7"/>
              <p:cNvGrpSpPr/>
              <p:nvPr/>
            </p:nvGrpSpPr>
            <p:grpSpPr>
              <a:xfrm>
                <a:off x="6168007" y="1052736"/>
                <a:ext cx="1720688" cy="1605394"/>
                <a:chOff x="1403648" y="1052736"/>
                <a:chExt cx="1720688" cy="1605394"/>
              </a:xfrm>
            </p:grpSpPr>
            <p:sp>
              <p:nvSpPr>
                <p:cNvPr id="112" name="Rounded Rectangle 18"/>
                <p:cNvSpPr/>
                <p:nvPr/>
              </p:nvSpPr>
              <p:spPr>
                <a:xfrm>
                  <a:off x="1403648"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3" name="Rounded Rectangle 18"/>
                <p:cNvSpPr/>
                <p:nvPr/>
              </p:nvSpPr>
              <p:spPr>
                <a:xfrm>
                  <a:off x="1556048"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4" name="Rounded Rectangle 18"/>
                <p:cNvSpPr/>
                <p:nvPr/>
              </p:nvSpPr>
              <p:spPr>
                <a:xfrm>
                  <a:off x="1708448"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5" name="Rounded Rectangle 18"/>
                <p:cNvSpPr/>
                <p:nvPr/>
              </p:nvSpPr>
              <p:spPr>
                <a:xfrm>
                  <a:off x="1860848"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6" name="Rounded Rectangle 18"/>
                <p:cNvSpPr/>
                <p:nvPr/>
              </p:nvSpPr>
              <p:spPr>
                <a:xfrm>
                  <a:off x="2013248"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7" name="Rounded Rectangle 18"/>
                <p:cNvSpPr/>
                <p:nvPr/>
              </p:nvSpPr>
              <p:spPr>
                <a:xfrm>
                  <a:off x="2165648"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8" name="Rounded Rectangle 18"/>
                <p:cNvSpPr/>
                <p:nvPr/>
              </p:nvSpPr>
              <p:spPr>
                <a:xfrm>
                  <a:off x="2318048"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9" name="Rounded Rectangle 18"/>
                <p:cNvSpPr/>
                <p:nvPr/>
              </p:nvSpPr>
              <p:spPr>
                <a:xfrm>
                  <a:off x="2470448"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9" name="Group 8"/>
              <p:cNvGrpSpPr/>
              <p:nvPr/>
            </p:nvGrpSpPr>
            <p:grpSpPr>
              <a:xfrm>
                <a:off x="5231903" y="1052736"/>
                <a:ext cx="1720688" cy="1605394"/>
                <a:chOff x="467544" y="1052736"/>
                <a:chExt cx="1720688" cy="1605394"/>
              </a:xfrm>
            </p:grpSpPr>
            <p:sp>
              <p:nvSpPr>
                <p:cNvPr id="10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4"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5"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6"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7"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8"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9"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0"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233" name="TextBox 23"/>
              <p:cNvSpPr txBox="1"/>
              <p:nvPr/>
            </p:nvSpPr>
            <p:spPr>
              <a:xfrm>
                <a:off x="6169472" y="642174"/>
                <a:ext cx="1942753" cy="369332"/>
              </a:xfrm>
              <a:prstGeom prst="rect">
                <a:avLst/>
              </a:prstGeom>
              <a:noFill/>
            </p:spPr>
            <p:txBody>
              <a:bodyPr wrap="square" rtlCol="0">
                <a:spAutoFit/>
              </a:bodyPr>
              <a:lstStyle/>
              <a:p>
                <a:pPr algn="ctr"/>
                <a:r>
                  <a:rPr lang="en-US" dirty="0">
                    <a:solidFill>
                      <a:srgbClr val="00407A"/>
                    </a:solidFill>
                  </a:rPr>
                  <a:t>Compute nodes</a:t>
                </a:r>
              </a:p>
            </p:txBody>
          </p:sp>
        </p:grpSp>
      </p:grpSp>
      <p:grpSp>
        <p:nvGrpSpPr>
          <p:cNvPr id="10" name="Group 9"/>
          <p:cNvGrpSpPr/>
          <p:nvPr/>
        </p:nvGrpSpPr>
        <p:grpSpPr>
          <a:xfrm>
            <a:off x="8565455" y="3973361"/>
            <a:ext cx="2859137" cy="2119935"/>
            <a:chOff x="8565455" y="3973361"/>
            <a:chExt cx="2859137" cy="2119935"/>
          </a:xfrm>
        </p:grpSpPr>
        <p:sp>
          <p:nvSpPr>
            <p:cNvPr id="70" name="Rectangle 3"/>
            <p:cNvSpPr txBox="1">
              <a:spLocks noChangeArrowheads="1"/>
            </p:cNvSpPr>
            <p:nvPr/>
          </p:nvSpPr>
          <p:spPr>
            <a:xfrm>
              <a:off x="8861260"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t>Job scheduler,</a:t>
              </a:r>
              <a:br>
                <a:rPr lang="en-US" altLang="en-US" sz="1400" dirty="0"/>
              </a:br>
              <a:r>
                <a:rPr lang="en-US" altLang="en-US" sz="1400" dirty="0"/>
                <a:t>(credit) account management, …</a:t>
              </a:r>
            </a:p>
          </p:txBody>
        </p:sp>
        <p:grpSp>
          <p:nvGrpSpPr>
            <p:cNvPr id="3" name="Group 2"/>
            <p:cNvGrpSpPr/>
            <p:nvPr/>
          </p:nvGrpSpPr>
          <p:grpSpPr>
            <a:xfrm>
              <a:off x="8565455" y="3973361"/>
              <a:ext cx="1942753" cy="1471618"/>
              <a:chOff x="1496838" y="4338134"/>
              <a:chExt cx="1942753" cy="1471618"/>
            </a:xfrm>
          </p:grpSpPr>
          <p:sp>
            <p:nvSpPr>
              <p:cNvPr id="195" name="Rounded Rectangle 18"/>
              <p:cNvSpPr/>
              <p:nvPr/>
            </p:nvSpPr>
            <p:spPr>
              <a:xfrm>
                <a:off x="1752530"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6"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8" name="TextBox 23"/>
              <p:cNvSpPr txBox="1"/>
              <p:nvPr/>
            </p:nvSpPr>
            <p:spPr>
              <a:xfrm>
                <a:off x="1496838" y="5440420"/>
                <a:ext cx="1942753" cy="369332"/>
              </a:xfrm>
              <a:prstGeom prst="rect">
                <a:avLst/>
              </a:prstGeom>
              <a:noFill/>
            </p:spPr>
            <p:txBody>
              <a:bodyPr wrap="square" rtlCol="0">
                <a:spAutoFit/>
              </a:bodyPr>
              <a:lstStyle/>
              <a:p>
                <a:pPr algn="ctr"/>
                <a:r>
                  <a:rPr lang="en-US" dirty="0">
                    <a:solidFill>
                      <a:srgbClr val="00407A"/>
                    </a:solidFill>
                  </a:rPr>
                  <a:t>Service nodes</a:t>
                </a:r>
              </a:p>
            </p:txBody>
          </p:sp>
          <p:sp>
            <p:nvSpPr>
              <p:cNvPr id="99"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0" name="Rounded Rectangle 18"/>
              <p:cNvSpPr/>
              <p:nvPr/>
            </p:nvSpPr>
            <p:spPr>
              <a:xfrm>
                <a:off x="2555776"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1" name="Left-Right Arrow Callout 10"/>
          <p:cNvSpPr/>
          <p:nvPr/>
        </p:nvSpPr>
        <p:spPr>
          <a:xfrm>
            <a:off x="1515196" y="4221088"/>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764704"/>
            <a:ext cx="2488718" cy="5843118"/>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grpSp>
        <p:nvGrpSpPr>
          <p:cNvPr id="25" name="Group 24"/>
          <p:cNvGrpSpPr/>
          <p:nvPr/>
        </p:nvGrpSpPr>
        <p:grpSpPr>
          <a:xfrm>
            <a:off x="4729312" y="3060249"/>
            <a:ext cx="7170157" cy="2369911"/>
            <a:chOff x="4729312" y="3060249"/>
            <a:chExt cx="7170157" cy="2369911"/>
          </a:xfrm>
        </p:grpSpPr>
        <p:grpSp>
          <p:nvGrpSpPr>
            <p:cNvPr id="15" name="Group 14"/>
            <p:cNvGrpSpPr/>
            <p:nvPr/>
          </p:nvGrpSpPr>
          <p:grpSpPr>
            <a:xfrm>
              <a:off x="4729312" y="3818403"/>
              <a:ext cx="5471144" cy="1611757"/>
              <a:chOff x="4729312" y="3818403"/>
              <a:chExt cx="5471144" cy="1611757"/>
            </a:xfrm>
          </p:grpSpPr>
          <p:cxnSp>
            <p:nvCxnSpPr>
              <p:cNvPr id="126" name="Straight Connector 6"/>
              <p:cNvCxnSpPr/>
              <p:nvPr/>
            </p:nvCxnSpPr>
            <p:spPr>
              <a:xfrm>
                <a:off x="5147127" y="381840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05" name="Group 204"/>
              <p:cNvGrpSpPr/>
              <p:nvPr/>
            </p:nvGrpSpPr>
            <p:grpSpPr>
              <a:xfrm>
                <a:off x="4729312" y="3977632"/>
                <a:ext cx="1942753" cy="1452528"/>
                <a:chOff x="1547664" y="4338134"/>
                <a:chExt cx="1942753" cy="1452528"/>
              </a:xfrm>
            </p:grpSpPr>
            <p:sp>
              <p:nvSpPr>
                <p:cNvPr id="206" name="Rounded Rectangle 18"/>
                <p:cNvSpPr/>
                <p:nvPr/>
              </p:nvSpPr>
              <p:spPr>
                <a:xfrm>
                  <a:off x="1752530"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07"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0" name="TextBox 23"/>
                <p:cNvSpPr txBox="1"/>
                <p:nvPr/>
              </p:nvSpPr>
              <p:spPr>
                <a:xfrm>
                  <a:off x="1547664" y="5421330"/>
                  <a:ext cx="1942753" cy="369332"/>
                </a:xfrm>
                <a:prstGeom prst="rect">
                  <a:avLst/>
                </a:prstGeom>
                <a:noFill/>
              </p:spPr>
              <p:txBody>
                <a:bodyPr wrap="square" rtlCol="0">
                  <a:spAutoFit/>
                </a:bodyPr>
                <a:lstStyle/>
                <a:p>
                  <a:pPr algn="ctr"/>
                  <a:r>
                    <a:rPr lang="en-US" dirty="0">
                      <a:solidFill>
                        <a:srgbClr val="00407A"/>
                      </a:solidFill>
                    </a:rPr>
                    <a:t>Login nodes</a:t>
                  </a:r>
                </a:p>
              </p:txBody>
            </p:sp>
            <p:sp>
              <p:nvSpPr>
                <p:cNvPr id="231"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2" name="Rounded Rectangle 18"/>
                <p:cNvSpPr/>
                <p:nvPr/>
              </p:nvSpPr>
              <p:spPr>
                <a:xfrm>
                  <a:off x="2555776"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4" name="TextBox 13"/>
            <p:cNvSpPr txBox="1"/>
            <p:nvPr/>
          </p:nvSpPr>
          <p:spPr>
            <a:xfrm>
              <a:off x="10344472" y="3060249"/>
              <a:ext cx="1460197" cy="584775"/>
            </a:xfrm>
            <a:prstGeom prst="rect">
              <a:avLst/>
            </a:prstGeom>
            <a:noFill/>
          </p:spPr>
          <p:txBody>
            <a:bodyPr wrap="square" rtlCol="0">
              <a:spAutoFit/>
            </a:bodyPr>
            <a:lstStyle/>
            <a:p>
              <a:r>
                <a:rPr lang="en-US" sz="1600" dirty="0">
                  <a:solidFill>
                    <a:srgbClr val="00407A"/>
                  </a:solidFill>
                </a:rPr>
                <a:t>Connections to other VSC sites</a:t>
              </a:r>
              <a:endParaRPr lang="nl-BE" sz="1600" dirty="0">
                <a:solidFill>
                  <a:srgbClr val="00407A"/>
                </a:solidFill>
              </a:endParaRPr>
            </a:p>
          </p:txBody>
        </p:sp>
        <p:sp>
          <p:nvSpPr>
            <p:cNvPr id="23" name="Oval 22"/>
            <p:cNvSpPr/>
            <p:nvPr/>
          </p:nvSpPr>
          <p:spPr>
            <a:xfrm>
              <a:off x="10394448"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p:cNvSpPr/>
            <p:nvPr/>
          </p:nvSpPr>
          <p:spPr>
            <a:xfrm>
              <a:off x="10702796" y="370202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p:cNvSpPr/>
            <p:nvPr/>
          </p:nvSpPr>
          <p:spPr>
            <a:xfrm>
              <a:off x="11032164"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p:cNvSpPr/>
            <p:nvPr/>
          </p:nvSpPr>
          <p:spPr>
            <a:xfrm>
              <a:off x="11382552" y="364323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3933056"/>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A319C3D-DC81-B4B6-6866-AC66BFEE1264}"/>
              </a:ext>
            </a:extLst>
          </p:cNvPr>
          <p:cNvGrpSpPr/>
          <p:nvPr/>
        </p:nvGrpSpPr>
        <p:grpSpPr>
          <a:xfrm>
            <a:off x="6321963" y="1477251"/>
            <a:ext cx="5278923" cy="4400021"/>
            <a:chOff x="720001" y="964811"/>
            <a:chExt cx="5189980" cy="4400021"/>
          </a:xfrm>
        </p:grpSpPr>
        <p:sp>
          <p:nvSpPr>
            <p:cNvPr id="4" name="Content Placeholder 2"/>
            <p:cNvSpPr txBox="1">
              <a:spLocks/>
            </p:cNvSpPr>
            <p:nvPr/>
          </p:nvSpPr>
          <p:spPr>
            <a:xfrm>
              <a:off x="720001" y="1377264"/>
              <a:ext cx="5189980" cy="398756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Windows: </a:t>
              </a:r>
              <a:r>
                <a:rPr lang="en-US" dirty="0">
                  <a:hlinkClick r:id="rId3"/>
                </a:rPr>
                <a:t>PuTTY</a:t>
              </a:r>
              <a:r>
                <a:rPr lang="en-US" dirty="0"/>
                <a:t>, </a:t>
              </a:r>
              <a:r>
                <a:rPr lang="en-US" dirty="0" err="1">
                  <a:hlinkClick r:id="rId4"/>
                </a:rPr>
                <a:t>MobaXterm</a:t>
              </a:r>
              <a:r>
                <a:rPr lang="en-US" dirty="0"/>
                <a:t>, …</a:t>
              </a:r>
              <a:br>
                <a:rPr lang="en-US" dirty="0"/>
              </a:br>
              <a:r>
                <a:rPr lang="en-US" dirty="0"/>
                <a:t>MacOS/Linux: any terminal</a:t>
              </a:r>
            </a:p>
            <a:p>
              <a:pPr marL="324000" indent="-324000">
                <a:buClr>
                  <a:srgbClr val="DB6C30"/>
                </a:buClr>
                <a:buFont typeface="Wingdings" panose="05000000000000000000" pitchFamily="2" charset="2"/>
                <a:buChar char="q"/>
              </a:pPr>
              <a:r>
                <a:rPr lang="en-US" dirty="0"/>
                <a:t>Optional: for VSC clusters </a:t>
              </a:r>
              <a:r>
                <a:rPr lang="en-US" i="1" dirty="0"/>
                <a:t>not </a:t>
              </a:r>
              <a:r>
                <a:rPr lang="en-US" dirty="0"/>
                <a:t>hosted at KU Leuven you need an </a:t>
              </a:r>
              <a:r>
                <a:rPr lang="en-US" dirty="0">
                  <a:hlinkClick r:id="rId5"/>
                </a:rPr>
                <a:t>(open)SSH key pair</a:t>
              </a:r>
              <a:r>
                <a:rPr lang="en-US" dirty="0"/>
                <a:t> (upload the public key to the VSC account page and wait ≥ 30mins)</a:t>
              </a:r>
            </a:p>
            <a:p>
              <a:pPr marL="324000" indent="-324000">
                <a:buClr>
                  <a:srgbClr val="DB6C30"/>
                </a:buClr>
                <a:buFont typeface="Wingdings" panose="05000000000000000000" pitchFamily="2" charset="2"/>
                <a:buChar char="q"/>
              </a:pPr>
              <a:r>
                <a:rPr lang="en-US" dirty="0"/>
                <a:t>Hosts: login.hpc.kuleuven.be:22</a:t>
              </a:r>
              <a:br>
                <a:rPr lang="en-US" dirty="0"/>
              </a:br>
              <a:r>
                <a:rPr lang="en-US" dirty="0"/>
                <a:t>Recommended to use an </a:t>
              </a:r>
              <a:r>
                <a:rPr lang="en-US" dirty="0">
                  <a:hlinkClick r:id="rId6"/>
                </a:rPr>
                <a:t>SSH agent</a:t>
              </a:r>
              <a:endParaRPr lang="en-US" dirty="0"/>
            </a:p>
            <a:p>
              <a:pPr marL="324000" indent="-324000">
                <a:buClr>
                  <a:srgbClr val="DB6C30"/>
                </a:buClr>
                <a:buFont typeface="Wingdings" panose="05000000000000000000" pitchFamily="2" charset="2"/>
                <a:buChar char="q"/>
              </a:pPr>
              <a:r>
                <a:rPr lang="en-US" dirty="0"/>
                <a:t>Can open GUIs if X11 forwarding is enabled</a:t>
              </a:r>
            </a:p>
          </p:txBody>
        </p:sp>
        <p:sp>
          <p:nvSpPr>
            <p:cNvPr id="6" name="Rectangle 5"/>
            <p:cNvSpPr/>
            <p:nvPr/>
          </p:nvSpPr>
          <p:spPr>
            <a:xfrm>
              <a:off x="36921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client</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grpSp>
        <p:nvGrpSpPr>
          <p:cNvPr id="8" name="Group 7">
            <a:extLst>
              <a:ext uri="{FF2B5EF4-FFF2-40B4-BE49-F238E27FC236}">
                <a16:creationId xmlns:a16="http://schemas.microsoft.com/office/drawing/2014/main" id="{0D2995CF-4205-9B2E-5C21-148811C95B6E}"/>
              </a:ext>
            </a:extLst>
          </p:cNvPr>
          <p:cNvGrpSpPr/>
          <p:nvPr/>
        </p:nvGrpSpPr>
        <p:grpSpPr>
          <a:xfrm>
            <a:off x="872401" y="1477251"/>
            <a:ext cx="4727928" cy="2599821"/>
            <a:chOff x="720001" y="964811"/>
            <a:chExt cx="5015961" cy="2766987"/>
          </a:xfrm>
        </p:grpSpPr>
        <p:sp>
          <p:nvSpPr>
            <p:cNvPr id="10" name="Content Placeholder 2">
              <a:extLst>
                <a:ext uri="{FF2B5EF4-FFF2-40B4-BE49-F238E27FC236}">
                  <a16:creationId xmlns:a16="http://schemas.microsoft.com/office/drawing/2014/main" id="{70B81D1F-CF2E-A4F9-8EA3-655B76D8720B}"/>
                </a:ext>
              </a:extLst>
            </p:cNvPr>
            <p:cNvSpPr txBox="1">
              <a:spLocks/>
            </p:cNvSpPr>
            <p:nvPr/>
          </p:nvSpPr>
          <p:spPr>
            <a:xfrm>
              <a:off x="720001" y="1377264"/>
              <a:ext cx="5015960" cy="2354534"/>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Web-based login via your browser</a:t>
              </a:r>
            </a:p>
            <a:p>
              <a:pPr marL="324000" indent="-324000">
                <a:buClr>
                  <a:srgbClr val="DB6C30"/>
                </a:buClr>
                <a:buFont typeface="Wingdings" panose="05000000000000000000" pitchFamily="2" charset="2"/>
                <a:buChar char="q"/>
              </a:pPr>
              <a:r>
                <a:rPr lang="en-US" dirty="0">
                  <a:hlinkClick r:id="rId7"/>
                </a:rPr>
                <a:t>https://ondemand.hpc.kuleuven.be</a:t>
              </a:r>
              <a:endParaRPr lang="en-US" dirty="0"/>
            </a:p>
            <a:p>
              <a:pPr marL="324000" indent="-324000">
                <a:buClr>
                  <a:srgbClr val="DB6C30"/>
                </a:buClr>
                <a:buFont typeface="Wingdings" panose="05000000000000000000" pitchFamily="2" charset="2"/>
                <a:buChar char="q"/>
              </a:pPr>
              <a:r>
                <a:rPr lang="en-US" dirty="0"/>
                <a:t>Multi-Factor Authentication (MFA):</a:t>
              </a:r>
              <a:br>
                <a:rPr lang="en-US" dirty="0"/>
              </a:br>
              <a:r>
                <a:rPr lang="en-US" dirty="0"/>
                <a:t>Login through your institute’s IDP</a:t>
              </a:r>
            </a:p>
            <a:p>
              <a:pPr marL="324000" indent="-324000">
                <a:buClr>
                  <a:srgbClr val="DB6C30"/>
                </a:buClr>
                <a:buFont typeface="Wingdings" panose="05000000000000000000" pitchFamily="2" charset="2"/>
                <a:buChar char="q"/>
              </a:pPr>
              <a:r>
                <a:rPr lang="en-US" dirty="0"/>
                <a:t>No SSH key needed</a:t>
              </a:r>
            </a:p>
          </p:txBody>
        </p:sp>
        <p:sp>
          <p:nvSpPr>
            <p:cNvPr id="12" name="Rectangle 11">
              <a:extLst>
                <a:ext uri="{FF2B5EF4-FFF2-40B4-BE49-F238E27FC236}">
                  <a16:creationId xmlns:a16="http://schemas.microsoft.com/office/drawing/2014/main" id="{25C4F6E6-1270-AD0C-C70D-ECA907A492FF}"/>
                </a:ext>
              </a:extLst>
            </p:cNvPr>
            <p:cNvSpPr/>
            <p:nvPr/>
          </p:nvSpPr>
          <p:spPr>
            <a:xfrm>
              <a:off x="35205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Open OnDemand</a:t>
              </a:r>
              <a:endParaRPr lang="nl-BE" dirty="0"/>
            </a:p>
          </p:txBody>
        </p:sp>
      </p:grpSp>
    </p:spTree>
    <p:custDataLst>
      <p:tags r:id="rId1"/>
    </p:custDataLst>
    <p:extLst>
      <p:ext uri="{BB962C8B-B14F-4D97-AF65-F5344CB8AC3E}">
        <p14:creationId xmlns:p14="http://schemas.microsoft.com/office/powerpoint/2010/main" val="132438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6C9836A-501B-4430-9DDF-90DC89DF6693}"/>
              </a:ext>
            </a:extLst>
          </p:cNvPr>
          <p:cNvGrpSpPr/>
          <p:nvPr/>
        </p:nvGrpSpPr>
        <p:grpSpPr>
          <a:xfrm>
            <a:off x="720000" y="4855239"/>
            <a:ext cx="9696479" cy="1306583"/>
            <a:chOff x="720000" y="4855239"/>
            <a:chExt cx="9696479" cy="1306583"/>
          </a:xfrm>
        </p:grpSpPr>
        <p:sp>
          <p:nvSpPr>
            <p:cNvPr id="2" name="TextBox 1"/>
            <p:cNvSpPr txBox="1"/>
            <p:nvPr/>
          </p:nvSpPr>
          <p:spPr>
            <a:xfrm>
              <a:off x="720000" y="4869160"/>
              <a:ext cx="9696479" cy="1292662"/>
            </a:xfrm>
            <a:prstGeom prst="rect">
              <a:avLst/>
            </a:prstGeom>
            <a:noFill/>
            <a:ln w="19050">
              <a:solidFill>
                <a:srgbClr val="FF0000"/>
              </a:solidFill>
            </a:ln>
          </p:spPr>
          <p:txBody>
            <a:bodyPr wrap="square" rtlCol="0">
              <a:spAutoFit/>
            </a:bodyPr>
            <a:lstStyle/>
            <a:p>
              <a:r>
                <a:rPr lang="en-US" sz="2400" b="1" dirty="0">
                  <a:solidFill>
                    <a:srgbClr val="FF0000"/>
                  </a:solidFill>
                </a:rPr>
                <a:t>Do NOT execute CPU- or memory-intensive tasks here</a:t>
              </a:r>
            </a:p>
            <a:p>
              <a:r>
                <a:rPr lang="en-US" dirty="0"/>
                <a:t>Login nodes are shared resources </a:t>
              </a:r>
            </a:p>
            <a:p>
              <a:r>
                <a:rPr lang="en-US" dirty="0"/>
                <a:t>Submit jobs instead (you can e.g. compile software on compute nodes via an interactive job)</a:t>
              </a:r>
              <a:br>
                <a:rPr lang="en-US" dirty="0"/>
              </a:br>
              <a:r>
                <a:rPr lang="en-US" dirty="0"/>
                <a:t>Use </a:t>
              </a:r>
              <a:r>
                <a:rPr lang="en-US" dirty="0" err="1">
                  <a:latin typeface="Courier New" panose="02070309020205020404" pitchFamily="49" charset="0"/>
                  <a:cs typeface="Courier New" panose="02070309020205020404" pitchFamily="49" charset="0"/>
                </a:rPr>
                <a:t>slurmtop</a:t>
              </a:r>
              <a:r>
                <a:rPr lang="en-US" dirty="0">
                  <a:latin typeface="Courier New" panose="02070309020205020404" pitchFamily="49" charset="0"/>
                  <a:cs typeface="Courier New" panose="02070309020205020404" pitchFamily="49" charset="0"/>
                </a:rPr>
                <a:t> </a:t>
              </a:r>
              <a:r>
                <a:rPr lang="en-US" dirty="0"/>
                <a:t>to see how busy the cluster is</a:t>
              </a:r>
            </a:p>
          </p:txBody>
        </p:sp>
        <p:sp>
          <p:nvSpPr>
            <p:cNvPr id="5" name="Rectangle 4"/>
            <p:cNvSpPr/>
            <p:nvPr/>
          </p:nvSpPr>
          <p:spPr>
            <a:xfrm>
              <a:off x="8472264" y="4855239"/>
              <a:ext cx="1944215" cy="41245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Warning</a:t>
              </a:r>
              <a:endParaRPr lang="nl-BE" b="1" dirty="0"/>
            </a:p>
          </p:txBody>
        </p:sp>
      </p:grpSp>
      <p:grpSp>
        <p:nvGrpSpPr>
          <p:cNvPr id="7" name="Group 6">
            <a:extLst>
              <a:ext uri="{FF2B5EF4-FFF2-40B4-BE49-F238E27FC236}">
                <a16:creationId xmlns:a16="http://schemas.microsoft.com/office/drawing/2014/main" id="{49FA9E7D-DE9D-29F9-5B75-73038D4F44AF}"/>
              </a:ext>
            </a:extLst>
          </p:cNvPr>
          <p:cNvGrpSpPr/>
          <p:nvPr/>
        </p:nvGrpSpPr>
        <p:grpSpPr>
          <a:xfrm>
            <a:off x="720000" y="1377264"/>
            <a:ext cx="9696479" cy="3347880"/>
            <a:chOff x="720000" y="1377264"/>
            <a:chExt cx="9696479" cy="3347880"/>
          </a:xfrm>
        </p:grpSpPr>
        <p:sp>
          <p:nvSpPr>
            <p:cNvPr id="4" name="Content Placeholder 2"/>
            <p:cNvSpPr txBox="1">
              <a:spLocks/>
            </p:cNvSpPr>
            <p:nvPr/>
          </p:nvSpPr>
          <p:spPr>
            <a:xfrm>
              <a:off x="720000" y="1377264"/>
              <a:ext cx="9696479" cy="3347880"/>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To develop code</a:t>
              </a:r>
            </a:p>
            <a:p>
              <a:pPr marL="324000" indent="-324000">
                <a:buClr>
                  <a:srgbClr val="DB6C30"/>
                </a:buClr>
                <a:buFont typeface="Wingdings" panose="05000000000000000000" pitchFamily="2" charset="2"/>
                <a:buChar char="q"/>
              </a:pPr>
              <a:r>
                <a:rPr lang="en-US" dirty="0"/>
                <a:t>To check your storage and credit balance</a:t>
              </a:r>
            </a:p>
            <a:p>
              <a:pPr marL="324000" indent="-324000">
                <a:buClr>
                  <a:srgbClr val="DB6C30"/>
                </a:buClr>
                <a:buFont typeface="Wingdings" panose="05000000000000000000" pitchFamily="2" charset="2"/>
                <a:buChar char="q"/>
              </a:pPr>
              <a:r>
                <a:rPr lang="en-US" dirty="0"/>
                <a:t>To manage jobs (submit, check status, debug, resubmit, …)</a:t>
              </a:r>
            </a:p>
            <a:p>
              <a:pPr marL="324000" indent="-324000">
                <a:buClr>
                  <a:srgbClr val="DB6C30"/>
                </a:buClr>
                <a:buFont typeface="Wingdings" panose="05000000000000000000" pitchFamily="2" charset="2"/>
                <a:buChar char="q"/>
              </a:pPr>
              <a:r>
                <a:rPr lang="en-US" dirty="0"/>
                <a:t>To move data around</a:t>
              </a:r>
            </a:p>
            <a:p>
              <a:pPr lvl="1">
                <a:buClr>
                  <a:srgbClr val="DB6C30"/>
                </a:buClr>
                <a:buFont typeface="Wingdings" panose="05000000000000000000" pitchFamily="2" charset="2"/>
                <a:buChar char="§"/>
              </a:pPr>
              <a:r>
                <a:rPr lang="en-US" dirty="0"/>
                <a:t>within VSC: use data, scratch, staging</a:t>
              </a:r>
              <a:endParaRPr lang="nl-BE" dirty="0"/>
            </a:p>
            <a:p>
              <a:pPr lvl="1">
                <a:buClr>
                  <a:srgbClr val="DB6C30"/>
                </a:buClr>
                <a:buFont typeface="Wingdings" panose="05000000000000000000" pitchFamily="2" charset="2"/>
                <a:buChar char="§"/>
              </a:pPr>
              <a:r>
                <a:rPr lang="nl-BE" dirty="0" err="1"/>
                <a:t>outside</a:t>
              </a:r>
              <a:r>
                <a:rPr lang="nl-BE" dirty="0"/>
                <a:t> VSC: copy/sync </a:t>
              </a:r>
              <a:r>
                <a:rPr lang="nl-BE" dirty="0" err="1"/>
                <a:t>from</a:t>
              </a:r>
              <a:r>
                <a:rPr lang="nl-BE" dirty="0"/>
                <a:t>/</a:t>
              </a:r>
              <a:r>
                <a:rPr lang="nl-BE" dirty="0" err="1"/>
                <a:t>to</a:t>
              </a:r>
              <a:r>
                <a:rPr lang="nl-BE" dirty="0"/>
                <a:t> </a:t>
              </a:r>
              <a:r>
                <a:rPr lang="nl-BE" dirty="0" err="1"/>
                <a:t>your</a:t>
              </a:r>
              <a:r>
                <a:rPr lang="nl-BE" dirty="0"/>
                <a:t> </a:t>
              </a:r>
              <a:r>
                <a:rPr lang="nl-BE" dirty="0" err="1"/>
                <a:t>local</a:t>
              </a:r>
              <a:r>
                <a:rPr lang="nl-BE" dirty="0"/>
                <a:t> storage (e.g. Globus)</a:t>
              </a:r>
            </a:p>
            <a:p>
              <a:pPr marL="324000" indent="-324000">
                <a:buClr>
                  <a:srgbClr val="DB6C30"/>
                </a:buClr>
                <a:buFont typeface="Wingdings" panose="05000000000000000000" pitchFamily="2" charset="2"/>
                <a:buChar char="q"/>
              </a:pPr>
              <a:r>
                <a:rPr lang="nl-BE" dirty="0" err="1"/>
                <a:t>To</a:t>
              </a:r>
              <a:r>
                <a:rPr lang="nl-BE" dirty="0"/>
                <a:t> pre- or </a:t>
              </a:r>
              <a:r>
                <a:rPr lang="nl-BE" dirty="0" err="1"/>
                <a:t>postprocess</a:t>
              </a:r>
              <a:r>
                <a:rPr lang="nl-BE" dirty="0"/>
                <a:t> </a:t>
              </a:r>
              <a:r>
                <a:rPr lang="nl-BE" dirty="0" err="1"/>
                <a:t>your</a:t>
              </a:r>
              <a:r>
                <a:rPr lang="nl-BE" dirty="0"/>
                <a:t> data</a:t>
              </a:r>
            </a:p>
            <a:p>
              <a:pPr marL="324000" indent="-324000">
                <a:buClr>
                  <a:srgbClr val="DB6C30"/>
                </a:buClr>
                <a:buFont typeface="Wingdings" panose="05000000000000000000" pitchFamily="2" charset="2"/>
                <a:buChar char="q"/>
              </a:pPr>
              <a:r>
                <a:rPr lang="en-US" dirty="0"/>
                <a:t>To visualize your data</a:t>
              </a:r>
            </a:p>
            <a:p>
              <a:pPr marL="324000" indent="-324000">
                <a:buClr>
                  <a:srgbClr val="DB6C30"/>
                </a:buClr>
                <a:buFont typeface="Wingdings" panose="05000000000000000000" pitchFamily="2" charset="2"/>
                <a:buChar char="q"/>
              </a:pPr>
              <a:r>
                <a:rPr lang="en-US" dirty="0"/>
                <a:t>To share files and folders</a:t>
              </a:r>
            </a:p>
          </p:txBody>
        </p:sp>
        <p:sp>
          <p:nvSpPr>
            <p:cNvPr id="6" name="Rectangle 5"/>
            <p:cNvSpPr/>
            <p:nvPr/>
          </p:nvSpPr>
          <p:spPr>
            <a:xfrm>
              <a:off x="8472263" y="1377264"/>
              <a:ext cx="1944215"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Tips</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49</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5967834" y="1771989"/>
            <a:ext cx="5867510" cy="3819028"/>
            <a:chOff x="6816080" y="3074222"/>
            <a:chExt cx="5867510" cy="3819028"/>
          </a:xfrm>
        </p:grpSpPr>
        <p:grpSp>
          <p:nvGrpSpPr>
            <p:cNvPr id="65" name="Group 64"/>
            <p:cNvGrpSpPr/>
            <p:nvPr/>
          </p:nvGrpSpPr>
          <p:grpSpPr>
            <a:xfrm>
              <a:off x="6816080" y="3074222"/>
              <a:ext cx="5867510" cy="3819028"/>
              <a:chOff x="5886815" y="1889051"/>
              <a:chExt cx="5867510" cy="3819028"/>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86815" y="1889051"/>
                <a:ext cx="5867510" cy="3819028"/>
              </a:xfrm>
              <a:prstGeom prst="rect">
                <a:avLst/>
              </a:prstGeom>
              <a:ln>
                <a:noFill/>
              </a:ln>
              <a:effectLst>
                <a:outerShdw blurRad="292100" dist="139700" dir="2700000" algn="tl" rotWithShape="0">
                  <a:srgbClr val="333333">
                    <a:alpha val="65000"/>
                  </a:srgbClr>
                </a:outerShdw>
              </a:effectLst>
            </p:spPr>
          </p:pic>
          <p:sp>
            <p:nvSpPr>
              <p:cNvPr id="19" name="Rectangle 18"/>
              <p:cNvSpPr/>
              <p:nvPr/>
            </p:nvSpPr>
            <p:spPr>
              <a:xfrm>
                <a:off x="6314762" y="3216429"/>
                <a:ext cx="831314"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Rectangle 60"/>
              <p:cNvSpPr/>
              <p:nvPr/>
            </p:nvSpPr>
            <p:spPr>
              <a:xfrm>
                <a:off x="8308800" y="3218400"/>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ectangle 61"/>
              <p:cNvSpPr/>
              <p:nvPr/>
            </p:nvSpPr>
            <p:spPr>
              <a:xfrm>
                <a:off x="8154764" y="3074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Rectangle 62"/>
              <p:cNvSpPr/>
              <p:nvPr/>
            </p:nvSpPr>
            <p:spPr>
              <a:xfrm>
                <a:off x="6930000" y="3074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p:nvSpPr>
            <p:spPr>
              <a:xfrm>
                <a:off x="7642660" y="3056499"/>
                <a:ext cx="2520280"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Rectangle 39"/>
            <p:cNvSpPr/>
            <p:nvPr/>
          </p:nvSpPr>
          <p:spPr>
            <a:xfrm>
              <a:off x="7920000" y="3151183"/>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9187200" y="3151183"/>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 name="Group 2"/>
          <p:cNvGrpSpPr/>
          <p:nvPr/>
        </p:nvGrpSpPr>
        <p:grpSpPr>
          <a:xfrm>
            <a:off x="5967571" y="1769016"/>
            <a:ext cx="5867773" cy="4596606"/>
            <a:chOff x="5884625" y="1889051"/>
            <a:chExt cx="5867773" cy="4596606"/>
          </a:xfrm>
        </p:grpSpPr>
        <p:grpSp>
          <p:nvGrpSpPr>
            <p:cNvPr id="67" name="Group 66"/>
            <p:cNvGrpSpPr/>
            <p:nvPr/>
          </p:nvGrpSpPr>
          <p:grpSpPr>
            <a:xfrm>
              <a:off x="5884625" y="1889051"/>
              <a:ext cx="5867773" cy="4596606"/>
              <a:chOff x="5884625" y="1889051"/>
              <a:chExt cx="5867773" cy="4596606"/>
            </a:xfrm>
          </p:grpSpPr>
          <p:grpSp>
            <p:nvGrpSpPr>
              <p:cNvPr id="60" name="Group 59"/>
              <p:cNvGrpSpPr/>
              <p:nvPr/>
            </p:nvGrpSpPr>
            <p:grpSpPr>
              <a:xfrm>
                <a:off x="5884625" y="1889051"/>
                <a:ext cx="5867773" cy="4596606"/>
                <a:chOff x="5884625" y="1889051"/>
                <a:chExt cx="5867773" cy="4596606"/>
              </a:xfrm>
            </p:grpSpPr>
            <p:grpSp>
              <p:nvGrpSpPr>
                <p:cNvPr id="28" name="Group 27"/>
                <p:cNvGrpSpPr/>
                <p:nvPr/>
              </p:nvGrpSpPr>
              <p:grpSpPr>
                <a:xfrm>
                  <a:off x="5884625" y="1889051"/>
                  <a:ext cx="5867773" cy="4596606"/>
                  <a:chOff x="5884625" y="1889051"/>
                  <a:chExt cx="5867773" cy="4596606"/>
                </a:xfrm>
              </p:grpSpPr>
              <p:grpSp>
                <p:nvGrpSpPr>
                  <p:cNvPr id="17" name="Group 16"/>
                  <p:cNvGrpSpPr/>
                  <p:nvPr/>
                </p:nvGrpSpPr>
                <p:grpSpPr>
                  <a:xfrm>
                    <a:off x="5884625" y="1889051"/>
                    <a:ext cx="5867773" cy="3816424"/>
                    <a:chOff x="5844851" y="2420888"/>
                    <a:chExt cx="5891932" cy="3834924"/>
                  </a:xfrm>
                </p:grpSpPr>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16" name="Rectangle 15"/>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2" name="Picture 21"/>
                  <p:cNvPicPr>
                    <a:picLocks noChangeAspect="1"/>
                  </p:cNvPicPr>
                  <p:nvPr/>
                </p:nvPicPr>
                <p:blipFill>
                  <a:blip r:embed="rId5"/>
                  <a:stretch>
                    <a:fillRect/>
                  </a:stretch>
                </p:blipFill>
                <p:spPr>
                  <a:xfrm>
                    <a:off x="6347151" y="3798413"/>
                    <a:ext cx="3675200" cy="2687244"/>
                  </a:xfrm>
                  <a:prstGeom prst="rect">
                    <a:avLst/>
                  </a:prstGeom>
                </p:spPr>
              </p:pic>
              <p:sp>
                <p:nvSpPr>
                  <p:cNvPr id="27" name="Curved Left Arrow 26"/>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56" name="Rectangle 55"/>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Rectangle 57"/>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58"/>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66" name="Rectangle 65"/>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7" name="Rectangle 36"/>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9" name="Content Placeholder 8"/>
          <p:cNvSpPr>
            <a:spLocks noGrp="1"/>
          </p:cNvSpPr>
          <p:nvPr>
            <p:ph idx="1"/>
          </p:nvPr>
        </p:nvSpPr>
        <p:spPr>
          <a:xfrm>
            <a:off x="720000" y="1772816"/>
            <a:ext cx="4986741" cy="2174696"/>
          </a:xfrm>
        </p:spPr>
        <p:txBody>
          <a:bodyPr/>
          <a:lstStyle/>
          <a:p>
            <a:pPr marL="324000" indent="-324000">
              <a:buBlip>
                <a:blip r:embed="rId6"/>
              </a:buBlip>
            </a:pPr>
            <a:r>
              <a:rPr lang="en-US" sz="2200" dirty="0"/>
              <a:t>Use ssh to connect:</a:t>
            </a:r>
            <a:br>
              <a:rPr lang="en-US" dirty="0"/>
            </a:br>
            <a:r>
              <a:rPr lang="en-US" sz="2000" dirty="0">
                <a:latin typeface="Courier New" panose="02070309020205020404" pitchFamily="49" charset="0"/>
                <a:cs typeface="Courier New" panose="02070309020205020404" pitchFamily="49" charset="0"/>
              </a:rPr>
              <a:t>$ ssh -A vscXXXXX@&lt;host_name&gt;</a:t>
            </a:r>
            <a:endParaRPr lang="en-US" dirty="0"/>
          </a:p>
          <a:p>
            <a:pPr marL="324000" indent="-324000">
              <a:buBlip>
                <a:blip r:embed="rId6"/>
              </a:buBlip>
            </a:pPr>
            <a:r>
              <a:rPr lang="en-US" sz="2200" dirty="0"/>
              <a:t>If key not found:</a:t>
            </a: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a:t>
            </a:r>
            <a:r>
              <a:rPr lang="en-US" sz="1800" b="1" dirty="0" err="1">
                <a:latin typeface="Courier New" panose="02070309020205020404" pitchFamily="49" charset="0"/>
                <a:cs typeface="Courier New" panose="02070309020205020404" pitchFamily="49" charset="0"/>
              </a:rPr>
              <a:t>i</a:t>
            </a:r>
            <a:r>
              <a:rPr lang="en-US" sz="1800" b="1" dirty="0">
                <a:latin typeface="Courier New" panose="02070309020205020404" pitchFamily="49" charset="0"/>
                <a:cs typeface="Courier New" panose="02070309020205020404" pitchFamily="49" charset="0"/>
              </a:rPr>
              <a:t> &lt;/path/to/</a:t>
            </a:r>
            <a:r>
              <a:rPr lang="en-US" sz="1800" b="1" dirty="0" err="1">
                <a:latin typeface="Courier New" panose="02070309020205020404" pitchFamily="49" charset="0"/>
                <a:cs typeface="Courier New" panose="02070309020205020404" pitchFamily="49" charset="0"/>
              </a:rPr>
              <a:t>keyfile</a:t>
            </a:r>
            <a:r>
              <a:rPr lang="en-US" sz="1800" b="1" dirty="0">
                <a:latin typeface="Courier New" panose="02070309020205020404" pitchFamily="49" charset="0"/>
                <a:cs typeface="Courier New" panose="02070309020205020404" pitchFamily="49" charset="0"/>
              </a:rPr>
              <a:t>&gt; </a:t>
            </a:r>
            <a:r>
              <a:rPr lang="en-US" sz="1800" dirty="0">
                <a:latin typeface="Courier New" panose="02070309020205020404" pitchFamily="49" charset="0"/>
                <a:cs typeface="Courier New" panose="02070309020205020404" pitchFamily="49" charset="0"/>
              </a:rPr>
              <a:t>...</a:t>
            </a:r>
            <a:endParaRPr lang="nl-BE" sz="1800" dirty="0">
              <a:latin typeface="Courier New" panose="02070309020205020404" pitchFamily="49" charset="0"/>
              <a:cs typeface="Courier New" panose="02070309020205020404" pitchFamily="49" charset="0"/>
            </a:endParaRPr>
          </a:p>
          <a:p>
            <a:pPr marL="0" indent="0">
              <a:buNone/>
            </a:pPr>
            <a:br>
              <a:rPr lang="en-US" dirty="0"/>
            </a:br>
            <a:br>
              <a:rPr lang="en-US" dirty="0">
                <a:latin typeface="Courier New" panose="02070309020205020404" pitchFamily="49" charset="0"/>
                <a:cs typeface="Courier New" panose="02070309020205020404" pitchFamily="49" charset="0"/>
              </a:rPr>
            </a:br>
            <a:endParaRPr lang="nl-BE" dirty="0">
              <a:latin typeface="Courier New" panose="02070309020205020404" pitchFamily="49" charset="0"/>
              <a:cs typeface="Courier New" panose="02070309020205020404" pitchFamily="49" charset="0"/>
            </a:endParaRPr>
          </a:p>
        </p:txBody>
      </p:sp>
      <p:sp>
        <p:nvSpPr>
          <p:cNvPr id="15" name="TextBox 14"/>
          <p:cNvSpPr txBox="1"/>
          <p:nvPr/>
        </p:nvSpPr>
        <p:spPr>
          <a:xfrm>
            <a:off x="670532" y="4006337"/>
            <a:ext cx="4029518" cy="1785104"/>
          </a:xfrm>
          <a:prstGeom prst="rect">
            <a:avLst/>
          </a:prstGeom>
          <a:noFill/>
          <a:ln w="19050">
            <a:solidFill>
              <a:srgbClr val="FF0000"/>
            </a:solidFill>
          </a:ln>
        </p:spPr>
        <p:txBody>
          <a:bodyPr wrap="square" rtlCol="0">
            <a:spAutoFit/>
          </a:bodyPr>
          <a:lstStyle/>
          <a:p>
            <a:r>
              <a:rPr lang="en-US" sz="2200" dirty="0"/>
              <a:t>If asked for </a:t>
            </a:r>
            <a:r>
              <a:rPr lang="en-US" sz="2200" b="1" dirty="0">
                <a:solidFill>
                  <a:srgbClr val="FF0000"/>
                </a:solidFill>
              </a:rPr>
              <a:t>password</a:t>
            </a:r>
            <a:r>
              <a:rPr lang="en-US" sz="2200" dirty="0"/>
              <a:t>, please stop connecting and contact support, otherwise after a few attempts you will be blocked for 24h.</a:t>
            </a: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50</a:t>
            </a:fld>
            <a:endParaRPr lang="nl-BE" dirty="0"/>
          </a:p>
        </p:txBody>
      </p:sp>
      <p:grpSp>
        <p:nvGrpSpPr>
          <p:cNvPr id="2" name="Group 1"/>
          <p:cNvGrpSpPr/>
          <p:nvPr/>
        </p:nvGrpSpPr>
        <p:grpSpPr>
          <a:xfrm>
            <a:off x="5963455" y="1771989"/>
            <a:ext cx="5871889" cy="3960950"/>
            <a:chOff x="5884625" y="1894163"/>
            <a:chExt cx="5871889" cy="3960950"/>
          </a:xfrm>
        </p:grpSpPr>
        <p:grpSp>
          <p:nvGrpSpPr>
            <p:cNvPr id="47" name="Group 46"/>
            <p:cNvGrpSpPr/>
            <p:nvPr/>
          </p:nvGrpSpPr>
          <p:grpSpPr>
            <a:xfrm>
              <a:off x="5884625" y="1894163"/>
              <a:ext cx="5871889" cy="3960950"/>
              <a:chOff x="5884625" y="1894163"/>
              <a:chExt cx="5871889" cy="3960950"/>
            </a:xfrm>
          </p:grpSpPr>
          <p:pic>
            <p:nvPicPr>
              <p:cNvPr id="11" name="Picture 1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 name="Rectangle 3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0" name="Rectangle 49"/>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720000" y="1743843"/>
            <a:ext cx="5272409" cy="4272816"/>
          </a:xfrm>
        </p:spPr>
        <p:txBody>
          <a:bodyPr/>
          <a:lstStyle/>
          <a:p>
            <a:pPr marL="0" indent="0">
              <a:buNone/>
            </a:pPr>
            <a:r>
              <a:rPr lang="en-US" sz="2200" b="1" dirty="0"/>
              <a:t>With an SSH agent</a:t>
            </a:r>
          </a:p>
          <a:p>
            <a:pPr>
              <a:buBlip>
                <a:blip r:embed="rId3"/>
              </a:buBlip>
            </a:pPr>
            <a:endParaRPr lang="en-US" sz="2200" dirty="0"/>
          </a:p>
          <a:p>
            <a:pPr marL="324000" indent="-324000">
              <a:buBlip>
                <a:blip r:embed="rId3"/>
              </a:buBlip>
            </a:pPr>
            <a:r>
              <a:rPr lang="en-US" sz="2200" dirty="0"/>
              <a:t>Check your SSH agent </a:t>
            </a:r>
            <a:br>
              <a:rPr lang="en-US" sz="2200" dirty="0"/>
            </a:br>
            <a:r>
              <a:rPr lang="en-US" sz="2200" dirty="0"/>
              <a:t>Is your SSH key found?</a:t>
            </a:r>
            <a:br>
              <a:rPr lang="en-US" sz="2200"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-add –l</a:t>
            </a:r>
          </a:p>
          <a:p>
            <a:pPr marL="324000" indent="-324000">
              <a:buBlip>
                <a:blip r:embed="rId3"/>
              </a:buBlip>
            </a:pPr>
            <a:r>
              <a:rPr lang="en-US" sz="2200" dirty="0"/>
              <a:t>If your SSH agent is not running:</a:t>
            </a:r>
            <a:br>
              <a:rPr lang="en-US" sz="2200" dirty="0"/>
            </a:br>
            <a:r>
              <a:rPr lang="en-US" sz="1800" dirty="0">
                <a:latin typeface="Courier New" panose="02070309020205020404" pitchFamily="49" charset="0"/>
                <a:cs typeface="Courier New" panose="02070309020205020404" pitchFamily="49" charset="0"/>
              </a:rPr>
              <a:t>$ eval $(ssh-agent)</a:t>
            </a:r>
            <a:endParaRPr lang="en-US" sz="1800" dirty="0"/>
          </a:p>
          <a:p>
            <a:pPr marL="324000" indent="-324000">
              <a:buBlip>
                <a:blip r:embed="rId3"/>
              </a:buBlip>
            </a:pPr>
            <a:r>
              <a:rPr lang="en-US" sz="2200" dirty="0"/>
              <a:t>If your key is not found, </a:t>
            </a:r>
            <a:br>
              <a:rPr lang="en-US" sz="2200" dirty="0"/>
            </a:br>
            <a:r>
              <a:rPr lang="en-US" sz="2200" dirty="0"/>
              <a:t>add it to the agent:</a:t>
            </a:r>
            <a:br>
              <a:rPr lang="en-US" sz="2200" dirty="0"/>
            </a:br>
            <a:r>
              <a:rPr lang="en-US" sz="1800" dirty="0">
                <a:latin typeface="Courier New" panose="02070309020205020404" pitchFamily="49" charset="0"/>
                <a:cs typeface="Courier New" panose="02070309020205020404" pitchFamily="49" charset="0"/>
              </a:rPr>
              <a:t>$ ssh-add &lt;/path/to/</a:t>
            </a:r>
            <a:r>
              <a:rPr lang="en-US" sz="1800" dirty="0" err="1">
                <a:latin typeface="Courier New" panose="02070309020205020404" pitchFamily="49" charset="0"/>
                <a:cs typeface="Courier New" panose="02070309020205020404" pitchFamily="49" charset="0"/>
              </a:rPr>
              <a:t>keyfile</a:t>
            </a:r>
            <a:r>
              <a:rPr lang="en-US" sz="1800" dirty="0">
                <a:latin typeface="Courier New" panose="02070309020205020404" pitchFamily="49" charset="0"/>
                <a:cs typeface="Courier New" panose="02070309020205020404" pitchFamily="49" charset="0"/>
              </a:rPr>
              <a:t>&gt;</a:t>
            </a:r>
          </a:p>
          <a:p>
            <a:pPr marL="324000" indent="-324000">
              <a:buBlip>
                <a:blip r:embed="rId3"/>
              </a:buBlip>
            </a:pPr>
            <a:r>
              <a:rPr lang="en-US" sz="2200" dirty="0"/>
              <a:t>Use ssh to connect:</a:t>
            </a:r>
            <a:br>
              <a:rPr lang="en-US" sz="2200" dirty="0"/>
            </a:br>
            <a:r>
              <a:rPr lang="en-US" sz="1800" dirty="0">
                <a:latin typeface="Courier New" panose="02070309020205020404" pitchFamily="49" charset="0"/>
                <a:cs typeface="Courier New" panose="02070309020205020404" pitchFamily="49" charset="0"/>
              </a:rPr>
              <a:t>$ ssh -A vscXXXXX@&lt;hostname&gt;</a:t>
            </a:r>
            <a:endParaRPr lang="nl-BE" sz="1800" dirty="0">
              <a:latin typeface="Courier New" panose="02070309020205020404" pitchFamily="49" charset="0"/>
              <a:cs typeface="Courier New" panose="02070309020205020404" pitchFamily="49" charset="0"/>
            </a:endParaRP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5" name="Slide Number Placeholder 4"/>
          <p:cNvSpPr>
            <a:spLocks noGrp="1"/>
          </p:cNvSpPr>
          <p:nvPr>
            <p:ph type="sldNum" sz="quarter" idx="12"/>
          </p:nvPr>
        </p:nvSpPr>
        <p:spPr/>
        <p:txBody>
          <a:bodyPr/>
          <a:lstStyle/>
          <a:p>
            <a:fld id="{F35D8031-C8E5-48F8-A3B6-81643B27A3AF}" type="slidenum">
              <a:rPr lang="nl-BE" smtClean="0"/>
              <a:pPr/>
              <a:t>51</a:t>
            </a:fld>
            <a:endParaRPr lang="nl-BE" dirty="0"/>
          </a:p>
        </p:txBody>
      </p:sp>
      <p:grpSp>
        <p:nvGrpSpPr>
          <p:cNvPr id="26" name="Group 25"/>
          <p:cNvGrpSpPr/>
          <p:nvPr/>
        </p:nvGrpSpPr>
        <p:grpSpPr>
          <a:xfrm>
            <a:off x="5965200" y="1771200"/>
            <a:ext cx="5867773" cy="4596606"/>
            <a:chOff x="5884625" y="1889051"/>
            <a:chExt cx="5867773" cy="4596606"/>
          </a:xfrm>
        </p:grpSpPr>
        <p:grpSp>
          <p:nvGrpSpPr>
            <p:cNvPr id="27" name="Group 26"/>
            <p:cNvGrpSpPr/>
            <p:nvPr/>
          </p:nvGrpSpPr>
          <p:grpSpPr>
            <a:xfrm>
              <a:off x="5884625" y="1889051"/>
              <a:ext cx="5867773" cy="4596606"/>
              <a:chOff x="5884625" y="1889051"/>
              <a:chExt cx="5867773" cy="4596606"/>
            </a:xfrm>
          </p:grpSpPr>
          <p:grpSp>
            <p:nvGrpSpPr>
              <p:cNvPr id="30" name="Group 29"/>
              <p:cNvGrpSpPr/>
              <p:nvPr/>
            </p:nvGrpSpPr>
            <p:grpSpPr>
              <a:xfrm>
                <a:off x="5884625" y="1889051"/>
                <a:ext cx="5867773" cy="4596606"/>
                <a:chOff x="5884625" y="1889051"/>
                <a:chExt cx="5867773" cy="4596606"/>
              </a:xfrm>
            </p:grpSpPr>
            <p:grpSp>
              <p:nvGrpSpPr>
                <p:cNvPr id="32" name="Group 31"/>
                <p:cNvGrpSpPr/>
                <p:nvPr/>
              </p:nvGrpSpPr>
              <p:grpSpPr>
                <a:xfrm>
                  <a:off x="5884625" y="1889051"/>
                  <a:ext cx="5867773" cy="4596606"/>
                  <a:chOff x="5884625" y="1889051"/>
                  <a:chExt cx="5867773" cy="4596606"/>
                </a:xfrm>
              </p:grpSpPr>
              <p:grpSp>
                <p:nvGrpSpPr>
                  <p:cNvPr id="37" name="Group 36"/>
                  <p:cNvGrpSpPr/>
                  <p:nvPr/>
                </p:nvGrpSpPr>
                <p:grpSpPr>
                  <a:xfrm>
                    <a:off x="5884625" y="1889051"/>
                    <a:ext cx="5867773" cy="3816424"/>
                    <a:chOff x="5844851" y="2420888"/>
                    <a:chExt cx="5891932" cy="3834924"/>
                  </a:xfrm>
                </p:grpSpPr>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8" name="Picture 37"/>
                  <p:cNvPicPr>
                    <a:picLocks noChangeAspect="1"/>
                  </p:cNvPicPr>
                  <p:nvPr/>
                </p:nvPicPr>
                <p:blipFill>
                  <a:blip r:embed="rId5"/>
                  <a:stretch>
                    <a:fillRect/>
                  </a:stretch>
                </p:blipFill>
                <p:spPr>
                  <a:xfrm>
                    <a:off x="6347151" y="3798413"/>
                    <a:ext cx="3675200" cy="2687244"/>
                  </a:xfrm>
                  <a:prstGeom prst="rect">
                    <a:avLst/>
                  </a:prstGeom>
                </p:spPr>
              </p:pic>
              <p:sp>
                <p:nvSpPr>
                  <p:cNvPr id="39" name="Curved Left Arrow 38"/>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33" name="Rectangle 32"/>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1" name="Rectangle 30"/>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8" name="Rectangle 27"/>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2" name="Group 41"/>
          <p:cNvGrpSpPr/>
          <p:nvPr/>
        </p:nvGrpSpPr>
        <p:grpSpPr>
          <a:xfrm>
            <a:off x="5965200" y="1771200"/>
            <a:ext cx="5871889" cy="3960950"/>
            <a:chOff x="5884625" y="1894163"/>
            <a:chExt cx="5871889" cy="3960950"/>
          </a:xfrm>
        </p:grpSpPr>
        <p:grpSp>
          <p:nvGrpSpPr>
            <p:cNvPr id="43" name="Group 42"/>
            <p:cNvGrpSpPr/>
            <p:nvPr/>
          </p:nvGrpSpPr>
          <p:grpSpPr>
            <a:xfrm>
              <a:off x="5884625" y="1894163"/>
              <a:ext cx="5871889" cy="3960950"/>
              <a:chOff x="5884625" y="1894163"/>
              <a:chExt cx="5871889" cy="3960950"/>
            </a:xfrm>
          </p:grpSpPr>
          <p:pic>
            <p:nvPicPr>
              <p:cNvPr id="46" name="Picture 4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7" name="Rectangle 46"/>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47"/>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49"/>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4" name="Rectangle 4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6" name="Rectangle 55"/>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3049715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52</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2" name="Table 1"/>
          <p:cNvGraphicFramePr>
            <a:graphicFrameLocks noGrp="1"/>
          </p:cNvGraphicFramePr>
          <p:nvPr/>
        </p:nvGraphicFramePr>
        <p:xfrm>
          <a:off x="6492046" y="2358811"/>
          <a:ext cx="3902974" cy="1854200"/>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370840">
                <a:tc>
                  <a:txBody>
                    <a:bodyPr/>
                    <a:lstStyle/>
                    <a:p>
                      <a:r>
                        <a:rPr lang="en-US" dirty="0"/>
                        <a:t>Application</a:t>
                      </a:r>
                      <a:endParaRPr lang="nl-BE" dirty="0"/>
                    </a:p>
                  </a:txBody>
                  <a:tcPr/>
                </a:tc>
                <a:tc>
                  <a:txBody>
                    <a:bodyPr/>
                    <a:lstStyle/>
                    <a:p>
                      <a:r>
                        <a:rPr lang="en-US" dirty="0"/>
                        <a:t>OS</a:t>
                      </a:r>
                      <a:endParaRPr lang="nl-BE" dirty="0"/>
                    </a:p>
                  </a:txBody>
                  <a:tcPr/>
                </a:tc>
                <a:extLst>
                  <a:ext uri="{0D108BD9-81ED-4DB2-BD59-A6C34878D82A}">
                    <a16:rowId xmlns:a16="http://schemas.microsoft.com/office/drawing/2014/main" val="570025582"/>
                  </a:ext>
                </a:extLst>
              </a:tr>
              <a:tr h="370840">
                <a:tc>
                  <a:txBody>
                    <a:bodyPr/>
                    <a:lstStyle/>
                    <a:p>
                      <a:r>
                        <a:rPr lang="en-US" dirty="0">
                          <a:hlinkClick r:id="rId3"/>
                        </a:rPr>
                        <a:t>FileZilla</a:t>
                      </a:r>
                      <a:endParaRPr lang="nl-BE" dirty="0"/>
                    </a:p>
                  </a:txBody>
                  <a:tcPr/>
                </a:tc>
                <a:tc>
                  <a:txBody>
                    <a:bodyPr/>
                    <a:lstStyle/>
                    <a:p>
                      <a:r>
                        <a:rPr lang="en-US" dirty="0"/>
                        <a:t>Windows,</a:t>
                      </a:r>
                      <a:r>
                        <a:rPr lang="en-US" baseline="0" dirty="0"/>
                        <a:t> Linux, Mac</a:t>
                      </a:r>
                      <a:endParaRPr lang="nl-BE" dirty="0"/>
                    </a:p>
                  </a:txBody>
                  <a:tcPr/>
                </a:tc>
                <a:extLst>
                  <a:ext uri="{0D108BD9-81ED-4DB2-BD59-A6C34878D82A}">
                    <a16:rowId xmlns:a16="http://schemas.microsoft.com/office/drawing/2014/main" val="941569183"/>
                  </a:ext>
                </a:extLst>
              </a:tr>
              <a:tr h="370840">
                <a:tc>
                  <a:txBody>
                    <a:bodyPr/>
                    <a:lstStyle/>
                    <a:p>
                      <a:r>
                        <a:rPr lang="en-US" dirty="0" err="1">
                          <a:hlinkClick r:id="rId4"/>
                        </a:rPr>
                        <a:t>WinSCP</a:t>
                      </a:r>
                      <a:endParaRPr lang="nl-BE" dirty="0"/>
                    </a:p>
                  </a:txBody>
                  <a:tcPr/>
                </a:tc>
                <a:tc>
                  <a:txBody>
                    <a:bodyPr/>
                    <a:lstStyle/>
                    <a:p>
                      <a:r>
                        <a:rPr lang="en-US" dirty="0"/>
                        <a:t>Windows</a:t>
                      </a:r>
                      <a:endParaRPr lang="nl-BE" dirty="0"/>
                    </a:p>
                  </a:txBody>
                  <a:tcPr/>
                </a:tc>
                <a:extLst>
                  <a:ext uri="{0D108BD9-81ED-4DB2-BD59-A6C34878D82A}">
                    <a16:rowId xmlns:a16="http://schemas.microsoft.com/office/drawing/2014/main" val="2517790187"/>
                  </a:ext>
                </a:extLst>
              </a:tr>
              <a:tr h="370840">
                <a:tc>
                  <a:txBody>
                    <a:bodyPr/>
                    <a:lstStyle/>
                    <a:p>
                      <a:r>
                        <a:rPr lang="en-US" dirty="0" err="1"/>
                        <a:t>rsync</a:t>
                      </a:r>
                      <a:r>
                        <a:rPr lang="en-US" dirty="0"/>
                        <a:t>,</a:t>
                      </a:r>
                      <a:r>
                        <a:rPr lang="en-US" baseline="0" dirty="0"/>
                        <a:t> </a:t>
                      </a:r>
                      <a:r>
                        <a:rPr lang="en-US" baseline="0" dirty="0" err="1"/>
                        <a:t>scp</a:t>
                      </a:r>
                      <a:endParaRPr lang="nl-BE" dirty="0"/>
                    </a:p>
                  </a:txBody>
                  <a:tcPr/>
                </a:tc>
                <a:tc>
                  <a:txBody>
                    <a:bodyPr/>
                    <a:lstStyle/>
                    <a:p>
                      <a:r>
                        <a:rPr lang="en-US" dirty="0"/>
                        <a:t>Linux, Mac</a:t>
                      </a:r>
                      <a:endParaRPr lang="nl-BE" dirty="0"/>
                    </a:p>
                  </a:txBody>
                  <a:tcPr/>
                </a:tc>
                <a:extLst>
                  <a:ext uri="{0D108BD9-81ED-4DB2-BD59-A6C34878D82A}">
                    <a16:rowId xmlns:a16="http://schemas.microsoft.com/office/drawing/2014/main" val="1414451379"/>
                  </a:ext>
                </a:extLst>
              </a:tr>
              <a:tr h="370840">
                <a:tc>
                  <a:txBody>
                    <a:bodyPr/>
                    <a:lstStyle/>
                    <a:p>
                      <a:r>
                        <a:rPr lang="en-US" dirty="0">
                          <a:hlinkClick r:id="rId5"/>
                        </a:rPr>
                        <a:t>Globus</a:t>
                      </a:r>
                      <a:endParaRPr lang="nl-BE" dirty="0"/>
                    </a:p>
                  </a:txBody>
                  <a:tcPr/>
                </a:tc>
                <a:tc>
                  <a:txBody>
                    <a:bodyPr/>
                    <a:lstStyle/>
                    <a:p>
                      <a:r>
                        <a:rPr lang="en-US" dirty="0"/>
                        <a:t>Window, Linux, Mac</a:t>
                      </a:r>
                      <a:endParaRPr lang="nl-BE" dirty="0"/>
                    </a:p>
                  </a:txBody>
                  <a:tcPr/>
                </a:tc>
                <a:extLst>
                  <a:ext uri="{0D108BD9-81ED-4DB2-BD59-A6C34878D82A}">
                    <a16:rowId xmlns:a16="http://schemas.microsoft.com/office/drawing/2014/main" val="2195651994"/>
                  </a:ext>
                </a:extLst>
              </a:tr>
            </a:tbl>
          </a:graphicData>
        </a:graphic>
      </p:graphicFrame>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58</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2"/>
          <a:srcRect l="2224" t="6514" r="41926" b="2407"/>
          <a:stretch/>
        </p:blipFill>
        <p:spPr>
          <a:xfrm>
            <a:off x="5847724" y="1286929"/>
            <a:ext cx="5964561" cy="4464437"/>
          </a:xfrm>
          <a:prstGeom prst="rect">
            <a:avLst/>
          </a:prstGeom>
        </p:spPr>
      </p:pic>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268760"/>
            <a:ext cx="4968552" cy="448923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 interface for transferring, sharing and searching within data</a:t>
            </a:r>
          </a:p>
          <a:p>
            <a:pPr marL="324000" indent="-324000">
              <a:buClr>
                <a:srgbClr val="DB6C30"/>
              </a:buClr>
              <a:buFont typeface="Wingdings" panose="05000000000000000000" pitchFamily="2" charset="2"/>
              <a:buChar char="q"/>
            </a:pPr>
            <a:r>
              <a:rPr lang="en-US" dirty="0"/>
              <a:t>Schedule and resume (large) transfers</a:t>
            </a:r>
          </a:p>
          <a:p>
            <a:pPr marL="324000" indent="-324000">
              <a:buClr>
                <a:srgbClr val="DB6C30"/>
              </a:buClr>
              <a:buFont typeface="Wingdings" panose="05000000000000000000" pitchFamily="2" charset="2"/>
              <a:buChar char="q"/>
            </a:pPr>
            <a:r>
              <a:rPr lang="en-US" dirty="0"/>
              <a:t>Workflow:</a:t>
            </a:r>
            <a:br>
              <a:rPr lang="en-US" dirty="0"/>
            </a:br>
            <a:r>
              <a:rPr lang="en-US" dirty="0"/>
              <a:t>Define “endpoint” on the source</a:t>
            </a:r>
            <a:br>
              <a:rPr lang="en-US" dirty="0"/>
            </a:br>
            <a:r>
              <a:rPr lang="en-US" dirty="0"/>
              <a:t>Define “endpoint” on the destination</a:t>
            </a:r>
            <a:br>
              <a:rPr lang="en-US" dirty="0"/>
            </a:br>
            <a:r>
              <a:rPr lang="en-US" dirty="0"/>
              <a:t>Transfer between endpoints</a:t>
            </a:r>
          </a:p>
          <a:p>
            <a:pPr marL="324000" indent="-324000">
              <a:buClr>
                <a:srgbClr val="DB6C30"/>
              </a:buClr>
              <a:buFont typeface="Wingdings" panose="05000000000000000000" pitchFamily="2" charset="2"/>
              <a:buChar char="q"/>
            </a:pPr>
            <a:r>
              <a:rPr lang="en-US" dirty="0"/>
              <a:t>Endpoints on all VSC sites:</a:t>
            </a:r>
            <a:br>
              <a:rPr lang="en-US" dirty="0"/>
            </a:br>
            <a:r>
              <a:rPr lang="en-US" dirty="0"/>
              <a:t>all Tier-2 clusters: home, data, scratch*</a:t>
            </a:r>
            <a:br>
              <a:rPr lang="en-US" dirty="0"/>
            </a:br>
            <a:r>
              <a:rPr lang="en-US" dirty="0"/>
              <a:t>all Tier-1 clusters: scratch, projects</a:t>
            </a:r>
          </a:p>
          <a:p>
            <a:pPr marL="324000" indent="-324000">
              <a:buClr>
                <a:srgbClr val="DB6C30"/>
              </a:buClr>
              <a:buFont typeface="Wingdings" panose="05000000000000000000" pitchFamily="2" charset="2"/>
              <a:buChar char="q"/>
            </a:pPr>
            <a:endParaRPr lang="en-US" dirty="0"/>
          </a:p>
          <a:p>
            <a:pPr marL="0" indent="0">
              <a:buClr>
                <a:srgbClr val="DB6C30"/>
              </a:buClr>
              <a:buNone/>
            </a:pPr>
            <a:r>
              <a:rPr lang="en-US" dirty="0"/>
              <a:t>* You can also access staging storage   </a:t>
            </a:r>
            <a:br>
              <a:rPr lang="en-US" dirty="0"/>
            </a:br>
            <a:r>
              <a:rPr lang="en-US" dirty="0"/>
              <a:t>   through this endpoint (Leuven Tier-2 only)</a:t>
            </a:r>
          </a:p>
        </p:txBody>
      </p:sp>
    </p:spTree>
    <p:extLst>
      <p:ext uri="{BB962C8B-B14F-4D97-AF65-F5344CB8AC3E}">
        <p14:creationId xmlns:p14="http://schemas.microsoft.com/office/powerpoint/2010/main" val="41038613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59</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60</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5" y="1298179"/>
            <a:ext cx="5005435" cy="37870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Access clusters via your web browser</a:t>
            </a:r>
          </a:p>
          <a:p>
            <a:pPr marL="324000" indent="-324000">
              <a:buBlip>
                <a:blip r:embed="rId3"/>
              </a:buBlip>
            </a:pPr>
            <a:r>
              <a:rPr lang="en-US" sz="2000" dirty="0">
                <a:hlinkClick r:id="rId4"/>
              </a:rPr>
              <a:t>https://ondemand.hpc.kuleuven.be</a:t>
            </a:r>
            <a:endParaRPr lang="en-US" sz="2000" dirty="0"/>
          </a:p>
          <a:p>
            <a:pPr marL="324000" indent="-324000">
              <a:buBlip>
                <a:blip r:embed="rId3"/>
              </a:buBlip>
            </a:pPr>
            <a:r>
              <a:rPr lang="en-US" dirty="0"/>
              <a:t>Login via your institute’s IDP</a:t>
            </a:r>
          </a:p>
          <a:p>
            <a:pPr marL="324000" indent="-324000">
              <a:buBlip>
                <a:blip r:embed="rId3"/>
              </a:buBlip>
            </a:pPr>
            <a:r>
              <a:rPr lang="en-US" dirty="0"/>
              <a:t>File browser + Data Transfer (Globus)</a:t>
            </a:r>
          </a:p>
          <a:p>
            <a:pPr marL="324000" indent="-324000">
              <a:buBlip>
                <a:blip r:embed="rId3"/>
              </a:buBlip>
            </a:pPr>
            <a:r>
              <a:rPr lang="en-US" dirty="0"/>
              <a:t>Develop, compile and test your code</a:t>
            </a:r>
          </a:p>
          <a:p>
            <a:pPr marL="324000" indent="-324000">
              <a:buBlip>
                <a:blip r:embed="rId3"/>
              </a:buBlip>
            </a:pPr>
            <a:r>
              <a:rPr lang="en-US" dirty="0"/>
              <a:t>Interactive apps + integrated shell</a:t>
            </a:r>
          </a:p>
          <a:p>
            <a:pPr marL="324000" indent="-324000">
              <a:buBlip>
                <a:blip r:embed="rId3"/>
              </a:buBlip>
            </a:pPr>
            <a:r>
              <a:rPr lang="en-US" dirty="0" err="1"/>
              <a:t>noVNC</a:t>
            </a:r>
            <a:r>
              <a:rPr lang="en-US" dirty="0"/>
              <a:t> Desktop for graphical apps</a:t>
            </a:r>
          </a:p>
          <a:p>
            <a:pPr marL="324000" indent="-324000">
              <a:buBlip>
                <a:blip r:embed="rId3"/>
              </a:buBlip>
            </a:pPr>
            <a:r>
              <a:rPr lang="en-US" dirty="0" err="1"/>
              <a:t>VSCode</a:t>
            </a:r>
            <a:r>
              <a:rPr lang="en-US" dirty="0"/>
              <a:t> and PyCharm editors</a:t>
            </a:r>
          </a:p>
          <a:p>
            <a:pPr marL="324000" indent="-324000">
              <a:buBlip>
                <a:blip r:embed="rId3"/>
              </a:buBlip>
            </a:pPr>
            <a:r>
              <a:rPr lang="en-US" dirty="0"/>
              <a:t>Fluent, </a:t>
            </a:r>
            <a:r>
              <a:rPr lang="en-US" dirty="0" err="1"/>
              <a:t>Jupyter</a:t>
            </a:r>
            <a:r>
              <a:rPr lang="en-US" dirty="0"/>
              <a:t> Lab, </a:t>
            </a:r>
            <a:r>
              <a:rPr lang="en-US" dirty="0" err="1"/>
              <a:t>Rstudio</a:t>
            </a:r>
            <a:r>
              <a:rPr lang="en-US" dirty="0"/>
              <a:t>, MATLAB, </a:t>
            </a:r>
            <a:r>
              <a:rPr lang="en-US" dirty="0" err="1"/>
              <a:t>ParaView</a:t>
            </a:r>
            <a:r>
              <a:rPr lang="en-US" dirty="0"/>
              <a:t>, </a:t>
            </a:r>
            <a:r>
              <a:rPr lang="en-US" dirty="0" err="1"/>
              <a:t>Tensorboard</a:t>
            </a:r>
            <a:r>
              <a:rPr lang="en-US" dirty="0"/>
              <a:t>, </a:t>
            </a:r>
            <a:r>
              <a:rPr lang="en-US" dirty="0" err="1"/>
              <a:t>Gnuplot</a:t>
            </a:r>
            <a:endParaRPr lang="nl-BE"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0" name="Group 9">
            <a:extLst>
              <a:ext uri="{FF2B5EF4-FFF2-40B4-BE49-F238E27FC236}">
                <a16:creationId xmlns:a16="http://schemas.microsoft.com/office/drawing/2014/main" id="{B7F409E1-F14E-2A4F-B417-916F0FABD87E}"/>
              </a:ext>
            </a:extLst>
          </p:cNvPr>
          <p:cNvGrpSpPr/>
          <p:nvPr/>
        </p:nvGrpSpPr>
        <p:grpSpPr>
          <a:xfrm>
            <a:off x="1271464" y="5047766"/>
            <a:ext cx="4248472" cy="996326"/>
            <a:chOff x="1055440" y="5047766"/>
            <a:chExt cx="4104456" cy="996326"/>
          </a:xfrm>
        </p:grpSpPr>
        <p:sp>
          <p:nvSpPr>
            <p:cNvPr id="2" name="Rectangle: Rounded Corners 1">
              <a:extLst>
                <a:ext uri="{FF2B5EF4-FFF2-40B4-BE49-F238E27FC236}">
                  <a16:creationId xmlns:a16="http://schemas.microsoft.com/office/drawing/2014/main" id="{99343D6B-AE28-C018-50BD-23F0D7E527A0}"/>
                </a:ext>
              </a:extLst>
            </p:cNvPr>
            <p:cNvSpPr/>
            <p:nvPr/>
          </p:nvSpPr>
          <p:spPr>
            <a:xfrm>
              <a:off x="1055440" y="5425438"/>
              <a:ext cx="4032448" cy="6186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Please close your interactive sessions</a:t>
              </a:r>
              <a:br>
                <a:rPr lang="en-US" dirty="0"/>
              </a:br>
              <a:r>
                <a:rPr lang="en-US" dirty="0"/>
                <a:t>when you no longer actively use them!</a:t>
              </a:r>
              <a:endParaRPr lang="nl-BE" dirty="0"/>
            </a:p>
          </p:txBody>
        </p:sp>
        <p:sp>
          <p:nvSpPr>
            <p:cNvPr id="3" name="TextBox 2">
              <a:extLst>
                <a:ext uri="{FF2B5EF4-FFF2-40B4-BE49-F238E27FC236}">
                  <a16:creationId xmlns:a16="http://schemas.microsoft.com/office/drawing/2014/main" id="{B0011A01-C1A2-38DA-4599-54D77E914CF8}"/>
                </a:ext>
              </a:extLst>
            </p:cNvPr>
            <p:cNvSpPr txBox="1"/>
            <p:nvPr/>
          </p:nvSpPr>
          <p:spPr>
            <a:xfrm>
              <a:off x="4799856" y="5047766"/>
              <a:ext cx="360040" cy="369332"/>
            </a:xfrm>
            <a:prstGeom prst="rect">
              <a:avLst/>
            </a:prstGeom>
            <a:noFill/>
          </p:spPr>
          <p:txBody>
            <a:bodyPr wrap="square" rtlCol="0">
              <a:spAutoFit/>
            </a:bodyPr>
            <a:lstStyle/>
            <a:p>
              <a:r>
                <a:rPr lang="nl-BE" dirty="0"/>
                <a:t>💡</a:t>
              </a:r>
            </a:p>
          </p:txBody>
        </p:sp>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grpSp>
        <p:nvGrpSpPr>
          <p:cNvPr id="15" name="Group 14">
            <a:extLst>
              <a:ext uri="{FF2B5EF4-FFF2-40B4-BE49-F238E27FC236}">
                <a16:creationId xmlns:a16="http://schemas.microsoft.com/office/drawing/2014/main" id="{0959B70E-6044-3E1A-0785-73423CDCA59F}"/>
              </a:ext>
            </a:extLst>
          </p:cNvPr>
          <p:cNvGrpSpPr/>
          <p:nvPr/>
        </p:nvGrpSpPr>
        <p:grpSpPr>
          <a:xfrm>
            <a:off x="340950" y="1050258"/>
            <a:ext cx="11731714" cy="1874685"/>
            <a:chOff x="340950" y="1050258"/>
            <a:chExt cx="11731714" cy="1874685"/>
          </a:xfrm>
        </p:grpSpPr>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grpSp>
          <p:nvGrpSpPr>
            <p:cNvPr id="14" name="Group 13">
              <a:extLst>
                <a:ext uri="{FF2B5EF4-FFF2-40B4-BE49-F238E27FC236}">
                  <a16:creationId xmlns:a16="http://schemas.microsoft.com/office/drawing/2014/main" id="{843570E9-D0BC-C00C-BDA0-E9839705EAA6}"/>
                </a:ext>
              </a:extLst>
            </p:cNvPr>
            <p:cNvGrpSpPr/>
            <p:nvPr/>
          </p:nvGrpSpPr>
          <p:grpSpPr>
            <a:xfrm>
              <a:off x="340950" y="1050258"/>
              <a:ext cx="11731714" cy="1874685"/>
              <a:chOff x="340950" y="1050258"/>
              <a:chExt cx="11731714" cy="187468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151216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t>Use the “Files” tab to access your </a:t>
                </a:r>
                <a:br>
                  <a:rPr lang="en-US" dirty="0"/>
                </a:br>
                <a:r>
                  <a:rPr lang="en-US" dirty="0">
                    <a:latin typeface="Courier New" panose="02070309020205020404" pitchFamily="49" charset="0"/>
                    <a:cs typeface="Courier New" panose="02070309020205020404" pitchFamily="49" charset="0"/>
                  </a:rPr>
                  <a:t>VSC_HOME </a:t>
                </a:r>
                <a:r>
                  <a:rPr lang="en-US" dirty="0"/>
                  <a:t>and </a:t>
                </a:r>
                <a:r>
                  <a:rPr lang="en-US" dirty="0">
                    <a:latin typeface="Courier New" panose="02070309020205020404" pitchFamily="49" charset="0"/>
                    <a:cs typeface="Courier New" panose="02070309020205020404" pitchFamily="49" charset="0"/>
                  </a:rPr>
                  <a:t>VSC_DATA</a:t>
                </a:r>
              </a:p>
              <a:p>
                <a:pPr marL="324000" indent="-324000">
                  <a:buBlip>
                    <a:blip r:embed="rId4"/>
                  </a:buBlip>
                </a:pPr>
                <a:r>
                  <a:rPr lang="en-US" dirty="0">
                    <a:latin typeface="Courier New" panose="02070309020205020404" pitchFamily="49" charset="0"/>
                    <a:cs typeface="Courier New" panose="02070309020205020404" pitchFamily="49" charset="0"/>
                  </a:rPr>
                  <a:t>VSC_SCRATCH</a:t>
                </a:r>
                <a:r>
                  <a:rPr lang="en-US" dirty="0"/>
                  <a:t> is not available</a:t>
                </a:r>
                <a:br>
                  <a:rPr lang="en-US" dirty="0"/>
                </a:br>
                <a:r>
                  <a:rPr lang="en-US" dirty="0"/>
                  <a:t>from this menu</a:t>
                </a: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Access your VSC storage</a:t>
                </a:r>
                <a:endParaRPr lang="nl-BE" dirty="0"/>
              </a:p>
            </p:txBody>
          </p:sp>
        </p:grpSp>
      </p:grpSp>
      <p:grpSp>
        <p:nvGrpSpPr>
          <p:cNvPr id="22" name="Group 21">
            <a:extLst>
              <a:ext uri="{FF2B5EF4-FFF2-40B4-BE49-F238E27FC236}">
                <a16:creationId xmlns:a16="http://schemas.microsoft.com/office/drawing/2014/main" id="{5DC340A2-DA60-8142-E54F-728D5911AB90}"/>
              </a:ext>
            </a:extLst>
          </p:cNvPr>
          <p:cNvGrpSpPr/>
          <p:nvPr/>
        </p:nvGrpSpPr>
        <p:grpSpPr>
          <a:xfrm>
            <a:off x="303417" y="3373393"/>
            <a:ext cx="11735161" cy="2503879"/>
            <a:chOff x="303417" y="3238902"/>
            <a:chExt cx="11735161" cy="2503879"/>
          </a:xfrm>
        </p:grpSpPr>
        <p:sp>
          <p:nvSpPr>
            <p:cNvPr id="19" name="Tijdelijke aanduiding voor inhoud 2">
              <a:extLst>
                <a:ext uri="{FF2B5EF4-FFF2-40B4-BE49-F238E27FC236}">
                  <a16:creationId xmlns:a16="http://schemas.microsoft.com/office/drawing/2014/main" id="{2D1BB4D2-3517-6E3D-90CA-D05A716DBBE7}"/>
                </a:ext>
              </a:extLst>
            </p:cNvPr>
            <p:cNvSpPr txBox="1">
              <a:spLocks/>
            </p:cNvSpPr>
            <p:nvPr/>
          </p:nvSpPr>
          <p:spPr>
            <a:xfrm>
              <a:off x="303417" y="3652310"/>
              <a:ext cx="11712664" cy="20904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endParaRPr lang="en-US" dirty="0"/>
            </a:p>
            <a:p>
              <a:pPr marL="324000" indent="-324000">
                <a:buBlip>
                  <a:blip r:embed="rId4"/>
                </a:buBlip>
              </a:pPr>
              <a:endParaRPr lang="en-US" dirty="0"/>
            </a:p>
            <a:p>
              <a:pPr marL="324000" indent="-324000">
                <a:buBlip>
                  <a:blip r:embed="rId4"/>
                </a:buBlip>
              </a:pPr>
              <a:r>
                <a:rPr lang="en-US" dirty="0"/>
                <a:t>OK for transferring small files/folders</a:t>
              </a:r>
            </a:p>
            <a:p>
              <a:pPr marL="324000" indent="-324000">
                <a:buBlip>
                  <a:blip r:embed="rId4"/>
                </a:buBlip>
              </a:pPr>
              <a:r>
                <a:rPr lang="en-US" dirty="0"/>
                <a:t>Open any (sub)folder in terminal (will open a new tab)</a:t>
              </a:r>
            </a:p>
            <a:p>
              <a:pPr marL="324000" indent="-324000">
                <a:buBlip>
                  <a:blip r:embed="rId4"/>
                </a:buBlip>
              </a:pPr>
              <a:r>
                <a:rPr lang="en-US" dirty="0"/>
                <a:t>Deleted files/folders can be retrieved from (hourly, daily, weekly) snapshots</a:t>
              </a:r>
              <a:endParaRPr lang="nl-BE" dirty="0"/>
            </a:p>
          </p:txBody>
        </p:sp>
        <p:sp>
          <p:nvSpPr>
            <p:cNvPr id="20" name="TextBox 19">
              <a:extLst>
                <a:ext uri="{FF2B5EF4-FFF2-40B4-BE49-F238E27FC236}">
                  <a16:creationId xmlns:a16="http://schemas.microsoft.com/office/drawing/2014/main" id="{582EF448-58F3-A6A2-AA2E-348CBCBB80D8}"/>
                </a:ext>
              </a:extLst>
            </p:cNvPr>
            <p:cNvSpPr txBox="1"/>
            <p:nvPr/>
          </p:nvSpPr>
          <p:spPr>
            <a:xfrm>
              <a:off x="9408368" y="3238902"/>
              <a:ext cx="2630210" cy="369332"/>
            </a:xfrm>
            <a:prstGeom prst="rect">
              <a:avLst/>
            </a:prstGeom>
            <a:solidFill>
              <a:srgbClr val="DB6C30"/>
            </a:solidFill>
          </p:spPr>
          <p:txBody>
            <a:bodyPr wrap="square" rtlCol="0">
              <a:spAutoFit/>
            </a:bodyPr>
            <a:lstStyle/>
            <a:p>
              <a:r>
                <a:rPr lang="en-US" dirty="0"/>
                <a:t>File/Folder management</a:t>
              </a:r>
              <a:endParaRPr lang="nl-BE" dirty="0"/>
            </a:p>
          </p:txBody>
        </p:sp>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5">
              <a:extLst>
                <a:ext uri="{28A0092B-C50C-407E-A947-70E740481C1C}">
                  <a14:useLocalDpi xmlns:a14="http://schemas.microsoft.com/office/drawing/2010/main" val="0"/>
                </a:ext>
              </a:extLst>
            </a:blip>
            <a:stretch/>
          </p:blipFill>
          <p:spPr>
            <a:xfrm>
              <a:off x="600261" y="3724862"/>
              <a:ext cx="11184371" cy="505751"/>
            </a:xfrm>
            <a:prstGeom prst="rect">
              <a:avLst/>
            </a:prstGeom>
          </p:spPr>
        </p:pic>
      </p:gr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4032448"/>
          </a:xfrm>
          <a:prstGeom prst="rect">
            <a:avLst/>
          </a:prstGeom>
          <a:ln w="2540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Monitor your active jobs</a:t>
            </a:r>
            <a:endParaRPr lang="nl-BE" dirty="0"/>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43841" y="1937897"/>
            <a:ext cx="10506882" cy="2963620"/>
          </a:xfrm>
          <a:prstGeom prst="rect">
            <a:avLst/>
          </a:prstGeom>
        </p:spPr>
      </p:pic>
    </p:spTree>
    <p:extLst>
      <p:ext uri="{BB962C8B-B14F-4D97-AF65-F5344CB8AC3E}">
        <p14:creationId xmlns:p14="http://schemas.microsoft.com/office/powerpoint/2010/main" val="12291487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1216417"/>
            <a:ext cx="5375925" cy="4055834"/>
            <a:chOff x="340950" y="-1208928"/>
            <a:chExt cx="13143120" cy="4254567"/>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821499"/>
              <a:ext cx="13105455" cy="3867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Starts a shell in a new browser tab</a:t>
              </a:r>
            </a:p>
            <a:p>
              <a:pPr marL="324000" indent="-324000">
                <a:buBlip>
                  <a:blip r:embed="rId3"/>
                </a:buBlip>
              </a:pPr>
              <a:r>
                <a:rPr lang="nl-BE" dirty="0" err="1"/>
                <a:t>You</a:t>
              </a:r>
              <a:r>
                <a:rPr lang="nl-BE" dirty="0"/>
                <a:t> land on a </a:t>
              </a:r>
              <a:r>
                <a:rPr lang="nl-BE" dirty="0" err="1"/>
                <a:t>wICE</a:t>
              </a:r>
              <a:r>
                <a:rPr lang="nl-BE" dirty="0"/>
                <a:t> login node</a:t>
              </a:r>
              <a:br>
                <a:rPr lang="nl-BE" dirty="0"/>
              </a:br>
              <a:r>
                <a:rPr lang="nl-BE" dirty="0"/>
                <a:t>(</a:t>
              </a:r>
              <a:r>
                <a:rPr lang="nl-BE" dirty="0" err="1"/>
                <a:t>from</a:t>
              </a:r>
              <a:r>
                <a:rPr lang="nl-BE" dirty="0"/>
                <a:t> </a:t>
              </a:r>
              <a:r>
                <a:rPr lang="nl-BE" dirty="0" err="1"/>
                <a:t>which</a:t>
              </a:r>
              <a:r>
                <a:rPr lang="nl-BE" dirty="0"/>
                <a:t> </a:t>
              </a:r>
              <a:r>
                <a:rPr lang="nl-BE" dirty="0" err="1"/>
                <a:t>you</a:t>
              </a:r>
              <a:r>
                <a:rPr lang="nl-BE" dirty="0"/>
                <a:t> </a:t>
              </a:r>
              <a:r>
                <a:rPr lang="nl-BE" dirty="0" err="1"/>
                <a:t>can</a:t>
              </a:r>
              <a:r>
                <a:rPr lang="nl-BE" dirty="0"/>
                <a:t> </a:t>
              </a:r>
              <a:r>
                <a:rPr lang="nl-BE" dirty="0" err="1"/>
                <a:t>also</a:t>
              </a:r>
              <a:r>
                <a:rPr lang="nl-BE" dirty="0"/>
                <a:t> access </a:t>
              </a:r>
              <a:r>
                <a:rPr lang="nl-BE" dirty="0" err="1"/>
                <a:t>Mindwell</a:t>
              </a:r>
              <a:r>
                <a:rPr lang="nl-BE" dirty="0"/>
                <a:t>)</a:t>
              </a:r>
            </a:p>
            <a:p>
              <a:pPr marL="324000" indent="-324000">
                <a:buBlip>
                  <a:blip r:embed="rId3"/>
                </a:buBlip>
              </a:pPr>
              <a:r>
                <a:rPr lang="nl-BE" dirty="0" err="1"/>
                <a:t>You</a:t>
              </a:r>
              <a:r>
                <a:rPr lang="nl-BE" dirty="0"/>
                <a:t> land on </a:t>
              </a:r>
              <a:r>
                <a:rPr lang="nl-BE" dirty="0" err="1"/>
                <a:t>your</a:t>
              </a:r>
              <a:r>
                <a:rPr lang="nl-BE" dirty="0"/>
                <a:t> </a:t>
              </a:r>
              <a:r>
                <a:rPr lang="nl-BE" dirty="0">
                  <a:latin typeface="Courier New" panose="02070309020205020404" pitchFamily="49" charset="0"/>
                  <a:cs typeface="Courier New" panose="02070309020205020404" pitchFamily="49" charset="0"/>
                </a:rPr>
                <a:t>VSC_HOME.</a:t>
              </a:r>
              <a:br>
                <a:rPr lang="nl-BE" dirty="0"/>
              </a:br>
              <a:r>
                <a:rPr lang="nl-BE" dirty="0">
                  <a:latin typeface="Courier New" panose="02070309020205020404" pitchFamily="49" charset="0"/>
                  <a:cs typeface="Courier New" panose="02070309020205020404" pitchFamily="49" charset="0"/>
                </a:rPr>
                <a:t>cd</a:t>
              </a:r>
              <a:r>
                <a:rPr lang="nl-BE" dirty="0"/>
                <a:t> </a:t>
              </a:r>
              <a:r>
                <a:rPr lang="nl-BE" dirty="0" err="1"/>
                <a:t>to</a:t>
              </a:r>
              <a:r>
                <a:rPr lang="nl-BE" dirty="0"/>
                <a:t> data/scratch/</a:t>
              </a:r>
              <a:r>
                <a:rPr lang="nl-BE" dirty="0" err="1"/>
                <a:t>staging</a:t>
              </a:r>
              <a:r>
                <a:rPr lang="nl-BE" dirty="0"/>
                <a:t> </a:t>
              </a:r>
              <a:r>
                <a:rPr lang="nl-BE" dirty="0" err="1"/>
                <a:t>immediately</a:t>
              </a:r>
              <a:endParaRPr lang="nl-BE" dirty="0"/>
            </a:p>
            <a:p>
              <a:pPr marL="324000" indent="-324000">
                <a:buBlip>
                  <a:blip r:embed="rId3"/>
                </a:buBlip>
              </a:pPr>
              <a:r>
                <a:rPr lang="nl-BE" dirty="0"/>
                <a:t>Do NOT </a:t>
              </a:r>
              <a:r>
                <a:rPr lang="nl-BE" dirty="0" err="1"/>
                <a:t>compute</a:t>
              </a:r>
              <a:r>
                <a:rPr lang="nl-BE" dirty="0"/>
                <a:t> on </a:t>
              </a:r>
              <a:r>
                <a:rPr lang="nl-BE" dirty="0" err="1"/>
                <a:t>the</a:t>
              </a:r>
              <a:r>
                <a:rPr lang="nl-BE" dirty="0"/>
                <a:t> login </a:t>
              </a:r>
              <a:r>
                <a:rPr lang="nl-BE" dirty="0" err="1"/>
                <a:t>nodes</a:t>
              </a:r>
              <a:endParaRPr lang="nl-BE" dirty="0"/>
            </a:p>
            <a:p>
              <a:pPr marL="324000" indent="-324000">
                <a:buBlip>
                  <a:blip r:embed="rId3"/>
                </a:buBlip>
              </a:pPr>
              <a:r>
                <a:rPr lang="nl-BE" dirty="0" err="1"/>
                <a:t>Try</a:t>
              </a:r>
              <a:r>
                <a:rPr lang="nl-BE" dirty="0"/>
                <a:t>:</a:t>
              </a:r>
              <a:br>
                <a:rPr lang="nl-BE" dirty="0"/>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sam-balance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myquota</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0371948" y="-1208928"/>
              <a:ext cx="3112122" cy="387429"/>
            </a:xfrm>
            <a:prstGeom prst="rect">
              <a:avLst/>
            </a:prstGeom>
            <a:solidFill>
              <a:srgbClr val="DB6C30"/>
            </a:solidFill>
          </p:spPr>
          <p:txBody>
            <a:bodyPr wrap="square" rtlCol="0">
              <a:spAutoFit/>
            </a:bodyPr>
            <a:lstStyle/>
            <a:p>
              <a:r>
                <a:rPr lang="en-US" dirty="0"/>
                <a:t>Login shell</a:t>
              </a:r>
              <a:endParaRPr lang="nl-BE" dirty="0"/>
            </a:p>
          </p:txBody>
        </p:sp>
      </p:grpSp>
      <p:pic>
        <p:nvPicPr>
          <p:cNvPr id="10" name="Picture 9">
            <a:extLst>
              <a:ext uri="{FF2B5EF4-FFF2-40B4-BE49-F238E27FC236}">
                <a16:creationId xmlns:a16="http://schemas.microsoft.com/office/drawing/2014/main" id="{E992F4FD-794A-103C-57C6-7B544B0664F3}"/>
              </a:ext>
            </a:extLst>
          </p:cNvPr>
          <p:cNvPicPr>
            <a:picLocks noChangeAspect="1"/>
          </p:cNvPicPr>
          <p:nvPr/>
        </p:nvPicPr>
        <p:blipFill>
          <a:blip r:embed="rId4"/>
          <a:stretch>
            <a:fillRect/>
          </a:stretch>
        </p:blipFill>
        <p:spPr>
          <a:xfrm>
            <a:off x="5844850" y="1600595"/>
            <a:ext cx="5699737" cy="367165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1374584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2251154"/>
            <a:ext cx="8240839" cy="2906038"/>
            <a:chOff x="340950" y="-211822"/>
            <a:chExt cx="14734623" cy="246472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8" cy="212632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 a shell as a job (on a compute node)</a:t>
              </a:r>
            </a:p>
            <a:p>
              <a:pPr marL="324000" indent="-324000">
                <a:buBlip>
                  <a:blip r:embed="rId3"/>
                </a:buBlip>
              </a:pPr>
              <a:r>
                <a:rPr lang="en-US" dirty="0">
                  <a:cs typeface="Courier New" panose="02070309020205020404" pitchFamily="49" charset="0"/>
                </a:rPr>
                <a:t>Recommended to:</a:t>
              </a:r>
              <a:br>
                <a:rPr lang="en-US" dirty="0">
                  <a:cs typeface="Courier New" panose="02070309020205020404" pitchFamily="49" charset="0"/>
                </a:rPr>
              </a:br>
              <a:r>
                <a:rPr lang="en-US" dirty="0">
                  <a:cs typeface="Courier New" panose="02070309020205020404" pitchFamily="49" charset="0"/>
                </a:rPr>
                <a:t>Install your own software (in </a:t>
              </a:r>
              <a:r>
                <a:rPr lang="en-US" dirty="0">
                  <a:latin typeface="Courier New" panose="02070309020205020404" pitchFamily="49" charset="0"/>
                  <a:cs typeface="Courier New" panose="02070309020205020404" pitchFamily="49" charset="0"/>
                </a:rPr>
                <a:t>VSC_DATA</a:t>
              </a:r>
              <a:r>
                <a:rPr lang="en-US" dirty="0">
                  <a:cs typeface="Courier New" panose="02070309020205020404" pitchFamily="49" charset="0"/>
                </a:rPr>
                <a:t>)</a:t>
              </a:r>
              <a:br>
                <a:rPr lang="en-US" dirty="0">
                  <a:cs typeface="Courier New" panose="02070309020205020404" pitchFamily="49" charset="0"/>
                </a:rPr>
              </a:br>
              <a:r>
                <a:rPr lang="en-US" dirty="0">
                  <a:cs typeface="Courier New" panose="02070309020205020404" pitchFamily="49" charset="0"/>
                </a:rPr>
                <a:t>Test/run your program interactively</a:t>
              </a:r>
              <a:br>
                <a:rPr lang="en-US" dirty="0">
                  <a:cs typeface="Courier New" panose="02070309020205020404" pitchFamily="49" charset="0"/>
                </a:rPr>
              </a:br>
              <a:r>
                <a:rPr lang="en-US" dirty="0">
                  <a:cs typeface="Courier New" panose="02070309020205020404" pitchFamily="49" charset="0"/>
                </a:rPr>
                <a:t>Debug a program</a:t>
              </a:r>
            </a:p>
            <a:p>
              <a:pPr marL="324000" indent="-324000">
                <a:buBlip>
                  <a:blip r:embed="rId3"/>
                </a:buBlip>
              </a:pPr>
              <a:r>
                <a:rPr lang="en-US" dirty="0">
                  <a:cs typeface="Courier New" panose="02070309020205020404" pitchFamily="49" charset="0"/>
                </a:rPr>
                <a:t>Choose the relevant cluster, partition and resources</a:t>
              </a:r>
              <a:br>
                <a:rPr lang="en-US" dirty="0">
                  <a:cs typeface="Courier New" panose="02070309020205020404" pitchFamily="49" charset="0"/>
                </a:rPr>
              </a:br>
              <a:r>
                <a:rPr lang="en-US" dirty="0">
                  <a:cs typeface="Courier New" panose="02070309020205020404" pitchFamily="49" charset="0"/>
                </a:rPr>
                <a:t>(cores, memory, GPU)</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1985565" y="-211822"/>
              <a:ext cx="3090008" cy="338400"/>
            </a:xfrm>
            <a:prstGeom prst="rect">
              <a:avLst/>
            </a:prstGeom>
            <a:solidFill>
              <a:srgbClr val="DB6C30"/>
            </a:solidFill>
          </p:spPr>
          <p:txBody>
            <a:bodyPr wrap="square" rtlCol="0">
              <a:spAutoFit/>
            </a:bodyPr>
            <a:lstStyle/>
            <a:p>
              <a:r>
                <a:rPr lang="en-US" dirty="0"/>
                <a:t>Interactive Shell</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4"/>
          <a:stretch>
            <a:fillRect/>
          </a:stretch>
        </p:blipFill>
        <p:spPr>
          <a:xfrm>
            <a:off x="8760296" y="116631"/>
            <a:ext cx="3302004" cy="5788333"/>
          </a:xfrm>
          <a:prstGeom prst="rect">
            <a:avLst/>
          </a:prstGeom>
        </p:spPr>
      </p:pic>
    </p:spTree>
    <p:extLst>
      <p:ext uri="{BB962C8B-B14F-4D97-AF65-F5344CB8AC3E}">
        <p14:creationId xmlns:p14="http://schemas.microsoft.com/office/powerpoint/2010/main" val="11438006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475712" y="1135380"/>
            <a:ext cx="8231314" cy="3301733"/>
            <a:chOff x="340950" y="-211822"/>
            <a:chExt cx="14717592" cy="302520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7" cy="268680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hlinkClick r:id="rId4"/>
                </a:rPr>
                <a:t>Create a notebook </a:t>
              </a:r>
              <a:r>
                <a:rPr lang="en-US" dirty="0"/>
                <a:t>as a job (on a compute node)</a:t>
              </a:r>
            </a:p>
            <a:p>
              <a:pPr marL="324000" indent="-324000">
                <a:buBlip>
                  <a:blip r:embed="rId3"/>
                </a:buBlip>
              </a:pPr>
              <a:r>
                <a:rPr lang="en-US" dirty="0">
                  <a:cs typeface="Courier New" panose="02070309020205020404" pitchFamily="49" charset="0"/>
                </a:rPr>
                <a:t>Suitable for:</a:t>
              </a:r>
              <a:br>
                <a:rPr lang="en-US" dirty="0">
                  <a:cs typeface="Courier New" panose="02070309020205020404" pitchFamily="49" charset="0"/>
                </a:rPr>
              </a:br>
              <a:r>
                <a:rPr lang="en-US" dirty="0">
                  <a:cs typeface="Courier New" panose="02070309020205020404" pitchFamily="49" charset="0"/>
                </a:rPr>
                <a:t>	pre/post-processing your data</a:t>
              </a:r>
              <a:br>
                <a:rPr lang="en-US" dirty="0">
                  <a:cs typeface="Courier New" panose="02070309020205020404" pitchFamily="49" charset="0"/>
                </a:rPr>
              </a:br>
              <a:r>
                <a:rPr lang="en-US" dirty="0">
                  <a:cs typeface="Courier New" panose="02070309020205020404" pitchFamily="49" charset="0"/>
                </a:rPr>
                <a:t>	prototyping</a:t>
              </a:r>
              <a:br>
                <a:rPr lang="en-US" dirty="0">
                  <a:cs typeface="Courier New" panose="02070309020205020404" pitchFamily="49" charset="0"/>
                </a:rPr>
              </a:br>
              <a:r>
                <a:rPr lang="en-US" dirty="0">
                  <a:cs typeface="Courier New" panose="02070309020205020404" pitchFamily="49" charset="0"/>
                </a:rPr>
                <a:t>	adding figures and text for pedagogical purposes</a:t>
              </a:r>
            </a:p>
            <a:p>
              <a:pPr marL="324000" indent="-324000">
                <a:buBlip>
                  <a:blip r:embed="rId3"/>
                </a:buBlip>
              </a:pPr>
              <a:r>
                <a:rPr lang="en-US" dirty="0">
                  <a:cs typeface="Courier New" panose="02070309020205020404" pitchFamily="49" charset="0"/>
                </a:rPr>
                <a:t>Choose the appropriate cluster, partition and resources</a:t>
              </a:r>
              <a:br>
                <a:rPr lang="en-US" dirty="0">
                  <a:cs typeface="Courier New" panose="02070309020205020404" pitchFamily="49" charset="0"/>
                </a:rPr>
              </a:br>
              <a:r>
                <a:rPr lang="en-US" dirty="0">
                  <a:cs typeface="Courier New" panose="02070309020205020404" pitchFamily="49" charset="0"/>
                </a:rPr>
                <a:t>(cores, memory, GPU)</a:t>
              </a:r>
            </a:p>
            <a:p>
              <a:pPr marL="324000" indent="-324000">
                <a:buBlip>
                  <a:blip r:embed="rId3"/>
                </a:buBlip>
              </a:pPr>
              <a:r>
                <a:rPr lang="en-US" dirty="0">
                  <a:cs typeface="Courier New" panose="02070309020205020404" pitchFamily="49" charset="0"/>
                </a:rPr>
                <a:t>User your own Python/R kernels (next slide)</a:t>
              </a:r>
            </a:p>
          </p:txBody>
        </p:sp>
        <p:sp>
          <p:nvSpPr>
            <p:cNvPr id="13" name="TextBox 12">
              <a:extLst>
                <a:ext uri="{FF2B5EF4-FFF2-40B4-BE49-F238E27FC236}">
                  <a16:creationId xmlns:a16="http://schemas.microsoft.com/office/drawing/2014/main" id="{794D014A-35E0-1DF7-514C-719712B099B2}"/>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err="1"/>
                <a:t>Jupyter</a:t>
              </a:r>
              <a:r>
                <a:rPr lang="en-US" dirty="0"/>
                <a:t> Lab</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Tree>
    <p:extLst>
      <p:ext uri="{BB962C8B-B14F-4D97-AF65-F5344CB8AC3E}">
        <p14:creationId xmlns:p14="http://schemas.microsoft.com/office/powerpoint/2010/main" val="42425751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1224136"/>
            <a:chOff x="340950" y="-211822"/>
            <a:chExt cx="19857709" cy="1121612"/>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78321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cs typeface="Courier New" panose="02070309020205020404" pitchFamily="49" charset="0"/>
                </a:rPr>
                <a:t>The default kernels may not offer the R/Python/… interpreter version or packages you want</a:t>
              </a:r>
            </a:p>
            <a:p>
              <a:pPr marL="324000" indent="-324000">
                <a:buBlip>
                  <a:blip r:embed="rId3"/>
                </a:buBlip>
              </a:pPr>
              <a:r>
                <a:rPr lang="en-US" dirty="0">
                  <a:cs typeface="Courier New" panose="02070309020205020404" pitchFamily="49" charset="0"/>
                </a:rPr>
                <a:t>You can create a </a:t>
              </a:r>
              <a:r>
                <a:rPr lang="en-US" dirty="0" err="1">
                  <a:cs typeface="Courier New" panose="02070309020205020404" pitchFamily="49" charset="0"/>
                </a:rPr>
                <a:t>miniconda</a:t>
              </a:r>
              <a:r>
                <a:rPr lang="en-US" dirty="0">
                  <a:cs typeface="Courier New" panose="02070309020205020404" pitchFamily="49" charset="0"/>
                </a:rPr>
                <a:t> env and add it to your OnDemand kernels</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7207243" y="-211822"/>
              <a:ext cx="2991416" cy="338400"/>
            </a:xfrm>
            <a:prstGeom prst="rect">
              <a:avLst/>
            </a:prstGeom>
            <a:solidFill>
              <a:srgbClr val="DB6C30"/>
            </a:solidFill>
          </p:spPr>
          <p:txBody>
            <a:bodyPr wrap="square" rtlCol="0">
              <a:spAutoFit/>
            </a:bodyPr>
            <a:lstStyle/>
            <a:p>
              <a:r>
                <a:rPr lang="en-US" dirty="0"/>
                <a:t>Custom kernels</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598361" y="2624267"/>
            <a:ext cx="11112901" cy="3469029"/>
            <a:chOff x="340950" y="-211822"/>
            <a:chExt cx="19869870" cy="3046537"/>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40950" y="126577"/>
              <a:ext cx="19827550" cy="2708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cs typeface="Courier New" panose="02070309020205020404" pitchFamily="49" charset="0"/>
                </a:rPr>
                <a:t>Start </a:t>
              </a:r>
              <a:r>
                <a:rPr lang="nl-BE" dirty="0" err="1">
                  <a:cs typeface="Courier New" panose="02070309020205020404" pitchFamily="49" charset="0"/>
                </a:rPr>
                <a:t>an</a:t>
              </a:r>
              <a:r>
                <a:rPr lang="nl-BE" dirty="0">
                  <a:cs typeface="Courier New" panose="02070309020205020404" pitchFamily="49" charset="0"/>
                </a:rPr>
                <a:t> Interactive Shell</a:t>
              </a:r>
            </a:p>
            <a:p>
              <a:pPr marL="0" indent="0">
                <a:buNone/>
              </a:pPr>
              <a:r>
                <a:rPr lang="nl-BE" dirty="0">
                  <a:cs typeface="Courier New" panose="02070309020205020404" pitchFamily="49" charset="0"/>
                </a:rPr>
                <a:t>Go </a:t>
              </a:r>
              <a:r>
                <a:rPr lang="nl-BE" dirty="0" err="1">
                  <a:cs typeface="Courier New" panose="02070309020205020404" pitchFamily="49" charset="0"/>
                </a:rPr>
                <a:t>to</a:t>
              </a:r>
              <a:r>
                <a:rPr lang="nl-BE" dirty="0">
                  <a:cs typeface="Courier New" panose="02070309020205020404" pitchFamily="49" charset="0"/>
                </a:rPr>
                <a:t> </a:t>
              </a:r>
              <a:r>
                <a:rPr lang="nl-BE" dirty="0" err="1">
                  <a:cs typeface="Courier New" panose="02070309020205020404" pitchFamily="49" charset="0"/>
                </a:rPr>
                <a:t>your</a:t>
              </a:r>
              <a:r>
                <a:rPr lang="nl-BE" dirty="0">
                  <a:cs typeface="Courier New" panose="02070309020205020404" pitchFamily="49" charset="0"/>
                </a:rPr>
                <a:t> data folder</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cd ${VSC_DATA}</a:t>
              </a:r>
            </a:p>
            <a:p>
              <a:pPr marL="0" indent="0">
                <a:buNone/>
              </a:pPr>
              <a:r>
                <a:rPr lang="nl-BE" dirty="0">
                  <a:cs typeface="Courier New" panose="02070309020205020404" pitchFamily="49" charset="0"/>
                </a:rPr>
                <a:t>Download </a:t>
              </a:r>
              <a:r>
                <a:rPr lang="nl-BE" dirty="0" err="1">
                  <a:cs typeface="Courier New" panose="02070309020205020404" pitchFamily="49" charset="0"/>
                </a:rPr>
                <a:t>Miniconda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wget</a:t>
              </a:r>
              <a:r>
                <a:rPr lang="nl-BE" sz="1800" dirty="0">
                  <a:latin typeface="Courier New" panose="02070309020205020404" pitchFamily="49" charset="0"/>
                  <a:cs typeface="Courier New" panose="02070309020205020404" pitchFamily="49" charset="0"/>
                </a:rPr>
                <a:t> </a:t>
              </a:r>
              <a:r>
                <a:rPr lang="nl-BE" sz="1800" dirty="0">
                  <a:latin typeface="Courier New" panose="02070309020205020404" pitchFamily="49" charset="0"/>
                  <a:cs typeface="Courier New" panose="02070309020205020404" pitchFamily="49" charset="0"/>
                  <a:hlinkClick r:id="rId4"/>
                </a:rPr>
                <a:t>https://repo.continuum.io/miniconda/Miniconda3-latest-Linux-x86_64.sh</a:t>
              </a:r>
              <a:endParaRPr lang="nl-BE" sz="1800" dirty="0">
                <a:latin typeface="Courier New" panose="02070309020205020404" pitchFamily="49" charset="0"/>
                <a:cs typeface="Courier New" panose="02070309020205020404" pitchFamily="49" charset="0"/>
              </a:endParaRPr>
            </a:p>
            <a:p>
              <a:pPr marL="0" indent="0">
                <a:buNone/>
              </a:pPr>
              <a:r>
                <a:rPr lang="nl-BE" dirty="0" err="1">
                  <a:cs typeface="Courier New" panose="02070309020205020404" pitchFamily="49" charset="0"/>
                </a:rPr>
                <a:t>Install</a:t>
              </a:r>
              <a:r>
                <a:rPr lang="nl-BE" dirty="0">
                  <a:cs typeface="Courier New" panose="02070309020205020404" pitchFamily="49" charset="0"/>
                </a:rPr>
                <a:t> </a:t>
              </a:r>
              <a:r>
                <a:rPr lang="nl-BE" dirty="0" err="1">
                  <a:cs typeface="Courier New" panose="02070309020205020404" pitchFamily="49" charset="0"/>
                </a:rPr>
                <a:t>Miniconda</a:t>
              </a:r>
              <a:r>
                <a:rPr lang="nl-BE" dirty="0">
                  <a:cs typeface="Courier New" panose="02070309020205020404" pitchFamily="49" charset="0"/>
                </a:rPr>
                <a:t> in </a:t>
              </a:r>
              <a:r>
                <a:rPr lang="nl-BE" dirty="0" err="1">
                  <a:cs typeface="Courier New" panose="02070309020205020404" pitchFamily="49" charset="0"/>
                </a:rPr>
                <a:t>your</a:t>
              </a:r>
              <a:r>
                <a:rPr lang="nl-BE" dirty="0">
                  <a:cs typeface="Courier New" panose="02070309020205020404" pitchFamily="49" charset="0"/>
                </a:rPr>
                <a:t> VSC_DATA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bash</a:t>
              </a:r>
              <a:r>
                <a:rPr lang="nl-BE" sz="1800" dirty="0">
                  <a:latin typeface="Courier New" panose="02070309020205020404" pitchFamily="49" charset="0"/>
                  <a:cs typeface="Courier New" panose="02070309020205020404" pitchFamily="49" charset="0"/>
                </a:rPr>
                <a:t> </a:t>
              </a:r>
              <a:r>
                <a:rPr lang="it-IT" sz="18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dirty="0" err="1">
                  <a:cs typeface="Courier New" panose="02070309020205020404" pitchFamily="49" charset="0"/>
                </a:rPr>
                <a:t>Permanently</a:t>
              </a:r>
              <a:r>
                <a:rPr lang="it-IT" dirty="0">
                  <a:cs typeface="Courier New" panose="02070309020205020404" pitchFamily="49" charset="0"/>
                </a:rPr>
                <a:t> </a:t>
              </a:r>
              <a:r>
                <a:rPr lang="it-IT" dirty="0" err="1">
                  <a:cs typeface="Courier New" panose="02070309020205020404" pitchFamily="49" charset="0"/>
                </a:rPr>
                <a:t>add</a:t>
              </a:r>
              <a:r>
                <a:rPr lang="it-IT" dirty="0">
                  <a:cs typeface="Courier New" panose="02070309020205020404" pitchFamily="49" charset="0"/>
                </a:rPr>
                <a:t> the </a:t>
              </a:r>
              <a:r>
                <a:rPr lang="it-IT" dirty="0" err="1">
                  <a:cs typeface="Courier New" panose="02070309020205020404" pitchFamily="49" charset="0"/>
                </a:rPr>
                <a:t>path</a:t>
              </a:r>
              <a:r>
                <a:rPr lang="it-IT" dirty="0">
                  <a:cs typeface="Courier New" panose="02070309020205020404" pitchFamily="49" charset="0"/>
                </a:rPr>
                <a:t> to </a:t>
              </a:r>
              <a:r>
                <a:rPr lang="it-IT" dirty="0" err="1">
                  <a:cs typeface="Courier New" panose="02070309020205020404" pitchFamily="49" charset="0"/>
                </a:rPr>
                <a:t>Miniconda</a:t>
              </a:r>
              <a:r>
                <a:rPr lang="it-IT" dirty="0">
                  <a:cs typeface="Courier New" panose="02070309020205020404" pitchFamily="49" charset="0"/>
                </a:rPr>
                <a:t> to </a:t>
              </a:r>
              <a:r>
                <a:rPr lang="it-IT" dirty="0" err="1">
                  <a:cs typeface="Courier New" panose="02070309020205020404" pitchFamily="49" charset="0"/>
                </a:rPr>
                <a:t>your</a:t>
              </a:r>
              <a:r>
                <a:rPr lang="it-IT" dirty="0">
                  <a:cs typeface="Courier New" panose="02070309020205020404" pitchFamily="49" charset="0"/>
                </a:rPr>
                <a:t> </a:t>
              </a:r>
              <a:r>
                <a:rPr lang="it-IT" sz="1800" dirty="0">
                  <a:latin typeface="Courier New" panose="02070309020205020404" pitchFamily="49" charset="0"/>
                  <a:cs typeface="Courier New" panose="02070309020205020404" pitchFamily="49" charset="0"/>
                </a:rPr>
                <a:t>~/.</a:t>
              </a:r>
              <a:r>
                <a:rPr lang="it-IT" sz="1800" dirty="0" err="1">
                  <a:latin typeface="Courier New" panose="02070309020205020404" pitchFamily="49" charset="0"/>
                  <a:cs typeface="Courier New" panose="02070309020205020404" pitchFamily="49" charset="0"/>
                </a:rPr>
                <a:t>bashrc</a:t>
              </a:r>
              <a:br>
                <a:rPr lang="it-IT" sz="1800" dirty="0">
                  <a:latin typeface="Courier New" panose="02070309020205020404" pitchFamily="49" charset="0"/>
                  <a:cs typeface="Courier New" panose="02070309020205020404" pitchFamily="49" charset="0"/>
                </a:rPr>
              </a:br>
              <a:r>
                <a:rPr lang="nl-BE" sz="18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800" dirty="0" err="1">
                  <a:solidFill>
                    <a:srgbClr val="4E5865"/>
                  </a:solidFill>
                  <a:latin typeface="Courier New" panose="02070309020205020404" pitchFamily="49" charset="0"/>
                  <a:cs typeface="Courier New" panose="02070309020205020404" pitchFamily="49" charset="0"/>
                </a:rPr>
                <a:t>bashrc</a:t>
              </a:r>
              <a:endParaRPr lang="nl-BE" sz="1800" dirty="0">
                <a:cs typeface="Courier New" panose="02070309020205020404" pitchFamily="49" charset="0"/>
              </a:endParaRPr>
            </a:p>
          </p:txBody>
        </p:sp>
        <p:sp>
          <p:nvSpPr>
            <p:cNvPr id="9" name="TextBox 8">
              <a:extLst>
                <a:ext uri="{FF2B5EF4-FFF2-40B4-BE49-F238E27FC236}">
                  <a16:creationId xmlns:a16="http://schemas.microsoft.com/office/drawing/2014/main" id="{A860ED43-CBEA-5067-CCFC-773E2B5DB310}"/>
                </a:ext>
              </a:extLst>
            </p:cNvPr>
            <p:cNvSpPr txBox="1"/>
            <p:nvPr/>
          </p:nvSpPr>
          <p:spPr>
            <a:xfrm>
              <a:off x="16736995" y="-211822"/>
              <a:ext cx="3473825" cy="324351"/>
            </a:xfrm>
            <a:prstGeom prst="rect">
              <a:avLst/>
            </a:prstGeom>
            <a:solidFill>
              <a:srgbClr val="DB6C30"/>
            </a:solidFill>
          </p:spPr>
          <p:txBody>
            <a:bodyPr wrap="square" rtlCol="0">
              <a:spAutoFit/>
            </a:bodyPr>
            <a:lstStyle/>
            <a:p>
              <a:r>
                <a:rPr lang="en-US" dirty="0"/>
                <a:t>Step 1: </a:t>
              </a:r>
              <a:r>
                <a:rPr lang="en-US" dirty="0" err="1"/>
                <a:t>Miniconda</a:t>
              </a:r>
              <a:endParaRPr lang="nl-BE" dirty="0"/>
            </a:p>
          </p:txBody>
        </p:sp>
      </p:grpSp>
    </p:spTree>
    <p:extLst>
      <p:ext uri="{BB962C8B-B14F-4D97-AF65-F5344CB8AC3E}">
        <p14:creationId xmlns:p14="http://schemas.microsoft.com/office/powerpoint/2010/main" val="330486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2304255"/>
            <a:chOff x="340950" y="-211822"/>
            <a:chExt cx="19857709" cy="211127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17728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cs typeface="Courier New" panose="02070309020205020404" pitchFamily="49" charset="0"/>
                </a:rPr>
                <a:t>Create a new environment </a:t>
              </a:r>
              <a:r>
                <a:rPr lang="nl-BE" dirty="0">
                  <a:latin typeface="Courier New" panose="02070309020205020404" pitchFamily="49" charset="0"/>
                  <a:cs typeface="Courier New" panose="02070309020205020404" pitchFamily="49" charset="0"/>
                </a:rPr>
                <a:t>&lt;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en-US" dirty="0">
                  <a:cs typeface="Courier New" panose="02070309020205020404" pitchFamily="49" charset="0"/>
                </a:rPr>
                <a:t>with all packages you need, e.g.</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create</a:t>
              </a:r>
              <a:r>
                <a:rPr lang="nl-BE" dirty="0">
                  <a:latin typeface="Courier New" panose="02070309020205020404" pitchFamily="49" charset="0"/>
                  <a:cs typeface="Courier New" panose="02070309020205020404" pitchFamily="49" charset="0"/>
                </a:rPr>
                <a:t> --name=&lt;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nl-BE" dirty="0" err="1">
                  <a:latin typeface="Courier New" panose="02070309020205020404" pitchFamily="49" charset="0"/>
                  <a:cs typeface="Courier New" panose="02070309020205020404" pitchFamily="49" charset="0"/>
                </a:rPr>
                <a:t>numpy</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scipy</a:t>
              </a:r>
              <a:r>
                <a:rPr lang="nl-BE" dirty="0">
                  <a:latin typeface="Courier New" panose="02070309020205020404" pitchFamily="49" charset="0"/>
                  <a:cs typeface="Courier New" panose="02070309020205020404" pitchFamily="49" charset="0"/>
                </a:rPr>
                <a:t> …</a:t>
              </a:r>
              <a:br>
                <a:rPr lang="nl-BE" dirty="0">
                  <a:latin typeface="Courier New" panose="02070309020205020404" pitchFamily="49" charset="0"/>
                  <a:cs typeface="Courier New" panose="02070309020205020404" pitchFamily="49" charset="0"/>
                </a:rPr>
              </a:br>
              <a:r>
                <a:rPr lang="en-US" dirty="0">
                  <a:cs typeface="Courier New" panose="02070309020205020404" pitchFamily="49" charset="0"/>
                </a:rPr>
                <a:t>Enable your new environment</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source </a:t>
              </a:r>
              <a:r>
                <a:rPr lang="nl-BE" dirty="0" err="1">
                  <a:latin typeface="Courier New" panose="02070309020205020404" pitchFamily="49" charset="0"/>
                  <a:cs typeface="Courier New" panose="02070309020205020404" pitchFamily="49" charset="0"/>
                </a:rPr>
                <a:t>activate</a:t>
              </a:r>
              <a:r>
                <a:rPr lang="nl-BE" dirty="0">
                  <a:latin typeface="Courier New" panose="02070309020205020404" pitchFamily="49" charset="0"/>
                  <a:cs typeface="Courier New" panose="02070309020205020404" pitchFamily="49" charset="0"/>
                </a:rPr>
                <a:t>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br>
                <a:rPr lang="nl-BE" dirty="0">
                  <a:latin typeface="Courier New" panose="02070309020205020404" pitchFamily="49" charset="0"/>
                  <a:cs typeface="Courier New" panose="02070309020205020404" pitchFamily="49" charset="0"/>
                </a:rPr>
              </a:br>
              <a:r>
                <a:rPr lang="nl-BE" dirty="0" err="1">
                  <a:cs typeface="Courier New" panose="02070309020205020404" pitchFamily="49" charset="0"/>
                </a:rPr>
                <a:t>Add</a:t>
              </a:r>
              <a:r>
                <a:rPr lang="nl-BE" dirty="0">
                  <a:cs typeface="Courier New" panose="02070309020205020404" pitchFamily="49" charset="0"/>
                </a:rPr>
                <a:t> </a:t>
              </a:r>
              <a:r>
                <a:rPr lang="nl-BE" dirty="0" err="1">
                  <a:cs typeface="Courier New" panose="02070309020205020404" pitchFamily="49" charset="0"/>
                </a:rPr>
                <a:t>the</a:t>
              </a:r>
              <a:r>
                <a:rPr lang="nl-BE" dirty="0">
                  <a:cs typeface="Courier New" panose="02070309020205020404" pitchFamily="49" charset="0"/>
                </a:rPr>
                <a:t> </a:t>
              </a:r>
              <a:r>
                <a:rPr lang="nl-BE" dirty="0" err="1">
                  <a:cs typeface="Courier New" panose="02070309020205020404" pitchFamily="49" charset="0"/>
                </a:rPr>
                <a:t>ipykernel</a:t>
              </a:r>
              <a:r>
                <a:rPr lang="nl-BE" dirty="0">
                  <a:cs typeface="Courier New" panose="02070309020205020404" pitchFamily="49" charset="0"/>
                </a:rPr>
                <a:t> package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-c </a:t>
              </a:r>
              <a:r>
                <a:rPr lang="nl-BE" dirty="0" err="1">
                  <a:latin typeface="Courier New" panose="02070309020205020404" pitchFamily="49" charset="0"/>
                  <a:cs typeface="Courier New" panose="02070309020205020404" pitchFamily="49" charset="0"/>
                </a:rPr>
                <a:t>conda-forge</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ipykernel</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5147238" y="-211822"/>
              <a:ext cx="5051421" cy="338400"/>
            </a:xfrm>
            <a:prstGeom prst="rect">
              <a:avLst/>
            </a:prstGeom>
            <a:solidFill>
              <a:srgbClr val="DB6C30"/>
            </a:solidFill>
          </p:spPr>
          <p:txBody>
            <a:bodyPr wrap="square" rtlCol="0">
              <a:spAutoFit/>
            </a:bodyPr>
            <a:lstStyle/>
            <a:p>
              <a:r>
                <a:rPr lang="en-US" dirty="0"/>
                <a:t>Step 2: Environment setup</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625681" y="3645024"/>
            <a:ext cx="11103810" cy="1156053"/>
            <a:chOff x="385705" y="1839744"/>
            <a:chExt cx="19853615" cy="1059230"/>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85705" y="2178143"/>
              <a:ext cx="19827550" cy="72083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latin typeface="Courier New" panose="02070309020205020404" pitchFamily="49" charset="0"/>
                  <a:cs typeface="Courier New" panose="02070309020205020404" pitchFamily="49" charset="0"/>
                </a:rPr>
                <a:t>$ python -m </a:t>
              </a:r>
              <a:r>
                <a:rPr lang="nl-BE" dirty="0" err="1">
                  <a:latin typeface="Courier New" panose="02070309020205020404" pitchFamily="49" charset="0"/>
                  <a:cs typeface="Courier New" panose="02070309020205020404" pitchFamily="49" charset="0"/>
                </a:rPr>
                <a:t>ipykernel</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--user --</a:t>
              </a:r>
              <a:r>
                <a:rPr lang="nl-BE" dirty="0" err="1">
                  <a:latin typeface="Courier New" panose="02070309020205020404" pitchFamily="49" charset="0"/>
                  <a:cs typeface="Courier New" panose="02070309020205020404" pitchFamily="49" charset="0"/>
                </a:rPr>
                <a:t>env</a:t>
              </a:r>
              <a:r>
                <a:rPr lang="nl-BE" dirty="0">
                  <a:latin typeface="Courier New" panose="02070309020205020404" pitchFamily="49" charset="0"/>
                  <a:cs typeface="Courier New" panose="02070309020205020404" pitchFamily="49" charset="0"/>
                </a:rPr>
                <a:t> PYTHONPATH "" \</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--display-name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p>
          </p:txBody>
        </p:sp>
        <p:sp>
          <p:nvSpPr>
            <p:cNvPr id="9" name="TextBox 8">
              <a:extLst>
                <a:ext uri="{FF2B5EF4-FFF2-40B4-BE49-F238E27FC236}">
                  <a16:creationId xmlns:a16="http://schemas.microsoft.com/office/drawing/2014/main" id="{A860ED43-CBEA-5067-CCFC-773E2B5DB310}"/>
                </a:ext>
              </a:extLst>
            </p:cNvPr>
            <p:cNvSpPr txBox="1"/>
            <p:nvPr/>
          </p:nvSpPr>
          <p:spPr>
            <a:xfrm>
              <a:off x="14930399" y="1839744"/>
              <a:ext cx="5308921" cy="338400"/>
            </a:xfrm>
            <a:prstGeom prst="rect">
              <a:avLst/>
            </a:prstGeom>
            <a:solidFill>
              <a:srgbClr val="DB6C30"/>
            </a:solidFill>
          </p:spPr>
          <p:txBody>
            <a:bodyPr wrap="square" rtlCol="0">
              <a:spAutoFit/>
            </a:bodyPr>
            <a:lstStyle/>
            <a:p>
              <a:r>
                <a:rPr lang="en-US" dirty="0"/>
                <a:t>Step 3: Register your kernel</a:t>
              </a:r>
              <a:endParaRPr lang="nl-BE" dirty="0"/>
            </a:p>
          </p:txBody>
        </p:sp>
      </p:grpSp>
      <p:sp>
        <p:nvSpPr>
          <p:cNvPr id="3" name="Tijdelijke aanduiding voor inhoud 2">
            <a:extLst>
              <a:ext uri="{FF2B5EF4-FFF2-40B4-BE49-F238E27FC236}">
                <a16:creationId xmlns:a16="http://schemas.microsoft.com/office/drawing/2014/main" id="{45B5E082-EE51-25B9-D829-1934618D07C8}"/>
              </a:ext>
            </a:extLst>
          </p:cNvPr>
          <p:cNvSpPr txBox="1">
            <a:spLocks/>
          </p:cNvSpPr>
          <p:nvPr/>
        </p:nvSpPr>
        <p:spPr>
          <a:xfrm>
            <a:off x="627693" y="5397053"/>
            <a:ext cx="11089232" cy="78672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err="1">
                <a:cs typeface="Courier New" panose="02070309020205020404" pitchFamily="49" charset="0"/>
              </a:rPr>
              <a:t>Now</a:t>
            </a:r>
            <a:r>
              <a:rPr lang="nl-BE" dirty="0">
                <a:cs typeface="Courier New" panose="02070309020205020404" pitchFamily="49" charset="0"/>
              </a:rPr>
              <a:t> start a new </a:t>
            </a:r>
            <a:r>
              <a:rPr lang="nl-BE" dirty="0" err="1">
                <a:cs typeface="Courier New" panose="02070309020205020404" pitchFamily="49" charset="0"/>
              </a:rPr>
              <a:t>Jupyter</a:t>
            </a:r>
            <a:r>
              <a:rPr lang="nl-BE" dirty="0">
                <a:cs typeface="Courier New" panose="02070309020205020404" pitchFamily="49" charset="0"/>
              </a:rPr>
              <a:t> Lab </a:t>
            </a:r>
            <a:r>
              <a:rPr lang="nl-BE" dirty="0" err="1">
                <a:cs typeface="Courier New" panose="02070309020205020404" pitchFamily="49" charset="0"/>
              </a:rPr>
              <a:t>session</a:t>
            </a:r>
            <a:endParaRPr lang="nl-BE" dirty="0">
              <a:cs typeface="Courier New" panose="02070309020205020404" pitchFamily="49" charset="0"/>
            </a:endParaRPr>
          </a:p>
          <a:p>
            <a:pPr marL="0" indent="0">
              <a:buNone/>
            </a:pPr>
            <a:r>
              <a:rPr lang="nl-BE" dirty="0" err="1">
                <a:cs typeface="Courier New" panose="02070309020205020404" pitchFamily="49" charset="0"/>
              </a:rPr>
              <a:t>Your</a:t>
            </a:r>
            <a:r>
              <a:rPr lang="nl-BE" dirty="0">
                <a:cs typeface="Courier New" panose="02070309020205020404" pitchFamily="49" charset="0"/>
              </a:rPr>
              <a:t> new </a:t>
            </a:r>
            <a:r>
              <a:rPr lang="nl-BE" dirty="0" err="1">
                <a:cs typeface="Courier New" panose="02070309020205020404" pitchFamily="49" charset="0"/>
              </a:rPr>
              <a:t>kernel</a:t>
            </a:r>
            <a:r>
              <a:rPr lang="nl-BE" dirty="0">
                <a:cs typeface="Courier New" panose="02070309020205020404" pitchFamily="49" charset="0"/>
              </a:rPr>
              <a:t> </a:t>
            </a:r>
            <a:r>
              <a:rPr lang="nl-BE" dirty="0" err="1">
                <a:cs typeface="Courier New" panose="02070309020205020404" pitchFamily="49" charset="0"/>
              </a:rPr>
              <a:t>should</a:t>
            </a:r>
            <a:r>
              <a:rPr lang="nl-BE" dirty="0">
                <a:cs typeface="Courier New" panose="02070309020205020404" pitchFamily="49" charset="0"/>
              </a:rPr>
              <a:t> </a:t>
            </a:r>
            <a:r>
              <a:rPr lang="nl-BE" dirty="0" err="1">
                <a:cs typeface="Courier New" panose="02070309020205020404" pitchFamily="49" charset="0"/>
              </a:rPr>
              <a:t>be</a:t>
            </a:r>
            <a:r>
              <a:rPr lang="nl-BE" dirty="0">
                <a:cs typeface="Courier New" panose="02070309020205020404" pitchFamily="49" charset="0"/>
              </a:rPr>
              <a:t> </a:t>
            </a:r>
            <a:r>
              <a:rPr lang="nl-BE" dirty="0" err="1">
                <a:cs typeface="Courier New" panose="02070309020205020404" pitchFamily="49" charset="0"/>
              </a:rPr>
              <a:t>available</a:t>
            </a:r>
            <a:r>
              <a:rPr lang="nl-BE" dirty="0">
                <a:cs typeface="Courier New" panose="02070309020205020404" pitchFamily="49" charset="0"/>
              </a:rPr>
              <a:t> </a:t>
            </a:r>
            <a:r>
              <a:rPr lang="nl-BE" dirty="0" err="1">
                <a:cs typeface="Courier New" panose="02070309020205020404" pitchFamily="49" charset="0"/>
              </a:rPr>
              <a:t>there</a:t>
            </a:r>
            <a:endParaRPr lang="nl-BE" dirty="0">
              <a:cs typeface="Courier New" panose="02070309020205020404" pitchFamily="49" charset="0"/>
            </a:endParaRPr>
          </a:p>
        </p:txBody>
      </p:sp>
      <p:sp>
        <p:nvSpPr>
          <p:cNvPr id="10" name="TextBox 9">
            <a:extLst>
              <a:ext uri="{FF2B5EF4-FFF2-40B4-BE49-F238E27FC236}">
                <a16:creationId xmlns:a16="http://schemas.microsoft.com/office/drawing/2014/main" id="{7C0A0086-0C17-C951-1205-2817B5062F51}"/>
              </a:ext>
            </a:extLst>
          </p:cNvPr>
          <p:cNvSpPr txBox="1"/>
          <p:nvPr/>
        </p:nvSpPr>
        <p:spPr>
          <a:xfrm>
            <a:off x="8616280" y="5023277"/>
            <a:ext cx="3122271" cy="369333"/>
          </a:xfrm>
          <a:prstGeom prst="rect">
            <a:avLst/>
          </a:prstGeom>
          <a:solidFill>
            <a:srgbClr val="DB6C30"/>
          </a:solidFill>
        </p:spPr>
        <p:txBody>
          <a:bodyPr wrap="square" rtlCol="0">
            <a:spAutoFit/>
          </a:bodyPr>
          <a:lstStyle/>
          <a:p>
            <a:r>
              <a:rPr lang="en-US" dirty="0"/>
              <a:t>Step 4: Launching </a:t>
            </a:r>
            <a:r>
              <a:rPr lang="en-US" dirty="0" err="1"/>
              <a:t>JupyterLab</a:t>
            </a:r>
            <a:endParaRPr lang="nl-BE" dirty="0"/>
          </a:p>
        </p:txBody>
      </p:sp>
    </p:spTree>
    <p:extLst>
      <p:ext uri="{BB962C8B-B14F-4D97-AF65-F5344CB8AC3E}">
        <p14:creationId xmlns:p14="http://schemas.microsoft.com/office/powerpoint/2010/main" val="1715887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grpSp>
        <p:nvGrpSpPr>
          <p:cNvPr id="14" name="Group 13">
            <a:extLst>
              <a:ext uri="{FF2B5EF4-FFF2-40B4-BE49-F238E27FC236}">
                <a16:creationId xmlns:a16="http://schemas.microsoft.com/office/drawing/2014/main" id="{E6D289A7-1562-4383-3707-A25986324F00}"/>
              </a:ext>
            </a:extLst>
          </p:cNvPr>
          <p:cNvGrpSpPr/>
          <p:nvPr/>
        </p:nvGrpSpPr>
        <p:grpSpPr>
          <a:xfrm>
            <a:off x="475712" y="1135380"/>
            <a:ext cx="5871439" cy="3301733"/>
            <a:chOff x="340950" y="-211822"/>
            <a:chExt cx="14717592" cy="3025206"/>
          </a:xfrm>
        </p:grpSpPr>
        <p:sp>
          <p:nvSpPr>
            <p:cNvPr id="7" name="Tijdelijke aanduiding voor inhoud 2">
              <a:extLst>
                <a:ext uri="{FF2B5EF4-FFF2-40B4-BE49-F238E27FC236}">
                  <a16:creationId xmlns:a16="http://schemas.microsoft.com/office/drawing/2014/main" id="{458C31FB-FBAF-4885-7A13-D6D3DE1D4B31}"/>
                </a:ext>
              </a:extLst>
            </p:cNvPr>
            <p:cNvSpPr txBox="1">
              <a:spLocks/>
            </p:cNvSpPr>
            <p:nvPr/>
          </p:nvSpPr>
          <p:spPr>
            <a:xfrm>
              <a:off x="340950" y="126577"/>
              <a:ext cx="14689867" cy="2686807"/>
            </a:xfrm>
            <a:prstGeom prst="rect">
              <a:avLst/>
            </a:prstGeom>
            <a:ln w="381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cs typeface="Courier New" panose="02070309020205020404" pitchFamily="49" charset="0"/>
                </a:rPr>
                <a:t>Ideal for apps with GUI</a:t>
              </a:r>
            </a:p>
            <a:p>
              <a:pPr marL="324000" indent="-324000">
                <a:buBlip>
                  <a:blip r:embed="rId4"/>
                </a:buBlip>
              </a:pPr>
              <a:r>
                <a:rPr lang="en-US" dirty="0">
                  <a:cs typeface="Courier New" panose="02070309020205020404" pitchFamily="49" charset="0"/>
                </a:rPr>
                <a:t>Load (graphical) modules in Terminal, e.g. MATLAB, Fluent, </a:t>
              </a:r>
              <a:r>
                <a:rPr lang="en-US" dirty="0" err="1">
                  <a:cs typeface="Courier New" panose="02070309020205020404" pitchFamily="49" charset="0"/>
                </a:rPr>
                <a:t>ncview</a:t>
              </a:r>
              <a:r>
                <a:rPr lang="en-US" dirty="0">
                  <a:cs typeface="Courier New" panose="02070309020205020404" pitchFamily="49" charset="0"/>
                </a:rPr>
                <a:t>, </a:t>
              </a:r>
              <a:r>
                <a:rPr lang="en-US" dirty="0" err="1">
                  <a:cs typeface="Courier New" panose="02070309020205020404" pitchFamily="49" charset="0"/>
                </a:rPr>
                <a:t>VisIt</a:t>
              </a:r>
              <a:r>
                <a:rPr lang="en-US" dirty="0">
                  <a:cs typeface="Courier New" panose="02070309020205020404" pitchFamily="49" charset="0"/>
                </a:rPr>
                <a:t>, …</a:t>
              </a:r>
            </a:p>
            <a:p>
              <a:pPr marL="324000" indent="-324000">
                <a:buBlip>
                  <a:blip r:embed="rId4"/>
                </a:buBlip>
              </a:pPr>
              <a:r>
                <a:rPr lang="en-US" dirty="0">
                  <a:cs typeface="Courier New" panose="02070309020205020404" pitchFamily="49" charset="0"/>
                </a:rPr>
                <a:t>Minimalistic Terminal (different from login node)</a:t>
              </a:r>
            </a:p>
            <a:p>
              <a:pPr marL="324000" indent="-324000">
                <a:buBlip>
                  <a:blip r:embed="rId4"/>
                </a:buBlip>
              </a:pPr>
              <a:r>
                <a:rPr lang="en-US" dirty="0">
                  <a:cs typeface="Courier New" panose="02070309020205020404" pitchFamily="49" charset="0"/>
                </a:rPr>
                <a:t>Two visualization apps (</a:t>
              </a:r>
              <a:r>
                <a:rPr lang="en-US" dirty="0" err="1">
                  <a:cs typeface="Courier New" panose="02070309020205020404" pitchFamily="49" charset="0"/>
                </a:rPr>
                <a:t>VisIt</a:t>
              </a:r>
              <a:r>
                <a:rPr lang="en-US" dirty="0">
                  <a:cs typeface="Courier New" panose="02070309020205020404" pitchFamily="49" charset="0"/>
                </a:rPr>
                <a:t> and VMD)</a:t>
              </a:r>
            </a:p>
          </p:txBody>
        </p:sp>
        <p:sp>
          <p:nvSpPr>
            <p:cNvPr id="13" name="TextBox 12">
              <a:extLst>
                <a:ext uri="{FF2B5EF4-FFF2-40B4-BE49-F238E27FC236}">
                  <a16:creationId xmlns:a16="http://schemas.microsoft.com/office/drawing/2014/main" id="{158E058B-4C78-A675-CF82-4B612A6F9276}"/>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a:t>Desktop</a:t>
              </a:r>
              <a:endParaRPr lang="nl-BE" dirty="0"/>
            </a:p>
          </p:txBody>
        </p:sp>
      </p:gr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726474" y="1162398"/>
            <a:ext cx="5254903" cy="4354833"/>
          </a:xfrm>
          <a:prstGeom prst="rect">
            <a:avLst/>
          </a:prstGeom>
        </p:spPr>
      </p:pic>
    </p:spTree>
    <p:extLst>
      <p:ext uri="{BB962C8B-B14F-4D97-AF65-F5344CB8AC3E}">
        <p14:creationId xmlns:p14="http://schemas.microsoft.com/office/powerpoint/2010/main" val="30396916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1" name="Group 20">
            <a:extLst>
              <a:ext uri="{FF2B5EF4-FFF2-40B4-BE49-F238E27FC236}">
                <a16:creationId xmlns:a16="http://schemas.microsoft.com/office/drawing/2014/main" id="{24C33FD9-9653-A2B0-80FF-70CFD5550831}"/>
              </a:ext>
            </a:extLst>
          </p:cNvPr>
          <p:cNvGrpSpPr/>
          <p:nvPr/>
        </p:nvGrpSpPr>
        <p:grpSpPr>
          <a:xfrm>
            <a:off x="897076" y="1402095"/>
            <a:ext cx="10155502" cy="1574847"/>
            <a:chOff x="1577710" y="1494475"/>
            <a:chExt cx="10155502"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3188860" y="1494475"/>
              <a:ext cx="8544352" cy="1574847"/>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Visual Studio Code server as a job</a:t>
              </a:r>
            </a:p>
            <a:p>
              <a:pPr marL="0" indent="0">
                <a:buNone/>
              </a:pPr>
              <a:r>
                <a:rPr lang="en-US" dirty="0"/>
                <a:t>Develop, deploy and debug your workflow directly on HPC</a:t>
              </a:r>
            </a:p>
            <a:p>
              <a:pPr marL="0" indent="0">
                <a:buNone/>
              </a:pPr>
              <a:r>
                <a:rPr lang="en-US" dirty="0"/>
                <a:t>Use of the interactive partitions is free of charge and is a good choice</a:t>
              </a:r>
            </a:p>
            <a:p>
              <a:pPr marL="0" indent="0">
                <a:buNone/>
              </a:pPr>
              <a:r>
                <a:rPr lang="en-US" dirty="0"/>
                <a:t>Supports many languages + </a:t>
              </a:r>
              <a:r>
                <a:rPr lang="en-US" dirty="0" err="1"/>
                <a:t>Github</a:t>
              </a:r>
              <a:r>
                <a:rPr lang="en-US" dirty="0"/>
                <a:t> integration</a:t>
              </a:r>
            </a:p>
          </p:txBody>
        </p:sp>
        <p:pic>
          <p:nvPicPr>
            <p:cNvPr id="5" name="Picture 4">
              <a:extLst>
                <a:ext uri="{FF2B5EF4-FFF2-40B4-BE49-F238E27FC236}">
                  <a16:creationId xmlns:a16="http://schemas.microsoft.com/office/drawing/2014/main" id="{1A140DB8-1C69-4BD9-2433-4633A86C686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577710" y="1541109"/>
              <a:ext cx="1450943" cy="1424799"/>
            </a:xfrm>
            <a:prstGeom prst="rect">
              <a:avLst/>
            </a:prstGeom>
          </p:spPr>
        </p:pic>
      </p:grpSp>
      <p:grpSp>
        <p:nvGrpSpPr>
          <p:cNvPr id="23" name="Group 22">
            <a:extLst>
              <a:ext uri="{FF2B5EF4-FFF2-40B4-BE49-F238E27FC236}">
                <a16:creationId xmlns:a16="http://schemas.microsoft.com/office/drawing/2014/main" id="{FD42A31F-EA75-367D-0408-91535F5568A3}"/>
              </a:ext>
            </a:extLst>
          </p:cNvPr>
          <p:cNvGrpSpPr/>
          <p:nvPr/>
        </p:nvGrpSpPr>
        <p:grpSpPr>
          <a:xfrm>
            <a:off x="986719" y="3222267"/>
            <a:ext cx="10065859" cy="1325936"/>
            <a:chOff x="986719" y="3259359"/>
            <a:chExt cx="10065859" cy="132593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08226" y="3259359"/>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RStudio IDE as a job</a:t>
              </a:r>
              <a:endParaRPr lang="nl-BE" dirty="0"/>
            </a:p>
            <a:p>
              <a:pPr marL="0" indent="0">
                <a:buNone/>
              </a:pPr>
              <a:r>
                <a:rPr lang="nl-BE" dirty="0" err="1"/>
                <a:t>Install</a:t>
              </a:r>
              <a:r>
                <a:rPr lang="nl-BE" dirty="0"/>
                <a:t> </a:t>
              </a:r>
              <a:r>
                <a:rPr lang="nl-BE" dirty="0" err="1"/>
                <a:t>your</a:t>
              </a:r>
              <a:r>
                <a:rPr lang="nl-BE" dirty="0"/>
                <a:t> </a:t>
              </a:r>
              <a:r>
                <a:rPr lang="nl-BE" dirty="0" err="1"/>
                <a:t>own</a:t>
              </a:r>
              <a:r>
                <a:rPr lang="nl-BE" dirty="0"/>
                <a:t> packages in VSC_DATA</a:t>
              </a:r>
              <a:endParaRPr lang="en-US" dirty="0"/>
            </a:p>
          </p:txBody>
        </p:sp>
        <p:pic>
          <p:nvPicPr>
            <p:cNvPr id="14" name="Picture 13">
              <a:extLst>
                <a:ext uri="{FF2B5EF4-FFF2-40B4-BE49-F238E27FC236}">
                  <a16:creationId xmlns:a16="http://schemas.microsoft.com/office/drawing/2014/main" id="{6718339F-625D-0059-D483-FAB81C13ACF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86719" y="3341896"/>
              <a:ext cx="1249129" cy="1243399"/>
            </a:xfrm>
            <a:prstGeom prst="rect">
              <a:avLst/>
            </a:prstGeom>
          </p:spPr>
        </p:pic>
      </p:grpSp>
      <p:grpSp>
        <p:nvGrpSpPr>
          <p:cNvPr id="24" name="Group 23">
            <a:extLst>
              <a:ext uri="{FF2B5EF4-FFF2-40B4-BE49-F238E27FC236}">
                <a16:creationId xmlns:a16="http://schemas.microsoft.com/office/drawing/2014/main" id="{C09B9ECB-2319-58B0-FB77-F8003BBCC514}"/>
              </a:ext>
            </a:extLst>
          </p:cNvPr>
          <p:cNvGrpSpPr/>
          <p:nvPr/>
        </p:nvGrpSpPr>
        <p:grpSpPr>
          <a:xfrm>
            <a:off x="986719" y="4857867"/>
            <a:ext cx="10065859" cy="1249130"/>
            <a:chOff x="986719" y="4857867"/>
            <a:chExt cx="10065859" cy="1249130"/>
          </a:xfrm>
        </p:grpSpPr>
        <p:pic>
          <p:nvPicPr>
            <p:cNvPr id="16" name="Picture 15">
              <a:extLst>
                <a:ext uri="{FF2B5EF4-FFF2-40B4-BE49-F238E27FC236}">
                  <a16:creationId xmlns:a16="http://schemas.microsoft.com/office/drawing/2014/main" id="{ED840B4E-2245-3FEA-C5BC-F12169E44C37}"/>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86719" y="4857868"/>
              <a:ext cx="1249129" cy="1249129"/>
            </a:xfrm>
            <a:prstGeom prst="rect">
              <a:avLst/>
            </a:prstGeom>
          </p:spPr>
        </p:pic>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Track machine learning metrics and visualize data during the workflow</a:t>
              </a:r>
            </a:p>
            <a:p>
              <a:pPr marL="0" indent="0">
                <a:buNone/>
              </a:pPr>
              <a:r>
                <a:rPr lang="en-US" dirty="0"/>
                <a:t>You need to provide a log folder</a:t>
              </a:r>
            </a:p>
          </p:txBody>
        </p:sp>
      </p:grpSp>
    </p:spTree>
    <p:extLst>
      <p:ext uri="{BB962C8B-B14F-4D97-AF65-F5344CB8AC3E}">
        <p14:creationId xmlns:p14="http://schemas.microsoft.com/office/powerpoint/2010/main" val="2908394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71</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08226" y="1337389"/>
            <a:ext cx="8544352" cy="1639553"/>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PyCharm IDE as a job</a:t>
            </a:r>
          </a:p>
          <a:p>
            <a:pPr marL="0" indent="0">
              <a:buNone/>
            </a:pPr>
            <a:r>
              <a:rPr lang="en-US" dirty="0"/>
              <a:t>Develop, deploy and debug your Python workflow directly on HPC</a:t>
            </a:r>
          </a:p>
          <a:p>
            <a:pPr marL="0" indent="0">
              <a:buNone/>
            </a:pPr>
            <a:r>
              <a:rPr lang="en-US" dirty="0"/>
              <a:t>Use Python environment based on Conda or virtual environments</a:t>
            </a:r>
          </a:p>
        </p:txBody>
      </p:sp>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08226" y="3222267"/>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Use Fluent for CFD simulations (single-node)</a:t>
            </a:r>
            <a:endParaRPr lang="nl-BE" dirty="0"/>
          </a:p>
          <a:p>
            <a:pPr marL="0" indent="0">
              <a:buNone/>
            </a:pPr>
            <a:r>
              <a:rPr lang="en-US" dirty="0"/>
              <a:t>You need to be in a license group before being able to see the app logo</a:t>
            </a:r>
          </a:p>
          <a:p>
            <a:pPr marL="0" indent="0">
              <a:buNone/>
            </a:pPr>
            <a:r>
              <a:rPr lang="en-US" dirty="0"/>
              <a:t>Contact your supervisor to help you joining an existing license group</a:t>
            </a:r>
          </a:p>
        </p:txBody>
      </p:sp>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Tunnel to the cluster from your local </a:t>
            </a:r>
            <a:r>
              <a:rPr lang="en-US" dirty="0" err="1"/>
              <a:t>VSCode</a:t>
            </a:r>
            <a:r>
              <a:rPr lang="en-US" dirty="0"/>
              <a:t>, so that you code locally, but run remotely! You can enable extensions such as Copilot and more.</a:t>
            </a:r>
          </a:p>
        </p:txBody>
      </p:sp>
      <p:pic>
        <p:nvPicPr>
          <p:cNvPr id="3" name="Picture 2">
            <a:extLst>
              <a:ext uri="{FF2B5EF4-FFF2-40B4-BE49-F238E27FC236}">
                <a16:creationId xmlns:a16="http://schemas.microsoft.com/office/drawing/2014/main" id="{42651972-03F2-36DE-8391-563105CD016F}"/>
              </a:ext>
            </a:extLst>
          </p:cNvPr>
          <p:cNvPicPr>
            <a:picLocks noChangeAspect="1"/>
          </p:cNvPicPr>
          <p:nvPr/>
        </p:nvPicPr>
        <p:blipFill>
          <a:blip r:embed="rId3"/>
          <a:stretch>
            <a:fillRect/>
          </a:stretch>
        </p:blipFill>
        <p:spPr>
          <a:xfrm>
            <a:off x="986719" y="1496731"/>
            <a:ext cx="1219263" cy="1320868"/>
          </a:xfrm>
          <a:prstGeom prst="rect">
            <a:avLst/>
          </a:prstGeom>
        </p:spPr>
      </p:pic>
      <p:pic>
        <p:nvPicPr>
          <p:cNvPr id="8" name="Picture 7">
            <a:extLst>
              <a:ext uri="{FF2B5EF4-FFF2-40B4-BE49-F238E27FC236}">
                <a16:creationId xmlns:a16="http://schemas.microsoft.com/office/drawing/2014/main" id="{52089419-98DD-86B7-BF6D-81835AB453F3}"/>
              </a:ext>
            </a:extLst>
          </p:cNvPr>
          <p:cNvPicPr>
            <a:picLocks noChangeAspect="1"/>
          </p:cNvPicPr>
          <p:nvPr/>
        </p:nvPicPr>
        <p:blipFill>
          <a:blip r:embed="rId4"/>
          <a:stretch>
            <a:fillRect/>
          </a:stretch>
        </p:blipFill>
        <p:spPr>
          <a:xfrm>
            <a:off x="1012013" y="3203153"/>
            <a:ext cx="1187511" cy="1301817"/>
          </a:xfrm>
          <a:prstGeom prst="rect">
            <a:avLst/>
          </a:prstGeom>
        </p:spPr>
      </p:pic>
      <p:pic>
        <p:nvPicPr>
          <p:cNvPr id="10" name="Picture 9">
            <a:extLst>
              <a:ext uri="{FF2B5EF4-FFF2-40B4-BE49-F238E27FC236}">
                <a16:creationId xmlns:a16="http://schemas.microsoft.com/office/drawing/2014/main" id="{ACC1B0CA-1353-B036-6CFC-2CE66E56CCB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45263" y="4831522"/>
            <a:ext cx="1154261" cy="1340432"/>
          </a:xfrm>
          <a:prstGeom prst="rect">
            <a:avLst/>
          </a:prstGeom>
        </p:spPr>
      </p:pic>
    </p:spTree>
    <p:extLst>
      <p:ext uri="{BB962C8B-B14F-4D97-AF65-F5344CB8AC3E}">
        <p14:creationId xmlns:p14="http://schemas.microsoft.com/office/powerpoint/2010/main" val="1461084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6" y="1298179"/>
            <a:ext cx="6336704" cy="2346845"/>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i="1" dirty="0"/>
              <a:t>E.g.</a:t>
            </a:r>
            <a:r>
              <a:rPr lang="en-US" dirty="0"/>
              <a:t> to start a </a:t>
            </a:r>
            <a:r>
              <a:rPr lang="en-US" dirty="0" err="1"/>
              <a:t>Jupyter</a:t>
            </a:r>
            <a:r>
              <a:rPr lang="en-US" dirty="0"/>
              <a:t> notebook</a:t>
            </a:r>
          </a:p>
          <a:p>
            <a:pPr marL="324000" indent="-324000">
              <a:buBlip>
                <a:blip r:embed="rId2"/>
              </a:buBlip>
            </a:pPr>
            <a:r>
              <a:rPr lang="en-US" dirty="0"/>
              <a:t> Pick a valid </a:t>
            </a:r>
            <a:r>
              <a:rPr lang="en-US" dirty="0" err="1"/>
              <a:t>Slurm</a:t>
            </a:r>
            <a:r>
              <a:rPr lang="en-US" dirty="0"/>
              <a:t> credit account</a:t>
            </a:r>
          </a:p>
          <a:p>
            <a:pPr marL="324000" indent="-324000">
              <a:buBlip>
                <a:blip r:embed="rId2"/>
              </a:buBlip>
            </a:pPr>
            <a:r>
              <a:rPr lang="en-US" dirty="0"/>
              <a:t> Default partition for most apps: </a:t>
            </a:r>
            <a:r>
              <a:rPr lang="en-US" i="1" dirty="0"/>
              <a:t>interactive</a:t>
            </a:r>
            <a:br>
              <a:rPr lang="en-US" dirty="0"/>
            </a:br>
            <a:r>
              <a:rPr lang="en-US" dirty="0"/>
              <a:t> (interactive: max 8 cores, 1 GPU instance, 16 </a:t>
            </a:r>
            <a:r>
              <a:rPr lang="en-US" dirty="0" err="1"/>
              <a:t>hr</a:t>
            </a:r>
            <a:r>
              <a:rPr lang="en-US" dirty="0"/>
              <a:t>)</a:t>
            </a:r>
          </a:p>
          <a:p>
            <a:pPr marL="324000" indent="-324000">
              <a:buBlip>
                <a:blip r:embed="rId2"/>
              </a:buBlip>
            </a:pPr>
            <a:r>
              <a:rPr lang="en-US" dirty="0"/>
              <a:t> Default resources:</a:t>
            </a:r>
            <a:br>
              <a:rPr lang="en-US" dirty="0"/>
            </a:br>
            <a:r>
              <a:rPr lang="en-US" dirty="0"/>
              <a:t> 1 core, 1 hour, 3400 MB RAM, no GPU</a:t>
            </a:r>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72</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Tree>
    <p:extLst>
      <p:ext uri="{BB962C8B-B14F-4D97-AF65-F5344CB8AC3E}">
        <p14:creationId xmlns:p14="http://schemas.microsoft.com/office/powerpoint/2010/main" val="18749757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73</a:t>
            </a:fld>
            <a:endParaRPr lang="en-US"/>
          </a:p>
        </p:txBody>
      </p:sp>
    </p:spTree>
    <p:extLst>
      <p:ext uri="{BB962C8B-B14F-4D97-AF65-F5344CB8AC3E}">
        <p14:creationId xmlns:p14="http://schemas.microsoft.com/office/powerpoint/2010/main" val="1648996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145018"/>
            <a:ext cx="10515600" cy="2644022"/>
          </a:xfrm>
        </p:spPr>
        <p:txBody>
          <a:bodyPr>
            <a:noAutofit/>
          </a:bodyPr>
          <a:lstStyle/>
          <a:p>
            <a:pPr marL="172800" indent="-324000">
              <a:buBlip>
                <a:blip r:embed="rId2"/>
              </a:buBlip>
            </a:pPr>
            <a:r>
              <a:rPr lang="en-US" sz="2000" dirty="0"/>
              <a:t>OS: </a:t>
            </a:r>
            <a:r>
              <a:rPr lang="en-US" sz="2000" dirty="0" err="1"/>
              <a:t>wICE</a:t>
            </a:r>
            <a:r>
              <a:rPr lang="en-US" sz="2000" dirty="0"/>
              <a:t> is running on Rocky Linux 9.6</a:t>
            </a:r>
          </a:p>
          <a:p>
            <a:pPr marL="172800" indent="-324000">
              <a:lnSpc>
                <a:spcPct val="120000"/>
              </a:lnSpc>
              <a:buBlip>
                <a:blip r:embed="rId2"/>
              </a:buBlip>
            </a:pPr>
            <a:r>
              <a:rPr lang="en-US" sz="2000" dirty="0"/>
              <a:t>Toolchains:</a:t>
            </a:r>
          </a:p>
          <a:p>
            <a:pPr marL="515700" lvl="1" indent="-324000">
              <a:lnSpc>
                <a:spcPct val="120000"/>
              </a:lnSpc>
              <a:buClr>
                <a:srgbClr val="DB6C30"/>
              </a:buClr>
            </a:pPr>
            <a:r>
              <a:rPr lang="en-US" sz="1600" i="1" dirty="0"/>
              <a:t>intel</a:t>
            </a:r>
            <a:r>
              <a:rPr lang="en-US" sz="1600" dirty="0"/>
              <a:t> (</a:t>
            </a:r>
            <a:r>
              <a:rPr lang="en-US" sz="1600" dirty="0" err="1"/>
              <a:t>icc</a:t>
            </a:r>
            <a:r>
              <a:rPr lang="en-US" sz="1600" dirty="0"/>
              <a:t>, </a:t>
            </a:r>
            <a:r>
              <a:rPr lang="en-US" sz="1600" dirty="0" err="1"/>
              <a:t>icpc</a:t>
            </a:r>
            <a:r>
              <a:rPr lang="en-US" sz="1600" dirty="0"/>
              <a:t>, </a:t>
            </a:r>
            <a:r>
              <a:rPr lang="en-US" sz="1600" dirty="0" err="1"/>
              <a:t>ifort</a:t>
            </a:r>
            <a:r>
              <a:rPr lang="en-US" sz="1600" dirty="0"/>
              <a:t>; Intel MPI; Intel MKL)</a:t>
            </a:r>
          </a:p>
          <a:p>
            <a:pPr marL="515700" lvl="1" indent="-324000">
              <a:lnSpc>
                <a:spcPct val="120000"/>
              </a:lnSpc>
              <a:buClr>
                <a:srgbClr val="DB6C30"/>
              </a:buClr>
            </a:pPr>
            <a:r>
              <a:rPr lang="en-US" sz="1600" i="1" dirty="0" err="1"/>
              <a:t>foss</a:t>
            </a:r>
            <a:r>
              <a:rPr lang="en-US" sz="1600" dirty="0"/>
              <a:t> (</a:t>
            </a:r>
            <a:r>
              <a:rPr lang="en-US" sz="1600" dirty="0" err="1"/>
              <a:t>gcc</a:t>
            </a:r>
            <a:r>
              <a:rPr lang="en-US" sz="1600" dirty="0"/>
              <a:t>, g++, </a:t>
            </a:r>
            <a:r>
              <a:rPr lang="en-US" sz="1600" dirty="0" err="1"/>
              <a:t>gfortran</a:t>
            </a:r>
            <a:r>
              <a:rPr lang="en-US" sz="1600" dirty="0"/>
              <a:t>; </a:t>
            </a:r>
            <a:r>
              <a:rPr lang="en-US" sz="1600" dirty="0" err="1"/>
              <a:t>OpenMPI</a:t>
            </a:r>
            <a:r>
              <a:rPr lang="en-US" sz="1600" dirty="0"/>
              <a:t>; </a:t>
            </a:r>
            <a:r>
              <a:rPr lang="en-US" sz="1600" dirty="0" err="1"/>
              <a:t>ScaLAPACK</a:t>
            </a:r>
            <a:r>
              <a:rPr lang="en-US" sz="1600" dirty="0"/>
              <a:t>, </a:t>
            </a:r>
            <a:r>
              <a:rPr lang="en-US" sz="1600" dirty="0" err="1"/>
              <a:t>OpenBLAS</a:t>
            </a:r>
            <a:r>
              <a:rPr lang="en-US" sz="1600" dirty="0"/>
              <a:t>, FFTW)</a:t>
            </a:r>
          </a:p>
          <a:p>
            <a:pPr marL="515700" lvl="1" indent="-324000">
              <a:lnSpc>
                <a:spcPct val="120000"/>
              </a:lnSpc>
              <a:buClr>
                <a:srgbClr val="DB6C30"/>
              </a:buClr>
            </a:pPr>
            <a:r>
              <a:rPr lang="en-US" sz="1600" dirty="0"/>
              <a:t>Toolchain year on </a:t>
            </a:r>
            <a:r>
              <a:rPr lang="en-US" sz="1600" dirty="0" err="1"/>
              <a:t>wICE</a:t>
            </a:r>
            <a:r>
              <a:rPr lang="en-US" sz="1600" dirty="0"/>
              <a:t> from 2021a onwards</a:t>
            </a:r>
          </a:p>
          <a:p>
            <a:pPr marL="172800" indent="-324000">
              <a:buBlip>
                <a:blip r:embed="rId2"/>
              </a:buBlip>
            </a:pPr>
            <a:r>
              <a:rPr lang="en-US" sz="2000" dirty="0"/>
              <a:t>Note: not all toolchains are compatible with each other (conflicting dependencies)</a:t>
            </a:r>
            <a:br>
              <a:rPr lang="en-US" sz="2000" dirty="0"/>
            </a:br>
            <a:r>
              <a:rPr lang="en-US" sz="2000" dirty="0"/>
              <a:t>   For example, </a:t>
            </a:r>
            <a:r>
              <a:rPr lang="en-US" sz="2000" b="1" dirty="0"/>
              <a:t>never mix …-</a:t>
            </a:r>
            <a:r>
              <a:rPr lang="en-US" sz="2000" b="1" i="1" dirty="0" err="1"/>
              <a:t>foss</a:t>
            </a:r>
            <a:r>
              <a:rPr lang="en-US" sz="2000" b="1" dirty="0"/>
              <a:t>-… and …-</a:t>
            </a:r>
            <a:r>
              <a:rPr lang="en-US" sz="2000" b="1" i="1" dirty="0"/>
              <a:t>intel</a:t>
            </a:r>
            <a:r>
              <a:rPr lang="en-US" sz="2000" b="1" dirty="0"/>
              <a:t>-… </a:t>
            </a:r>
            <a:r>
              <a:rPr lang="en-US" sz="2000" dirty="0"/>
              <a:t>modules</a:t>
            </a:r>
          </a:p>
          <a:p>
            <a:pPr marL="0" indent="0">
              <a:buNone/>
            </a:pPr>
            <a:endParaRPr lang="en-US" sz="1800" dirty="0"/>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74</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88350082"/>
              </p:ext>
            </p:extLst>
          </p:nvPr>
        </p:nvGraphicFramePr>
        <p:xfrm>
          <a:off x="610662" y="3771096"/>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(but dependencies still stay)</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Centrally installed modules</a:t>
            </a:r>
            <a:endParaRPr lang="pl-PL" altLang="en-US" sz="3200" dirty="0"/>
          </a:p>
        </p:txBody>
      </p:sp>
    </p:spTree>
    <p:extLst>
      <p:ext uri="{BB962C8B-B14F-4D97-AF65-F5344CB8AC3E}">
        <p14:creationId xmlns:p14="http://schemas.microsoft.com/office/powerpoint/2010/main" val="2128373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330084"/>
            <a:ext cx="10515600" cy="3611084"/>
          </a:xfrm>
          <a:ln w="25400">
            <a:solidFill>
              <a:schemeClr val="accent5"/>
            </a:solidFill>
          </a:ln>
        </p:spPr>
        <p:txBody>
          <a:bodyPr anchor="ctr">
            <a:normAutofit/>
          </a:bodyPr>
          <a:lstStyle/>
          <a:p>
            <a:pPr marL="324000" indent="-324000">
              <a:buBlip>
                <a:blip r:embed="rId2"/>
              </a:buBlip>
            </a:pPr>
            <a:r>
              <a:rPr lang="en-US" sz="2000" dirty="0"/>
              <a:t>If you need a software package that is not yet available as a module,</a:t>
            </a:r>
            <a:br>
              <a:rPr lang="en-US" sz="2000" dirty="0"/>
            </a:br>
            <a:r>
              <a:rPr lang="en-US" sz="2000" dirty="0"/>
              <a:t>you can ask us to provide it</a:t>
            </a:r>
          </a:p>
          <a:p>
            <a:pPr marL="666900" lvl="1" indent="-324000">
              <a:buBlip>
                <a:blip r:embed="rId2"/>
              </a:buBlip>
            </a:pPr>
            <a:r>
              <a:rPr lang="en-US" dirty="0"/>
              <a:t>For Python and R packages, however, we prefer that you install it yourself</a:t>
            </a:r>
          </a:p>
          <a:p>
            <a:pPr marL="666900" lvl="1" indent="-324000">
              <a:buBlip>
                <a:blip r:embed="rId2"/>
              </a:buBlip>
            </a:pPr>
            <a:r>
              <a:rPr lang="en-US" sz="1700" dirty="0"/>
              <a:t>Read more about </a:t>
            </a:r>
            <a:r>
              <a:rPr lang="en-US" sz="1700" dirty="0">
                <a:hlinkClick r:id="rId3"/>
              </a:rPr>
              <a:t>Python Package Management</a:t>
            </a:r>
            <a:endParaRPr lang="en-US" sz="1700" dirty="0"/>
          </a:p>
          <a:p>
            <a:pPr marL="666900" lvl="1" indent="-324000">
              <a:buBlip>
                <a:blip r:embed="rId2"/>
              </a:buBlip>
            </a:pPr>
            <a:r>
              <a:rPr lang="en-US" sz="1700" dirty="0"/>
              <a:t>Read more about </a:t>
            </a:r>
            <a:r>
              <a:rPr lang="en-US" sz="1700" dirty="0">
                <a:hlinkClick r:id="rId4"/>
              </a:rPr>
              <a:t>R Package Management</a:t>
            </a:r>
            <a:endParaRPr lang="en-US" sz="1700" dirty="0"/>
          </a:p>
          <a:p>
            <a:pPr marL="666900" lvl="1" indent="-324000">
              <a:buBlip>
                <a:blip r:embed="rId2"/>
              </a:buBlip>
            </a:pPr>
            <a:endParaRPr lang="en-US" sz="1700" dirty="0"/>
          </a:p>
          <a:p>
            <a:pPr marL="324000" indent="-324000">
              <a:buBlip>
                <a:blip r:embed="rId2"/>
              </a:buBlip>
            </a:pPr>
            <a:r>
              <a:rPr lang="en-US" sz="2000" dirty="0"/>
              <a:t>If you want to compile software yourself:</a:t>
            </a:r>
          </a:p>
          <a:p>
            <a:pPr marL="666900" lvl="1" indent="-324000">
              <a:buBlip>
                <a:blip r:embed="rId2"/>
              </a:buBlip>
            </a:pPr>
            <a:r>
              <a:rPr lang="en-US" dirty="0"/>
              <a:t>Best install it in your VSC_DATA </a:t>
            </a:r>
          </a:p>
          <a:p>
            <a:pPr marL="666900" lvl="1" indent="-324000">
              <a:buBlip>
                <a:blip r:embed="rId2"/>
              </a:buBlip>
            </a:pPr>
            <a:r>
              <a:rPr lang="en-US" dirty="0"/>
              <a:t>Use </a:t>
            </a:r>
            <a:r>
              <a:rPr lang="en-US" i="1" dirty="0"/>
              <a:t>intel</a:t>
            </a:r>
            <a:r>
              <a:rPr lang="en-US" dirty="0"/>
              <a:t> or </a:t>
            </a:r>
            <a:r>
              <a:rPr lang="en-US" i="1" dirty="0" err="1"/>
              <a:t>foss</a:t>
            </a:r>
            <a:r>
              <a:rPr lang="en-US" dirty="0"/>
              <a:t> toolchains</a:t>
            </a:r>
          </a:p>
          <a:p>
            <a:pPr marL="666900" lvl="1" indent="-324000">
              <a:buBlip>
                <a:blip r:embed="rId2"/>
              </a:buBlip>
            </a:pPr>
            <a:r>
              <a:rPr lang="en-US" dirty="0"/>
              <a:t>Compile your code on a compute node (with interactive job)</a:t>
            </a:r>
          </a:p>
          <a:p>
            <a:pPr marL="666900" lvl="1" indent="-324000">
              <a:buBlip>
                <a:blip r:embed="rId2"/>
              </a:buBlip>
            </a:pPr>
            <a:r>
              <a:rPr lang="en-US" dirty="0"/>
              <a:t>If you run into problems, don’t hesitate to contact us</a:t>
            </a:r>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75</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Your specific needs</a:t>
            </a:r>
            <a:endParaRPr lang="pl-PL" altLang="en-US" sz="3200" dirty="0"/>
          </a:p>
        </p:txBody>
      </p:sp>
    </p:spTree>
    <p:extLst>
      <p:ext uri="{BB962C8B-B14F-4D97-AF65-F5344CB8AC3E}">
        <p14:creationId xmlns:p14="http://schemas.microsoft.com/office/powerpoint/2010/main" val="23314128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76</a:t>
            </a:fld>
            <a:endParaRPr lang="en-US"/>
          </a:p>
        </p:txBody>
      </p:sp>
    </p:spTree>
    <p:extLst>
      <p:ext uri="{BB962C8B-B14F-4D97-AF65-F5344CB8AC3E}">
        <p14:creationId xmlns:p14="http://schemas.microsoft.com/office/powerpoint/2010/main" val="352735125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12291" name="Rectangle 3"/>
          <p:cNvSpPr>
            <a:spLocks noGrp="1" noChangeArrowheads="1"/>
          </p:cNvSpPr>
          <p:nvPr>
            <p:ph idx="1"/>
          </p:nvPr>
        </p:nvSpPr>
        <p:spPr>
          <a:xfrm>
            <a:off x="720000" y="1155724"/>
            <a:ext cx="8544352" cy="3281388"/>
          </a:xfrm>
          <a:ln w="25400">
            <a:solidFill>
              <a:schemeClr val="accent5"/>
            </a:solidFill>
          </a:ln>
        </p:spPr>
        <p:txBody>
          <a:bodyPr anchor="ctr"/>
          <a:lstStyle/>
          <a:p>
            <a:pPr marL="324000" indent="-324000">
              <a:buClr>
                <a:srgbClr val="DB6C30"/>
              </a:buClr>
              <a:buBlip>
                <a:blip r:embed="rId2"/>
              </a:buBlip>
            </a:pPr>
            <a:r>
              <a:rPr lang="en-US" b="1" dirty="0"/>
              <a:t>Cluster: </a:t>
            </a:r>
            <a:r>
              <a:rPr lang="en-US" dirty="0"/>
              <a:t>which machine to use? </a:t>
            </a:r>
            <a:r>
              <a:rPr lang="en-US" dirty="0" err="1"/>
              <a:t>wICE</a:t>
            </a:r>
            <a:r>
              <a:rPr lang="en-US" dirty="0"/>
              <a:t> or </a:t>
            </a:r>
            <a:r>
              <a:rPr lang="en-US" dirty="0" err="1"/>
              <a:t>Mindwell</a:t>
            </a:r>
            <a:r>
              <a:rPr lang="en-US" dirty="0"/>
              <a:t>?</a:t>
            </a:r>
            <a:r>
              <a:rPr lang="en-US" b="1" dirty="0"/>
              <a:t> </a:t>
            </a:r>
          </a:p>
          <a:p>
            <a:pPr marL="324000" indent="-324000">
              <a:buClr>
                <a:srgbClr val="DB6C30"/>
              </a:buClr>
              <a:buBlip>
                <a:blip r:embed="rId2"/>
              </a:buBlip>
            </a:pPr>
            <a:r>
              <a:rPr lang="en-US" b="1" dirty="0"/>
              <a:t>Nodes</a:t>
            </a:r>
            <a:r>
              <a:rPr lang="en-US" dirty="0"/>
              <a:t>: how many compute servers to allocate?</a:t>
            </a:r>
          </a:p>
          <a:p>
            <a:pPr marL="324000" indent="-324000">
              <a:buClr>
                <a:srgbClr val="DB6C30"/>
              </a:buClr>
              <a:buBlip>
                <a:blip r:embed="rId2"/>
              </a:buBlip>
            </a:pPr>
            <a:r>
              <a:rPr lang="en-US" b="1" dirty="0"/>
              <a:t>Cores</a:t>
            </a:r>
            <a:r>
              <a:rPr lang="en-US" dirty="0"/>
              <a:t>: how many cores per node to allocate?</a:t>
            </a:r>
          </a:p>
          <a:p>
            <a:pPr marL="324000" indent="-324000">
              <a:buClr>
                <a:srgbClr val="DB6C30"/>
              </a:buClr>
              <a:buBlip>
                <a:blip r:embed="rId2"/>
              </a:buBlip>
            </a:pPr>
            <a:r>
              <a:rPr lang="en-US" b="1" dirty="0"/>
              <a:t>Memory</a:t>
            </a:r>
            <a:r>
              <a:rPr lang="en-US" dirty="0"/>
              <a:t>: how much CPU memory to allocate?</a:t>
            </a:r>
          </a:p>
          <a:p>
            <a:pPr marL="324000" indent="-324000">
              <a:buClr>
                <a:srgbClr val="DB6C30"/>
              </a:buClr>
              <a:buBlip>
                <a:blip r:embed="rId2"/>
              </a:buBlip>
            </a:pPr>
            <a:r>
              <a:rPr lang="en-US" b="1" dirty="0"/>
              <a:t>Partition</a:t>
            </a:r>
            <a:r>
              <a:rPr lang="en-US" dirty="0"/>
              <a:t>: batch, </a:t>
            </a:r>
            <a:r>
              <a:rPr lang="en-US" dirty="0" err="1"/>
              <a:t>gpu</a:t>
            </a:r>
            <a:r>
              <a:rPr lang="en-US" dirty="0"/>
              <a:t>, </a:t>
            </a:r>
            <a:r>
              <a:rPr lang="en-US" dirty="0" err="1"/>
              <a:t>bigmem</a:t>
            </a:r>
            <a:r>
              <a:rPr lang="en-US" dirty="0"/>
              <a:t>, …?</a:t>
            </a:r>
            <a:endParaRPr lang="en-US" b="1" dirty="0"/>
          </a:p>
          <a:p>
            <a:pPr marL="324000" indent="-324000">
              <a:buClr>
                <a:srgbClr val="DB6C30"/>
              </a:buClr>
              <a:buBlip>
                <a:blip r:embed="rId2"/>
              </a:buBlip>
            </a:pPr>
            <a:r>
              <a:rPr lang="en-US" b="1" dirty="0" err="1"/>
              <a:t>Walltime</a:t>
            </a:r>
            <a:r>
              <a:rPr lang="en-US" dirty="0"/>
              <a:t>: how long to allocate the resources?</a:t>
            </a:r>
          </a:p>
          <a:p>
            <a:pPr marL="324000" indent="-324000">
              <a:buClr>
                <a:srgbClr val="DB6C30"/>
              </a:buClr>
              <a:buBlip>
                <a:blip r:embed="rId2"/>
              </a:buBlip>
            </a:pPr>
            <a:r>
              <a:rPr lang="en-US" b="1" dirty="0"/>
              <a:t>Storage</a:t>
            </a:r>
            <a:r>
              <a:rPr lang="en-US" dirty="0"/>
              <a:t>: how much storage (data, scratch, </a:t>
            </a:r>
            <a:r>
              <a:rPr lang="en-US" dirty="0" err="1"/>
              <a:t>etc</a:t>
            </a:r>
            <a:r>
              <a:rPr lang="en-US" dirty="0"/>
              <a:t>) will the job require?</a:t>
            </a:r>
          </a:p>
          <a:p>
            <a:pPr marL="324000" indent="-324000">
              <a:buClr>
                <a:srgbClr val="DB6C30"/>
              </a:buClr>
              <a:buBlip>
                <a:blip r:embed="rId2"/>
              </a:buBlip>
            </a:pPr>
            <a:r>
              <a:rPr lang="en-US" b="1" dirty="0"/>
              <a:t>Credits</a:t>
            </a:r>
            <a:r>
              <a:rPr lang="en-US" dirty="0"/>
              <a:t>: how many compute credits will the job consume?</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291">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28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291">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291">
                                            <p:txEl>
                                              <p:pRg st="6" end="6"/>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2291">
                                            <p:txEl>
                                              <p:pRg st="7" end="7"/>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sp>
        <p:nvSpPr>
          <p:cNvPr id="12291" name="Rectangle 3"/>
          <p:cNvSpPr>
            <a:spLocks noGrp="1" noChangeArrowheads="1"/>
          </p:cNvSpPr>
          <p:nvPr>
            <p:ph idx="1"/>
          </p:nvPr>
        </p:nvSpPr>
        <p:spPr>
          <a:xfrm>
            <a:off x="720000" y="1144622"/>
            <a:ext cx="8544352" cy="3281388"/>
          </a:xfrm>
          <a:ln w="25400">
            <a:solidFill>
              <a:schemeClr val="accent5"/>
            </a:solidFill>
          </a:ln>
        </p:spPr>
        <p:txBody>
          <a:bodyPr anchor="ctr"/>
          <a:lstStyle/>
          <a:p>
            <a:pPr marL="324000" indent="-324000">
              <a:buClr>
                <a:srgbClr val="DB6C30"/>
              </a:buClr>
              <a:buBlip>
                <a:blip r:embed="rId2"/>
              </a:buBlip>
            </a:pPr>
            <a:r>
              <a:rPr lang="en-US" b="1" dirty="0"/>
              <a:t>Cluster:</a:t>
            </a:r>
            <a:r>
              <a:rPr lang="en-US" dirty="0"/>
              <a:t> the cluster associated with the node you’re on (</a:t>
            </a:r>
            <a:r>
              <a:rPr lang="en-US" dirty="0" err="1"/>
              <a:t>wICE</a:t>
            </a:r>
            <a:r>
              <a:rPr lang="en-US" dirty="0"/>
              <a:t> or </a:t>
            </a:r>
            <a:r>
              <a:rPr lang="en-US" dirty="0" err="1"/>
              <a:t>Mindwell</a:t>
            </a:r>
            <a:r>
              <a:rPr lang="en-US" dirty="0"/>
              <a:t>)</a:t>
            </a:r>
          </a:p>
          <a:p>
            <a:pPr marL="324000" indent="-324000">
              <a:buClr>
                <a:srgbClr val="DB6C30"/>
              </a:buClr>
              <a:buBlip>
                <a:blip r:embed="rId2"/>
              </a:buBlip>
            </a:pPr>
            <a:r>
              <a:rPr lang="en-US" b="1" dirty="0"/>
              <a:t>Nodes:</a:t>
            </a:r>
            <a:r>
              <a:rPr lang="en-US" dirty="0"/>
              <a:t> 1</a:t>
            </a:r>
          </a:p>
          <a:p>
            <a:pPr marL="324000" indent="-324000">
              <a:buClr>
                <a:srgbClr val="DB6C30"/>
              </a:buClr>
              <a:buBlip>
                <a:blip r:embed="rId2"/>
              </a:buBlip>
            </a:pPr>
            <a:r>
              <a:rPr lang="en-US" b="1" dirty="0"/>
              <a:t>Cores: </a:t>
            </a:r>
            <a:r>
              <a:rPr lang="en-US" dirty="0"/>
              <a:t>1</a:t>
            </a:r>
          </a:p>
          <a:p>
            <a:pPr marL="324000" indent="-324000">
              <a:buClr>
                <a:srgbClr val="DB6C30"/>
              </a:buClr>
              <a:buBlip>
                <a:blip r:embed="rId2"/>
              </a:buBlip>
            </a:pPr>
            <a:r>
              <a:rPr lang="en-US" b="1" dirty="0"/>
              <a:t>Memory: </a:t>
            </a:r>
            <a:r>
              <a:rPr lang="en-US" dirty="0"/>
              <a:t>depends on which node(s) you use</a:t>
            </a:r>
          </a:p>
          <a:p>
            <a:pPr marL="324000" indent="-324000">
              <a:buClr>
                <a:srgbClr val="DB6C30"/>
              </a:buClr>
              <a:buBlip>
                <a:blip r:embed="rId2"/>
              </a:buBlip>
            </a:pPr>
            <a:r>
              <a:rPr lang="en-US" b="1" dirty="0"/>
              <a:t>Partition:</a:t>
            </a:r>
            <a:r>
              <a:rPr lang="en-US" dirty="0"/>
              <a:t> batch</a:t>
            </a:r>
          </a:p>
          <a:p>
            <a:pPr marL="324000" indent="-324000">
              <a:buClr>
                <a:srgbClr val="DB6C30"/>
              </a:buClr>
              <a:buBlip>
                <a:blip r:embed="rId2"/>
              </a:buBlip>
            </a:pPr>
            <a:r>
              <a:rPr lang="en-US" b="1" dirty="0" err="1"/>
              <a:t>Walltime</a:t>
            </a:r>
            <a:r>
              <a:rPr lang="en-US" b="1" dirty="0"/>
              <a:t>:</a:t>
            </a:r>
            <a:r>
              <a:rPr lang="en-US" dirty="0"/>
              <a:t> typically 1 hour</a:t>
            </a:r>
          </a:p>
          <a:p>
            <a:pPr marL="324000" indent="-324000">
              <a:buClr>
                <a:srgbClr val="DB6C30"/>
              </a:buClr>
              <a:buBlip>
                <a:blip r:embed="rId2"/>
              </a:buBlip>
            </a:pPr>
            <a:r>
              <a:rPr lang="en-US" b="1" dirty="0"/>
              <a:t>Storage:</a:t>
            </a:r>
            <a:r>
              <a:rPr lang="en-US" dirty="0"/>
              <a:t> no default</a:t>
            </a:r>
          </a:p>
          <a:p>
            <a:pPr marL="324000" indent="-324000">
              <a:buClr>
                <a:srgbClr val="DB6C30"/>
              </a:buClr>
              <a:buBlip>
                <a:blip r:embed="rId2"/>
              </a:buBlip>
            </a:pPr>
            <a:r>
              <a:rPr lang="en-US" b="1" dirty="0"/>
              <a:t>Credits:</a:t>
            </a:r>
            <a:r>
              <a:rPr lang="en-US" dirty="0"/>
              <a:t> no default</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2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2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80</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81</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277650" y="401856"/>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277650" y="3760767"/>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725144"/>
            <a:ext cx="10875189" cy="1211362"/>
            <a:chOff x="621409" y="3704029"/>
            <a:chExt cx="10875189" cy="1211362"/>
          </a:xfrm>
        </p:grpSpPr>
        <p:sp>
          <p:nvSpPr>
            <p:cNvPr id="15" name="TextBox 14"/>
            <p:cNvSpPr txBox="1"/>
            <p:nvPr/>
          </p:nvSpPr>
          <p:spPr>
            <a:xfrm>
              <a:off x="621409" y="3992061"/>
              <a:ext cx="10875189" cy="923330"/>
            </a:xfrm>
            <a:prstGeom prst="rect">
              <a:avLst/>
            </a:prstGeom>
            <a:noFill/>
            <a:ln>
              <a:solidFill>
                <a:schemeClr val="accent1"/>
              </a:solidFill>
            </a:ln>
          </p:spPr>
          <p:txBody>
            <a:bodyPr wrap="square" rtlCol="0">
              <a:spAutoFit/>
            </a:bodyPr>
            <a:lstStyle/>
            <a:p>
              <a:pPr marL="172800" indent="-324000">
                <a:buClr>
                  <a:srgbClr val="DB6C30"/>
                </a:buClr>
                <a:buFont typeface="Wingdings" panose="05000000000000000000" pitchFamily="2" charset="2"/>
                <a:buChar char="q"/>
              </a:pPr>
              <a:r>
                <a:rPr lang="en-US" dirty="0"/>
                <a:t>Specifying &lt;project name&gt; for credits is mandatory, </a:t>
              </a:r>
              <a:r>
                <a:rPr lang="en-US" i="1" dirty="0"/>
                <a:t>e.g.</a:t>
              </a:r>
              <a:r>
                <a:rPr lang="en-US" dirty="0"/>
                <a:t> </a:t>
              </a:r>
              <a:r>
                <a:rPr lang="en-US" b="1" dirty="0">
                  <a:latin typeface="Courier New" panose="02070309020205020404" pitchFamily="49" charset="0"/>
                  <a:cs typeface="Courier New" panose="02070309020205020404" pitchFamily="49" charset="0"/>
                </a:rPr>
                <a:t>–A </a:t>
              </a:r>
              <a:r>
                <a:rPr lang="en-US" b="1" dirty="0" err="1">
                  <a:latin typeface="Courier New" panose="02070309020205020404" pitchFamily="49" charset="0"/>
                  <a:cs typeface="Courier New" panose="02070309020205020404" pitchFamily="49" charset="0"/>
                </a:rPr>
                <a:t>lp_hpcinfo</a:t>
              </a:r>
              <a:endParaRPr lang="en-US" b="1" dirty="0">
                <a:latin typeface="Courier New" panose="02070309020205020404" pitchFamily="49" charset="0"/>
                <a:cs typeface="Courier New" panose="02070309020205020404" pitchFamily="49" charset="0"/>
              </a:endParaRPr>
            </a:p>
            <a:p>
              <a:pPr marL="172800" indent="-324000">
                <a:buClr>
                  <a:srgbClr val="DB6C30"/>
                </a:buClr>
                <a:buFont typeface="Wingdings" panose="05000000000000000000" pitchFamily="2" charset="2"/>
                <a:buChar char="q"/>
              </a:pPr>
              <a:r>
                <a:rPr lang="en-US" dirty="0"/>
                <a:t>Implicit defaults for an interactive job on </a:t>
              </a:r>
              <a:r>
                <a:rPr lang="en-US" dirty="0" err="1"/>
                <a:t>wICE</a:t>
              </a:r>
              <a:r>
                <a:rPr lang="en-US" dirty="0"/>
                <a:t> are</a:t>
              </a:r>
              <a:br>
                <a:rPr lang="en-US" dirty="0"/>
              </a:br>
              <a:r>
                <a:rPr lang="en-US" dirty="0"/>
                <a:t>   </a:t>
              </a:r>
              <a:r>
                <a:rPr lang="en-US" dirty="0">
                  <a:latin typeface="Courier New" panose="02070309020205020404" pitchFamily="49" charset="0"/>
                  <a:cs typeface="Courier New" panose="02070309020205020404" pitchFamily="49" charset="0"/>
                </a:rPr>
                <a:t>-n 1 -t 01:00:00 –p batch --mem-per-</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82</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83</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84</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3199027452"/>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84</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85</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3649003361"/>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3400M (</a:t>
                      </a:r>
                      <a:r>
                        <a:rPr lang="nl-NL" sz="2000" b="0" i="0" u="none" strike="noStrike" noProof="0" dirty="0" err="1">
                          <a:solidFill>
                            <a:schemeClr val="dk1"/>
                          </a:solidFill>
                          <a:latin typeface="+mn-lt"/>
                        </a:rPr>
                        <a:t>wICE</a:t>
                      </a:r>
                      <a:r>
                        <a:rPr lang="nl-NL" sz="2000" b="0" i="0" u="none" strike="noStrike" noProof="0" dirty="0">
                          <a:solidFill>
                            <a:schemeClr val="dk1"/>
                          </a:solidFill>
                          <a:latin typeface="+mn-lt"/>
                        </a:rPr>
                        <a:t>)</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85</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86</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87</a:t>
            </a:fld>
            <a:endParaRPr lang="nl-BE" dirty="0"/>
          </a:p>
        </p:txBody>
      </p:sp>
      <p:sp>
        <p:nvSpPr>
          <p:cNvPr id="5" name="TextBox 4"/>
          <p:cNvSpPr txBox="1"/>
          <p:nvPr/>
        </p:nvSpPr>
        <p:spPr>
          <a:xfrm>
            <a:off x="720000" y="1077118"/>
            <a:ext cx="11112000" cy="5201424"/>
          </a:xfrm>
          <a:prstGeom prst="rect">
            <a:avLst/>
          </a:prstGeom>
          <a:noFill/>
          <a:ln>
            <a:noFill/>
          </a:ln>
        </p:spPr>
        <p:txBody>
          <a:bodyPr wrap="square" rtlCol="0">
            <a:spAutoFit/>
          </a:bodyPr>
          <a:lstStyle/>
          <a:p>
            <a:pPr marL="342900" indent="-342900">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solidFill>
                  <a:srgbClr val="FF0000"/>
                </a:solidFill>
                <a:latin typeface="Courier New" panose="02070309020205020404" pitchFamily="49" charset="0"/>
                <a:cs typeface="Courier New" panose="02070309020205020404" pitchFamily="49" charset="0"/>
              </a:rPr>
            </a:br>
            <a:endParaRPr lang="en-US" sz="2200" dirty="0">
              <a:solidFill>
                <a:srgbClr val="FF0000"/>
              </a:solidFill>
            </a:endParaRPr>
          </a:p>
          <a:p>
            <a:pPr marL="342900" indent="-342900">
              <a:buBlip>
                <a:blip r:embed="rId2"/>
              </a:buBlip>
            </a:pPr>
            <a:r>
              <a:rPr lang="en-US" sz="2200" dirty="0"/>
              <a:t>Interactive job with X-forwarding</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b="1" dirty="0">
                <a:solidFill>
                  <a:srgbClr val="FF0000"/>
                </a:solidFill>
                <a:latin typeface="Courier New" panose="02070309020205020404" pitchFamily="49" charset="0"/>
                <a:cs typeface="Courier New" panose="02070309020205020404" pitchFamily="49" charset="0"/>
              </a:rPr>
              <a:t>--x11 </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p>
          <a:p>
            <a:pPr marL="342900" indent="-342900">
              <a:buBlip>
                <a:blip r:embed="rId2"/>
              </a:buBlip>
            </a:pPr>
            <a:endParaRPr lang="en-US" sz="2000" dirty="0"/>
          </a:p>
          <a:p>
            <a:pPr marL="342900" indent="-342900">
              <a:buBlip>
                <a:blip r:embed="rId2"/>
              </a:buBlip>
            </a:pPr>
            <a:r>
              <a:rPr lang="en-US" sz="2200" dirty="0"/>
              <a:t>Interactive job with multiple cores, on the </a:t>
            </a:r>
            <a:r>
              <a:rPr lang="en-US" sz="2200" i="1" dirty="0"/>
              <a:t>interactive</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=4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--partition=interactive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p>
          <a:p>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=18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a:t>
            </a:r>
            <a:r>
              <a:rPr lang="en-US" sz="2000" dirty="0" err="1">
                <a:latin typeface="Courier New" panose="02070309020205020404" pitchFamily="49" charset="0"/>
                <a:cs typeface="Courier New" panose="02070309020205020404" pitchFamily="49" charset="0"/>
              </a:rPr>
              <a:t>gpu</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gpus</a:t>
            </a:r>
            <a:r>
              <a:rPr lang="en-US" sz="2000" dirty="0">
                <a:latin typeface="Courier New" panose="02070309020205020404" pitchFamily="49" charset="0"/>
                <a:cs typeface="Courier New" panose="02070309020205020404" pitchFamily="49" charset="0"/>
              </a:rPr>
              <a:t>-per-node=1 --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latin typeface="Courier New" panose="02070309020205020404" pitchFamily="49" charset="0"/>
                <a:cs typeface="Courier New" panose="02070309020205020404" pitchFamily="49" charset="0"/>
              </a:rPr>
            </a:br>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–M </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=&lt;</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&gt; --overlap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88</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89</a:t>
            </a:fld>
            <a:endParaRPr lang="nl-BE" dirty="0"/>
          </a:p>
        </p:txBody>
      </p:sp>
      <p:sp>
        <p:nvSpPr>
          <p:cNvPr id="36867" name="Rectangle 3"/>
          <p:cNvSpPr>
            <a:spLocks noGrp="1" noChangeArrowheads="1"/>
          </p:cNvSpPr>
          <p:nvPr>
            <p:ph idx="1"/>
          </p:nvPr>
        </p:nvSpPr>
        <p:spPr>
          <a:xfrm>
            <a:off x="551384" y="1844824"/>
            <a:ext cx="4727928" cy="1448512"/>
          </a:xfrm>
          <a:ln w="19050">
            <a:noFill/>
          </a:ln>
        </p:spPr>
        <p:txBody>
          <a:bodyPr/>
          <a:lstStyle/>
          <a:p>
            <a:pPr marL="324000" indent="-324000" eaLnBrk="1" hangingPunct="1">
              <a:lnSpc>
                <a:spcPct val="150000"/>
              </a:lnSpc>
              <a:buClr>
                <a:srgbClr val="DB6C30"/>
              </a:buClr>
              <a:buBlip>
                <a:blip r:embed="rId2"/>
              </a:buBlip>
            </a:pPr>
            <a:r>
              <a:rPr lang="en-US" altLang="en-US" sz="2200" dirty="0"/>
              <a:t>Submit the job to the scheduler</a:t>
            </a:r>
          </a:p>
          <a:p>
            <a:pPr marL="324000" indent="-324000" eaLnBrk="1" hangingPunct="1">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eaLnBrk="1" hangingPunct="1">
              <a:buClr>
                <a:srgbClr val="DB6C30"/>
              </a:buClr>
              <a:buBlip>
                <a:blip r:embed="rId2"/>
              </a:buBlip>
            </a:pPr>
            <a:r>
              <a:rPr lang="en-US" altLang="en-US" sz="2200" dirty="0"/>
              <a:t>Error and output files</a:t>
            </a:r>
            <a:br>
              <a:rPr lang="en-US" altLang="en-US" sz="2200" dirty="0"/>
            </a:br>
            <a:endParaRPr lang="en-US" altLang="en-US" sz="2200" dirty="0"/>
          </a:p>
        </p:txBody>
      </p:sp>
      <p:grpSp>
        <p:nvGrpSpPr>
          <p:cNvPr id="6" name="Group 5"/>
          <p:cNvGrpSpPr/>
          <p:nvPr/>
        </p:nvGrpSpPr>
        <p:grpSpPr>
          <a:xfrm>
            <a:off x="5519937" y="332656"/>
            <a:ext cx="6336703" cy="1082859"/>
            <a:chOff x="5844851" y="836712"/>
            <a:chExt cx="6011789" cy="1082859"/>
          </a:xfrm>
        </p:grpSpPr>
        <p:sp>
          <p:nvSpPr>
            <p:cNvPr id="4" name="TextBox 3"/>
            <p:cNvSpPr txBox="1"/>
            <p:nvPr/>
          </p:nvSpPr>
          <p:spPr>
            <a:xfrm>
              <a:off x="5844851" y="1211685"/>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5519937" y="1779397"/>
            <a:ext cx="6336704" cy="775083"/>
            <a:chOff x="5519937" y="2261939"/>
            <a:chExt cx="6336704" cy="775083"/>
          </a:xfrm>
        </p:grpSpPr>
        <p:sp>
          <p:nvSpPr>
            <p:cNvPr id="7" name="TextBox 6"/>
            <p:cNvSpPr txBox="1"/>
            <p:nvPr/>
          </p:nvSpPr>
          <p:spPr>
            <a:xfrm>
              <a:off x="5519937" y="2636912"/>
              <a:ext cx="6336704"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5519938" y="2918362"/>
            <a:ext cx="6336702" cy="1082859"/>
            <a:chOff x="5844851" y="2261939"/>
            <a:chExt cx="6011789" cy="1082859"/>
          </a:xfrm>
        </p:grpSpPr>
        <p:sp>
          <p:nvSpPr>
            <p:cNvPr id="13" name="TextBox 12"/>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JobID</a:t>
              </a:r>
              <a:endParaRPr lang="nl-BE"/>
            </a:p>
          </p:txBody>
        </p:sp>
      </p:grpSp>
      <p:grpSp>
        <p:nvGrpSpPr>
          <p:cNvPr id="15" name="Group 14"/>
          <p:cNvGrpSpPr/>
          <p:nvPr/>
        </p:nvGrpSpPr>
        <p:grpSpPr>
          <a:xfrm>
            <a:off x="5519939" y="4365104"/>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86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
        <p:nvSpPr>
          <p:cNvPr id="36867" name="Rectangle 3"/>
          <p:cNvSpPr>
            <a:spLocks noGrp="1" noChangeArrowheads="1"/>
          </p:cNvSpPr>
          <p:nvPr>
            <p:ph idx="1"/>
          </p:nvPr>
        </p:nvSpPr>
        <p:spPr>
          <a:xfrm>
            <a:off x="551384" y="1211685"/>
            <a:ext cx="4727928" cy="4521571"/>
          </a:xfrm>
          <a:ln w="19050">
            <a:noFill/>
          </a:ln>
        </p:spPr>
        <p:txBody>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2200" dirty="0" err="1">
                <a:latin typeface="Courier New" panose="02070309020205020404" pitchFamily="49" charset="0"/>
                <a:cs typeface="Courier New" panose="02070309020205020404" pitchFamily="49" charset="0"/>
              </a:rPr>
              <a:t>slurm</a:t>
            </a:r>
            <a:r>
              <a:rPr lang="en-US" altLang="en-US" sz="2200" dirty="0">
                <a:latin typeface="Courier New" panose="02070309020205020404" pitchFamily="49" charset="0"/>
                <a:cs typeface="Courier New" panose="02070309020205020404" pitchFamily="49" charset="0"/>
              </a:rPr>
              <a:t>-&lt;</a:t>
            </a:r>
            <a:r>
              <a:rPr lang="en-US" altLang="en-US" sz="2200" dirty="0" err="1">
                <a:latin typeface="Courier New" panose="02070309020205020404" pitchFamily="49" charset="0"/>
                <a:cs typeface="Courier New" panose="02070309020205020404" pitchFamily="49" charset="0"/>
              </a:rPr>
              <a:t>JobID</a:t>
            </a:r>
            <a:r>
              <a:rPr lang="en-US" altLang="en-US" sz="2200" dirty="0">
                <a:latin typeface="Courier New" panose="02070309020205020404" pitchFamily="49" charset="0"/>
                <a:cs typeface="Courier New" panose="02070309020205020404" pitchFamily="49" charset="0"/>
              </a:rPr>
              <a:t>&gt;.out</a:t>
            </a:r>
          </a:p>
          <a:p>
            <a:pPr marL="324000" indent="-324000" eaLnBrk="1" hangingPunct="1">
              <a:buClr>
                <a:srgbClr val="DB6C30"/>
              </a:buClr>
              <a:buBlip>
                <a:blip r:embed="rId2"/>
              </a:buBlip>
            </a:pPr>
            <a:r>
              <a:rPr lang="en-US" altLang="en-US" sz="2200" dirty="0"/>
              <a:t>Contains job info, all errors and warnings, and printouts</a:t>
            </a:r>
          </a:p>
          <a:p>
            <a:pPr marL="324000" indent="-324000" eaLnBrk="1" hangingPunct="1">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eaLnBrk="1" hangingPunct="1">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eaLnBrk="1" hangingPunct="1">
              <a:buClr>
                <a:srgbClr val="DB6C30"/>
              </a:buClr>
              <a:buBlip>
                <a:blip r:embed="rId2"/>
              </a:buBlip>
            </a:pPr>
            <a:r>
              <a:rPr lang="en-US" altLang="en-US" sz="2200" dirty="0"/>
              <a:t>Typical error examples on the right</a:t>
            </a:r>
          </a:p>
        </p:txBody>
      </p:sp>
      <p:grpSp>
        <p:nvGrpSpPr>
          <p:cNvPr id="15" name="Group 14"/>
          <p:cNvGrpSpPr/>
          <p:nvPr/>
        </p:nvGrpSpPr>
        <p:grpSpPr>
          <a:xfrm>
            <a:off x="5519939" y="836712"/>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420567"/>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684537"/>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86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867">
                                            <p:txEl>
                                              <p:pRg st="4" end="4"/>
                                            </p:txEl>
                                          </p:spTgt>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51384" y="1348051"/>
            <a:ext cx="4727928" cy="3665125"/>
          </a:xfrm>
          <a:ln w="19050">
            <a:noFill/>
          </a:ln>
        </p:spPr>
        <p:txBody>
          <a:bodyPr/>
          <a:lstStyle/>
          <a:p>
            <a:pPr marL="324000" indent="-324000" eaLnBrk="1" hangingPunct="1">
              <a:buClr>
                <a:srgbClr val="DB6C30"/>
              </a:buClr>
              <a:buBlip>
                <a:blip r:embed="rId2"/>
              </a:buBlip>
            </a:pPr>
            <a:r>
              <a:rPr lang="en-US" altLang="en-US" sz="2200" dirty="0"/>
              <a:t>Standard output and error channels can be redirected to other files:</a:t>
            </a:r>
            <a:br>
              <a:rPr lang="en-US" altLang="en-US" sz="2200" dirty="0"/>
            </a:br>
            <a:r>
              <a:rPr lang="en-US" altLang="en-US" sz="2000" dirty="0">
                <a:latin typeface="Courier New" panose="02070309020205020404" pitchFamily="49" charset="0"/>
                <a:cs typeface="Courier New" panose="02070309020205020404" pitchFamily="49" charset="0"/>
              </a:rPr>
              <a:t>#SBATCH --output … </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--error …</a:t>
            </a:r>
          </a:p>
        </p:txBody>
      </p:sp>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91</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2123188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93</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38915" name="Rectangle 3"/>
          <p:cNvSpPr>
            <a:spLocks noGrp="1" noChangeArrowheads="1"/>
          </p:cNvSpPr>
          <p:nvPr>
            <p:ph idx="1"/>
          </p:nvPr>
        </p:nvSpPr>
        <p:spPr>
          <a:xfrm>
            <a:off x="620704" y="4734517"/>
            <a:ext cx="10693036" cy="1224136"/>
          </a:xfrm>
          <a:ln w="25400">
            <a:solidFill>
              <a:schemeClr val="accent5"/>
            </a:solid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620704" y="1196752"/>
            <a:ext cx="10659872" cy="2800767"/>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To quickly compile, test, debug your (parallel) application</a:t>
            </a:r>
          </a:p>
          <a:p>
            <a:pPr marL="342900" indent="-342900">
              <a:buClr>
                <a:srgbClr val="DB6C30"/>
              </a:buClr>
              <a:buBlip>
                <a:blip r:embed="rId2"/>
              </a:buBlip>
            </a:pPr>
            <a:r>
              <a:rPr lang="en-US" sz="2200" dirty="0">
                <a:cs typeface="Courier New" panose="02070309020205020404" pitchFamily="49" charset="0"/>
              </a:rPr>
              <a:t>To pre- or postprocess your data (incl. visualizations)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4 nodes on </a:t>
            </a:r>
            <a:r>
              <a:rPr lang="en-US" sz="2200" dirty="0" err="1">
                <a:cs typeface="Courier New" panose="02070309020205020404" pitchFamily="49" charset="0"/>
              </a:rPr>
              <a:t>wICE</a:t>
            </a:r>
            <a:r>
              <a:rPr lang="en-US" sz="2200" dirty="0">
                <a:cs typeface="Courier New" panose="02070309020205020404" pitchFamily="49" charset="0"/>
              </a:rPr>
              <a:t>: 64 cores/node, 512 GiB mem, 1 physical GPU (split in 7 instances)</a:t>
            </a:r>
          </a:p>
          <a:p>
            <a:pPr marL="342900" indent="-342900">
              <a:buClr>
                <a:srgbClr val="DB6C30"/>
              </a:buClr>
              <a:buBlip>
                <a:blip r:embed="rId2"/>
              </a:buBlip>
            </a:pPr>
            <a:r>
              <a:rPr lang="en-US" sz="2200" dirty="0">
                <a:cs typeface="Courier New" panose="02070309020205020404" pitchFamily="49" charset="0"/>
              </a:rPr>
              <a:t>2 nodes on </a:t>
            </a:r>
            <a:r>
              <a:rPr lang="en-US" sz="2200" dirty="0" err="1">
                <a:cs typeface="Courier New" panose="02070309020205020404" pitchFamily="49" charset="0"/>
              </a:rPr>
              <a:t>Mindwell</a:t>
            </a:r>
            <a:r>
              <a:rPr lang="en-US" sz="2200" dirty="0">
                <a:cs typeface="Courier New" panose="02070309020205020404" pitchFamily="49" charset="0"/>
              </a:rPr>
              <a:t>: 192 cores/node, 768 GiB mem, 2 Physical GPUs</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p:txBody>
      </p:sp>
      <p:sp>
        <p:nvSpPr>
          <p:cNvPr id="13" name="Rounded Rectangle 12"/>
          <p:cNvSpPr/>
          <p:nvPr/>
        </p:nvSpPr>
        <p:spPr>
          <a:xfrm>
            <a:off x="8990556" y="4365104"/>
            <a:ext cx="2323184" cy="369413"/>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Interactive job</a:t>
            </a:r>
            <a:endParaRPr lang="nl-BE" sz="1600"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95</a:t>
            </a:fld>
            <a:endParaRPr lang="nl-BE" dirty="0"/>
          </a:p>
        </p:txBody>
      </p:sp>
      <p:sp>
        <p:nvSpPr>
          <p:cNvPr id="5" name="TextBox 4"/>
          <p:cNvSpPr txBox="1"/>
          <p:nvPr/>
        </p:nvSpPr>
        <p:spPr>
          <a:xfrm>
            <a:off x="620704" y="1196752"/>
            <a:ext cx="10659872" cy="1446550"/>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Debugging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3630239231"/>
              </p:ext>
            </p:extLst>
          </p:nvPr>
        </p:nvGraphicFramePr>
        <p:xfrm>
          <a:off x="620704" y="2996952"/>
          <a:ext cx="10731880" cy="158496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2">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1306486799"/>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2664344395"/>
                  </a:ext>
                </a:extLst>
              </a:tr>
              <a:tr h="370840">
                <a:tc>
                  <a:txBody>
                    <a:bodyPr/>
                    <a:lstStyle/>
                    <a:p>
                      <a:r>
                        <a:rPr lang="en-US" sz="2000" dirty="0" err="1"/>
                        <a:t>Mindwell</a:t>
                      </a:r>
                      <a:endParaRPr lang="nl-BE" sz="2000" dirty="0"/>
                    </a:p>
                  </a:txBody>
                  <a:tcPr/>
                </a:tc>
                <a:tc>
                  <a:txBody>
                    <a:bodyPr/>
                    <a:lstStyle/>
                    <a:p>
                      <a:r>
                        <a:rPr lang="en-US" sz="2000" dirty="0"/>
                        <a:t>interactive</a:t>
                      </a:r>
                      <a:endParaRPr lang="nl-BE" sz="2000" dirty="0"/>
                    </a:p>
                  </a:txBody>
                  <a:tcPr/>
                </a:tc>
                <a:tc>
                  <a:txBody>
                    <a:bodyPr/>
                    <a:lstStyle/>
                    <a:p>
                      <a:r>
                        <a:rPr lang="en-US" sz="2000" dirty="0"/>
                        <a:t>2 Granite Rapids nodes, each with 2 RTX5000 GPUs</a:t>
                      </a:r>
                      <a:endParaRPr lang="nl-BE" sz="2000" dirty="0"/>
                    </a:p>
                  </a:txBody>
                  <a:tcPr/>
                </a:tc>
                <a:extLst>
                  <a:ext uri="{0D108BD9-81ED-4DB2-BD59-A6C34878D82A}">
                    <a16:rowId xmlns:a16="http://schemas.microsoft.com/office/drawing/2014/main" val="3270714814"/>
                  </a:ext>
                </a:extLst>
              </a:tr>
            </a:tbl>
          </a:graphicData>
        </a:graphic>
      </p:graphicFrame>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96</a:t>
            </a:fld>
            <a:endParaRPr lang="nl-BE" dirty="0"/>
          </a:p>
        </p:txBody>
      </p:sp>
      <p:sp>
        <p:nvSpPr>
          <p:cNvPr id="5" name="TextBox 4"/>
          <p:cNvSpPr txBox="1"/>
          <p:nvPr/>
        </p:nvSpPr>
        <p:spPr>
          <a:xfrm>
            <a:off x="719999" y="1156676"/>
            <a:ext cx="5736041" cy="3416320"/>
          </a:xfrm>
          <a:prstGeom prst="rect">
            <a:avLst/>
          </a:prstGeom>
          <a:noFill/>
          <a:ln w="19050">
            <a:noFill/>
          </a:ln>
        </p:spPr>
        <p:txBody>
          <a:bodyPr wrap="square" rtlCol="0">
            <a:spAutoFit/>
          </a:bodyPr>
          <a:lstStyle/>
          <a:p>
            <a:pPr marL="285750" indent="-324000">
              <a:buClr>
                <a:srgbClr val="DB6C30"/>
              </a:buClr>
              <a:buBlip>
                <a:blip r:embed="rId2"/>
              </a:buBlip>
            </a:pPr>
            <a:r>
              <a:rPr lang="en-US" dirty="0"/>
              <a:t>What? </a:t>
            </a:r>
          </a:p>
          <a:p>
            <a:pPr marL="742950" lvl="1" indent="-324000">
              <a:buClr>
                <a:srgbClr val="DB6C30"/>
              </a:buClr>
              <a:buFont typeface="Arial" panose="020B0604020202020204" pitchFamily="34" charset="0"/>
              <a:buChar char="•"/>
            </a:pPr>
            <a:r>
              <a:rPr lang="en-US" dirty="0"/>
              <a:t>Self-contained OS image</a:t>
            </a:r>
            <a:br>
              <a:rPr lang="en-US" dirty="0"/>
            </a:br>
            <a:r>
              <a:rPr lang="en-US" dirty="0"/>
              <a:t>in which you can install software and include data</a:t>
            </a:r>
          </a:p>
          <a:p>
            <a:pPr marL="285750" indent="-324000">
              <a:buClr>
                <a:srgbClr val="DB6C30"/>
              </a:buClr>
              <a:buBlip>
                <a:blip r:embed="rId2"/>
              </a:buBlip>
            </a:pPr>
            <a:r>
              <a:rPr lang="en-US" dirty="0"/>
              <a:t>Why? </a:t>
            </a:r>
          </a:p>
          <a:p>
            <a:pPr marL="742950" lvl="1" indent="-324000">
              <a:buClr>
                <a:srgbClr val="DB6C30"/>
              </a:buClr>
              <a:buFont typeface="Arial" panose="020B0604020202020204" pitchFamily="34" charset="0"/>
              <a:buChar char="•"/>
            </a:pPr>
            <a:r>
              <a:rPr lang="en-US" dirty="0"/>
              <a:t>Package managers like </a:t>
            </a:r>
            <a:r>
              <a:rPr lang="en-US" sz="1400" dirty="0">
                <a:latin typeface="72 Monospace" panose="020B0509030603020204" pitchFamily="49" charset="0"/>
                <a:cs typeface="72 Monospace" panose="020B0509030603020204" pitchFamily="49" charset="0"/>
              </a:rPr>
              <a:t>apt</a:t>
            </a:r>
            <a:r>
              <a:rPr lang="en-US" dirty="0"/>
              <a:t> can be convenient</a:t>
            </a:r>
          </a:p>
          <a:p>
            <a:pPr marL="742950" lvl="1" indent="-324000">
              <a:buClr>
                <a:srgbClr val="DB6C30"/>
              </a:buClr>
              <a:buFont typeface="Arial" panose="020B0604020202020204" pitchFamily="34" charset="0"/>
              <a:buChar char="•"/>
            </a:pPr>
            <a:r>
              <a:rPr lang="en-US" dirty="0"/>
              <a:t>Portability: images can be used on various hardware (but performance may be sub-par)</a:t>
            </a:r>
          </a:p>
          <a:p>
            <a:pPr marL="285750" indent="-324000">
              <a:buClr>
                <a:srgbClr val="DB6C30"/>
              </a:buClr>
              <a:buBlip>
                <a:blip r:embed="rId2"/>
              </a:buBlip>
            </a:pPr>
            <a:r>
              <a:rPr lang="en-US" dirty="0"/>
              <a:t>How?</a:t>
            </a:r>
          </a:p>
          <a:p>
            <a:pPr marL="742950" lvl="1" indent="-324000">
              <a:buClr>
                <a:srgbClr val="DB6C30"/>
              </a:buClr>
              <a:buFont typeface="Arial" panose="020B0604020202020204" pitchFamily="34" charset="0"/>
              <a:buChar char="•"/>
            </a:pPr>
            <a:r>
              <a:rPr lang="en-US" dirty="0"/>
              <a:t>Create the image</a:t>
            </a:r>
          </a:p>
          <a:p>
            <a:pPr marL="742950" lvl="1" indent="-324000">
              <a:buClr>
                <a:srgbClr val="DB6C30"/>
              </a:buClr>
              <a:buFont typeface="Arial" panose="020B0604020202020204" pitchFamily="34" charset="0"/>
              <a:buChar char="•"/>
            </a:pPr>
            <a:r>
              <a:rPr lang="en-US" dirty="0"/>
              <a:t>Run it on </a:t>
            </a:r>
            <a:r>
              <a:rPr lang="en-US" dirty="0" err="1"/>
              <a:t>wICE</a:t>
            </a:r>
            <a:r>
              <a:rPr lang="en-US" dirty="0"/>
              <a:t> or </a:t>
            </a:r>
            <a:r>
              <a:rPr lang="en-US" dirty="0" err="1"/>
              <a:t>Mindwell</a:t>
            </a:r>
            <a:endParaRPr lang="en-US" dirty="0"/>
          </a:p>
          <a:p>
            <a:pPr marL="742950" lvl="1" indent="-324000">
              <a:buClr>
                <a:srgbClr val="DB6C30"/>
              </a:buClr>
              <a:buFont typeface="Arial" panose="020B0604020202020204" pitchFamily="34" charset="0"/>
              <a:buChar char="•"/>
            </a:pPr>
            <a:r>
              <a:rPr lang="en-US" dirty="0"/>
              <a:t>Parallelization should work</a:t>
            </a:r>
            <a:br>
              <a:rPr lang="en-US" dirty="0"/>
            </a:br>
            <a:r>
              <a:rPr lang="en-US"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53265" y="1124744"/>
            <a:ext cx="5448013" cy="4966772"/>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729464" y="4638035"/>
            <a:ext cx="5294528" cy="2031325"/>
            <a:chOff x="2826024" y="5024153"/>
            <a:chExt cx="4622022" cy="2031325"/>
          </a:xfrm>
        </p:grpSpPr>
        <p:sp>
          <p:nvSpPr>
            <p:cNvPr id="12" name="TextBox 3"/>
            <p:cNvSpPr txBox="1">
              <a:spLocks noChangeArrowheads="1"/>
            </p:cNvSpPr>
            <p:nvPr/>
          </p:nvSpPr>
          <p:spPr bwMode="auto">
            <a:xfrm>
              <a:off x="2826024" y="5024153"/>
              <a:ext cx="4622019" cy="2031325"/>
            </a:xfrm>
            <a:prstGeom prst="rect">
              <a:avLst/>
            </a:prstGeom>
            <a:solidFill>
              <a:schemeClr val="bg1">
                <a:lumMod val="95000"/>
              </a:schemeClr>
            </a:solidFill>
            <a:ln w="25400">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#!/bin/</a:t>
              </a:r>
              <a:r>
                <a:rPr lang="nl-BE" dirty="0" err="1">
                  <a:solidFill>
                    <a:srgbClr val="4E5865"/>
                  </a:solidFill>
                  <a:latin typeface="Courier New" panose="02070309020205020404" pitchFamily="49" charset="0"/>
                  <a:ea typeface="新細明體"/>
                  <a:cs typeface="Courier New" panose="02070309020205020404" pitchFamily="49" charset="0"/>
                </a:rPr>
                <a:t>bash</a:t>
              </a:r>
              <a:r>
                <a:rPr lang="nl-BE"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#SBATCH --time=30:00</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nodes</a:t>
              </a:r>
              <a:r>
                <a:rPr lang="nl-BE" dirty="0">
                  <a:solidFill>
                    <a:srgbClr val="4E5865"/>
                  </a:solidFill>
                  <a:latin typeface="Courier New" panose="02070309020205020404" pitchFamily="49" charset="0"/>
                  <a:ea typeface="新細明體"/>
                  <a:cs typeface="Courier New" panose="02070309020205020404" pitchFamily="49" charset="0"/>
                </a:rPr>
                <a:t>=1</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ntasks</a:t>
              </a:r>
              <a:r>
                <a:rPr lang="nl-BE" dirty="0">
                  <a:solidFill>
                    <a:srgbClr val="4E5865"/>
                  </a:solidFill>
                  <a:latin typeface="Courier New" panose="02070309020205020404" pitchFamily="49" charset="0"/>
                  <a:ea typeface="新細明體"/>
                  <a:cs typeface="Courier New" panose="02070309020205020404" pitchFamily="49" charset="0"/>
                </a:rPr>
                <a:t>=72</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--clusters=</a:t>
              </a:r>
              <a:r>
                <a:rPr lang="nl-BE" dirty="0" err="1">
                  <a:solidFill>
                    <a:srgbClr val="4E5865"/>
                  </a:solidFill>
                  <a:latin typeface="Courier New" panose="02070309020205020404" pitchFamily="49" charset="0"/>
                  <a:ea typeface="新細明體"/>
                  <a:cs typeface="Courier New" panose="02070309020205020404" pitchFamily="49" charset="0"/>
                </a:rPr>
                <a:t>wice</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--account=</a:t>
              </a:r>
              <a:r>
                <a:rPr lang="nl-BE" dirty="0" err="1">
                  <a:solidFill>
                    <a:srgbClr val="4E5865"/>
                  </a:solidFill>
                  <a:latin typeface="Courier New" panose="02070309020205020404" pitchFamily="49" charset="0"/>
                  <a:ea typeface="新細明體"/>
                  <a:cs typeface="Courier New" panose="02070309020205020404" pitchFamily="49" charset="0"/>
                </a:rPr>
                <a:t>lp_hpcinfo</a:t>
              </a:r>
              <a:endParaRPr lang="nl-BE"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dirty="0" err="1">
                  <a:solidFill>
                    <a:srgbClr val="4E5865"/>
                  </a:solidFill>
                  <a:latin typeface="Courier New" panose="02070309020205020404" pitchFamily="49" charset="0"/>
                  <a:ea typeface="新細明體"/>
                  <a:cs typeface="Courier New" panose="02070309020205020404" pitchFamily="49" charset="0"/>
                </a:rPr>
                <a:t>apptainer</a:t>
              </a:r>
              <a:r>
                <a:rPr lang="nl-BE" dirty="0">
                  <a:solidFill>
                    <a:srgbClr val="4E5865"/>
                  </a:solidFill>
                  <a:latin typeface="Courier New" panose="02070309020205020404" pitchFamily="49" charset="0"/>
                  <a:ea typeface="新細明體"/>
                  <a:cs typeface="Courier New" panose="02070309020205020404" pitchFamily="49" charset="0"/>
                </a:rPr>
                <a:t> run </a:t>
              </a:r>
              <a:r>
                <a:rPr lang="nl-BE" dirty="0" err="1">
                  <a:solidFill>
                    <a:srgbClr val="4E5865"/>
                  </a:solidFill>
                  <a:latin typeface="Courier New" panose="02070309020205020404" pitchFamily="49" charset="0"/>
                  <a:ea typeface="新細明體"/>
                  <a:cs typeface="Courier New" panose="02070309020205020404" pitchFamily="49" charset="0"/>
                </a:rPr>
                <a:t>Project.sif</a:t>
              </a:r>
              <a:r>
                <a:rPr lang="nl-BE"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5039254"/>
              <a:ext cx="1153632" cy="276999"/>
            </a:xfrm>
            <a:prstGeom prst="rect">
              <a:avLst/>
            </a:prstGeom>
            <a:solidFill>
              <a:srgbClr val="DB6C30"/>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97</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9" name="Tijdelijke aanduiding voor inhoud 2"/>
          <p:cNvSpPr>
            <a:spLocks noGrp="1"/>
          </p:cNvSpPr>
          <p:nvPr>
            <p:ph idx="1"/>
          </p:nvPr>
        </p:nvSpPr>
        <p:spPr>
          <a:xfrm>
            <a:off x="524690" y="1620000"/>
            <a:ext cx="11112000" cy="2313056"/>
          </a:xfrm>
          <a:ln w="25400">
            <a:solidFill>
              <a:schemeClr val="accent1"/>
            </a:solidFill>
          </a:ln>
        </p:spPr>
        <p:txBody>
          <a:bodyPr anchor="ctr"/>
          <a:lstStyle/>
          <a:p>
            <a:pPr marL="172800" lvl="2" indent="-324000">
              <a:buBlip>
                <a:blip r:embed="rId3"/>
              </a:buBlip>
            </a:pPr>
            <a:r>
              <a:rPr lang="en-US" altLang="zh-TW" sz="2200" dirty="0">
                <a:ea typeface="新細明體" panose="02020500000000000000" pitchFamily="18" charset="-120"/>
              </a:rPr>
              <a:t>You can use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ea typeface="新細明體" panose="02020500000000000000" pitchFamily="18" charset="-120"/>
              </a:rPr>
              <a:t> to handle high-throughput computing workloads</a:t>
            </a:r>
          </a:p>
          <a:p>
            <a:pPr marL="172800" lvl="2" indent="-324000">
              <a:buBlip>
                <a:blip r:embed="rId3"/>
              </a:buBlip>
            </a:pP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module load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/&lt;version&gt;</a:t>
            </a:r>
          </a:p>
          <a:p>
            <a:pPr marL="172800" lvl="2" indent="-324000">
              <a:buBlip>
                <a:blip r:embed="rId3"/>
              </a:buBlip>
            </a:pPr>
            <a:r>
              <a:rPr lang="en-US" altLang="zh-TW" sz="2200" dirty="0">
                <a:ea typeface="新細明體" panose="02020500000000000000" pitchFamily="18" charset="-120"/>
              </a:rPr>
              <a:t>VSC training: Workflows for Data Science</a:t>
            </a:r>
          </a:p>
          <a:p>
            <a:pPr marL="172800" lvl="2" indent="-324000">
              <a:buBlip>
                <a:blip r:embed="rId3"/>
              </a:buBlip>
            </a:pPr>
            <a:r>
              <a:rPr lang="en-US" altLang="zh-TW" sz="2200" dirty="0">
                <a:ea typeface="新細明體" panose="02020500000000000000" pitchFamily="18" charset="-120"/>
              </a:rPr>
              <a:t>Training material: </a:t>
            </a:r>
            <a:r>
              <a:rPr lang="en-US" altLang="zh-TW" sz="2200" dirty="0">
                <a:ea typeface="新細明體" panose="02020500000000000000" pitchFamily="18" charset="-120"/>
                <a:hlinkClick r:id="rId4"/>
              </a:rPr>
              <a:t>https://github.com/gjbex/Workflows-for-HPC</a:t>
            </a:r>
            <a:r>
              <a:rPr lang="en-US" altLang="zh-TW" sz="2200" dirty="0">
                <a:ea typeface="新細明體" panose="02020500000000000000" pitchFamily="18" charset="-120"/>
              </a:rPr>
              <a:t> </a:t>
            </a:r>
          </a:p>
          <a:p>
            <a:pPr marL="172800" lvl="2" indent="-324000">
              <a:buBlip>
                <a:blip r:embed="rId3"/>
              </a:buBlip>
            </a:pPr>
            <a:r>
              <a:rPr lang="en-US" altLang="zh-TW" sz="2200" dirty="0">
                <a:ea typeface="新細明體" panose="02020500000000000000" pitchFamily="18" charset="-120"/>
              </a:rPr>
              <a:t>Recording: </a:t>
            </a:r>
            <a:r>
              <a:rPr lang="en-US" altLang="zh-TW" sz="2200" dirty="0">
                <a:ea typeface="新細明體" panose="02020500000000000000" pitchFamily="18" charset="-120"/>
                <a:hlinkClick r:id="rId5"/>
              </a:rPr>
              <a:t>https://www.youtube.com/watch?v=GlwaRyi1LVA</a:t>
            </a: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User documentation: </a:t>
            </a:r>
            <a:r>
              <a:rPr lang="en-US" altLang="zh-TW" sz="2200" dirty="0">
                <a:ea typeface="新細明體" panose="02020500000000000000" pitchFamily="18" charset="-120"/>
                <a:hlinkClick r:id="rId6"/>
              </a:rPr>
              <a:t>https://atools.readthedocs.io/en/latest/</a:t>
            </a:r>
            <a:r>
              <a:rPr lang="en-US" altLang="zh-TW" sz="2200" dirty="0">
                <a:ea typeface="新細明體" panose="02020500000000000000" pitchFamily="18" charset="-120"/>
              </a:rPr>
              <a:t> </a:t>
            </a:r>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4696778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98</a:t>
            </a:fld>
            <a:endParaRPr lang="en-US"/>
          </a:p>
        </p:txBody>
      </p:sp>
    </p:spTree>
    <p:extLst>
      <p:ext uri="{BB962C8B-B14F-4D97-AF65-F5344CB8AC3E}">
        <p14:creationId xmlns:p14="http://schemas.microsoft.com/office/powerpoint/2010/main" val="354225173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24691" y="1620000"/>
            <a:ext cx="10107813" cy="2745104"/>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Request to become a member of the </a:t>
            </a:r>
            <a:r>
              <a:rPr lang="en-US" altLang="zh-TW" sz="2200" i="1" dirty="0" err="1">
                <a:ea typeface="新細明體" panose="02020500000000000000" pitchFamily="18" charset="-120"/>
              </a:rPr>
              <a:t>lp_hpcinfo</a:t>
            </a:r>
            <a:r>
              <a:rPr lang="en-US" altLang="zh-TW" sz="2200" dirty="0">
                <a:ea typeface="新細明體" panose="02020500000000000000" pitchFamily="18" charset="-120"/>
              </a:rPr>
              <a:t> group via </a:t>
            </a:r>
            <a:r>
              <a:rPr lang="en-US" altLang="zh-TW" sz="2200" dirty="0">
                <a:ea typeface="新細明體" panose="02020500000000000000" pitchFamily="18" charset="-120"/>
                <a:hlinkClick r:id="rId4"/>
              </a:rPr>
              <a:t>account.vscentrum.be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Transfer a file with FileZilla</a:t>
            </a:r>
          </a:p>
          <a:p>
            <a:pPr indent="-324000">
              <a:buBlip>
                <a:blip r:embed="rId3"/>
              </a:buBlip>
            </a:pPr>
            <a:r>
              <a:rPr lang="en-US" altLang="zh-TW" sz="2200" dirty="0">
                <a:ea typeface="新細明體" panose="02020500000000000000" pitchFamily="18" charset="-120"/>
              </a:rPr>
              <a:t>Check your disk quota</a:t>
            </a:r>
          </a:p>
          <a:p>
            <a:pPr indent="-324000">
              <a:buBlip>
                <a:blip r:embed="rId3"/>
              </a:buBlip>
            </a:pPr>
            <a:r>
              <a:rPr lang="en-US" altLang="zh-TW" sz="2200" dirty="0">
                <a:ea typeface="新細明體" panose="02020500000000000000" pitchFamily="18" charset="-120"/>
              </a:rPr>
              <a:t>Check your available credits</a:t>
            </a:r>
          </a:p>
          <a:p>
            <a:pPr indent="-324000">
              <a:buBlip>
                <a:blip r:embed="rId3"/>
              </a:buBlip>
            </a:pPr>
            <a:r>
              <a:rPr lang="en-US" altLang="zh-TW" sz="2200" dirty="0">
                <a:ea typeface="新細明體" panose="02020500000000000000" pitchFamily="18" charset="-120"/>
              </a:rPr>
              <a:t>Check/load/list/unload/purge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368278730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51385" y="1620000"/>
            <a:ext cx="10945216" cy="2817112"/>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Copy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/apps/</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leuven</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/training/</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HPC_intro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t>
            </a:r>
            <a:r>
              <a:rPr lang="en-US" altLang="zh-TW" sz="2200" dirty="0">
                <a:ea typeface="新細明體" panose="02020500000000000000" pitchFamily="18" charset="-120"/>
              </a:rPr>
              <a:t> to your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$VSC_DATA</a:t>
            </a:r>
          </a:p>
          <a:p>
            <a:pPr indent="-324000">
              <a:buBlip>
                <a:blip r:embed="rId3"/>
              </a:buBlip>
            </a:pPr>
            <a:r>
              <a:rPr lang="en-US" altLang="zh-TW" sz="2200" dirty="0">
                <a:ea typeface="新細明體" panose="02020500000000000000" pitchFamily="18" charset="-120"/>
              </a:rPr>
              <a:t>Submit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cpujob.slurm</a:t>
            </a:r>
            <a:r>
              <a:rPr lang="en-US" altLang="zh-TW" sz="2200" dirty="0">
                <a:ea typeface="新細明體" panose="02020500000000000000" pitchFamily="18" charset="-120"/>
              </a:rPr>
              <a:t> to the cluster</a:t>
            </a:r>
          </a:p>
          <a:p>
            <a:pPr indent="-324000">
              <a:buBlip>
                <a:blip r:embed="rId3"/>
              </a:buBlip>
            </a:pPr>
            <a:r>
              <a:rPr lang="en-US" altLang="zh-TW" sz="2200" dirty="0">
                <a:ea typeface="新細明體" panose="02020500000000000000" pitchFamily="18" charset="-120"/>
              </a:rPr>
              <a:t>List all your jobs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squeue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Check the information about the job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&lt;</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job_ID</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&gt;</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Modify the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mpi.slurm</a:t>
            </a:r>
            <a:r>
              <a:rPr lang="en-US" altLang="zh-TW" sz="2200" dirty="0">
                <a:ea typeface="新細明體" panose="02020500000000000000" pitchFamily="18" charset="-120"/>
              </a:rPr>
              <a:t> script to request 1 node, 72 cores for 30 minutes,</a:t>
            </a:r>
            <a:br>
              <a:rPr lang="en-US" altLang="zh-TW" sz="2200" dirty="0">
                <a:ea typeface="新細明體" panose="02020500000000000000" pitchFamily="18" charset="-120"/>
              </a:rPr>
            </a:br>
            <a:r>
              <a:rPr lang="en-US" altLang="zh-TW" sz="2200" dirty="0">
                <a:ea typeface="新細明體" panose="02020500000000000000" pitchFamily="18" charset="-120"/>
              </a:rPr>
              <a:t>  with job start/end e-mail notifications</a:t>
            </a:r>
          </a:p>
          <a:p>
            <a:pPr indent="-324000">
              <a:buBlip>
                <a:blip r:embed="rId3"/>
              </a:buBlip>
            </a:pPr>
            <a:r>
              <a:rPr lang="en-US" altLang="zh-TW" sz="2200" dirty="0">
                <a:ea typeface="新細明體" panose="02020500000000000000" pitchFamily="18" charset="-120"/>
              </a:rPr>
              <a:t>Check the status of all the jobs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16970980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101</a:t>
            </a:fld>
            <a:endParaRPr lang="en-US" dirty="0"/>
          </a:p>
        </p:txBody>
      </p:sp>
      <p:sp>
        <p:nvSpPr>
          <p:cNvPr id="5" name="Tijdelijke aanduiding voor inhoud 2"/>
          <p:cNvSpPr txBox="1">
            <a:spLocks/>
          </p:cNvSpPr>
          <p:nvPr/>
        </p:nvSpPr>
        <p:spPr>
          <a:xfrm>
            <a:off x="549371" y="1614400"/>
            <a:ext cx="11667309" cy="2966728"/>
          </a:xfrm>
          <a:prstGeom prst="rect">
            <a:avLst/>
          </a:prstGeom>
          <a:ln w="25400">
            <a:solidFill>
              <a:schemeClr val="accent1"/>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172800" lvl="2" indent="-324000">
              <a:buBlip>
                <a:blip r:embed="rId3"/>
              </a:buBlip>
            </a:pPr>
            <a:r>
              <a:rPr lang="en-US" altLang="zh-TW" sz="2200" dirty="0">
                <a:ea typeface="新細明體" panose="02020500000000000000" pitchFamily="18" charset="-120"/>
              </a:rPr>
              <a:t>Submit an interactive job</a:t>
            </a:r>
          </a:p>
          <a:p>
            <a:pPr marL="357188" lvl="2" indent="0">
              <a:buNone/>
            </a:pPr>
            <a:r>
              <a:rPr lang="en-US" altLang="zh-TW" sz="2200" dirty="0">
                <a:ea typeface="新細明體" panose="02020500000000000000" pitchFamily="18" charset="-120"/>
              </a:rPr>
              <a:t>	Run your program on a compute node</a:t>
            </a:r>
          </a:p>
          <a:p>
            <a:pPr marL="357188" lvl="2" indent="0">
              <a:buNone/>
            </a:pPr>
            <a:r>
              <a:rPr lang="en-US" altLang="zh-TW" sz="2200" dirty="0">
                <a:ea typeface="新細明體" panose="02020500000000000000" pitchFamily="18" charset="-120"/>
              </a:rPr>
              <a:t>	Open a new terminal and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to the allocated compute node </a:t>
            </a:r>
          </a:p>
          <a:p>
            <a:pPr marL="357188" lvl="2" indent="0">
              <a:buNone/>
            </a:pPr>
            <a:r>
              <a:rPr lang="en-US" altLang="zh-TW" sz="2200" dirty="0">
                <a:ea typeface="新細明體" panose="02020500000000000000" pitchFamily="18" charset="-120"/>
              </a:rPr>
              <a:t>	Check the resources usage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endParaRPr lang="en-US" altLang="zh-TW" sz="2200" dirty="0">
              <a:ea typeface="新細明體" panose="02020500000000000000" pitchFamily="18" charset="-120"/>
            </a:endParaRPr>
          </a:p>
          <a:p>
            <a:pPr marL="357188" lvl="2" indent="0">
              <a:buNone/>
            </a:pP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Submit a GPU batch job </a:t>
            </a:r>
          </a:p>
          <a:p>
            <a:pPr marL="357188" lvl="2" indent="0">
              <a:buNone/>
              <a:tabLst>
                <a:tab pos="1076325" algn="l"/>
              </a:tabLst>
            </a:pPr>
            <a:r>
              <a:rPr lang="en-US" altLang="zh-TW" sz="2200" dirty="0">
                <a:ea typeface="新細明體" panose="02020500000000000000" pitchFamily="18" charset="-120"/>
              </a:rPr>
              <a:t>     While the job is running, check its details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endParaRPr lang="en-US" altLang="zh-TW" sz="2200" dirty="0">
              <a:ea typeface="新細明體" panose="02020500000000000000" pitchFamily="18" charset="-120"/>
            </a:endParaRPr>
          </a:p>
          <a:p>
            <a:pPr marL="357188" lvl="2" indent="0">
              <a:buNone/>
              <a:tabLst>
                <a:tab pos="1076325" algn="l"/>
              </a:tabLst>
            </a:pPr>
            <a:r>
              <a:rPr lang="en-US" altLang="zh-TW" sz="2200" dirty="0">
                <a:ea typeface="新細明體" panose="02020500000000000000" pitchFamily="18" charset="-120"/>
              </a:rPr>
              <a:t>     and check resource on the compute node using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r>
              <a:rPr lang="en-US" altLang="zh-TW" sz="2200" dirty="0">
                <a:ea typeface="新細明體" panose="02020500000000000000" pitchFamily="18" charset="-120"/>
              </a:rPr>
              <a:t> and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nvidia-smi</a:t>
            </a:r>
            <a:endParaRPr lang="en-US" altLang="zh-TW" sz="2200" dirty="0">
              <a:latin typeface="Courier New" panose="02070309020205020404" pitchFamily="49" charset="0"/>
              <a:ea typeface="新細明體" panose="02020500000000000000" pitchFamily="18" charset="-12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540469" y="1197620"/>
            <a:ext cx="10937067" cy="3785652"/>
          </a:xfrm>
          <a:prstGeom prst="rect">
            <a:avLst/>
          </a:prstGeom>
          <a:ln w="25400">
            <a:solidFill>
              <a:srgbClr val="DB6C30"/>
            </a:solidFill>
          </a:ln>
        </p:spPr>
        <p:txBody>
          <a:bodyPr wrap="square" anchor="ctr">
            <a:spAutoFit/>
          </a:bodyPr>
          <a:lstStyle/>
          <a:p>
            <a:r>
              <a:rPr lang="nl-NL" altLang="en-US" sz="2200" dirty="0"/>
              <a:t>Helpdesk (email): </a:t>
            </a:r>
            <a:r>
              <a:rPr lang="nl-NL" altLang="en-US" sz="2200" dirty="0">
                <a:hlinkClick r:id="rId2"/>
              </a:rPr>
              <a:t>hpcinfo@kuleuven.be</a:t>
            </a:r>
            <a:endParaRPr lang="nl-NL" altLang="en-US" sz="2200" dirty="0"/>
          </a:p>
          <a:p>
            <a:endParaRPr lang="en-US" altLang="en-US" sz="2200" dirty="0"/>
          </a:p>
          <a:p>
            <a:r>
              <a:rPr lang="en-US" altLang="en-US" sz="2200" dirty="0"/>
              <a:t>Helpdesk (online form): </a:t>
            </a:r>
            <a:r>
              <a:rPr lang="en-US" altLang="en-US" sz="2200" dirty="0">
                <a:hlinkClick r:id="rId3"/>
              </a:rPr>
              <a:t>https://admin.kuleuven.be/icts/HPCinfo_form/HPC-info-formulier</a:t>
            </a:r>
            <a:br>
              <a:rPr lang="en-US" altLang="en-US" sz="2200" dirty="0"/>
            </a:br>
            <a:endParaRPr lang="nl-NL" altLang="en-US" sz="2200" dirty="0">
              <a:solidFill>
                <a:srgbClr val="DB6C30"/>
              </a:solidFill>
            </a:endParaRPr>
          </a:p>
          <a:p>
            <a:r>
              <a:rPr lang="nl-NL" altLang="en-US" sz="2200" dirty="0"/>
              <a:t>VSC website: </a:t>
            </a:r>
            <a:r>
              <a:rPr lang="nl-BE" altLang="en-US" sz="2200" dirty="0">
                <a:solidFill>
                  <a:srgbClr val="DB6C30"/>
                </a:solidFill>
                <a:hlinkClick r:id="rId4"/>
              </a:rPr>
              <a:t>https://www.vscentrum.be</a:t>
            </a:r>
            <a:endParaRPr lang="nl-BE" altLang="en-US" sz="2200" dirty="0">
              <a:solidFill>
                <a:srgbClr val="DB6C30"/>
              </a:solidFill>
            </a:endParaRPr>
          </a:p>
          <a:p>
            <a:endParaRPr lang="en-US" altLang="en-US" sz="2200" dirty="0"/>
          </a:p>
          <a:p>
            <a:r>
              <a:rPr lang="en-US" altLang="en-US" sz="2200" dirty="0"/>
              <a:t>VSC documentation: </a:t>
            </a:r>
            <a:r>
              <a:rPr lang="nl-BE" sz="2200" dirty="0">
                <a:solidFill>
                  <a:srgbClr val="DB6C30"/>
                </a:solidFill>
                <a:hlinkClick r:id="rId5"/>
              </a:rPr>
              <a:t>https://docs.vscentrum.be</a:t>
            </a:r>
            <a:br>
              <a:rPr lang="nl-BE" sz="2000" dirty="0"/>
            </a:br>
            <a:endParaRPr lang="nl-BE" sz="2000" dirty="0"/>
          </a:p>
          <a:p>
            <a:r>
              <a:rPr lang="en-US" altLang="en-US" sz="2200" dirty="0"/>
              <a:t>VSC agenda, training sessions, events (User Day): </a:t>
            </a:r>
            <a:r>
              <a:rPr lang="en-US" altLang="en-US" sz="2200" dirty="0">
                <a:hlinkClick r:id="rId6"/>
              </a:rPr>
              <a:t>https://www.vscentrum.be/vsctraining</a:t>
            </a:r>
            <a:endParaRPr lang="en-US" altLang="en-US" sz="2200" dirty="0">
              <a:solidFill>
                <a:srgbClr val="DB6C30"/>
              </a:solidFill>
            </a:endParaRPr>
          </a:p>
          <a:p>
            <a:endParaRPr lang="en-US" altLang="en-US" sz="2200" dirty="0"/>
          </a:p>
          <a:p>
            <a:r>
              <a:rPr lang="en-US" altLang="en-US" sz="2200" dirty="0"/>
              <a:t>System status page: </a:t>
            </a:r>
            <a:r>
              <a:rPr lang="en-US" altLang="en-US" sz="2200" dirty="0">
                <a:hlinkClick r:id="rId7"/>
              </a:rPr>
              <a:t>https://status.vscentrum.be</a:t>
            </a:r>
            <a:endParaRPr lang="en-US" altLang="en-US" sz="2200" dirty="0"/>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102</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30091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6|17.7|94.8"/>
</p:tagLst>
</file>

<file path=ppt/tags/tag3.xml><?xml version="1.0" encoding="utf-8"?>
<p:tagLst xmlns:a="http://schemas.openxmlformats.org/drawingml/2006/main" xmlns:r="http://schemas.openxmlformats.org/officeDocument/2006/relationships" xmlns:p="http://schemas.openxmlformats.org/presentationml/2006/main">
  <p:tag name="TIMING" val="|24.7|7.5|43.4"/>
</p:tagLst>
</file>

<file path=ppt/tags/tag4.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5.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customXsn xmlns="http://schemas.microsoft.com/office/2006/metadata/customXsn">
  <xsnLocation/>
  <cached>True</cached>
  <openByDefault>True</openByDefault>
  <xsnScope>/sites/hpc</xsnScope>
</customXsn>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Props1.xml><?xml version="1.0" encoding="utf-8"?>
<ds:datastoreItem xmlns:ds="http://schemas.openxmlformats.org/officeDocument/2006/customXml" ds:itemID="{02525BB1-CEF5-4AD3-B27C-BACD2BC0D2B2}">
  <ds:schemaRefs>
    <ds:schemaRef ds:uri="http://schemas.microsoft.com/office/2006/metadata/customXsn"/>
  </ds:schemaRefs>
</ds:datastoreItem>
</file>

<file path=customXml/itemProps2.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3.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5.xml><?xml version="1.0" encoding="utf-8"?>
<ds:datastoreItem xmlns:ds="http://schemas.openxmlformats.org/officeDocument/2006/customXml" ds:itemID="{88D2AE0C-6D0B-4263-B7C4-F46CAED039CD}">
  <ds:schemaRefs>
    <ds:schemaRef ds:uri="http://purl.org/dc/dcmitype/"/>
    <ds:schemaRef ds:uri="http://schemas.microsoft.com/office/2006/documentManagement/types"/>
    <ds:schemaRef ds:uri="http://www.w3.org/XML/1998/namespace"/>
    <ds:schemaRef ds:uri="dba8b794-bc45-41c8-a8ad-34f212f94003"/>
    <ds:schemaRef ds:uri="http://purl.org/dc/terms/"/>
    <ds:schemaRef ds:uri="http://schemas.microsoft.com/office/infopath/2007/PartnerControls"/>
    <ds:schemaRef ds:uri="http://schemas.openxmlformats.org/package/2006/metadata/core-properties"/>
    <ds:schemaRef ds:uri="aff7d12c-bb71-4270-bd29-9c4d45ff3327"/>
    <ds:schemaRef ds:uri="http://schemas.microsoft.com/office/2006/metadata/properties"/>
    <ds:schemaRef ds:uri="http://schemas.microsoft.com/sharepoint/v4"/>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8995</Words>
  <Application>Microsoft Office PowerPoint</Application>
  <PresentationFormat>Widescreen</PresentationFormat>
  <Paragraphs>1416</Paragraphs>
  <Slides>103</Slides>
  <Notes>46</Notes>
  <HiddenSlides>4</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103</vt:i4>
      </vt:variant>
    </vt:vector>
  </HeadingPairs>
  <TitlesOfParts>
    <vt:vector size="121"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VSC HPC introduction course</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1820</cp:revision>
  <dcterms:created xsi:type="dcterms:W3CDTF">2012-07-10T07:57:57Z</dcterms:created>
  <dcterms:modified xsi:type="dcterms:W3CDTF">2026-09-24T16:27:55Z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