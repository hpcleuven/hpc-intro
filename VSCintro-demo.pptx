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6"/>
    <p:sldMasterId id="2147483712" r:id="rId7"/>
  </p:sldMasterIdLst>
  <p:notesMasterIdLst>
    <p:notesMasterId r:id="rId18"/>
  </p:notesMasterIdLst>
  <p:handoutMasterIdLst>
    <p:handoutMasterId r:id="rId19"/>
  </p:handoutMasterIdLst>
  <p:sldIdLst>
    <p:sldId id="258" r:id="rId8"/>
    <p:sldId id="411" r:id="rId9"/>
    <p:sldId id="987" r:id="rId10"/>
    <p:sldId id="995" r:id="rId11"/>
    <p:sldId id="989" r:id="rId12"/>
    <p:sldId id="986" r:id="rId13"/>
    <p:sldId id="988" r:id="rId14"/>
    <p:sldId id="994" r:id="rId15"/>
    <p:sldId id="979" r:id="rId16"/>
    <p:sldId id="25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outer Van Assche" initials="WVA" lastIdx="1" clrIdx="0">
    <p:extLst>
      <p:ext uri="{19B8F6BF-5375-455C-9EA6-DF929625EA0E}">
        <p15:presenceInfo xmlns:p15="http://schemas.microsoft.com/office/powerpoint/2012/main" userId="Wouter Van Assch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5865"/>
    <a:srgbClr val="DB6C30"/>
    <a:srgbClr val="DB6D32"/>
    <a:srgbClr val="F3F3F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3979" autoAdjust="0"/>
  </p:normalViewPr>
  <p:slideViewPr>
    <p:cSldViewPr snapToGrid="0">
      <p:cViewPr varScale="1">
        <p:scale>
          <a:sx n="59" d="100"/>
          <a:sy n="59" d="100"/>
        </p:scale>
        <p:origin x="28" y="5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Master" Target="slideMasters/slideMaster2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4.xml"/><Relationship Id="rId24" Type="http://schemas.openxmlformats.org/officeDocument/2006/relationships/tableStyles" Target="tableStyles.xml"/><Relationship Id="rId5" Type="http://schemas.openxmlformats.org/officeDocument/2006/relationships/customXml" Target="../customXml/item5.xml"/><Relationship Id="rId15" Type="http://schemas.openxmlformats.org/officeDocument/2006/relationships/slide" Target="slides/slide8.xml"/><Relationship Id="rId23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F519A0-78CB-4E85-BDD7-0175329041AC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7D04B4-5DD0-4898-8F9C-518F62E77A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9926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7BDF4F-FAE4-4E7A-B003-7AAF79F14F3C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92FB45-5863-49D1-8926-D42AE452AB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20204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3705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baseline="0" dirty="0">
              <a:sym typeface="Wingdings" panose="05000000000000000000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8072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371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3045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92FB45-5863-49D1-8926-D42AE452AB7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0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 hidden="1"/>
          <p:cNvSpPr>
            <a:spLocks noGrp="1"/>
          </p:cNvSpPr>
          <p:nvPr>
            <p:ph type="ftr" sz="quarte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8" name="Rectangle 6"/>
          <p:cNvSpPr/>
          <p:nvPr userDrawn="1"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/>
          <p:cNvSpPr txBox="1"/>
          <p:nvPr userDrawn="1"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/>
                </a:solidFill>
                <a:latin typeface="FlandersArtSans-Medium" panose="00000600000000000000" pitchFamily="2" charset="0"/>
              </a:rPr>
              <a:t>vscentrum</a:t>
            </a:r>
            <a:r>
              <a:rPr lang="en-US" dirty="0"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4189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023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478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5A1C33-475D-474A-A037-DDAF3DC7A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981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vscentrum.be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912448-FEEC-49E8-9588-2DF1F90D57C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142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A2290-0477-46BB-87A2-28AB474124F3}" type="datetime1">
              <a:rPr lang="nl-BE" smtClean="0"/>
              <a:t>13/06/2025</a:t>
            </a:fld>
            <a:endParaRPr lang="nl-BE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>
          <a:xfrm>
            <a:off x="10896533" y="6048000"/>
            <a:ext cx="1248000" cy="288000"/>
          </a:xfrm>
        </p:spPr>
        <p:txBody>
          <a:bodyPr/>
          <a:lstStyle>
            <a:lvl1pPr>
              <a:defRPr sz="1200"/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ijdelijke aanduiding voor tekst 2"/>
          <p:cNvSpPr>
            <a:spLocks noGrp="1"/>
          </p:cNvSpPr>
          <p:nvPr>
            <p:ph idx="1" hasCustomPrompt="1"/>
          </p:nvPr>
        </p:nvSpPr>
        <p:spPr>
          <a:xfrm>
            <a:off x="720000" y="1349999"/>
            <a:ext cx="11112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/>
            </a:lvl1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03376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96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232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3165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66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852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997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6088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0790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9885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8217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890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62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7" r:id="rId3"/>
    <p:sldLayoutId id="2147483658" r:id="rId4"/>
    <p:sldLayoutId id="2147483709" r:id="rId5"/>
    <p:sldLayoutId id="2147483711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65815-05F0-455F-BBD6-9680ABD9D1CB}" type="datetimeFigureOut">
              <a:rPr lang="en-US" smtClean="0"/>
              <a:t>6/13/2025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DE5766-DCCA-445A-AA53-048753A2C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407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www.ondemand.hpc.kuleuven.be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dmin.kuleuven.be/icts/HPCinfo_form/HPC-info-formulier" TargetMode="External"/><Relationship Id="rId2" Type="http://schemas.openxmlformats.org/officeDocument/2006/relationships/hyperlink" Target="mailto:hpcinfo@kuleuven.be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vscentrum.be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4E5865"/>
                </a:solidFill>
              </a:rPr>
              <a:t>Start with VSC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80693D-954B-42FB-8788-F8B384E06BD8}"/>
              </a:ext>
            </a:extLst>
          </p:cNvPr>
          <p:cNvSpPr/>
          <p:nvPr/>
        </p:nvSpPr>
        <p:spPr>
          <a:xfrm>
            <a:off x="731520" y="4599101"/>
            <a:ext cx="687560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sz="2800" dirty="0">
                <a:solidFill>
                  <a:srgbClr val="4E5865"/>
                </a:solidFill>
                <a:latin typeface="+mj-lt"/>
              </a:rPr>
              <a:t>https://hpcleuven.github.io/HPC-intro/</a:t>
            </a:r>
          </a:p>
        </p:txBody>
      </p:sp>
      <p:pic>
        <p:nvPicPr>
          <p:cNvPr id="7" name="Picture 6" descr="A close up of a logo&#10;&#10;Description automatically generated">
            <a:extLst>
              <a:ext uri="{FF2B5EF4-FFF2-40B4-BE49-F238E27FC236}">
                <a16:creationId xmlns:a16="http://schemas.microsoft.com/office/drawing/2014/main" id="{AF58BFEB-B72A-4BCF-B58D-8428C7B964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87" t="11172" r="11763" b="11280"/>
          <a:stretch/>
        </p:blipFill>
        <p:spPr>
          <a:xfrm>
            <a:off x="8630175" y="2889101"/>
            <a:ext cx="3420000" cy="34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23821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06691" y="294437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Basics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24691" y="1620000"/>
            <a:ext cx="11112000" cy="3528470"/>
          </a:xfrm>
        </p:spPr>
        <p:txBody>
          <a:bodyPr/>
          <a:lstStyle/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Request membership to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lp_hpcinfo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group (account.vscentrum.be)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Login via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OpenOnDemand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: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  <a:hlinkClick r:id="rId4"/>
              </a:rPr>
              <a:t>www.ondemand.hpc.kuleuven.be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Features: File transfer, File editor, interactive apps, Jobs’ overview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Check disk quota: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myquota</a:t>
            </a:r>
            <a:endParaRPr lang="en-US" altLang="zh-TW" sz="2000" dirty="0">
              <a:solidFill>
                <a:srgbClr val="4E5865"/>
              </a:solidFill>
              <a:latin typeface="Courier New" panose="02070309020205020404" pitchFamily="49" charset="0"/>
              <a:ea typeface="新細明體" panose="02020500000000000000" pitchFamily="18" charset="-120"/>
              <a:cs typeface="Courier New" panose="02070309020205020404" pitchFamily="49" charset="0"/>
            </a:endParaRP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Check the credits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sam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-balance     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and</a:t>
            </a:r>
            <a:r>
              <a:rPr lang="en-US" altLang="zh-TW" sz="2000" dirty="0">
                <a:solidFill>
                  <a:srgbClr val="4E5865"/>
                </a:solidFill>
                <a:ea typeface="新細明體" panose="02020500000000000000" pitchFamily="18" charset="-120"/>
              </a:rPr>
              <a:t>          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sam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-list-allocations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Software modules: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 module {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avail|list|load|unload|purge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}</a:t>
            </a:r>
            <a:endParaRPr lang="nl-BE" sz="2000" dirty="0">
              <a:solidFill>
                <a:srgbClr val="4E586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78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47782" y="147218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demo/test yourself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24690" y="1620000"/>
            <a:ext cx="11667309" cy="4428000"/>
          </a:xfrm>
        </p:spPr>
        <p:txBody>
          <a:bodyPr/>
          <a:lstStyle/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Copy intro training files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/apps/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leuven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/training/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HPC_intro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to your 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$VSC_DATA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Submit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cpujob</a:t>
            </a:r>
            <a:r>
              <a:rPr lang="en-US" altLang="zh-TW" sz="20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to the cluster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List all your jobs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squeue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-M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wice</a:t>
            </a: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Check the information about the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cpujob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slurm_jobinfo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-M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wice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&lt;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job_ID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&gt;</a:t>
            </a: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Modify the </a:t>
            </a:r>
            <a:r>
              <a:rPr lang="en-US" altLang="zh-TW" sz="20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mpi.slurm</a:t>
            </a:r>
            <a:r>
              <a:rPr lang="en-US" altLang="zh-TW" sz="20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script to request 1 node, 72 cores for 30 minutes and get the notification about job start/end by e-mail</a:t>
            </a:r>
          </a:p>
          <a:p>
            <a:pPr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Check the status of all the jobs</a:t>
            </a:r>
          </a:p>
          <a:p>
            <a:pPr marL="914400" lvl="2" indent="0">
              <a:buNone/>
            </a:pP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endParaRPr lang="nl-BE" sz="2400" dirty="0">
              <a:solidFill>
                <a:srgbClr val="4E5865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709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9439994"/>
              </p:ext>
            </p:extLst>
          </p:nvPr>
        </p:nvGraphicFramePr>
        <p:xfrm>
          <a:off x="108155" y="81234"/>
          <a:ext cx="12015019" cy="6022386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6626942">
                  <a:extLst>
                    <a:ext uri="{9D8B030D-6E8A-4147-A177-3AD203B41FA5}">
                      <a16:colId xmlns:a16="http://schemas.microsoft.com/office/drawing/2014/main" val="1674356392"/>
                    </a:ext>
                  </a:extLst>
                </a:gridCol>
                <a:gridCol w="5388077">
                  <a:extLst>
                    <a:ext uri="{9D8B030D-6E8A-4147-A177-3AD203B41FA5}">
                      <a16:colId xmlns:a16="http://schemas.microsoft.com/office/drawing/2014/main" val="745218725"/>
                    </a:ext>
                  </a:extLst>
                </a:gridCol>
              </a:tblGrid>
              <a:tr h="37511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</a:rPr>
                        <a:t>Command</a:t>
                      </a:r>
                      <a:endParaRPr lang="en-GB" sz="20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</a:rPr>
                        <a:t>Purpose</a:t>
                      </a:r>
                      <a:endParaRPr lang="en-GB" sz="2000" b="1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7096036"/>
                  </a:ext>
                </a:extLst>
              </a:tr>
              <a:tr h="37511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sbatch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...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Submit a batch job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0343910"/>
                  </a:ext>
                </a:extLst>
              </a:tr>
              <a:tr h="37511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srun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...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Submit an interactive job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3525469"/>
                  </a:ext>
                </a:extLst>
              </a:tr>
              <a:tr h="37511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scancel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Cancel a specific pending or running job 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131618"/>
                  </a:ext>
                </a:extLst>
              </a:tr>
              <a:tr h="62244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scontrol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show job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slurm_jobinfo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Detailed job info (very useful to diagnose issues)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1598224"/>
                  </a:ext>
                </a:extLst>
              </a:tr>
              <a:tr h="37511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squeue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--long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Status of all recent jobs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162964"/>
                  </a:ext>
                </a:extLst>
              </a:tr>
              <a:tr h="37511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squeue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--start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Give a rough estimate of start time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00807"/>
                  </a:ext>
                </a:extLst>
              </a:tr>
              <a:tr h="62244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sinfo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Info about the state of available partitions and nodes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7826251"/>
                  </a:ext>
                </a:extLst>
              </a:tr>
              <a:tr h="62244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sacct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--batch --job &lt;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JobID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Show minimal info about a queue or partition (-p)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9982086"/>
                  </a:ext>
                </a:extLst>
              </a:tr>
              <a:tr h="889203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slurmtop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cs typeface="72 Monospace" panose="020B05090306030202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scontrol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--cluster=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wice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 show node &lt;hostname&gt;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Overview of the cluster</a:t>
                      </a:r>
                      <a:endParaRPr lang="en-GB" sz="1800" b="0" dirty="0">
                        <a:effectLst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Get detailed information about the status of a node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914137"/>
                  </a:ext>
                </a:extLst>
              </a:tr>
              <a:tr h="375111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sam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-balance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Overview of all your available credit projects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0533005"/>
                  </a:ext>
                </a:extLst>
              </a:tr>
              <a:tr h="62244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$ </a:t>
                      </a:r>
                      <a:r>
                        <a:rPr lang="en-US" sz="1800" b="0" dirty="0" err="1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sam</a:t>
                      </a:r>
                      <a:r>
                        <a:rPr lang="en-US" sz="1800" b="0" dirty="0">
                          <a:effectLst/>
                          <a:latin typeface="72 Monospace" panose="020B0509030603020204" pitchFamily="49" charset="0"/>
                          <a:cs typeface="72 Monospace" panose="020B0509030603020204" pitchFamily="49" charset="0"/>
                        </a:rPr>
                        <a:t>-list-allocations</a:t>
                      </a:r>
                      <a:endParaRPr lang="en-GB" sz="2000" b="0" dirty="0">
                        <a:effectLst/>
                        <a:latin typeface="72 Monospace" panose="020B0509030603020204" pitchFamily="49" charset="0"/>
                        <a:ea typeface="Calibri" panose="020F0502020204030204" pitchFamily="34" charset="0"/>
                        <a:cs typeface="72 Monospace" panose="020B050903060302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0" dirty="0">
                          <a:effectLst/>
                        </a:rPr>
                        <a:t>Detailed overview of your credit allocation history</a:t>
                      </a:r>
                      <a:endParaRPr lang="en-GB" sz="1800" b="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0031654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2157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99153" y="282343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demo - monitoring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287384" y="1619999"/>
            <a:ext cx="11817530" cy="3630095"/>
          </a:xfrm>
        </p:spPr>
        <p:txBody>
          <a:bodyPr/>
          <a:lstStyle/>
          <a:p>
            <a:pPr marL="700088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Submit an interactive job</a:t>
            </a:r>
          </a:p>
          <a:p>
            <a:pPr marL="357188" lvl="2" indent="0">
              <a:buNone/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	Run your program on a compute node</a:t>
            </a:r>
          </a:p>
          <a:p>
            <a:pPr marL="357188" lvl="2" indent="0">
              <a:buNone/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	Open a new terminal and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ssh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to a compute node </a:t>
            </a:r>
          </a:p>
          <a:p>
            <a:pPr marL="357188" lvl="2" indent="0">
              <a:buNone/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	Check the resource usage (</a:t>
            </a:r>
            <a:r>
              <a:rPr lang="en-US" altLang="zh-TW" sz="24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htop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)</a:t>
            </a:r>
          </a:p>
          <a:p>
            <a:pPr marL="357188" lvl="2" indent="0">
              <a:buNone/>
            </a:pPr>
            <a:endParaRPr lang="en-US" altLang="zh-TW" sz="2400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pPr marL="700088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Submit a batch GPU job </a:t>
            </a:r>
          </a:p>
          <a:p>
            <a:pPr marL="357188" lvl="2" indent="0">
              <a:buNone/>
              <a:tabLst>
                <a:tab pos="1076325" algn="l"/>
              </a:tabLst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	While the job is running get the information about the node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slurm_jobinfo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...</a:t>
            </a:r>
            <a:endParaRPr lang="en-US" altLang="zh-TW" dirty="0">
              <a:solidFill>
                <a:srgbClr val="4E5865"/>
              </a:solidFill>
              <a:ea typeface="新細明體" panose="02020500000000000000" pitchFamily="18" charset="-120"/>
            </a:endParaRPr>
          </a:p>
          <a:p>
            <a:pPr marL="357188" lvl="2" indent="0">
              <a:buNone/>
              <a:tabLst>
                <a:tab pos="1076325" algn="l"/>
              </a:tabLst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	and check usage of resources on the node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ssh</a:t>
            </a:r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, 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top</a:t>
            </a:r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, 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nvidia-smi</a:t>
            </a:r>
            <a:endParaRPr lang="en-US" altLang="zh-TW" dirty="0">
              <a:solidFill>
                <a:srgbClr val="4E5865"/>
              </a:solidFill>
              <a:ea typeface="新細明體" panose="02020500000000000000" pitchFamily="18" charset="-12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450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9427" y="289692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demo – </a:t>
            </a:r>
            <a:r>
              <a:rPr lang="en-US" altLang="zh-TW" dirty="0" err="1">
                <a:solidFill>
                  <a:srgbClr val="4E5865"/>
                </a:solidFill>
                <a:ea typeface="新細明體" panose="02020500000000000000" pitchFamily="18" charset="-120"/>
              </a:rPr>
              <a:t>conda</a:t>
            </a:r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 installation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287384" y="1619999"/>
            <a:ext cx="11817530" cy="4872875"/>
          </a:xfrm>
        </p:spPr>
        <p:txBody>
          <a:bodyPr/>
          <a:lstStyle/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Start an interactive job on Genius or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wICE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</a:t>
            </a:r>
            <a:b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</a:b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srun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–M genius –A &lt;account&gt; -n 1 --</a:t>
            </a:r>
            <a:r>
              <a:rPr lang="en-US" altLang="zh-TW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pty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/bin/bash -l</a:t>
            </a:r>
          </a:p>
          <a:p>
            <a:pPr marL="700088" lvl="2" indent="-342900">
              <a:buBlip>
                <a:blip r:embed="rId2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Install </a:t>
            </a:r>
            <a:r>
              <a:rPr lang="en-US" altLang="zh-TW" sz="2400" dirty="0" err="1">
                <a:solidFill>
                  <a:srgbClr val="4E5865"/>
                </a:solidFill>
                <a:ea typeface="新細明體" panose="02020500000000000000" pitchFamily="18" charset="-120"/>
              </a:rPr>
              <a:t>miniconda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in your </a:t>
            </a:r>
            <a:r>
              <a:rPr lang="en-US" altLang="zh-TW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$VSC_DATA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directory</a:t>
            </a:r>
          </a:p>
          <a:p>
            <a:r>
              <a:rPr lang="nl-BE" sz="2000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wget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https://repo.continuum.io/miniconda/Miniconda3-latest-Linux-x86_64.sh 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DIR_INSTALL=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$VSC_DATA/miniconda3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_${VSC_INSTITUTE_CLUSTER}</a:t>
            </a:r>
          </a:p>
          <a:p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it-IT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</a:t>
            </a:r>
            <a:r>
              <a:rPr lang="it-IT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Miniconda3-latest-Linux-x86_64.sh -b –p ${DIR_INSTALL}</a:t>
            </a:r>
          </a:p>
          <a:p>
            <a:pPr marL="700088" indent="-342900">
              <a:buBlip>
                <a:blip r:embed="rId2"/>
              </a:buBlip>
            </a:pP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Add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a PATH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to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conda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: </a:t>
            </a:r>
          </a:p>
          <a:p>
            <a:r>
              <a:rPr lang="nl-BE" alt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export PATH="${VSC_DATA}/miniconda3_${VSC_INSTITUTE_CLUSTER}/bin:${PATH}" </a:t>
            </a:r>
          </a:p>
          <a:p>
            <a:pPr marL="700088" indent="-342900">
              <a:buBlip>
                <a:blip r:embed="rId2"/>
              </a:buBlip>
            </a:pP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Check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if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conda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is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added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to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your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000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$PATH ($ </a:t>
            </a:r>
            <a:r>
              <a:rPr lang="nl-BE" sz="2000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which</a:t>
            </a:r>
            <a:r>
              <a:rPr lang="nl-BE" sz="2000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nl-BE" sz="2000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sz="2400" dirty="0">
              <a:solidFill>
                <a:srgbClr val="4E586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57188" indent="0">
              <a:buNone/>
            </a:pP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Add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it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to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000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$PATH 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in </a:t>
            </a:r>
            <a:r>
              <a:rPr lang="nl-BE" sz="2400" dirty="0" err="1">
                <a:solidFill>
                  <a:srgbClr val="4E5865"/>
                </a:solidFill>
                <a:cs typeface="Courier New" panose="02070309020205020404" pitchFamily="49" charset="0"/>
              </a:rPr>
              <a:t>your</a:t>
            </a:r>
            <a:r>
              <a:rPr lang="nl-BE" sz="2400" dirty="0">
                <a:solidFill>
                  <a:srgbClr val="4E5865"/>
                </a:solidFill>
                <a:cs typeface="Courier New" panose="02070309020205020404" pitchFamily="49" charset="0"/>
              </a:rPr>
              <a:t> </a:t>
            </a:r>
            <a:r>
              <a:rPr lang="nl-BE" sz="2000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BE" sz="2000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bashrc</a:t>
            </a:r>
            <a:r>
              <a:rPr lang="nl-BE" sz="2000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271463" indent="-271463"/>
            <a:r>
              <a:rPr lang="nl-BE" sz="2000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echo 'export PATH="${VSC_DATA}/miniconda3/bin:${PATH}" ' &gt;&gt; .</a:t>
            </a:r>
            <a:r>
              <a:rPr lang="nl-BE" sz="2000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bashrc</a:t>
            </a:r>
            <a:endParaRPr lang="nl-BE" sz="2400" dirty="0">
              <a:solidFill>
                <a:srgbClr val="4E586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518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9427" y="294437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demo – </a:t>
            </a:r>
            <a:r>
              <a:rPr lang="en-US" altLang="zh-TW" dirty="0" err="1">
                <a:solidFill>
                  <a:srgbClr val="4E5865"/>
                </a:solidFill>
                <a:ea typeface="新細明體" panose="02020500000000000000" pitchFamily="18" charset="-120"/>
              </a:rPr>
              <a:t>conda</a:t>
            </a:r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 usage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287384" y="1620000"/>
            <a:ext cx="11817530" cy="4428000"/>
          </a:xfrm>
        </p:spPr>
        <p:txBody>
          <a:bodyPr/>
          <a:lstStyle/>
          <a:p>
            <a:pPr marL="819150" indent="-457200">
              <a:buBlip>
                <a:blip r:embed="rId2"/>
              </a:buBlip>
            </a:pPr>
            <a:r>
              <a:rPr lang="nl-BE" dirty="0" err="1">
                <a:solidFill>
                  <a:srgbClr val="4E5865"/>
                </a:solidFill>
              </a:rPr>
              <a:t>Create</a:t>
            </a:r>
            <a:r>
              <a:rPr lang="nl-BE" dirty="0">
                <a:solidFill>
                  <a:srgbClr val="4E5865"/>
                </a:solidFill>
              </a:rPr>
              <a:t> a </a:t>
            </a:r>
            <a:r>
              <a:rPr lang="nl-BE" dirty="0" err="1">
                <a:solidFill>
                  <a:srgbClr val="4E5865"/>
                </a:solidFill>
              </a:rPr>
              <a:t>conda</a:t>
            </a:r>
            <a:r>
              <a:rPr lang="nl-BE" dirty="0">
                <a:solidFill>
                  <a:srgbClr val="4E5865"/>
                </a:solidFill>
              </a:rPr>
              <a:t> environment </a:t>
            </a:r>
            <a:r>
              <a:rPr lang="nl-BE" dirty="0" err="1">
                <a:solidFill>
                  <a:srgbClr val="4E5865"/>
                </a:solidFill>
              </a:rPr>
              <a:t>including</a:t>
            </a:r>
            <a:r>
              <a:rPr lang="nl-BE" dirty="0">
                <a:solidFill>
                  <a:srgbClr val="4E5865"/>
                </a:solidFill>
              </a:rPr>
              <a:t> </a:t>
            </a:r>
            <a:r>
              <a:rPr lang="nl-BE" dirty="0" err="1">
                <a:solidFill>
                  <a:srgbClr val="4E5865"/>
                </a:solidFill>
              </a:rPr>
              <a:t>Jupyter</a:t>
            </a:r>
            <a:endParaRPr lang="nl-BE" dirty="0">
              <a:solidFill>
                <a:srgbClr val="4E5865"/>
              </a:solidFill>
            </a:endParaRPr>
          </a:p>
          <a:p>
            <a:pPr marL="361950" indent="0">
              <a:buNone/>
            </a:pPr>
            <a:r>
              <a:rPr lang="nl-BE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nl-BE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</a:t>
            </a:r>
            <a:r>
              <a:rPr lang="nl-BE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-n </a:t>
            </a:r>
            <a:r>
              <a:rPr lang="nl-BE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science</a:t>
            </a:r>
            <a:r>
              <a:rPr lang="nl-BE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nl-BE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nl-BE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endParaRPr lang="nl-BE" dirty="0">
              <a:solidFill>
                <a:srgbClr val="4E586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19150" indent="-457200">
              <a:buBlip>
                <a:blip r:embed="rId2"/>
              </a:buBlip>
            </a:pPr>
            <a:r>
              <a:rPr lang="nl-BE" dirty="0" err="1">
                <a:solidFill>
                  <a:srgbClr val="4E5865"/>
                </a:solidFill>
              </a:rPr>
              <a:t>Activate</a:t>
            </a:r>
            <a:r>
              <a:rPr lang="nl-BE" dirty="0">
                <a:solidFill>
                  <a:srgbClr val="4E5865"/>
                </a:solidFill>
              </a:rPr>
              <a:t> </a:t>
            </a:r>
            <a:r>
              <a:rPr lang="nl-BE" dirty="0" err="1">
                <a:solidFill>
                  <a:srgbClr val="4E5865"/>
                </a:solidFill>
              </a:rPr>
              <a:t>this</a:t>
            </a:r>
            <a:r>
              <a:rPr lang="nl-BE" dirty="0">
                <a:solidFill>
                  <a:srgbClr val="4E5865"/>
                </a:solidFill>
              </a:rPr>
              <a:t> environment</a:t>
            </a:r>
          </a:p>
          <a:p>
            <a:pPr marL="361950" indent="0">
              <a:buNone/>
            </a:pPr>
            <a:r>
              <a:rPr lang="en-US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source activate science</a:t>
            </a:r>
          </a:p>
          <a:p>
            <a:pPr marL="819150" indent="-457200">
              <a:buBlip>
                <a:blip r:embed="rId2"/>
              </a:buBlip>
            </a:pPr>
            <a:r>
              <a:rPr lang="en-US" dirty="0">
                <a:solidFill>
                  <a:srgbClr val="4E5865"/>
                </a:solidFill>
              </a:rPr>
              <a:t>Add matplotlib package to this environment</a:t>
            </a:r>
          </a:p>
          <a:p>
            <a:pPr marL="361950" indent="0">
              <a:buNone/>
            </a:pPr>
            <a:r>
              <a:rPr lang="en-US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install matplotlib</a:t>
            </a:r>
          </a:p>
          <a:p>
            <a:pPr marL="819150" indent="-457200">
              <a:buBlip>
                <a:blip r:embed="rId2"/>
              </a:buBlip>
            </a:pPr>
            <a:r>
              <a:rPr lang="en-US" dirty="0">
                <a:solidFill>
                  <a:srgbClr val="4E5865"/>
                </a:solidFill>
              </a:rPr>
              <a:t>Return to original environment</a:t>
            </a:r>
          </a:p>
          <a:p>
            <a:pPr marL="361950" indent="0">
              <a:buNone/>
            </a:pPr>
            <a:r>
              <a:rPr lang="en-US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solidFill>
                  <a:srgbClr val="4E586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deactivate</a:t>
            </a:r>
          </a:p>
          <a:p>
            <a:pPr marL="361950" indent="0">
              <a:buNone/>
            </a:pPr>
            <a:endParaRPr lang="nl-BE" sz="2400" dirty="0">
              <a:solidFill>
                <a:srgbClr val="4E586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886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30874" y="329043"/>
            <a:ext cx="10515600" cy="1325563"/>
          </a:xfrm>
        </p:spPr>
        <p:txBody>
          <a:bodyPr/>
          <a:lstStyle/>
          <a:p>
            <a:r>
              <a:rPr lang="en-US" altLang="zh-TW" dirty="0">
                <a:solidFill>
                  <a:srgbClr val="4E5865"/>
                </a:solidFill>
                <a:ea typeface="新細明體" panose="02020500000000000000" pitchFamily="18" charset="-120"/>
              </a:rPr>
              <a:t>demo – worker</a:t>
            </a:r>
            <a:endParaRPr lang="nl-BE" dirty="0">
              <a:solidFill>
                <a:srgbClr val="4E5865"/>
              </a:solidFill>
            </a:endParaRP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16477" y="1654606"/>
            <a:ext cx="10904428" cy="3548787"/>
          </a:xfrm>
        </p:spPr>
        <p:txBody>
          <a:bodyPr/>
          <a:lstStyle/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Copy intro training files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(/apps/</a:t>
            </a:r>
            <a:r>
              <a:rPr lang="en-US" altLang="zh-TW" sz="2400" dirty="0" err="1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leuven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/training/worker/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  <a:cs typeface="Courier New" panose="02070309020205020404" pitchFamily="49" charset="0"/>
              </a:rPr>
              <a:t>)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to your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$VSC_DATA</a:t>
            </a: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Go to </a:t>
            </a:r>
            <a:r>
              <a:rPr lang="en-US" altLang="zh-TW" sz="2400" dirty="0">
                <a:solidFill>
                  <a:srgbClr val="4E5865"/>
                </a:solidFill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exercise1</a:t>
            </a: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 directory</a:t>
            </a: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Submit worker job</a:t>
            </a:r>
          </a:p>
          <a:p>
            <a:pPr marL="701675" lvl="2" indent="-342900">
              <a:buBlip>
                <a:blip r:embed="rId3"/>
              </a:buBlip>
            </a:pPr>
            <a:r>
              <a:rPr lang="en-US" altLang="zh-TW" sz="2400" dirty="0">
                <a:solidFill>
                  <a:srgbClr val="4E5865"/>
                </a:solidFill>
                <a:ea typeface="新細明體" panose="02020500000000000000" pitchFamily="18" charset="-120"/>
              </a:rPr>
              <a:t>Check the output file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5B30D68-186D-45F9-BEB0-589C4942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8</a:t>
            </a:fld>
            <a:endParaRPr lang="en-US" dirty="0"/>
          </a:p>
        </p:txBody>
      </p:sp>
      <p:sp>
        <p:nvSpPr>
          <p:cNvPr id="12" name="Freeform 88">
            <a:extLst>
              <a:ext uri="{FF2B5EF4-FFF2-40B4-BE49-F238E27FC236}">
                <a16:creationId xmlns:a16="http://schemas.microsoft.com/office/drawing/2014/main" id="{DCB5B946-C08C-4907-9BAB-0A4CAB5A6075}"/>
              </a:ext>
            </a:extLst>
          </p:cNvPr>
          <p:cNvSpPr>
            <a:spLocks noEditPoints="1"/>
          </p:cNvSpPr>
          <p:nvPr/>
        </p:nvSpPr>
        <p:spPr bwMode="auto">
          <a:xfrm>
            <a:off x="316477" y="6445690"/>
            <a:ext cx="214397" cy="216632"/>
          </a:xfrm>
          <a:custGeom>
            <a:avLst/>
            <a:gdLst>
              <a:gd name="T0" fmla="*/ 135 w 145"/>
              <a:gd name="T1" fmla="*/ 37 h 146"/>
              <a:gd name="T2" fmla="*/ 145 w 145"/>
              <a:gd name="T3" fmla="*/ 73 h 146"/>
              <a:gd name="T4" fmla="*/ 135 w 145"/>
              <a:gd name="T5" fmla="*/ 109 h 146"/>
              <a:gd name="T6" fmla="*/ 109 w 145"/>
              <a:gd name="T7" fmla="*/ 136 h 146"/>
              <a:gd name="T8" fmla="*/ 72 w 145"/>
              <a:gd name="T9" fmla="*/ 146 h 146"/>
              <a:gd name="T10" fmla="*/ 36 w 145"/>
              <a:gd name="T11" fmla="*/ 136 h 146"/>
              <a:gd name="T12" fmla="*/ 9 w 145"/>
              <a:gd name="T13" fmla="*/ 109 h 146"/>
              <a:gd name="T14" fmla="*/ 0 w 145"/>
              <a:gd name="T15" fmla="*/ 73 h 146"/>
              <a:gd name="T16" fmla="*/ 9 w 145"/>
              <a:gd name="T17" fmla="*/ 37 h 146"/>
              <a:gd name="T18" fmla="*/ 36 w 145"/>
              <a:gd name="T19" fmla="*/ 10 h 146"/>
              <a:gd name="T20" fmla="*/ 72 w 145"/>
              <a:gd name="T21" fmla="*/ 0 h 146"/>
              <a:gd name="T22" fmla="*/ 109 w 145"/>
              <a:gd name="T23" fmla="*/ 10 h 146"/>
              <a:gd name="T24" fmla="*/ 135 w 145"/>
              <a:gd name="T25" fmla="*/ 37 h 146"/>
              <a:gd name="T26" fmla="*/ 121 w 145"/>
              <a:gd name="T27" fmla="*/ 58 h 146"/>
              <a:gd name="T28" fmla="*/ 119 w 145"/>
              <a:gd name="T29" fmla="*/ 53 h 146"/>
              <a:gd name="T30" fmla="*/ 111 w 145"/>
              <a:gd name="T31" fmla="*/ 45 h 146"/>
              <a:gd name="T32" fmla="*/ 107 w 145"/>
              <a:gd name="T33" fmla="*/ 43 h 146"/>
              <a:gd name="T34" fmla="*/ 102 w 145"/>
              <a:gd name="T35" fmla="*/ 45 h 146"/>
              <a:gd name="T36" fmla="*/ 64 w 145"/>
              <a:gd name="T37" fmla="*/ 83 h 146"/>
              <a:gd name="T38" fmla="*/ 42 w 145"/>
              <a:gd name="T39" fmla="*/ 62 h 146"/>
              <a:gd name="T40" fmla="*/ 38 w 145"/>
              <a:gd name="T41" fmla="*/ 60 h 146"/>
              <a:gd name="T42" fmla="*/ 34 w 145"/>
              <a:gd name="T43" fmla="*/ 62 h 146"/>
              <a:gd name="T44" fmla="*/ 25 w 145"/>
              <a:gd name="T45" fmla="*/ 70 h 146"/>
              <a:gd name="T46" fmla="*/ 24 w 145"/>
              <a:gd name="T47" fmla="*/ 75 h 146"/>
              <a:gd name="T48" fmla="*/ 25 w 145"/>
              <a:gd name="T49" fmla="*/ 79 h 146"/>
              <a:gd name="T50" fmla="*/ 59 w 145"/>
              <a:gd name="T51" fmla="*/ 113 h 146"/>
              <a:gd name="T52" fmla="*/ 64 w 145"/>
              <a:gd name="T53" fmla="*/ 115 h 146"/>
              <a:gd name="T54" fmla="*/ 68 w 145"/>
              <a:gd name="T55" fmla="*/ 113 h 146"/>
              <a:gd name="T56" fmla="*/ 119 w 145"/>
              <a:gd name="T57" fmla="*/ 62 h 146"/>
              <a:gd name="T58" fmla="*/ 121 w 145"/>
              <a:gd name="T59" fmla="*/ 58 h 1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145" h="146">
                <a:moveTo>
                  <a:pt x="135" y="37"/>
                </a:moveTo>
                <a:cubicBezTo>
                  <a:pt x="142" y="48"/>
                  <a:pt x="145" y="60"/>
                  <a:pt x="145" y="73"/>
                </a:cubicBezTo>
                <a:cubicBezTo>
                  <a:pt x="145" y="86"/>
                  <a:pt x="142" y="98"/>
                  <a:pt x="135" y="109"/>
                </a:cubicBezTo>
                <a:cubicBezTo>
                  <a:pt x="129" y="121"/>
                  <a:pt x="120" y="129"/>
                  <a:pt x="109" y="136"/>
                </a:cubicBezTo>
                <a:cubicBezTo>
                  <a:pt x="98" y="142"/>
                  <a:pt x="85" y="146"/>
                  <a:pt x="72" y="146"/>
                </a:cubicBezTo>
                <a:cubicBezTo>
                  <a:pt x="59" y="146"/>
                  <a:pt x="47" y="142"/>
                  <a:pt x="36" y="136"/>
                </a:cubicBezTo>
                <a:cubicBezTo>
                  <a:pt x="25" y="129"/>
                  <a:pt x="16" y="121"/>
                  <a:pt x="9" y="109"/>
                </a:cubicBezTo>
                <a:cubicBezTo>
                  <a:pt x="3" y="98"/>
                  <a:pt x="0" y="86"/>
                  <a:pt x="0" y="73"/>
                </a:cubicBezTo>
                <a:cubicBezTo>
                  <a:pt x="0" y="60"/>
                  <a:pt x="3" y="48"/>
                  <a:pt x="9" y="37"/>
                </a:cubicBezTo>
                <a:cubicBezTo>
                  <a:pt x="16" y="25"/>
                  <a:pt x="25" y="17"/>
                  <a:pt x="36" y="10"/>
                </a:cubicBezTo>
                <a:cubicBezTo>
                  <a:pt x="47" y="4"/>
                  <a:pt x="59" y="0"/>
                  <a:pt x="72" y="0"/>
                </a:cubicBezTo>
                <a:cubicBezTo>
                  <a:pt x="85" y="0"/>
                  <a:pt x="98" y="4"/>
                  <a:pt x="109" y="10"/>
                </a:cubicBezTo>
                <a:cubicBezTo>
                  <a:pt x="120" y="17"/>
                  <a:pt x="129" y="25"/>
                  <a:pt x="135" y="37"/>
                </a:cubicBezTo>
                <a:close/>
                <a:moveTo>
                  <a:pt x="121" y="58"/>
                </a:moveTo>
                <a:cubicBezTo>
                  <a:pt x="121" y="56"/>
                  <a:pt x="121" y="54"/>
                  <a:pt x="119" y="53"/>
                </a:cubicBezTo>
                <a:cubicBezTo>
                  <a:pt x="111" y="45"/>
                  <a:pt x="111" y="45"/>
                  <a:pt x="111" y="45"/>
                </a:cubicBezTo>
                <a:cubicBezTo>
                  <a:pt x="110" y="44"/>
                  <a:pt x="108" y="43"/>
                  <a:pt x="107" y="43"/>
                </a:cubicBezTo>
                <a:cubicBezTo>
                  <a:pt x="105" y="43"/>
                  <a:pt x="103" y="44"/>
                  <a:pt x="102" y="45"/>
                </a:cubicBezTo>
                <a:cubicBezTo>
                  <a:pt x="64" y="83"/>
                  <a:pt x="64" y="83"/>
                  <a:pt x="64" y="83"/>
                </a:cubicBezTo>
                <a:cubicBezTo>
                  <a:pt x="42" y="62"/>
                  <a:pt x="42" y="62"/>
                  <a:pt x="42" y="62"/>
                </a:cubicBezTo>
                <a:cubicBezTo>
                  <a:pt x="41" y="61"/>
                  <a:pt x="40" y="60"/>
                  <a:pt x="38" y="60"/>
                </a:cubicBezTo>
                <a:cubicBezTo>
                  <a:pt x="36" y="60"/>
                  <a:pt x="35" y="61"/>
                  <a:pt x="34" y="62"/>
                </a:cubicBezTo>
                <a:cubicBezTo>
                  <a:pt x="25" y="70"/>
                  <a:pt x="25" y="70"/>
                  <a:pt x="25" y="70"/>
                </a:cubicBezTo>
                <a:cubicBezTo>
                  <a:pt x="24" y="72"/>
                  <a:pt x="24" y="73"/>
                  <a:pt x="24" y="75"/>
                </a:cubicBezTo>
                <a:cubicBezTo>
                  <a:pt x="24" y="76"/>
                  <a:pt x="24" y="78"/>
                  <a:pt x="25" y="79"/>
                </a:cubicBezTo>
                <a:cubicBezTo>
                  <a:pt x="59" y="113"/>
                  <a:pt x="59" y="113"/>
                  <a:pt x="59" y="113"/>
                </a:cubicBezTo>
                <a:cubicBezTo>
                  <a:pt x="61" y="114"/>
                  <a:pt x="62" y="115"/>
                  <a:pt x="64" y="115"/>
                </a:cubicBezTo>
                <a:cubicBezTo>
                  <a:pt x="65" y="115"/>
                  <a:pt x="67" y="114"/>
                  <a:pt x="68" y="113"/>
                </a:cubicBezTo>
                <a:cubicBezTo>
                  <a:pt x="119" y="62"/>
                  <a:pt x="119" y="62"/>
                  <a:pt x="119" y="62"/>
                </a:cubicBezTo>
                <a:cubicBezTo>
                  <a:pt x="121" y="61"/>
                  <a:pt x="121" y="59"/>
                  <a:pt x="121" y="5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9677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68476" y="843262"/>
            <a:ext cx="898137" cy="261610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ea typeface="Roboto" panose="02000000000000000000" pitchFamily="2" charset="0"/>
              </a:rPr>
              <a:t>VSC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533" y="1244807"/>
            <a:ext cx="42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50000"/>
                  </a:schemeClr>
                </a:solidFill>
                <a:ea typeface="Roboto" panose="02000000000000000000" pitchFamily="2" charset="0"/>
              </a:rPr>
              <a:t>Questions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533" y="1877115"/>
            <a:ext cx="11719554" cy="4124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NL" altLang="en-US" sz="2200" dirty="0"/>
              <a:t>Helpdesk:</a:t>
            </a:r>
            <a:br>
              <a:rPr lang="nl-NL" altLang="en-US" sz="2200" dirty="0"/>
            </a:br>
            <a:r>
              <a:rPr lang="nl-NL" altLang="en-US" sz="2200" dirty="0">
                <a:solidFill>
                  <a:srgbClr val="DB6C3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hpcinfo@kuleuven.be</a:t>
            </a:r>
            <a:r>
              <a:rPr lang="pl-PL" altLang="en-US" sz="2200" dirty="0">
                <a:solidFill>
                  <a:srgbClr val="DB6C30"/>
                </a:solidFill>
              </a:rPr>
              <a:t> </a:t>
            </a:r>
            <a:r>
              <a:rPr lang="pl-PL" altLang="en-US" sz="2200" dirty="0"/>
              <a:t>or </a:t>
            </a:r>
            <a:r>
              <a:rPr lang="pl-PL" altLang="en-US" sz="2200" dirty="0">
                <a:solidFill>
                  <a:srgbClr val="DB6C3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https://admin.kuleuven.be/icts/HPCinfo_form/HPC-info-formulier</a:t>
            </a:r>
            <a:endParaRPr lang="pl-PL" altLang="en-US" sz="2200" dirty="0">
              <a:solidFill>
                <a:srgbClr val="DB6C30"/>
              </a:solidFill>
            </a:endParaRPr>
          </a:p>
          <a:p>
            <a:endParaRPr lang="nl-NL" altLang="en-US" sz="2200" dirty="0">
              <a:solidFill>
                <a:srgbClr val="DB6C30"/>
              </a:solidFill>
            </a:endParaRPr>
          </a:p>
          <a:p>
            <a:r>
              <a:rPr lang="nl-NL" altLang="en-US" sz="2200" dirty="0"/>
              <a:t>VSC web site:</a:t>
            </a:r>
            <a:br>
              <a:rPr lang="nl-NL" altLang="en-US" sz="2200" dirty="0"/>
            </a:br>
            <a:r>
              <a:rPr lang="nl-BE" altLang="en-US" sz="2200" dirty="0">
                <a:solidFill>
                  <a:srgbClr val="DB6C3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http://www.vscentrum.be/</a:t>
            </a:r>
            <a:endParaRPr lang="nl-BE" altLang="en-US" sz="2200" dirty="0">
              <a:solidFill>
                <a:srgbClr val="DB6C30"/>
              </a:solidFill>
            </a:endParaRPr>
          </a:p>
          <a:p>
            <a:endParaRPr lang="en-US" altLang="en-US" sz="2200" dirty="0"/>
          </a:p>
          <a:p>
            <a:r>
              <a:rPr lang="en-US" altLang="en-US" sz="2200" dirty="0"/>
              <a:t>VSC documentation: </a:t>
            </a:r>
            <a:r>
              <a:rPr lang="nl-BE" sz="2000" dirty="0">
                <a:solidFill>
                  <a:srgbClr val="DB6C30"/>
                </a:solidFill>
              </a:rPr>
              <a:t>https://docs.vscentrum.be/</a:t>
            </a:r>
            <a:br>
              <a:rPr lang="nl-BE" sz="2000" dirty="0"/>
            </a:br>
            <a:endParaRPr lang="nl-BE" sz="2000" dirty="0"/>
          </a:p>
          <a:p>
            <a:r>
              <a:rPr lang="en-US" altLang="en-US" sz="2200" dirty="0"/>
              <a:t>VSC agenda: training sessions, events (VSC and </a:t>
            </a:r>
            <a:r>
              <a:rPr lang="en-US" altLang="en-US" sz="2200"/>
              <a:t>KU Leuven user days)</a:t>
            </a:r>
            <a:endParaRPr lang="en-US" altLang="en-US" sz="2200" dirty="0"/>
          </a:p>
          <a:p>
            <a:endParaRPr lang="en-US" altLang="en-US" sz="2200" dirty="0"/>
          </a:p>
          <a:p>
            <a:r>
              <a:rPr lang="en-US" altLang="en-US" sz="2200" dirty="0"/>
              <a:t>Systems status page:</a:t>
            </a:r>
            <a:br>
              <a:rPr lang="en-US" altLang="en-US" sz="2200" dirty="0"/>
            </a:br>
            <a:r>
              <a:rPr lang="nl-BE" altLang="en-US" sz="2200" dirty="0">
                <a:solidFill>
                  <a:srgbClr val="DB6C30"/>
                </a:solidFill>
              </a:rPr>
              <a:t>https://status.vscentrum.be</a:t>
            </a:r>
            <a:endParaRPr lang="pl-PL" altLang="en-US" sz="2200" dirty="0">
              <a:solidFill>
                <a:srgbClr val="DB6C30"/>
              </a:solidFill>
            </a:endParaRP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5A89C74F-8936-41AF-92D5-F7BAA4357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44850" y="6384344"/>
            <a:ext cx="502300" cy="365125"/>
          </a:xfrm>
        </p:spPr>
        <p:txBody>
          <a:bodyPr/>
          <a:lstStyle/>
          <a:p>
            <a:fld id="{A2912448-FEEC-49E8-9588-2DF1F90D57C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917897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7250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aff7d12c-bb71-4270-bd29-9c4d45ff3327">346bfafb-41a4-4705-9274-1725a8a4651c</_dlc_DocId>
    <_dlc_DocIdUrl xmlns="aff7d12c-bb71-4270-bd29-9c4d45ff3327">
      <Url>https://www.groupware.kuleuven.be/sites/hpc/_layouts/15/DocIdRedir.aspx?ID=346bfafb-41a4-4705-9274-1725a8a4651c</Url>
      <Description>346bfafb-41a4-4705-9274-1725a8a4651c</Description>
    </_dlc_DocIdUrl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7C36A1CAF973428CFB8DC9B5B73D030400A741C9874CC89F4CB7C7A5AE62CBCD36" ma:contentTypeVersion="2" ma:contentTypeDescription="" ma:contentTypeScope="" ma:versionID="2a5b37c1a06f9995b1548b8fc9b10188">
  <xsd:schema xmlns:xsd="http://www.w3.org/2001/XMLSchema" xmlns:xs="http://www.w3.org/2001/XMLSchema" xmlns:p="http://schemas.microsoft.com/office/2006/metadata/properties" xmlns:ns2="aff7d12c-bb71-4270-bd29-9c4d45ff3327" targetNamespace="http://schemas.microsoft.com/office/2006/metadata/properties" ma:root="true" ma:fieldsID="535495b15c0addd8af32a03863086e70" ns2:_="">
    <xsd:import namespace="aff7d12c-bb71-4270-bd29-9c4d45ff3327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ff7d12c-bb71-4270-bd29-9c4d45ff3327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Waarde van de document-id" ma:description="De waarde van de document-id die aan dit item is toegewezen." ma:internalName="_dlc_DocId" ma:readOnly="true">
      <xsd:simpleType>
        <xsd:restriction base="dms:Text"/>
      </xsd:simpleType>
    </xsd:element>
    <xsd:element name="_dlc_DocIdUrl" ma:index="9" nillable="true" ma:displayName="Document-id" ma:description="Permanente koppeling naar dit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customXsn xmlns="http://schemas.microsoft.com/office/2006/metadata/customXsn">
  <xsnLocation/>
  <cached>True</cached>
  <openByDefault>True</openByDefault>
  <xsnScope>/sites/hpc</xsnScope>
</customXsn>
</file>

<file path=customXml/item5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F0D56244-60B2-41FD-96AD-7AC25F221D7C}">
  <ds:schemaRefs>
    <ds:schemaRef ds:uri="http://schemas.microsoft.com/office/2006/documentManagement/types"/>
    <ds:schemaRef ds:uri="http://purl.org/dc/terms/"/>
    <ds:schemaRef ds:uri="aff7d12c-bb71-4270-bd29-9c4d45ff3327"/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D5B35C9-35F5-4278-990B-48710415D63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ff7d12c-bb71-4270-bd29-9c4d45ff33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64EE3F2-D13D-4835-816B-74B5A421851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F0EF99C1-AFFA-4072-A3F6-6A9C90E28E63}">
  <ds:schemaRefs>
    <ds:schemaRef ds:uri="http://schemas.microsoft.com/office/2006/metadata/customXsn"/>
  </ds:schemaRefs>
</ds:datastoreItem>
</file>

<file path=customXml/itemProps5.xml><?xml version="1.0" encoding="utf-8"?>
<ds:datastoreItem xmlns:ds="http://schemas.openxmlformats.org/officeDocument/2006/customXml" ds:itemID="{7732E273-8A47-4E01-AC36-8FF8A6317757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744</Words>
  <Application>Microsoft Office PowerPoint</Application>
  <PresentationFormat>Widescreen</PresentationFormat>
  <Paragraphs>99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4" baseType="lpstr">
      <vt:lpstr>新細明體</vt:lpstr>
      <vt:lpstr>72 Monospace</vt:lpstr>
      <vt:lpstr>Arial</vt:lpstr>
      <vt:lpstr>Calibri</vt:lpstr>
      <vt:lpstr>Calibri Light</vt:lpstr>
      <vt:lpstr>Courier New</vt:lpstr>
      <vt:lpstr>FlandersArtSans-Bold</vt:lpstr>
      <vt:lpstr>FlandersArtSans-Medium</vt:lpstr>
      <vt:lpstr>FlandersArtSans-Regular</vt:lpstr>
      <vt:lpstr>Roboto</vt:lpstr>
      <vt:lpstr>Times New Roman</vt:lpstr>
      <vt:lpstr>Wingdings</vt:lpstr>
      <vt:lpstr>Office Theme</vt:lpstr>
      <vt:lpstr>1_Office Theme</vt:lpstr>
      <vt:lpstr>Start with VSC</vt:lpstr>
      <vt:lpstr>Basics</vt:lpstr>
      <vt:lpstr>demo/test yourself</vt:lpstr>
      <vt:lpstr>PowerPoint Presentation</vt:lpstr>
      <vt:lpstr>demo - monitoring</vt:lpstr>
      <vt:lpstr>demo – conda installation</vt:lpstr>
      <vt:lpstr>demo – conda usage</vt:lpstr>
      <vt:lpstr>demo – worker</vt:lpstr>
      <vt:lpstr>PowerPoint Presentation</vt:lpstr>
      <vt:lpstr>PowerPoint Presentation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AL-TEKREETI Rafal</dc:creator>
  <cp:lastModifiedBy>Ehsan Moravveji</cp:lastModifiedBy>
  <cp:revision>186</cp:revision>
  <dcterms:created xsi:type="dcterms:W3CDTF">2018-06-21T07:15:36Z</dcterms:created>
  <dcterms:modified xsi:type="dcterms:W3CDTF">2025-06-13T09:14:36Z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0x010100317C36A1CAF973428CFB8DC9B5B73D030400A741C9874CC89F4CB7C7A5AE62CBCD36</vt:lpwstr>
  </property>
  <property fmtid="{D5CDD505-2E9C-101B-9397-08002B2CF9AE}" pid="3" name="_dlc_DocIdItemGuid">
    <vt:lpwstr>346bfafb-41a4-4705-9274-1725a8a4651c</vt:lpwstr>
  </property>
</Properties>
</file>