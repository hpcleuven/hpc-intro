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6"/>
    <p:sldMasterId id="2147483712" r:id="rId7"/>
  </p:sldMasterIdLst>
  <p:notesMasterIdLst>
    <p:notesMasterId r:id="rId18"/>
  </p:notesMasterIdLst>
  <p:handoutMasterIdLst>
    <p:handoutMasterId r:id="rId19"/>
  </p:handoutMasterIdLst>
  <p:sldIdLst>
    <p:sldId id="258" r:id="rId8"/>
    <p:sldId id="411" r:id="rId9"/>
    <p:sldId id="987" r:id="rId10"/>
    <p:sldId id="995" r:id="rId11"/>
    <p:sldId id="989" r:id="rId12"/>
    <p:sldId id="986" r:id="rId13"/>
    <p:sldId id="996" r:id="rId14"/>
    <p:sldId id="994" r:id="rId15"/>
    <p:sldId id="979" r:id="rId16"/>
    <p:sldId id="25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outer Van Assche" initials="WVA" lastIdx="1" clrIdx="0">
    <p:extLst>
      <p:ext uri="{19B8F6BF-5375-455C-9EA6-DF929625EA0E}">
        <p15:presenceInfo xmlns:p15="http://schemas.microsoft.com/office/powerpoint/2012/main" userId="Wouter Van Assch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5865"/>
    <a:srgbClr val="DB6C30"/>
    <a:srgbClr val="DB6D32"/>
    <a:srgbClr val="F3F3F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979" autoAdjust="0"/>
  </p:normalViewPr>
  <p:slideViewPr>
    <p:cSldViewPr snapToGrid="0">
      <p:cViewPr varScale="1">
        <p:scale>
          <a:sx n="65" d="100"/>
          <a:sy n="65" d="100"/>
        </p:scale>
        <p:origin x="684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Master" Target="slideMasters/slideMaster2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4.xml"/><Relationship Id="rId24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8.xml"/><Relationship Id="rId23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hsan Moravveji" userId="21e7e8ea3c9f37f0" providerId="LiveId" clId="{CFF33C37-759D-4DC9-8314-536FD7C7229C}"/>
    <pc:docChg chg="modSld">
      <pc:chgData name="Ehsan Moravveji" userId="21e7e8ea3c9f37f0" providerId="LiveId" clId="{CFF33C37-759D-4DC9-8314-536FD7C7229C}" dt="2025-11-06T07:06:07.170" v="3" actId="2165"/>
      <pc:docMkLst>
        <pc:docMk/>
      </pc:docMkLst>
      <pc:sldChg chg="mod modShow">
        <pc:chgData name="Ehsan Moravveji" userId="21e7e8ea3c9f37f0" providerId="LiveId" clId="{CFF33C37-759D-4DC9-8314-536FD7C7229C}" dt="2025-11-06T07:05:29.651" v="0" actId="729"/>
        <pc:sldMkLst>
          <pc:docMk/>
          <pc:sldMk cId="1469677884" sldId="994"/>
        </pc:sldMkLst>
      </pc:sldChg>
      <pc:sldChg chg="modSp mod">
        <pc:chgData name="Ehsan Moravveji" userId="21e7e8ea3c9f37f0" providerId="LiveId" clId="{CFF33C37-759D-4DC9-8314-536FD7C7229C}" dt="2025-11-06T07:06:07.170" v="3" actId="2165"/>
        <pc:sldMkLst>
          <pc:docMk/>
          <pc:sldMk cId="879215723" sldId="995"/>
        </pc:sldMkLst>
        <pc:graphicFrameChg chg="modGraphic">
          <ac:chgData name="Ehsan Moravveji" userId="21e7e8ea3c9f37f0" providerId="LiveId" clId="{CFF33C37-759D-4DC9-8314-536FD7C7229C}" dt="2025-11-06T07:06:07.170" v="3" actId="2165"/>
          <ac:graphicFrameMkLst>
            <pc:docMk/>
            <pc:sldMk cId="879215723" sldId="995"/>
            <ac:graphicFrameMk id="7" creationId="{38213270-383D-BCDD-E9CF-A4DEC163D811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F519A0-78CB-4E85-BDD7-0175329041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D04B4-5DD0-4898-8F9C-518F62E77A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6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7BDF4F-FAE4-4E7A-B003-7AAF79F14F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2FB45-5863-49D1-8926-D42AE452A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204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70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baseline="0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07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37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304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4189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23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4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981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1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A2290-0477-46BB-87A2-28AB474124F3}" type="datetime1">
              <a:rPr lang="nl-BE" smtClean="0"/>
              <a:t>6/11/2025</a:t>
            </a:fld>
            <a:endParaRPr lang="nl-BE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>
          <a:xfrm>
            <a:off x="10896533" y="6048000"/>
            <a:ext cx="1248000" cy="288000"/>
          </a:xfrm>
        </p:spPr>
        <p:txBody>
          <a:bodyPr/>
          <a:lstStyle>
            <a:lvl1pPr>
              <a:defRPr sz="1200"/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ijdelijke aanduiding voor tekst 2"/>
          <p:cNvSpPr>
            <a:spLocks noGrp="1"/>
          </p:cNvSpPr>
          <p:nvPr>
            <p:ph idx="1" hasCustomPrompt="1"/>
          </p:nvPr>
        </p:nvSpPr>
        <p:spPr>
          <a:xfrm>
            <a:off x="720000" y="1349999"/>
            <a:ext cx="11112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/>
            </a:lvl1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03376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96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232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316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6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852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997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608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079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885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821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890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62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8" r:id="rId4"/>
    <p:sldLayoutId id="2147483709" r:id="rId5"/>
    <p:sldLayoutId id="2147483711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65815-05F0-455F-BBD6-9680ABD9D1CB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407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hpcleuven.github.io/HPC-int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ondemand.hpc.kuleuven.be/" TargetMode="External"/><Relationship Id="rId4" Type="http://schemas.openxmlformats.org/officeDocument/2006/relationships/hyperlink" Target="https://account.vscentrum.be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.continuum.io/miniconda/Miniconda3-latest-Linux-x86_64.sh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dmin.kuleuven.be/icts/HPCinfo_form/HPC-info-formulier" TargetMode="External"/><Relationship Id="rId7" Type="http://schemas.openxmlformats.org/officeDocument/2006/relationships/hyperlink" Target="https://status.vscentrum.be/" TargetMode="External"/><Relationship Id="rId2" Type="http://schemas.openxmlformats.org/officeDocument/2006/relationships/hyperlink" Target="mailto:hpcinfo@kuleuven.be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vscentrum.be/vsctraining" TargetMode="External"/><Relationship Id="rId5" Type="http://schemas.openxmlformats.org/officeDocument/2006/relationships/hyperlink" Target="https://docs.vscentrum.be/" TargetMode="External"/><Relationship Id="rId4" Type="http://schemas.openxmlformats.org/officeDocument/2006/relationships/hyperlink" Target="https://www.vscentrum.be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2943" y="1191493"/>
            <a:ext cx="9144000" cy="1810473"/>
          </a:xfrm>
        </p:spPr>
        <p:txBody>
          <a:bodyPr/>
          <a:lstStyle/>
          <a:p>
            <a:r>
              <a:rPr lang="en-US" dirty="0">
                <a:solidFill>
                  <a:srgbClr val="4E5865"/>
                </a:solidFill>
              </a:rPr>
              <a:t>VSC HPC demo session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80693D-954B-42FB-8788-F8B384E06BD8}"/>
              </a:ext>
            </a:extLst>
          </p:cNvPr>
          <p:cNvSpPr/>
          <p:nvPr/>
        </p:nvSpPr>
        <p:spPr>
          <a:xfrm>
            <a:off x="1221052" y="3666231"/>
            <a:ext cx="575702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sz="2800" dirty="0">
                <a:solidFill>
                  <a:srgbClr val="4E5865"/>
                </a:solidFill>
                <a:latin typeface="+mj-lt"/>
                <a:hlinkClick r:id="rId3"/>
              </a:rPr>
              <a:t>https://hpcleuven.github.io/HPC-intro</a:t>
            </a:r>
            <a:endParaRPr lang="nl-BE" sz="2800" dirty="0">
              <a:solidFill>
                <a:srgbClr val="4E5865"/>
              </a:solidFill>
              <a:latin typeface="+mj-lt"/>
            </a:endParaRPr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AF58BFEB-B72A-4BCF-B58D-8428C7B964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87" t="11172" r="11763" b="11280"/>
          <a:stretch/>
        </p:blipFill>
        <p:spPr>
          <a:xfrm>
            <a:off x="8639410" y="3321373"/>
            <a:ext cx="3420000" cy="34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23821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06691" y="294437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First steps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24691" y="1620000"/>
            <a:ext cx="11112000" cy="3528470"/>
          </a:xfrm>
        </p:spPr>
        <p:txBody>
          <a:bodyPr/>
          <a:lstStyle/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Request to become a member of the 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lp_hpcinfo</a:t>
            </a:r>
            <a:r>
              <a:rPr lang="en-US" altLang="zh-TW" sz="2400" dirty="0">
                <a:ea typeface="新細明體" panose="02020500000000000000" pitchFamily="18" charset="-120"/>
              </a:rPr>
              <a:t> group via </a:t>
            </a:r>
            <a:r>
              <a:rPr lang="en-US" altLang="zh-TW" sz="2400" dirty="0">
                <a:ea typeface="新細明體" panose="02020500000000000000" pitchFamily="18" charset="-120"/>
                <a:hlinkClick r:id="rId4"/>
              </a:rPr>
              <a:t>account.vscentrum.be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Login via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OpenOnDemand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: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  <a:hlinkClick r:id="rId5"/>
              </a:rPr>
              <a:t>ondemand.hpc.kuleuven.be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Features: file transfer, file editor, interactive apps, job overview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Check your disk quota: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myquota</a:t>
            </a:r>
            <a:endParaRPr lang="en-US" altLang="zh-TW" sz="20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Check your credit accounts: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sam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-balance </a:t>
            </a:r>
            <a:b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sam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-list-allocations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Try the centrally installed software modules: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module {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avail|list|load|unload|purge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}</a:t>
            </a:r>
            <a:endParaRPr lang="nl-BE" sz="2000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78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24690" y="1620000"/>
            <a:ext cx="11667309" cy="4428000"/>
          </a:xfrm>
        </p:spPr>
        <p:txBody>
          <a:bodyPr/>
          <a:lstStyle/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Copy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/apps/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leuven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/training/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HPC_intro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</a:t>
            </a:r>
            <a:r>
              <a:rPr lang="en-US" altLang="zh-TW" sz="2400" dirty="0">
                <a:ea typeface="新細明體" panose="02020500000000000000" pitchFamily="18" charset="-120"/>
              </a:rPr>
              <a:t> to your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</a:t>
            </a: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Submit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cpujob.slurm</a:t>
            </a:r>
            <a:r>
              <a:rPr lang="en-US" altLang="zh-TW" sz="2400" dirty="0">
                <a:ea typeface="新細明體" panose="02020500000000000000" pitchFamily="18" charset="-120"/>
              </a:rPr>
              <a:t> to the cluster</a:t>
            </a: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List all your jobs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squeue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-M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Check the information about the job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slurm_jobinfo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-M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&lt;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job_ID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&gt;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Modify the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mpi.slurm</a:t>
            </a:r>
            <a:r>
              <a:rPr lang="en-US" altLang="zh-TW" sz="2400" dirty="0">
                <a:ea typeface="新細明體" panose="02020500000000000000" pitchFamily="18" charset="-120"/>
              </a:rPr>
              <a:t> script to request 1 node, 72 cores for 30 minutes,</a:t>
            </a:r>
            <a:br>
              <a:rPr lang="en-US" altLang="zh-TW" sz="2400" dirty="0">
                <a:ea typeface="新細明體" panose="02020500000000000000" pitchFamily="18" charset="-120"/>
              </a:rPr>
            </a:br>
            <a:r>
              <a:rPr lang="en-US" altLang="zh-TW" sz="2400" dirty="0">
                <a:ea typeface="新細明體" panose="02020500000000000000" pitchFamily="18" charset="-120"/>
              </a:rPr>
              <a:t>  with job start/end e-mail notifications</a:t>
            </a: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Check the status of all the jobs</a:t>
            </a: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endParaRPr lang="nl-BE" sz="2400" dirty="0">
              <a:solidFill>
                <a:srgbClr val="4E5865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5D93C91-56FE-EB57-8CB9-4D3DCB59C454}"/>
              </a:ext>
            </a:extLst>
          </p:cNvPr>
          <p:cNvSpPr txBox="1">
            <a:spLocks/>
          </p:cNvSpPr>
          <p:nvPr/>
        </p:nvSpPr>
        <p:spPr>
          <a:xfrm>
            <a:off x="406691" y="294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rgbClr val="52BDEC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First steps</a:t>
            </a:r>
            <a:endParaRPr lang="nl-BE" dirty="0">
              <a:solidFill>
                <a:srgbClr val="4E58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09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38213270-383D-BCDD-E9CF-A4DEC163D8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2402588"/>
              </p:ext>
            </p:extLst>
          </p:nvPr>
        </p:nvGraphicFramePr>
        <p:xfrm>
          <a:off x="108155" y="1124744"/>
          <a:ext cx="12015019" cy="5457649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6779933">
                  <a:extLst>
                    <a:ext uri="{9D8B030D-6E8A-4147-A177-3AD203B41FA5}">
                      <a16:colId xmlns:a16="http://schemas.microsoft.com/office/drawing/2014/main" val="1674356392"/>
                    </a:ext>
                  </a:extLst>
                </a:gridCol>
                <a:gridCol w="5235086">
                  <a:extLst>
                    <a:ext uri="{9D8B030D-6E8A-4147-A177-3AD203B41FA5}">
                      <a16:colId xmlns:a16="http://schemas.microsoft.com/office/drawing/2014/main" val="745218725"/>
                    </a:ext>
                  </a:extLst>
                </a:gridCol>
              </a:tblGrid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</a:rPr>
                        <a:t>Command</a:t>
                      </a:r>
                      <a:endParaRPr lang="en-GB" sz="20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</a:rPr>
                        <a:t>Purpose</a:t>
                      </a:r>
                      <a:endParaRPr lang="en-GB" sz="20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096036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sbatch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...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Submit a batch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0343910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srun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...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Submit an interactive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3525469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scancel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Cancel a specific pending or running job 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2131618"/>
                  </a:ext>
                </a:extLst>
              </a:tr>
              <a:tr h="71099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scontrol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show job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slurm_jobinfo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Detailed job info (very useful to diagnose issues)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598224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squeue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--long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Status of all recent jobs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162964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squeue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--start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Give a rough estimate of when your jobs will start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600807"/>
                  </a:ext>
                </a:extLst>
              </a:tr>
              <a:tr h="42816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sinfo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Info about the state of available partitions and nodes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7826251"/>
                  </a:ext>
                </a:extLst>
              </a:tr>
              <a:tr h="42816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sacct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--batch --job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Show the </a:t>
                      </a:r>
                      <a:r>
                        <a:rPr lang="en-US" sz="1800" b="0" dirty="0" err="1">
                          <a:effectLst/>
                        </a:rPr>
                        <a:t>jobscript</a:t>
                      </a:r>
                      <a:r>
                        <a:rPr lang="en-US" sz="1800" b="0" dirty="0">
                          <a:effectLst/>
                        </a:rPr>
                        <a:t> used for a given batch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982086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slurmtop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Overview of the cluster</a:t>
                      </a:r>
                      <a:endParaRPr lang="en-GB" sz="18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071451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sam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-balance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Overview of all your available credit projects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0533005"/>
                  </a:ext>
                </a:extLst>
              </a:tr>
              <a:tr h="42816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sam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-list-allocations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Detailed overview of your credit allocation history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0031654"/>
                  </a:ext>
                </a:extLst>
              </a:tr>
            </a:tbl>
          </a:graphicData>
        </a:graphic>
      </p:graphicFrame>
      <p:sp>
        <p:nvSpPr>
          <p:cNvPr id="10" name="Titel 1">
            <a:extLst>
              <a:ext uri="{FF2B5EF4-FFF2-40B4-BE49-F238E27FC236}">
                <a16:creationId xmlns:a16="http://schemas.microsoft.com/office/drawing/2014/main" id="{634D5314-B3FA-C060-F261-1E3BF3B729D3}"/>
              </a:ext>
            </a:extLst>
          </p:cNvPr>
          <p:cNvSpPr txBox="1">
            <a:spLocks/>
          </p:cNvSpPr>
          <p:nvPr/>
        </p:nvSpPr>
        <p:spPr>
          <a:xfrm>
            <a:off x="406691" y="2384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rgbClr val="52BDEC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4E5865"/>
                </a:solidFill>
                <a:ea typeface="新細明體" panose="02020500000000000000" pitchFamily="18" charset="-120"/>
              </a:rPr>
              <a:t>Slurm</a:t>
            </a:r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 command-line tools</a:t>
            </a:r>
            <a:endParaRPr lang="nl-BE" dirty="0">
              <a:solidFill>
                <a:srgbClr val="4E58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215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54243" y="282343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Job monitoring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58557" y="1619999"/>
            <a:ext cx="11817530" cy="3630095"/>
          </a:xfrm>
        </p:spPr>
        <p:txBody>
          <a:bodyPr/>
          <a:lstStyle/>
          <a:p>
            <a:pPr marL="172800" lvl="2"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Submit an interactive job</a:t>
            </a:r>
          </a:p>
          <a:p>
            <a:pPr marL="357188" lvl="2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	Run your program on a compute node</a:t>
            </a:r>
          </a:p>
          <a:p>
            <a:pPr marL="357188" lvl="2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	Open a new terminal and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ssh</a:t>
            </a:r>
            <a:r>
              <a:rPr lang="en-US" altLang="zh-TW" sz="2400" dirty="0">
                <a:ea typeface="新細明體" panose="02020500000000000000" pitchFamily="18" charset="-120"/>
              </a:rPr>
              <a:t> to the allocated compute node </a:t>
            </a:r>
          </a:p>
          <a:p>
            <a:pPr marL="357188" lvl="2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	Check the resources usage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htop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marL="357188" lvl="2" indent="0">
              <a:buNone/>
            </a:pPr>
            <a:endParaRPr lang="en-US" altLang="zh-TW" sz="2400" dirty="0">
              <a:ea typeface="新細明體" panose="02020500000000000000" pitchFamily="18" charset="-120"/>
            </a:endParaRPr>
          </a:p>
          <a:p>
            <a:pPr marL="172800" lvl="2"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Submit a GPU batch job </a:t>
            </a:r>
          </a:p>
          <a:p>
            <a:pPr marL="357188" lvl="2" indent="0">
              <a:buNone/>
              <a:tabLst>
                <a:tab pos="1076325" algn="l"/>
              </a:tabLst>
            </a:pPr>
            <a:r>
              <a:rPr lang="en-US" altLang="zh-TW" sz="2400" dirty="0">
                <a:ea typeface="新細明體" panose="02020500000000000000" pitchFamily="18" charset="-120"/>
              </a:rPr>
              <a:t>     While the job is running, check its details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slurm_jobinfo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marL="357188" lvl="2" indent="0">
              <a:buNone/>
              <a:tabLst>
                <a:tab pos="1076325" algn="l"/>
              </a:tabLst>
            </a:pPr>
            <a:r>
              <a:rPr lang="en-US" altLang="zh-TW" sz="2400" dirty="0">
                <a:ea typeface="新細明體" panose="02020500000000000000" pitchFamily="18" charset="-120"/>
              </a:rPr>
              <a:t>     and check resource on the compute node using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ssh</a:t>
            </a:r>
            <a:r>
              <a:rPr lang="en-US" altLang="zh-TW" sz="2400" dirty="0">
                <a:ea typeface="新細明體" panose="02020500000000000000" pitchFamily="18" charset="-120"/>
              </a:rPr>
              <a:t>,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htop</a:t>
            </a:r>
            <a:r>
              <a:rPr lang="en-US" altLang="zh-TW" sz="2400" dirty="0">
                <a:ea typeface="新細明體" panose="02020500000000000000" pitchFamily="18" charset="-120"/>
              </a:rPr>
              <a:t> and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nvidia-smi</a:t>
            </a:r>
            <a:endParaRPr lang="en-US" altLang="zh-TW" sz="2400" dirty="0"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450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9427" y="289692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Creating and using a Conda environment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87384" y="1619999"/>
            <a:ext cx="11817530" cy="4872875"/>
          </a:xfrm>
        </p:spPr>
        <p:txBody>
          <a:bodyPr/>
          <a:lstStyle/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Start an interactive job on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wICE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srun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–M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–A &lt;account&gt; -n 1 --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pty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bash –l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Go to your data folder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cd ${VSC_DATA}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Download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wget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sz="18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  <a:hlinkClick r:id="rId3"/>
              </a:rPr>
              <a:t>https://repo.continuum.io/miniconda/Miniconda3-latest-Linux-x86_64.sh</a:t>
            </a:r>
            <a:br>
              <a:rPr lang="en-US" altLang="zh-TW" sz="18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sz="18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Install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in your VSC_DATA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bash Miniconda3-latest-Linux-x86_64.sh -b –p $VSC_DATA/miniconda3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Permanently add the path to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to your 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~/.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bashrc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echo 'export PATH="${VSC_DATA}/miniconda3/bin:${PATH}" ' &gt;&gt; ~/.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bashrc</a:t>
            </a: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518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D2E6D-4A2B-A5A5-5904-8458AF81D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C1168B-A5D1-FA73-6EF6-266DEEA9C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427" y="289692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Creating and using a Conda environment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A83DAB-3F29-E99A-B8CB-3AA88D047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384" y="1619999"/>
            <a:ext cx="11817530" cy="4872875"/>
          </a:xfrm>
        </p:spPr>
        <p:txBody>
          <a:bodyPr/>
          <a:lstStyle/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Create a Conda environment with some typical packages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create -n science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jupyter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numpy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scipy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Activate this environment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source activate science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Verify that you can use what you installed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python –c 'import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scipy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'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sz="2400" dirty="0">
                <a:solidFill>
                  <a:srgbClr val="4E5865"/>
                </a:solidFill>
              </a:rPr>
              <a:t>Add one more package to this environment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install matplotlib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sz="18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sz="2400" dirty="0">
                <a:solidFill>
                  <a:srgbClr val="4E5865"/>
                </a:solidFill>
              </a:rPr>
              <a:t>Return to your original environment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deactivate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71A423F-8E34-1DD1-D67F-811F1708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163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0874" y="329043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High-throughput computing using Worker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16477" y="1654606"/>
            <a:ext cx="10904428" cy="3548787"/>
          </a:xfrm>
        </p:spPr>
        <p:txBody>
          <a:bodyPr/>
          <a:lstStyle/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Copy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/apps/</a:t>
            </a:r>
            <a:r>
              <a:rPr lang="en-US" altLang="zh-TW" sz="24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leuven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/training/worker/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to your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</a:t>
            </a:r>
            <a:b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sz="24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Go to the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exercise1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directory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Submit the worker job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the output file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8</a:t>
            </a:fld>
            <a:endParaRPr lang="en-US" dirty="0"/>
          </a:p>
        </p:txBody>
      </p:sp>
      <p:sp>
        <p:nvSpPr>
          <p:cNvPr id="12" name="Freeform 88">
            <a:extLst>
              <a:ext uri="{FF2B5EF4-FFF2-40B4-BE49-F238E27FC236}">
                <a16:creationId xmlns:a16="http://schemas.microsoft.com/office/drawing/2014/main" id="{DCB5B946-C08C-4907-9BAB-0A4CAB5A6075}"/>
              </a:ext>
            </a:extLst>
          </p:cNvPr>
          <p:cNvSpPr>
            <a:spLocks noEditPoints="1"/>
          </p:cNvSpPr>
          <p:nvPr/>
        </p:nvSpPr>
        <p:spPr bwMode="auto">
          <a:xfrm>
            <a:off x="316477" y="6445690"/>
            <a:ext cx="214397" cy="216632"/>
          </a:xfrm>
          <a:custGeom>
            <a:avLst/>
            <a:gdLst>
              <a:gd name="T0" fmla="*/ 135 w 145"/>
              <a:gd name="T1" fmla="*/ 37 h 146"/>
              <a:gd name="T2" fmla="*/ 145 w 145"/>
              <a:gd name="T3" fmla="*/ 73 h 146"/>
              <a:gd name="T4" fmla="*/ 135 w 145"/>
              <a:gd name="T5" fmla="*/ 109 h 146"/>
              <a:gd name="T6" fmla="*/ 109 w 145"/>
              <a:gd name="T7" fmla="*/ 136 h 146"/>
              <a:gd name="T8" fmla="*/ 72 w 145"/>
              <a:gd name="T9" fmla="*/ 146 h 146"/>
              <a:gd name="T10" fmla="*/ 36 w 145"/>
              <a:gd name="T11" fmla="*/ 136 h 146"/>
              <a:gd name="T12" fmla="*/ 9 w 145"/>
              <a:gd name="T13" fmla="*/ 109 h 146"/>
              <a:gd name="T14" fmla="*/ 0 w 145"/>
              <a:gd name="T15" fmla="*/ 73 h 146"/>
              <a:gd name="T16" fmla="*/ 9 w 145"/>
              <a:gd name="T17" fmla="*/ 37 h 146"/>
              <a:gd name="T18" fmla="*/ 36 w 145"/>
              <a:gd name="T19" fmla="*/ 10 h 146"/>
              <a:gd name="T20" fmla="*/ 72 w 145"/>
              <a:gd name="T21" fmla="*/ 0 h 146"/>
              <a:gd name="T22" fmla="*/ 109 w 145"/>
              <a:gd name="T23" fmla="*/ 10 h 146"/>
              <a:gd name="T24" fmla="*/ 135 w 145"/>
              <a:gd name="T25" fmla="*/ 37 h 146"/>
              <a:gd name="T26" fmla="*/ 121 w 145"/>
              <a:gd name="T27" fmla="*/ 58 h 146"/>
              <a:gd name="T28" fmla="*/ 119 w 145"/>
              <a:gd name="T29" fmla="*/ 53 h 146"/>
              <a:gd name="T30" fmla="*/ 111 w 145"/>
              <a:gd name="T31" fmla="*/ 45 h 146"/>
              <a:gd name="T32" fmla="*/ 107 w 145"/>
              <a:gd name="T33" fmla="*/ 43 h 146"/>
              <a:gd name="T34" fmla="*/ 102 w 145"/>
              <a:gd name="T35" fmla="*/ 45 h 146"/>
              <a:gd name="T36" fmla="*/ 64 w 145"/>
              <a:gd name="T37" fmla="*/ 83 h 146"/>
              <a:gd name="T38" fmla="*/ 42 w 145"/>
              <a:gd name="T39" fmla="*/ 62 h 146"/>
              <a:gd name="T40" fmla="*/ 38 w 145"/>
              <a:gd name="T41" fmla="*/ 60 h 146"/>
              <a:gd name="T42" fmla="*/ 34 w 145"/>
              <a:gd name="T43" fmla="*/ 62 h 146"/>
              <a:gd name="T44" fmla="*/ 25 w 145"/>
              <a:gd name="T45" fmla="*/ 70 h 146"/>
              <a:gd name="T46" fmla="*/ 24 w 145"/>
              <a:gd name="T47" fmla="*/ 75 h 146"/>
              <a:gd name="T48" fmla="*/ 25 w 145"/>
              <a:gd name="T49" fmla="*/ 79 h 146"/>
              <a:gd name="T50" fmla="*/ 59 w 145"/>
              <a:gd name="T51" fmla="*/ 113 h 146"/>
              <a:gd name="T52" fmla="*/ 64 w 145"/>
              <a:gd name="T53" fmla="*/ 115 h 146"/>
              <a:gd name="T54" fmla="*/ 68 w 145"/>
              <a:gd name="T55" fmla="*/ 113 h 146"/>
              <a:gd name="T56" fmla="*/ 119 w 145"/>
              <a:gd name="T57" fmla="*/ 62 h 146"/>
              <a:gd name="T58" fmla="*/ 121 w 145"/>
              <a:gd name="T59" fmla="*/ 58 h 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145" h="146">
                <a:moveTo>
                  <a:pt x="135" y="37"/>
                </a:moveTo>
                <a:cubicBezTo>
                  <a:pt x="142" y="48"/>
                  <a:pt x="145" y="60"/>
                  <a:pt x="145" y="73"/>
                </a:cubicBezTo>
                <a:cubicBezTo>
                  <a:pt x="145" y="86"/>
                  <a:pt x="142" y="98"/>
                  <a:pt x="135" y="109"/>
                </a:cubicBezTo>
                <a:cubicBezTo>
                  <a:pt x="129" y="121"/>
                  <a:pt x="120" y="129"/>
                  <a:pt x="109" y="136"/>
                </a:cubicBezTo>
                <a:cubicBezTo>
                  <a:pt x="98" y="142"/>
                  <a:pt x="85" y="146"/>
                  <a:pt x="72" y="146"/>
                </a:cubicBezTo>
                <a:cubicBezTo>
                  <a:pt x="59" y="146"/>
                  <a:pt x="47" y="142"/>
                  <a:pt x="36" y="136"/>
                </a:cubicBezTo>
                <a:cubicBezTo>
                  <a:pt x="25" y="129"/>
                  <a:pt x="16" y="121"/>
                  <a:pt x="9" y="109"/>
                </a:cubicBezTo>
                <a:cubicBezTo>
                  <a:pt x="3" y="98"/>
                  <a:pt x="0" y="86"/>
                  <a:pt x="0" y="73"/>
                </a:cubicBezTo>
                <a:cubicBezTo>
                  <a:pt x="0" y="60"/>
                  <a:pt x="3" y="48"/>
                  <a:pt x="9" y="37"/>
                </a:cubicBezTo>
                <a:cubicBezTo>
                  <a:pt x="16" y="25"/>
                  <a:pt x="25" y="17"/>
                  <a:pt x="36" y="10"/>
                </a:cubicBezTo>
                <a:cubicBezTo>
                  <a:pt x="47" y="4"/>
                  <a:pt x="59" y="0"/>
                  <a:pt x="72" y="0"/>
                </a:cubicBezTo>
                <a:cubicBezTo>
                  <a:pt x="85" y="0"/>
                  <a:pt x="98" y="4"/>
                  <a:pt x="109" y="10"/>
                </a:cubicBezTo>
                <a:cubicBezTo>
                  <a:pt x="120" y="17"/>
                  <a:pt x="129" y="25"/>
                  <a:pt x="135" y="37"/>
                </a:cubicBezTo>
                <a:close/>
                <a:moveTo>
                  <a:pt x="121" y="58"/>
                </a:moveTo>
                <a:cubicBezTo>
                  <a:pt x="121" y="56"/>
                  <a:pt x="121" y="54"/>
                  <a:pt x="119" y="53"/>
                </a:cubicBezTo>
                <a:cubicBezTo>
                  <a:pt x="111" y="45"/>
                  <a:pt x="111" y="45"/>
                  <a:pt x="111" y="45"/>
                </a:cubicBezTo>
                <a:cubicBezTo>
                  <a:pt x="110" y="44"/>
                  <a:pt x="108" y="43"/>
                  <a:pt x="107" y="43"/>
                </a:cubicBezTo>
                <a:cubicBezTo>
                  <a:pt x="105" y="43"/>
                  <a:pt x="103" y="44"/>
                  <a:pt x="102" y="45"/>
                </a:cubicBezTo>
                <a:cubicBezTo>
                  <a:pt x="64" y="83"/>
                  <a:pt x="64" y="83"/>
                  <a:pt x="64" y="83"/>
                </a:cubicBezTo>
                <a:cubicBezTo>
                  <a:pt x="42" y="62"/>
                  <a:pt x="42" y="62"/>
                  <a:pt x="42" y="62"/>
                </a:cubicBezTo>
                <a:cubicBezTo>
                  <a:pt x="41" y="61"/>
                  <a:pt x="40" y="60"/>
                  <a:pt x="38" y="60"/>
                </a:cubicBezTo>
                <a:cubicBezTo>
                  <a:pt x="36" y="60"/>
                  <a:pt x="35" y="61"/>
                  <a:pt x="34" y="62"/>
                </a:cubicBezTo>
                <a:cubicBezTo>
                  <a:pt x="25" y="70"/>
                  <a:pt x="25" y="70"/>
                  <a:pt x="25" y="70"/>
                </a:cubicBezTo>
                <a:cubicBezTo>
                  <a:pt x="24" y="72"/>
                  <a:pt x="24" y="73"/>
                  <a:pt x="24" y="75"/>
                </a:cubicBezTo>
                <a:cubicBezTo>
                  <a:pt x="24" y="76"/>
                  <a:pt x="24" y="78"/>
                  <a:pt x="25" y="79"/>
                </a:cubicBezTo>
                <a:cubicBezTo>
                  <a:pt x="59" y="113"/>
                  <a:pt x="59" y="113"/>
                  <a:pt x="59" y="113"/>
                </a:cubicBezTo>
                <a:cubicBezTo>
                  <a:pt x="61" y="114"/>
                  <a:pt x="62" y="115"/>
                  <a:pt x="64" y="115"/>
                </a:cubicBezTo>
                <a:cubicBezTo>
                  <a:pt x="65" y="115"/>
                  <a:pt x="67" y="114"/>
                  <a:pt x="68" y="113"/>
                </a:cubicBezTo>
                <a:cubicBezTo>
                  <a:pt x="119" y="62"/>
                  <a:pt x="119" y="62"/>
                  <a:pt x="119" y="62"/>
                </a:cubicBezTo>
                <a:cubicBezTo>
                  <a:pt x="121" y="61"/>
                  <a:pt x="121" y="59"/>
                  <a:pt x="121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677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5A89C74F-8936-41AF-92D5-F7BAA435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9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D94133-7A19-DC13-1B4D-69CD50E55B7E}"/>
              </a:ext>
            </a:extLst>
          </p:cNvPr>
          <p:cNvSpPr/>
          <p:nvPr/>
        </p:nvSpPr>
        <p:spPr>
          <a:xfrm>
            <a:off x="540469" y="1664159"/>
            <a:ext cx="10937067" cy="3785652"/>
          </a:xfrm>
          <a:prstGeom prst="rect">
            <a:avLst/>
          </a:prstGeom>
          <a:ln w="25400">
            <a:noFill/>
          </a:ln>
        </p:spPr>
        <p:txBody>
          <a:bodyPr wrap="square" anchor="ctr">
            <a:spAutoFit/>
          </a:bodyPr>
          <a:lstStyle/>
          <a:p>
            <a:r>
              <a:rPr lang="nl-NL" altLang="en-US" sz="2200" dirty="0"/>
              <a:t>Helpdesk (email): </a:t>
            </a:r>
            <a:r>
              <a:rPr lang="nl-NL" altLang="en-US" sz="2200" dirty="0">
                <a:hlinkClick r:id="rId2"/>
              </a:rPr>
              <a:t>hpcinfo@kuleuven.be</a:t>
            </a:r>
            <a:endParaRPr lang="nl-NL" altLang="en-US" sz="2200" dirty="0"/>
          </a:p>
          <a:p>
            <a:endParaRPr lang="en-US" altLang="en-US" sz="2200" dirty="0"/>
          </a:p>
          <a:p>
            <a:r>
              <a:rPr lang="en-US" altLang="en-US" sz="2200" dirty="0"/>
              <a:t>Helpdesk (online form): </a:t>
            </a:r>
            <a:r>
              <a:rPr lang="en-US" altLang="en-US" sz="2200" dirty="0">
                <a:hlinkClick r:id="rId3"/>
              </a:rPr>
              <a:t>https://admin.kuleuven.be/icts/HPCinfo_form/HPC-info-formulier</a:t>
            </a:r>
            <a:br>
              <a:rPr lang="en-US" altLang="en-US" sz="2200" dirty="0"/>
            </a:br>
            <a:endParaRPr lang="nl-NL" altLang="en-US" sz="2200" dirty="0">
              <a:solidFill>
                <a:srgbClr val="DB6C30"/>
              </a:solidFill>
            </a:endParaRPr>
          </a:p>
          <a:p>
            <a:r>
              <a:rPr lang="nl-NL" altLang="en-US" sz="2200" dirty="0"/>
              <a:t>VSC website: </a:t>
            </a:r>
            <a:r>
              <a:rPr lang="nl-BE" altLang="en-US" sz="2200" dirty="0">
                <a:solidFill>
                  <a:srgbClr val="DB6C30"/>
                </a:solidFill>
                <a:hlinkClick r:id="rId4"/>
              </a:rPr>
              <a:t>https://www.vscentrum.be</a:t>
            </a:r>
            <a:endParaRPr lang="nl-BE" altLang="en-US" sz="2200" dirty="0">
              <a:solidFill>
                <a:srgbClr val="DB6C30"/>
              </a:solidFill>
            </a:endParaRPr>
          </a:p>
          <a:p>
            <a:endParaRPr lang="en-US" altLang="en-US" sz="2200" dirty="0"/>
          </a:p>
          <a:p>
            <a:r>
              <a:rPr lang="en-US" altLang="en-US" sz="2200" dirty="0"/>
              <a:t>VSC documentation: </a:t>
            </a:r>
            <a:r>
              <a:rPr lang="nl-BE" sz="2200" dirty="0">
                <a:solidFill>
                  <a:srgbClr val="DB6C30"/>
                </a:solidFill>
                <a:hlinkClick r:id="rId5"/>
              </a:rPr>
              <a:t>https://docs.vscentrum.be</a:t>
            </a:r>
            <a:br>
              <a:rPr lang="nl-BE" sz="2000" dirty="0"/>
            </a:br>
            <a:endParaRPr lang="nl-BE" sz="2000" dirty="0"/>
          </a:p>
          <a:p>
            <a:r>
              <a:rPr lang="en-US" altLang="en-US" sz="2200" dirty="0"/>
              <a:t>VSC agenda, training sessions, events (User Day): </a:t>
            </a:r>
            <a:r>
              <a:rPr lang="en-US" altLang="en-US" sz="2200" dirty="0">
                <a:hlinkClick r:id="rId6"/>
              </a:rPr>
              <a:t>https://www.vscentrum.be/vsctraining</a:t>
            </a:r>
            <a:endParaRPr lang="en-US" altLang="en-US" sz="2200" dirty="0">
              <a:solidFill>
                <a:srgbClr val="DB6C30"/>
              </a:solidFill>
            </a:endParaRPr>
          </a:p>
          <a:p>
            <a:endParaRPr lang="en-US" altLang="en-US" sz="2200" dirty="0"/>
          </a:p>
          <a:p>
            <a:r>
              <a:rPr lang="en-US" altLang="en-US" sz="2200" dirty="0"/>
              <a:t>System status page: </a:t>
            </a:r>
            <a:r>
              <a:rPr lang="en-US" altLang="en-US" sz="2200" dirty="0">
                <a:hlinkClick r:id="rId7"/>
              </a:rPr>
              <a:t>https://status.vscentrum.be</a:t>
            </a:r>
            <a:endParaRPr lang="en-US" altLang="en-US" sz="22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3C6EB16C-F31F-4787-1577-BA6BA17D7E2C}"/>
              </a:ext>
            </a:extLst>
          </p:cNvPr>
          <p:cNvSpPr txBox="1">
            <a:spLocks/>
          </p:cNvSpPr>
          <p:nvPr/>
        </p:nvSpPr>
        <p:spPr>
          <a:xfrm>
            <a:off x="530874" y="60896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Useful links</a:t>
            </a:r>
            <a:endParaRPr lang="nl-BE" dirty="0">
              <a:solidFill>
                <a:srgbClr val="4E58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917897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250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aff7d12c-bb71-4270-bd29-9c4d45ff3327">346bfafb-41a4-4705-9274-1725a8a4651c</_dlc_DocId>
    <_dlc_DocIdUrl xmlns="aff7d12c-bb71-4270-bd29-9c4d45ff3327">
      <Url>https://www.groupware.kuleuven.be/sites/hpc/_layouts/15/DocIdRedir.aspx?ID=346bfafb-41a4-4705-9274-1725a8a4651c</Url>
      <Description>346bfafb-41a4-4705-9274-1725a8a4651c</Description>
    </_dlc_DocIdUrl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7C36A1CAF973428CFB8DC9B5B73D030400A741C9874CC89F4CB7C7A5AE62CBCD36" ma:contentTypeVersion="2" ma:contentTypeDescription="" ma:contentTypeScope="" ma:versionID="2a5b37c1a06f9995b1548b8fc9b10188">
  <xsd:schema xmlns:xsd="http://www.w3.org/2001/XMLSchema" xmlns:xs="http://www.w3.org/2001/XMLSchema" xmlns:p="http://schemas.microsoft.com/office/2006/metadata/properties" xmlns:ns2="aff7d12c-bb71-4270-bd29-9c4d45ff3327" targetNamespace="http://schemas.microsoft.com/office/2006/metadata/properties" ma:root="true" ma:fieldsID="535495b15c0addd8af32a03863086e70" ns2:_="">
    <xsd:import namespace="aff7d12c-bb71-4270-bd29-9c4d45ff3327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f7d12c-bb71-4270-bd29-9c4d45ff3327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Waarde van de document-id" ma:description="De waarde van de document-id die aan dit item is toegewezen." ma:internalName="_dlc_DocId" ma:readOnly="true">
      <xsd:simpleType>
        <xsd:restriction base="dms:Text"/>
      </xsd:simpleType>
    </xsd:element>
    <xsd:element name="_dlc_DocIdUrl" ma:index="9" nillable="true" ma:displayName="Document-id" ma:description="Permanente koppeling naar dit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customXsn xmlns="http://schemas.microsoft.com/office/2006/metadata/customXsn">
  <xsnLocation/>
  <cached>True</cached>
  <openByDefault>True</openByDefault>
  <xsnScope>/sites/hpc</xsnScope>
</customXsn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F0D56244-60B2-41FD-96AD-7AC25F221D7C}">
  <ds:schemaRefs>
    <ds:schemaRef ds:uri="http://schemas.microsoft.com/office/2006/documentManagement/types"/>
    <ds:schemaRef ds:uri="http://purl.org/dc/terms/"/>
    <ds:schemaRef ds:uri="aff7d12c-bb71-4270-bd29-9c4d45ff3327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D5B35C9-35F5-4278-990B-48710415D63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ff7d12c-bb71-4270-bd29-9c4d45ff33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4EE3F2-D13D-4835-816B-74B5A421851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F0EF99C1-AFFA-4072-A3F6-6A9C90E28E63}">
  <ds:schemaRefs>
    <ds:schemaRef ds:uri="http://schemas.microsoft.com/office/2006/metadata/customXsn"/>
  </ds:schemaRefs>
</ds:datastoreItem>
</file>

<file path=customXml/itemProps5.xml><?xml version="1.0" encoding="utf-8"?>
<ds:datastoreItem xmlns:ds="http://schemas.openxmlformats.org/officeDocument/2006/customXml" ds:itemID="{7732E273-8A47-4E01-AC36-8FF8A6317757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739</Words>
  <Application>Microsoft Office PowerPoint</Application>
  <PresentationFormat>Widescreen</PresentationFormat>
  <Paragraphs>90</Paragraphs>
  <Slides>10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3" baseType="lpstr">
      <vt:lpstr>新細明體</vt:lpstr>
      <vt:lpstr>72 Monospace</vt:lpstr>
      <vt:lpstr>Arial</vt:lpstr>
      <vt:lpstr>Calibri</vt:lpstr>
      <vt:lpstr>Calibri Light</vt:lpstr>
      <vt:lpstr>Courier New</vt:lpstr>
      <vt:lpstr>FlandersArtSans-Bold</vt:lpstr>
      <vt:lpstr>FlandersArtSans-Medium</vt:lpstr>
      <vt:lpstr>FlandersArtSans-Regular</vt:lpstr>
      <vt:lpstr>Times New Roman</vt:lpstr>
      <vt:lpstr>Wingdings</vt:lpstr>
      <vt:lpstr>Office Theme</vt:lpstr>
      <vt:lpstr>1_Office Theme</vt:lpstr>
      <vt:lpstr>VSC HPC demo session</vt:lpstr>
      <vt:lpstr>First steps</vt:lpstr>
      <vt:lpstr>PowerPoint Presentation</vt:lpstr>
      <vt:lpstr>PowerPoint Presentation</vt:lpstr>
      <vt:lpstr>Job monitoring</vt:lpstr>
      <vt:lpstr>Creating and using a Conda environment</vt:lpstr>
      <vt:lpstr>Creating and using a Conda environment</vt:lpstr>
      <vt:lpstr>High-throughput computing using Worker</vt:lpstr>
      <vt:lpstr>PowerPoint Presentation</vt:lpstr>
      <vt:lpstr>PowerPoint Presentation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AL-TEKREETI Rafal</dc:creator>
  <cp:lastModifiedBy>Ehsan Moravveji</cp:lastModifiedBy>
  <cp:revision>199</cp:revision>
  <dcterms:created xsi:type="dcterms:W3CDTF">2018-06-21T07:15:36Z</dcterms:created>
  <dcterms:modified xsi:type="dcterms:W3CDTF">2025-11-06T07:06:09Z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0x010100317C36A1CAF973428CFB8DC9B5B73D030400A741C9874CC89F4CB7C7A5AE62CBCD36</vt:lpwstr>
  </property>
  <property fmtid="{D5CDD505-2E9C-101B-9397-08002B2CF9AE}" pid="3" name="_dlc_DocIdItemGuid">
    <vt:lpwstr>346bfafb-41a4-4705-9274-1725a8a4651c</vt:lpwstr>
  </property>
</Properties>
</file>