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6"/>
    <p:sldMasterId id="2147483712" r:id="rId7"/>
  </p:sldMasterIdLst>
  <p:notesMasterIdLst>
    <p:notesMasterId r:id="rId18"/>
  </p:notesMasterIdLst>
  <p:handoutMasterIdLst>
    <p:handoutMasterId r:id="rId19"/>
  </p:handoutMasterIdLst>
  <p:sldIdLst>
    <p:sldId id="258" r:id="rId8"/>
    <p:sldId id="411" r:id="rId9"/>
    <p:sldId id="987" r:id="rId10"/>
    <p:sldId id="995" r:id="rId11"/>
    <p:sldId id="989" r:id="rId12"/>
    <p:sldId id="986" r:id="rId13"/>
    <p:sldId id="996" r:id="rId14"/>
    <p:sldId id="994" r:id="rId15"/>
    <p:sldId id="979" r:id="rId16"/>
    <p:sldId id="256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outer Van Assche" initials="WVA" lastIdx="1" clrIdx="0">
    <p:extLst>
      <p:ext uri="{19B8F6BF-5375-455C-9EA6-DF929625EA0E}">
        <p15:presenceInfo xmlns:p15="http://schemas.microsoft.com/office/powerpoint/2012/main" userId="Wouter Van Assche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5865"/>
    <a:srgbClr val="DB6C30"/>
    <a:srgbClr val="DB6D32"/>
    <a:srgbClr val="F3F3F0"/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3979" autoAdjust="0"/>
  </p:normalViewPr>
  <p:slideViewPr>
    <p:cSldViewPr snapToGrid="0">
      <p:cViewPr>
        <p:scale>
          <a:sx n="100" d="100"/>
          <a:sy n="100" d="100"/>
        </p:scale>
        <p:origin x="936" y="168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Master" Target="slideMasters/slideMaster2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1.xml"/><Relationship Id="rId11" Type="http://schemas.openxmlformats.org/officeDocument/2006/relationships/slide" Target="slides/slide4.xml"/><Relationship Id="rId24" Type="http://schemas.openxmlformats.org/officeDocument/2006/relationships/tableStyles" Target="tableStyles.xml"/><Relationship Id="rId5" Type="http://schemas.openxmlformats.org/officeDocument/2006/relationships/customXml" Target="../customXml/item5.xml"/><Relationship Id="rId15" Type="http://schemas.openxmlformats.org/officeDocument/2006/relationships/slide" Target="slides/slide8.xml"/><Relationship Id="rId23" Type="http://schemas.openxmlformats.org/officeDocument/2006/relationships/theme" Target="theme/theme1.xml"/><Relationship Id="rId10" Type="http://schemas.openxmlformats.org/officeDocument/2006/relationships/slide" Target="slides/slide3.xml"/><Relationship Id="rId19" Type="http://schemas.openxmlformats.org/officeDocument/2006/relationships/handoutMaster" Target="handoutMasters/handoutMaster1.xml"/><Relationship Id="rId4" Type="http://schemas.openxmlformats.org/officeDocument/2006/relationships/customXml" Target="../customXml/item4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F519A0-78CB-4E85-BDD7-0175329041AC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7D04B4-5DD0-4898-8F9C-518F62E77A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99264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7BDF4F-FAE4-4E7A-B003-7AAF79F14F3C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92FB45-5863-49D1-8926-D42AE452A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20204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92FB45-5863-49D1-8926-D42AE452AB7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3705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baseline="0" dirty="0">
              <a:sym typeface="Wingdings" panose="05000000000000000000" pitchFamily="2" charset="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92FB45-5863-49D1-8926-D42AE452AB7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8072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92FB45-5863-49D1-8926-D42AE452AB7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8371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92FB45-5863-49D1-8926-D42AE452AB7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3045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92FB45-5863-49D1-8926-D42AE452AB7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50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7648" y="392643"/>
            <a:ext cx="1844351" cy="718699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175985" y="-3456972"/>
            <a:ext cx="3833929" cy="1219810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452396" y="6352792"/>
            <a:ext cx="2743200" cy="365125"/>
          </a:xfrm>
          <a:prstGeom prst="rect">
            <a:avLst/>
          </a:prstGeom>
        </p:spPr>
        <p:txBody>
          <a:bodyPr/>
          <a:lstStyle/>
          <a:p>
            <a:fld id="{12D417FB-DB75-4510-8AD7-5416595AADD8}" type="datetime1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 hidden="1"/>
          <p:cNvSpPr>
            <a:spLocks noGrp="1"/>
          </p:cNvSpPr>
          <p:nvPr>
            <p:ph type="ftr" sz="quarter" idx="11"/>
          </p:nvPr>
        </p:nvSpPr>
        <p:spPr>
          <a:xfrm>
            <a:off x="8610599" y="6356350"/>
            <a:ext cx="2121243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8" name="Rectangle 6"/>
          <p:cNvSpPr/>
          <p:nvPr userDrawn="1"/>
        </p:nvSpPr>
        <p:spPr>
          <a:xfrm flipH="1">
            <a:off x="0" y="4725859"/>
            <a:ext cx="12192000" cy="2162432"/>
          </a:xfrm>
          <a:custGeom>
            <a:avLst/>
            <a:gdLst>
              <a:gd name="connsiteX0" fmla="*/ 0 w 12192000"/>
              <a:gd name="connsiteY0" fmla="*/ 0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0 h 2162432"/>
              <a:gd name="connsiteX0" fmla="*/ 0 w 12192000"/>
              <a:gd name="connsiteY0" fmla="*/ 1169773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1169773 h 2162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2162432">
                <a:moveTo>
                  <a:pt x="0" y="1169773"/>
                </a:moveTo>
                <a:lnTo>
                  <a:pt x="12192000" y="0"/>
                </a:lnTo>
                <a:lnTo>
                  <a:pt x="12192000" y="2162432"/>
                </a:lnTo>
                <a:lnTo>
                  <a:pt x="0" y="2162432"/>
                </a:lnTo>
                <a:lnTo>
                  <a:pt x="0" y="1169773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4695568"/>
            <a:ext cx="12192000" cy="2162432"/>
          </a:xfrm>
          <a:custGeom>
            <a:avLst/>
            <a:gdLst>
              <a:gd name="connsiteX0" fmla="*/ 0 w 12192000"/>
              <a:gd name="connsiteY0" fmla="*/ 0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0 h 2162432"/>
              <a:gd name="connsiteX0" fmla="*/ 0 w 12192000"/>
              <a:gd name="connsiteY0" fmla="*/ 1169773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1169773 h 2162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2162432">
                <a:moveTo>
                  <a:pt x="0" y="1169773"/>
                </a:moveTo>
                <a:lnTo>
                  <a:pt x="12192000" y="0"/>
                </a:lnTo>
                <a:lnTo>
                  <a:pt x="12192000" y="2162432"/>
                </a:lnTo>
                <a:lnTo>
                  <a:pt x="0" y="2162432"/>
                </a:lnTo>
                <a:lnTo>
                  <a:pt x="0" y="1169773"/>
                </a:lnTo>
                <a:close/>
              </a:path>
            </a:pathLst>
          </a:custGeom>
          <a:solidFill>
            <a:srgbClr val="DB6D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344" y="5970673"/>
            <a:ext cx="3997596" cy="710771"/>
          </a:xfrm>
          <a:prstGeom prst="rect">
            <a:avLst/>
          </a:prstGeom>
        </p:spPr>
      </p:pic>
      <p:sp>
        <p:nvSpPr>
          <p:cNvPr id="20" name="TextBox 19"/>
          <p:cNvSpPr txBox="1"/>
          <p:nvPr userDrawn="1"/>
        </p:nvSpPr>
        <p:spPr>
          <a:xfrm>
            <a:off x="10347648" y="6245614"/>
            <a:ext cx="17914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  <a:latin typeface="FlandersArtSans-Medium" panose="00000600000000000000" pitchFamily="2" charset="0"/>
              </a:rPr>
              <a:t>vscentrum</a:t>
            </a:r>
            <a:r>
              <a:rPr lang="en-US" dirty="0">
                <a:solidFill>
                  <a:schemeClr val="bg2"/>
                </a:solidFill>
              </a:rPr>
              <a:t>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4189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0237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7478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9814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act 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22"/>
          </p:nvPr>
        </p:nvSpPr>
        <p:spPr>
          <a:xfrm>
            <a:off x="1028700" y="685800"/>
            <a:ext cx="5067300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142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solidFill>
                  <a:srgbClr val="52BDEC"/>
                </a:solidFill>
              </a:defRPr>
            </a:lvl1pPr>
          </a:lstStyle>
          <a:p>
            <a:r>
              <a:rPr lang="nl-NL" dirty="0"/>
              <a:t>Klik en typ de titel</a:t>
            </a:r>
            <a:endParaRPr lang="nl-BE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A2290-0477-46BB-87A2-28AB474124F3}" type="datetime1">
              <a:rPr lang="nl-BE" smtClean="0"/>
              <a:t>4/11/2025</a:t>
            </a:fld>
            <a:endParaRPr lang="nl-BE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>
          <a:xfrm>
            <a:off x="10896533" y="6048000"/>
            <a:ext cx="1248000" cy="288000"/>
          </a:xfrm>
        </p:spPr>
        <p:txBody>
          <a:bodyPr/>
          <a:lstStyle>
            <a:lvl1pPr>
              <a:defRPr sz="1200"/>
            </a:lvl1pPr>
          </a:lstStyle>
          <a:p>
            <a:fld id="{F35D8031-C8E5-48F8-A3B6-81643B27A3AF}" type="slidenum">
              <a:rPr lang="nl-BE" smtClean="0"/>
              <a:pPr/>
              <a:t>‹#›</a:t>
            </a:fld>
            <a:endParaRPr lang="nl-BE" dirty="0"/>
          </a:p>
        </p:txBody>
      </p:sp>
      <p:sp>
        <p:nvSpPr>
          <p:cNvPr id="6" name="Tijdelijke aanduiding voor tekst 2"/>
          <p:cNvSpPr>
            <a:spLocks noGrp="1"/>
          </p:cNvSpPr>
          <p:nvPr>
            <p:ph idx="1" hasCustomPrompt="1"/>
          </p:nvPr>
        </p:nvSpPr>
        <p:spPr>
          <a:xfrm>
            <a:off x="720000" y="1349999"/>
            <a:ext cx="11112000" cy="442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/>
            </a:lvl1pPr>
          </a:lstStyle>
          <a:p>
            <a:pPr lvl="0"/>
            <a:r>
              <a:rPr lang="nl-NL" dirty="0"/>
              <a:t>Klik en typ de tekst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41033763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65815-05F0-455F-BBD6-9680ABD9D1CB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E5766-DCCA-445A-AA53-048753A2C1C5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965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65815-05F0-455F-BBD6-9680ABD9D1CB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E5766-DCCA-445A-AA53-048753A2C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2320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65815-05F0-455F-BBD6-9680ABD9D1CB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E5766-DCCA-445A-AA53-048753A2C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3165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65815-05F0-455F-BBD6-9680ABD9D1CB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E5766-DCCA-445A-AA53-048753A2C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667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65815-05F0-455F-BBD6-9680ABD9D1CB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E5766-DCCA-445A-AA53-048753A2C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8528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65815-05F0-455F-BBD6-9680ABD9D1CB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E5766-DCCA-445A-AA53-048753A2C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997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65815-05F0-455F-BBD6-9680ABD9D1CB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E5766-DCCA-445A-AA53-048753A2C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60883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65815-05F0-455F-BBD6-9680ABD9D1CB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E5766-DCCA-445A-AA53-048753A2C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0790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65815-05F0-455F-BBD6-9680ABD9D1CB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E5766-DCCA-445A-AA53-048753A2C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98858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65815-05F0-455F-BBD6-9680ABD9D1CB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E5766-DCCA-445A-AA53-048753A2C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8217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65815-05F0-455F-BBD6-9680ABD9D1CB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E5766-DCCA-445A-AA53-048753A2C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8902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.xml"/><Relationship Id="rId3" Type="http://schemas.openxmlformats.org/officeDocument/2006/relationships/slideLayout" Target="../slideLayouts/slideLayout9.xml"/><Relationship Id="rId7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3720" y="6130213"/>
            <a:ext cx="12188280" cy="727788"/>
          </a:xfrm>
          <a:custGeom>
            <a:avLst/>
            <a:gdLst>
              <a:gd name="connsiteX0" fmla="*/ 0 w 12192000"/>
              <a:gd name="connsiteY0" fmla="*/ 0 h 1268963"/>
              <a:gd name="connsiteX1" fmla="*/ 12192000 w 12192000"/>
              <a:gd name="connsiteY1" fmla="*/ 0 h 1268963"/>
              <a:gd name="connsiteX2" fmla="*/ 12192000 w 12192000"/>
              <a:gd name="connsiteY2" fmla="*/ 1268963 h 1268963"/>
              <a:gd name="connsiteX3" fmla="*/ 0 w 12192000"/>
              <a:gd name="connsiteY3" fmla="*/ 1268963 h 1268963"/>
              <a:gd name="connsiteX4" fmla="*/ 0 w 12192000"/>
              <a:gd name="connsiteY4" fmla="*/ 0 h 1268963"/>
              <a:gd name="connsiteX0" fmla="*/ 0 w 12210662"/>
              <a:gd name="connsiteY0" fmla="*/ 877077 h 1268963"/>
              <a:gd name="connsiteX1" fmla="*/ 12210662 w 12210662"/>
              <a:gd name="connsiteY1" fmla="*/ 0 h 1268963"/>
              <a:gd name="connsiteX2" fmla="*/ 12210662 w 12210662"/>
              <a:gd name="connsiteY2" fmla="*/ 1268963 h 1268963"/>
              <a:gd name="connsiteX3" fmla="*/ 18662 w 12210662"/>
              <a:gd name="connsiteY3" fmla="*/ 1268963 h 1268963"/>
              <a:gd name="connsiteX4" fmla="*/ 0 w 12210662"/>
              <a:gd name="connsiteY4" fmla="*/ 877077 h 1268963"/>
              <a:gd name="connsiteX0" fmla="*/ 0 w 12210662"/>
              <a:gd name="connsiteY0" fmla="*/ 335902 h 727788"/>
              <a:gd name="connsiteX1" fmla="*/ 12210662 w 12210662"/>
              <a:gd name="connsiteY1" fmla="*/ 0 h 727788"/>
              <a:gd name="connsiteX2" fmla="*/ 12210662 w 12210662"/>
              <a:gd name="connsiteY2" fmla="*/ 727788 h 727788"/>
              <a:gd name="connsiteX3" fmla="*/ 18662 w 12210662"/>
              <a:gd name="connsiteY3" fmla="*/ 727788 h 727788"/>
              <a:gd name="connsiteX4" fmla="*/ 0 w 12210662"/>
              <a:gd name="connsiteY4" fmla="*/ 335902 h 727788"/>
              <a:gd name="connsiteX0" fmla="*/ 9330 w 12192000"/>
              <a:gd name="connsiteY0" fmla="*/ 335902 h 727788"/>
              <a:gd name="connsiteX1" fmla="*/ 12192000 w 12192000"/>
              <a:gd name="connsiteY1" fmla="*/ 0 h 727788"/>
              <a:gd name="connsiteX2" fmla="*/ 12192000 w 12192000"/>
              <a:gd name="connsiteY2" fmla="*/ 727788 h 727788"/>
              <a:gd name="connsiteX3" fmla="*/ 0 w 12192000"/>
              <a:gd name="connsiteY3" fmla="*/ 727788 h 727788"/>
              <a:gd name="connsiteX4" fmla="*/ 9330 w 12192000"/>
              <a:gd name="connsiteY4" fmla="*/ 335902 h 727788"/>
              <a:gd name="connsiteX0" fmla="*/ 3720 w 12192000"/>
              <a:gd name="connsiteY0" fmla="*/ 335902 h 727788"/>
              <a:gd name="connsiteX1" fmla="*/ 12192000 w 12192000"/>
              <a:gd name="connsiteY1" fmla="*/ 0 h 727788"/>
              <a:gd name="connsiteX2" fmla="*/ 12192000 w 12192000"/>
              <a:gd name="connsiteY2" fmla="*/ 727788 h 727788"/>
              <a:gd name="connsiteX3" fmla="*/ 0 w 12192000"/>
              <a:gd name="connsiteY3" fmla="*/ 727788 h 727788"/>
              <a:gd name="connsiteX4" fmla="*/ 3720 w 12192000"/>
              <a:gd name="connsiteY4" fmla="*/ 335902 h 727788"/>
              <a:gd name="connsiteX0" fmla="*/ 0 w 12188280"/>
              <a:gd name="connsiteY0" fmla="*/ 335902 h 727788"/>
              <a:gd name="connsiteX1" fmla="*/ 12188280 w 12188280"/>
              <a:gd name="connsiteY1" fmla="*/ 0 h 727788"/>
              <a:gd name="connsiteX2" fmla="*/ 12188280 w 12188280"/>
              <a:gd name="connsiteY2" fmla="*/ 727788 h 727788"/>
              <a:gd name="connsiteX3" fmla="*/ 1890 w 12188280"/>
              <a:gd name="connsiteY3" fmla="*/ 727788 h 727788"/>
              <a:gd name="connsiteX4" fmla="*/ 0 w 12188280"/>
              <a:gd name="connsiteY4" fmla="*/ 335902 h 727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88280" h="727788">
                <a:moveTo>
                  <a:pt x="0" y="335902"/>
                </a:moveTo>
                <a:lnTo>
                  <a:pt x="12188280" y="0"/>
                </a:lnTo>
                <a:lnTo>
                  <a:pt x="12188280" y="727788"/>
                </a:lnTo>
                <a:lnTo>
                  <a:pt x="1890" y="727788"/>
                </a:lnTo>
                <a:lnTo>
                  <a:pt x="0" y="335902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844850" y="6384344"/>
            <a:ext cx="5023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CF5A1C33-475D-474A-A037-DDAF3DC7AF09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7239" y="6229445"/>
            <a:ext cx="1426467" cy="576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621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6" r:id="rId2"/>
    <p:sldLayoutId id="2147483657" r:id="rId3"/>
    <p:sldLayoutId id="2147483658" r:id="rId4"/>
    <p:sldLayoutId id="2147483709" r:id="rId5"/>
    <p:sldLayoutId id="2147483711" r:id="rId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565815-05F0-455F-BBD6-9680ABD9D1CB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DE5766-DCCA-445A-AA53-048753A2C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407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hpcleuven.github.io/HPC-intro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ondemand.hpc.kuleuven.be/" TargetMode="External"/><Relationship Id="rId4" Type="http://schemas.openxmlformats.org/officeDocument/2006/relationships/hyperlink" Target="https://account.vscentrum.be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repo.continuum.io/miniconda/Miniconda3-latest-Linux-x86_64.sh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admin.kuleuven.be/icts/HPCinfo_form/HPC-info-formulier" TargetMode="External"/><Relationship Id="rId7" Type="http://schemas.openxmlformats.org/officeDocument/2006/relationships/hyperlink" Target="https://status.vscentrum.be/" TargetMode="External"/><Relationship Id="rId2" Type="http://schemas.openxmlformats.org/officeDocument/2006/relationships/hyperlink" Target="mailto:hpcinfo@kuleuven.be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www.vscentrum.be/vsctraining" TargetMode="External"/><Relationship Id="rId5" Type="http://schemas.openxmlformats.org/officeDocument/2006/relationships/hyperlink" Target="https://docs.vscentrum.be/" TargetMode="External"/><Relationship Id="rId4" Type="http://schemas.openxmlformats.org/officeDocument/2006/relationships/hyperlink" Target="https://www.vscentrum.be/" TargetMode="Externa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2943" y="1191493"/>
            <a:ext cx="9144000" cy="1810473"/>
          </a:xfrm>
        </p:spPr>
        <p:txBody>
          <a:bodyPr/>
          <a:lstStyle/>
          <a:p>
            <a:r>
              <a:rPr lang="en-US" dirty="0">
                <a:solidFill>
                  <a:srgbClr val="4E5865"/>
                </a:solidFill>
              </a:rPr>
              <a:t>VSC HPC demo session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80693D-954B-42FB-8788-F8B384E06BD8}"/>
              </a:ext>
            </a:extLst>
          </p:cNvPr>
          <p:cNvSpPr/>
          <p:nvPr/>
        </p:nvSpPr>
        <p:spPr>
          <a:xfrm>
            <a:off x="1221052" y="3666231"/>
            <a:ext cx="575702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nl-BE" sz="2800" dirty="0">
                <a:solidFill>
                  <a:srgbClr val="4E5865"/>
                </a:solidFill>
                <a:latin typeface="+mj-lt"/>
                <a:hlinkClick r:id="rId3"/>
              </a:rPr>
              <a:t>https://hpcleuven.github.io/HPC-intro</a:t>
            </a:r>
            <a:endParaRPr lang="nl-BE" sz="2800" dirty="0">
              <a:solidFill>
                <a:srgbClr val="4E5865"/>
              </a:solidFill>
              <a:latin typeface="+mj-lt"/>
            </a:endParaRPr>
          </a:p>
        </p:txBody>
      </p:sp>
      <p:pic>
        <p:nvPicPr>
          <p:cNvPr id="7" name="Picture 6" descr="A close up of a logo&#10;&#10;Description automatically generated">
            <a:extLst>
              <a:ext uri="{FF2B5EF4-FFF2-40B4-BE49-F238E27FC236}">
                <a16:creationId xmlns:a16="http://schemas.microsoft.com/office/drawing/2014/main" id="{AF58BFEB-B72A-4BCF-B58D-8428C7B9642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687" t="11172" r="11763" b="11280"/>
          <a:stretch/>
        </p:blipFill>
        <p:spPr>
          <a:xfrm>
            <a:off x="8639410" y="3321373"/>
            <a:ext cx="3420000" cy="34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238219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06691" y="294437"/>
            <a:ext cx="10515600" cy="1325563"/>
          </a:xfrm>
        </p:spPr>
        <p:txBody>
          <a:bodyPr/>
          <a:lstStyle/>
          <a:p>
            <a:r>
              <a:rPr lang="en-US" altLang="zh-TW" dirty="0">
                <a:solidFill>
                  <a:srgbClr val="4E5865"/>
                </a:solidFill>
                <a:ea typeface="新細明體" panose="02020500000000000000" pitchFamily="18" charset="-120"/>
              </a:rPr>
              <a:t>First steps</a:t>
            </a:r>
            <a:endParaRPr lang="nl-BE" dirty="0">
              <a:solidFill>
                <a:srgbClr val="4E5865"/>
              </a:solidFill>
            </a:endParaRP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524691" y="1620000"/>
            <a:ext cx="11112000" cy="3528470"/>
          </a:xfrm>
        </p:spPr>
        <p:txBody>
          <a:bodyPr/>
          <a:lstStyle/>
          <a:p>
            <a:pPr indent="-324000">
              <a:buBlip>
                <a:blip r:embed="rId3"/>
              </a:buBlip>
            </a:pPr>
            <a:r>
              <a:rPr lang="en-US" altLang="zh-TW" sz="2400" dirty="0">
                <a:ea typeface="新細明體" panose="02020500000000000000" pitchFamily="18" charset="-120"/>
              </a:rPr>
              <a:t>Request to become a member of the </a:t>
            </a:r>
            <a:r>
              <a:rPr lang="en-US" altLang="zh-TW" sz="2400" i="1" dirty="0" err="1">
                <a:ea typeface="新細明體" panose="02020500000000000000" pitchFamily="18" charset="-120"/>
              </a:rPr>
              <a:t>lp_hpcinfo</a:t>
            </a:r>
            <a:r>
              <a:rPr lang="en-US" altLang="zh-TW" sz="2400" dirty="0">
                <a:ea typeface="新細明體" panose="02020500000000000000" pitchFamily="18" charset="-120"/>
              </a:rPr>
              <a:t> group via </a:t>
            </a:r>
            <a:r>
              <a:rPr lang="en-US" altLang="zh-TW" sz="2400" dirty="0">
                <a:ea typeface="新細明體" panose="02020500000000000000" pitchFamily="18" charset="-120"/>
                <a:hlinkClick r:id="rId4"/>
              </a:rPr>
              <a:t>account.vscentrum.be</a:t>
            </a:r>
            <a:endParaRPr lang="en-US" altLang="zh-TW" sz="2400" dirty="0">
              <a:ea typeface="新細明體" panose="02020500000000000000" pitchFamily="18" charset="-120"/>
            </a:endParaRPr>
          </a:p>
          <a:p>
            <a:pPr>
              <a:buBlip>
                <a:blip r:embed="rId3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 Login via </a:t>
            </a:r>
            <a:r>
              <a:rPr lang="en-US" altLang="zh-TW" sz="2400" dirty="0" err="1">
                <a:solidFill>
                  <a:srgbClr val="4E5865"/>
                </a:solidFill>
                <a:ea typeface="新細明體" panose="02020500000000000000" pitchFamily="18" charset="-120"/>
              </a:rPr>
              <a:t>OpenOnDemand</a:t>
            </a: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: </a:t>
            </a: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  <a:hlinkClick r:id="rId5"/>
              </a:rPr>
              <a:t>ondemand.hpc.kuleuven.be</a:t>
            </a: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 </a:t>
            </a:r>
            <a:b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</a:b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 Features: file transfer, file editor, interactive apps, job overview</a:t>
            </a:r>
          </a:p>
          <a:p>
            <a:pPr>
              <a:buBlip>
                <a:blip r:embed="rId3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 Check your disk quota:</a:t>
            </a:r>
            <a:b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</a:b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  </a:t>
            </a:r>
            <a:r>
              <a:rPr lang="en-US" altLang="zh-TW" sz="20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$ </a:t>
            </a:r>
            <a:r>
              <a:rPr lang="en-US" altLang="zh-TW" sz="2000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myquota</a:t>
            </a:r>
            <a:endParaRPr lang="en-US" altLang="zh-TW" sz="2000" dirty="0">
              <a:solidFill>
                <a:srgbClr val="4E5865"/>
              </a:solidFill>
              <a:latin typeface="Courier New" panose="02070309020205020404" pitchFamily="49" charset="0"/>
              <a:ea typeface="新細明體" panose="02020500000000000000" pitchFamily="18" charset="-120"/>
              <a:cs typeface="Courier New" panose="02070309020205020404" pitchFamily="49" charset="0"/>
            </a:endParaRPr>
          </a:p>
          <a:p>
            <a:pPr>
              <a:buBlip>
                <a:blip r:embed="rId3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 Check your credit accounts:</a:t>
            </a:r>
            <a:b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</a:br>
            <a:r>
              <a:rPr lang="en-US" altLang="zh-TW" sz="20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$ </a:t>
            </a:r>
            <a:r>
              <a:rPr lang="en-US" altLang="zh-TW" sz="2000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sam</a:t>
            </a:r>
            <a:r>
              <a:rPr lang="en-US" altLang="zh-TW" sz="20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-balance </a:t>
            </a:r>
            <a:br>
              <a:rPr lang="en-US" altLang="zh-TW" sz="20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</a:br>
            <a:r>
              <a:rPr lang="en-US" altLang="zh-TW" sz="20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$ </a:t>
            </a:r>
            <a:r>
              <a:rPr lang="en-US" altLang="zh-TW" sz="2000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sam</a:t>
            </a:r>
            <a:r>
              <a:rPr lang="en-US" altLang="zh-TW" sz="20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-list-allocations</a:t>
            </a:r>
          </a:p>
          <a:p>
            <a:pPr>
              <a:buBlip>
                <a:blip r:embed="rId3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 Try the centrally installed software modules:</a:t>
            </a:r>
            <a:b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</a:b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sz="20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$ module {</a:t>
            </a:r>
            <a:r>
              <a:rPr lang="en-US" altLang="zh-TW" sz="2000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avail|list|load|unload|purge</a:t>
            </a:r>
            <a:r>
              <a:rPr lang="en-US" altLang="zh-TW" sz="20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}</a:t>
            </a:r>
            <a:endParaRPr lang="nl-BE" sz="2000" dirty="0">
              <a:solidFill>
                <a:srgbClr val="4E5865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5B30D68-186D-45F9-BEB0-589C49426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44850" y="6384344"/>
            <a:ext cx="502300" cy="365125"/>
          </a:xfrm>
        </p:spPr>
        <p:txBody>
          <a:bodyPr/>
          <a:lstStyle/>
          <a:p>
            <a:fld id="{A2912448-FEEC-49E8-9588-2DF1F90D57C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2787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524690" y="1620000"/>
            <a:ext cx="11667309" cy="4428000"/>
          </a:xfrm>
        </p:spPr>
        <p:txBody>
          <a:bodyPr/>
          <a:lstStyle/>
          <a:p>
            <a:pPr indent="-324000">
              <a:buBlip>
                <a:blip r:embed="rId3"/>
              </a:buBlip>
            </a:pPr>
            <a:r>
              <a:rPr lang="en-US" altLang="zh-TW" sz="2400" dirty="0">
                <a:ea typeface="新細明體" panose="02020500000000000000" pitchFamily="18" charset="-120"/>
              </a:rPr>
              <a:t>Copy </a:t>
            </a:r>
            <a:r>
              <a:rPr lang="en-US" altLang="zh-TW" sz="2400" dirty="0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/apps/</a:t>
            </a:r>
            <a:r>
              <a:rPr lang="en-US" altLang="zh-TW" sz="2400" dirty="0" err="1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leuven</a:t>
            </a:r>
            <a:r>
              <a:rPr lang="en-US" altLang="zh-TW" sz="2400" dirty="0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/training/</a:t>
            </a:r>
            <a:r>
              <a:rPr lang="en-US" altLang="zh-TW" sz="2400" dirty="0" err="1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HPC_intro</a:t>
            </a:r>
            <a:r>
              <a:rPr lang="en-US" altLang="zh-TW" sz="2400" dirty="0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/</a:t>
            </a:r>
            <a:r>
              <a:rPr lang="en-US" altLang="zh-TW" sz="2400" dirty="0">
                <a:ea typeface="新細明體" panose="02020500000000000000" pitchFamily="18" charset="-120"/>
              </a:rPr>
              <a:t> to your </a:t>
            </a:r>
            <a:r>
              <a:rPr lang="en-US" altLang="zh-TW" sz="2400" dirty="0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$VSC_DATA</a:t>
            </a:r>
          </a:p>
          <a:p>
            <a:pPr indent="-324000">
              <a:buBlip>
                <a:blip r:embed="rId3"/>
              </a:buBlip>
            </a:pPr>
            <a:r>
              <a:rPr lang="en-US" altLang="zh-TW" sz="2400" dirty="0">
                <a:ea typeface="新細明體" panose="02020500000000000000" pitchFamily="18" charset="-120"/>
              </a:rPr>
              <a:t>Submit </a:t>
            </a:r>
            <a:r>
              <a:rPr lang="en-US" altLang="zh-TW" sz="2400" dirty="0" err="1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cpujob.slurm</a:t>
            </a:r>
            <a:r>
              <a:rPr lang="en-US" altLang="zh-TW" sz="2400" dirty="0">
                <a:ea typeface="新細明體" panose="02020500000000000000" pitchFamily="18" charset="-120"/>
              </a:rPr>
              <a:t> to the cluster</a:t>
            </a:r>
          </a:p>
          <a:p>
            <a:pPr indent="-324000">
              <a:buBlip>
                <a:blip r:embed="rId3"/>
              </a:buBlip>
            </a:pPr>
            <a:r>
              <a:rPr lang="en-US" altLang="zh-TW" sz="2400" dirty="0">
                <a:ea typeface="新細明體" panose="02020500000000000000" pitchFamily="18" charset="-120"/>
              </a:rPr>
              <a:t>List all your jobs with </a:t>
            </a:r>
            <a:r>
              <a:rPr lang="en-US" altLang="zh-TW" sz="2400" dirty="0" err="1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squeue</a:t>
            </a:r>
            <a:r>
              <a:rPr lang="en-US" altLang="zh-TW" sz="2400" dirty="0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-M </a:t>
            </a:r>
            <a:r>
              <a:rPr lang="en-US" altLang="zh-TW" sz="2400" dirty="0" err="1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wice</a:t>
            </a:r>
            <a:endParaRPr lang="en-US" altLang="zh-TW" sz="2400" dirty="0">
              <a:ea typeface="新細明體" panose="02020500000000000000" pitchFamily="18" charset="-120"/>
            </a:endParaRPr>
          </a:p>
          <a:p>
            <a:pPr indent="-324000">
              <a:buBlip>
                <a:blip r:embed="rId3"/>
              </a:buBlip>
            </a:pPr>
            <a:r>
              <a:rPr lang="en-US" altLang="zh-TW" sz="2400" dirty="0">
                <a:ea typeface="新細明體" panose="02020500000000000000" pitchFamily="18" charset="-120"/>
              </a:rPr>
              <a:t>Check the information about the job with </a:t>
            </a:r>
            <a:r>
              <a:rPr lang="en-US" altLang="zh-TW" sz="2400" dirty="0" err="1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slurm_jobinfo</a:t>
            </a:r>
            <a:r>
              <a:rPr lang="en-US" altLang="zh-TW" sz="2400" dirty="0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-M </a:t>
            </a:r>
            <a:r>
              <a:rPr lang="en-US" altLang="zh-TW" sz="2400" dirty="0" err="1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wice</a:t>
            </a:r>
            <a:r>
              <a:rPr lang="en-US" altLang="zh-TW" sz="2400" dirty="0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&lt;</a:t>
            </a:r>
            <a:r>
              <a:rPr lang="en-US" altLang="zh-TW" sz="2400" dirty="0" err="1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job_ID</a:t>
            </a:r>
            <a:r>
              <a:rPr lang="en-US" altLang="zh-TW" sz="2400" dirty="0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&gt;</a:t>
            </a:r>
            <a:endParaRPr lang="en-US" altLang="zh-TW" sz="2400" dirty="0">
              <a:ea typeface="新細明體" panose="02020500000000000000" pitchFamily="18" charset="-120"/>
            </a:endParaRPr>
          </a:p>
          <a:p>
            <a:pPr indent="-324000">
              <a:buBlip>
                <a:blip r:embed="rId3"/>
              </a:buBlip>
            </a:pPr>
            <a:r>
              <a:rPr lang="en-US" altLang="zh-TW" sz="2400" dirty="0">
                <a:ea typeface="新細明體" panose="02020500000000000000" pitchFamily="18" charset="-120"/>
              </a:rPr>
              <a:t>Modify the </a:t>
            </a:r>
            <a:r>
              <a:rPr lang="en-US" altLang="zh-TW" sz="2400" dirty="0" err="1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mpi.slurm</a:t>
            </a:r>
            <a:r>
              <a:rPr lang="en-US" altLang="zh-TW" sz="2400" dirty="0">
                <a:ea typeface="新細明體" panose="02020500000000000000" pitchFamily="18" charset="-120"/>
              </a:rPr>
              <a:t> script to request 1 node, 72 cores for 30 minutes,</a:t>
            </a:r>
            <a:br>
              <a:rPr lang="en-US" altLang="zh-TW" sz="2400" dirty="0">
                <a:ea typeface="新細明體" panose="02020500000000000000" pitchFamily="18" charset="-120"/>
              </a:rPr>
            </a:br>
            <a:r>
              <a:rPr lang="en-US" altLang="zh-TW" sz="2400" dirty="0">
                <a:ea typeface="新細明體" panose="02020500000000000000" pitchFamily="18" charset="-120"/>
              </a:rPr>
              <a:t>  with job start/end e-mail notifications</a:t>
            </a:r>
          </a:p>
          <a:p>
            <a:pPr indent="-324000">
              <a:buBlip>
                <a:blip r:embed="rId3"/>
              </a:buBlip>
            </a:pPr>
            <a:r>
              <a:rPr lang="en-US" altLang="zh-TW" sz="2400" dirty="0">
                <a:ea typeface="新細明體" panose="02020500000000000000" pitchFamily="18" charset="-120"/>
              </a:rPr>
              <a:t>Check the status of all the jobs</a:t>
            </a:r>
            <a:endParaRPr lang="en-US" altLang="zh-TW" sz="2400" dirty="0">
              <a:solidFill>
                <a:srgbClr val="4E5865"/>
              </a:solidFill>
              <a:ea typeface="新細明體" panose="02020500000000000000" pitchFamily="18" charset="-120"/>
            </a:endParaRPr>
          </a:p>
          <a:p>
            <a:endParaRPr lang="nl-BE" sz="2400" dirty="0">
              <a:solidFill>
                <a:srgbClr val="4E5865"/>
              </a:solidFill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5B30D68-186D-45F9-BEB0-589C49426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44850" y="6384344"/>
            <a:ext cx="502300" cy="365125"/>
          </a:xfrm>
        </p:spPr>
        <p:txBody>
          <a:bodyPr/>
          <a:lstStyle/>
          <a:p>
            <a:fld id="{A2912448-FEEC-49E8-9588-2DF1F90D57C2}" type="slidenum">
              <a:rPr lang="en-US" smtClean="0"/>
              <a:t>3</a:t>
            </a:fld>
            <a:endParaRPr lang="en-US" dirty="0"/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C5D93C91-56FE-EB57-8CB9-4D3DCB59C454}"/>
              </a:ext>
            </a:extLst>
          </p:cNvPr>
          <p:cNvSpPr txBox="1">
            <a:spLocks/>
          </p:cNvSpPr>
          <p:nvPr/>
        </p:nvSpPr>
        <p:spPr>
          <a:xfrm>
            <a:off x="406691" y="29443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rgbClr val="52BDEC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4E5865"/>
                </a:solidFill>
                <a:ea typeface="新細明體" panose="02020500000000000000" pitchFamily="18" charset="-120"/>
              </a:rPr>
              <a:t>First steps</a:t>
            </a:r>
            <a:endParaRPr lang="nl-BE" dirty="0">
              <a:solidFill>
                <a:srgbClr val="4E586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97098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B30D68-186D-45F9-BEB0-589C49426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44850" y="6384344"/>
            <a:ext cx="502300" cy="365125"/>
          </a:xfrm>
        </p:spPr>
        <p:txBody>
          <a:bodyPr/>
          <a:lstStyle/>
          <a:p>
            <a:fld id="{A2912448-FEEC-49E8-9588-2DF1F90D57C2}" type="slidenum">
              <a:rPr lang="en-US" smtClean="0"/>
              <a:t>4</a:t>
            </a:fld>
            <a:endParaRPr lang="en-US" dirty="0"/>
          </a:p>
        </p:txBody>
      </p:sp>
      <p:graphicFrame>
        <p:nvGraphicFramePr>
          <p:cNvPr id="7" name="Content Placeholder 4">
            <a:extLst>
              <a:ext uri="{FF2B5EF4-FFF2-40B4-BE49-F238E27FC236}">
                <a16:creationId xmlns:a16="http://schemas.microsoft.com/office/drawing/2014/main" id="{38213270-383D-BCDD-E9CF-A4DEC163D81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18096002"/>
              </p:ext>
            </p:extLst>
          </p:nvPr>
        </p:nvGraphicFramePr>
        <p:xfrm>
          <a:off x="108155" y="1124744"/>
          <a:ext cx="12015019" cy="5652018"/>
        </p:xfrm>
        <a:graphic>
          <a:graphicData uri="http://schemas.openxmlformats.org/drawingml/2006/table">
            <a:tbl>
              <a:tblPr firstRow="1" firstCol="1" bandRow="1">
                <a:tableStyleId>{B301B821-A1FF-4177-AEE7-76D212191A09}</a:tableStyleId>
              </a:tblPr>
              <a:tblGrid>
                <a:gridCol w="6779933">
                  <a:extLst>
                    <a:ext uri="{9D8B030D-6E8A-4147-A177-3AD203B41FA5}">
                      <a16:colId xmlns:a16="http://schemas.microsoft.com/office/drawing/2014/main" val="1674356392"/>
                    </a:ext>
                  </a:extLst>
                </a:gridCol>
                <a:gridCol w="5235086">
                  <a:extLst>
                    <a:ext uri="{9D8B030D-6E8A-4147-A177-3AD203B41FA5}">
                      <a16:colId xmlns:a16="http://schemas.microsoft.com/office/drawing/2014/main" val="745218725"/>
                    </a:ext>
                  </a:extLst>
                </a:gridCol>
              </a:tblGrid>
              <a:tr h="4062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</a:rPr>
                        <a:t>Command</a:t>
                      </a:r>
                      <a:endParaRPr lang="en-GB" sz="2000" b="1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</a:rPr>
                        <a:t>Purpose</a:t>
                      </a:r>
                      <a:endParaRPr lang="en-GB" sz="2000" b="1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7096036"/>
                  </a:ext>
                </a:extLst>
              </a:tr>
              <a:tr h="4062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sbatch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...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ea typeface="Calibri" panose="020F0502020204030204" pitchFamily="34" charset="0"/>
                        <a:cs typeface="72 Monospace" panose="020B050903060302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Submit a batch job</a:t>
                      </a:r>
                      <a:endParaRPr lang="en-GB" sz="18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90343910"/>
                  </a:ext>
                </a:extLst>
              </a:tr>
              <a:tr h="4062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srun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...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ea typeface="Calibri" panose="020F0502020204030204" pitchFamily="34" charset="0"/>
                        <a:cs typeface="72 Monospace" panose="020B050903060302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Submit an interactive job</a:t>
                      </a:r>
                      <a:endParaRPr lang="en-GB" sz="18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33525469"/>
                  </a:ext>
                </a:extLst>
              </a:tr>
              <a:tr h="4062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scancel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--cluster=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wice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&lt;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JobID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&gt;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ea typeface="Calibri" panose="020F0502020204030204" pitchFamily="34" charset="0"/>
                        <a:cs typeface="72 Monospace" panose="020B050903060302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Cancel a specific pending or running job </a:t>
                      </a:r>
                      <a:endParaRPr lang="en-GB" sz="18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92131618"/>
                  </a:ext>
                </a:extLst>
              </a:tr>
              <a:tr h="71099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scontrol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show job --clusters=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wice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&lt;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JobID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&gt;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slurm_jobinfo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&lt;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JobID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&gt;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ea typeface="Calibri" panose="020F0502020204030204" pitchFamily="34" charset="0"/>
                        <a:cs typeface="72 Monospace" panose="020B050903060302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Detailed job info (very useful to diagnose issues)</a:t>
                      </a:r>
                      <a:endParaRPr lang="en-GB" sz="18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1598224"/>
                  </a:ext>
                </a:extLst>
              </a:tr>
              <a:tr h="4062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squeue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--clusters=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wice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--long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ea typeface="Calibri" panose="020F0502020204030204" pitchFamily="34" charset="0"/>
                        <a:cs typeface="72 Monospace" panose="020B050903060302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Status of all recent jobs</a:t>
                      </a:r>
                      <a:endParaRPr lang="en-GB" sz="18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162964"/>
                  </a:ext>
                </a:extLst>
              </a:tr>
              <a:tr h="4062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squeue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--clusters=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wice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--start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ea typeface="Calibri" panose="020F0502020204030204" pitchFamily="34" charset="0"/>
                        <a:cs typeface="72 Monospace" panose="020B050903060302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Give a rough estimate of when your jobs will start</a:t>
                      </a:r>
                      <a:endParaRPr lang="en-GB" sz="18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8600807"/>
                  </a:ext>
                </a:extLst>
              </a:tr>
              <a:tr h="428169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sinfo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--clusters=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wice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ea typeface="Calibri" panose="020F0502020204030204" pitchFamily="34" charset="0"/>
                        <a:cs typeface="72 Monospace" panose="020B050903060302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Info about the state of available partitions and nodes</a:t>
                      </a:r>
                      <a:endParaRPr lang="en-GB" sz="18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7826251"/>
                  </a:ext>
                </a:extLst>
              </a:tr>
              <a:tr h="428169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sacct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--clusters=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wice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--batch --job &lt;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JobID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&gt;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ea typeface="Calibri" panose="020F0502020204030204" pitchFamily="34" charset="0"/>
                        <a:cs typeface="72 Monospace" panose="020B050903060302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Show the </a:t>
                      </a:r>
                      <a:r>
                        <a:rPr lang="en-US" sz="1800" b="0" dirty="0" err="1">
                          <a:effectLst/>
                        </a:rPr>
                        <a:t>jobscript</a:t>
                      </a:r>
                      <a:r>
                        <a:rPr lang="en-US" sz="1800" b="0" dirty="0">
                          <a:effectLst/>
                        </a:rPr>
                        <a:t> used for a given batch job</a:t>
                      </a:r>
                      <a:endParaRPr lang="en-GB" sz="18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9982086"/>
                  </a:ext>
                </a:extLst>
              </a:tr>
              <a:tr h="4062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slurmtop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Overview of the cluster</a:t>
                      </a:r>
                      <a:endParaRPr lang="en-GB" sz="1800" b="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8071451"/>
                  </a:ext>
                </a:extLst>
              </a:tr>
              <a:tr h="4062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scontrol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--clusters=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wice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show node &lt;hostname&gt;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ea typeface="Calibri" panose="020F0502020204030204" pitchFamily="34" charset="0"/>
                        <a:cs typeface="72 Monospace" panose="020B050903060302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Get detailed information about the status of a node</a:t>
                      </a:r>
                      <a:endParaRPr lang="en-GB" sz="18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2914137"/>
                  </a:ext>
                </a:extLst>
              </a:tr>
              <a:tr h="4062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sam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-balance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ea typeface="Calibri" panose="020F0502020204030204" pitchFamily="34" charset="0"/>
                        <a:cs typeface="72 Monospace" panose="020B050903060302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Overview of all your available credit projects</a:t>
                      </a:r>
                      <a:endParaRPr lang="en-GB" sz="18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0533005"/>
                  </a:ext>
                </a:extLst>
              </a:tr>
              <a:tr h="428169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sam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-list-allocations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ea typeface="Calibri" panose="020F0502020204030204" pitchFamily="34" charset="0"/>
                        <a:cs typeface="72 Monospace" panose="020B050903060302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Detailed overview of your credit allocation history</a:t>
                      </a:r>
                      <a:endParaRPr lang="en-GB" sz="18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0031654"/>
                  </a:ext>
                </a:extLst>
              </a:tr>
            </a:tbl>
          </a:graphicData>
        </a:graphic>
      </p:graphicFrame>
      <p:sp>
        <p:nvSpPr>
          <p:cNvPr id="10" name="Titel 1">
            <a:extLst>
              <a:ext uri="{FF2B5EF4-FFF2-40B4-BE49-F238E27FC236}">
                <a16:creationId xmlns:a16="http://schemas.microsoft.com/office/drawing/2014/main" id="{634D5314-B3FA-C060-F261-1E3BF3B729D3}"/>
              </a:ext>
            </a:extLst>
          </p:cNvPr>
          <p:cNvSpPr txBox="1">
            <a:spLocks/>
          </p:cNvSpPr>
          <p:nvPr/>
        </p:nvSpPr>
        <p:spPr>
          <a:xfrm>
            <a:off x="406691" y="2384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rgbClr val="52BDEC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dirty="0" err="1">
                <a:solidFill>
                  <a:srgbClr val="4E5865"/>
                </a:solidFill>
                <a:ea typeface="新細明體" panose="02020500000000000000" pitchFamily="18" charset="-120"/>
              </a:rPr>
              <a:t>Slurm</a:t>
            </a:r>
            <a:r>
              <a:rPr lang="en-US" altLang="zh-TW" dirty="0">
                <a:solidFill>
                  <a:srgbClr val="4E5865"/>
                </a:solidFill>
                <a:ea typeface="新細明體" panose="02020500000000000000" pitchFamily="18" charset="-120"/>
              </a:rPr>
              <a:t> command-line tools</a:t>
            </a:r>
            <a:endParaRPr lang="nl-BE" dirty="0">
              <a:solidFill>
                <a:srgbClr val="4E586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92157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54243" y="282343"/>
            <a:ext cx="10515600" cy="1325563"/>
          </a:xfrm>
        </p:spPr>
        <p:txBody>
          <a:bodyPr/>
          <a:lstStyle/>
          <a:p>
            <a:r>
              <a:rPr lang="en-US" altLang="zh-TW" dirty="0">
                <a:solidFill>
                  <a:srgbClr val="4E5865"/>
                </a:solidFill>
                <a:ea typeface="新細明體" panose="02020500000000000000" pitchFamily="18" charset="-120"/>
              </a:rPr>
              <a:t>Job monitoring</a:t>
            </a:r>
            <a:endParaRPr lang="nl-BE" dirty="0">
              <a:solidFill>
                <a:srgbClr val="4E5865"/>
              </a:solidFill>
            </a:endParaRP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58557" y="1619999"/>
            <a:ext cx="11817530" cy="3630095"/>
          </a:xfrm>
        </p:spPr>
        <p:txBody>
          <a:bodyPr/>
          <a:lstStyle/>
          <a:p>
            <a:pPr marL="172800" lvl="2" indent="-324000">
              <a:buBlip>
                <a:blip r:embed="rId3"/>
              </a:buBlip>
            </a:pPr>
            <a:r>
              <a:rPr lang="en-US" altLang="zh-TW" sz="2400" dirty="0">
                <a:ea typeface="新細明體" panose="02020500000000000000" pitchFamily="18" charset="-120"/>
              </a:rPr>
              <a:t>Submit an interactive job</a:t>
            </a:r>
          </a:p>
          <a:p>
            <a:pPr marL="357188" lvl="2" indent="0">
              <a:buNone/>
            </a:pPr>
            <a:r>
              <a:rPr lang="en-US" altLang="zh-TW" sz="2400" dirty="0">
                <a:ea typeface="新細明體" panose="02020500000000000000" pitchFamily="18" charset="-120"/>
              </a:rPr>
              <a:t>	Run your program on a compute node</a:t>
            </a:r>
          </a:p>
          <a:p>
            <a:pPr marL="357188" lvl="2" indent="0">
              <a:buNone/>
            </a:pPr>
            <a:r>
              <a:rPr lang="en-US" altLang="zh-TW" sz="2400" dirty="0">
                <a:ea typeface="新細明體" panose="02020500000000000000" pitchFamily="18" charset="-120"/>
              </a:rPr>
              <a:t>	Open a new terminal and </a:t>
            </a:r>
            <a:r>
              <a:rPr lang="en-US" altLang="zh-TW" sz="2400" dirty="0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ssh</a:t>
            </a:r>
            <a:r>
              <a:rPr lang="en-US" altLang="zh-TW" sz="2400" dirty="0">
                <a:ea typeface="新細明體" panose="02020500000000000000" pitchFamily="18" charset="-120"/>
              </a:rPr>
              <a:t> to the allocated compute node </a:t>
            </a:r>
          </a:p>
          <a:p>
            <a:pPr marL="357188" lvl="2" indent="0">
              <a:buNone/>
            </a:pPr>
            <a:r>
              <a:rPr lang="en-US" altLang="zh-TW" sz="2400" dirty="0">
                <a:ea typeface="新細明體" panose="02020500000000000000" pitchFamily="18" charset="-120"/>
              </a:rPr>
              <a:t>	Check the resources usage with </a:t>
            </a:r>
            <a:r>
              <a:rPr lang="en-US" altLang="zh-TW" sz="2400" dirty="0" err="1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htop</a:t>
            </a:r>
            <a:endParaRPr lang="en-US" altLang="zh-TW" sz="2400" dirty="0">
              <a:ea typeface="新細明體" panose="02020500000000000000" pitchFamily="18" charset="-120"/>
            </a:endParaRPr>
          </a:p>
          <a:p>
            <a:pPr marL="357188" lvl="2" indent="0">
              <a:buNone/>
            </a:pPr>
            <a:endParaRPr lang="en-US" altLang="zh-TW" sz="2400" dirty="0">
              <a:ea typeface="新細明體" panose="02020500000000000000" pitchFamily="18" charset="-120"/>
            </a:endParaRPr>
          </a:p>
          <a:p>
            <a:pPr marL="172800" lvl="2" indent="-324000">
              <a:buBlip>
                <a:blip r:embed="rId3"/>
              </a:buBlip>
            </a:pPr>
            <a:r>
              <a:rPr lang="en-US" altLang="zh-TW" sz="2400" dirty="0">
                <a:ea typeface="新細明體" panose="02020500000000000000" pitchFamily="18" charset="-120"/>
              </a:rPr>
              <a:t>Submit a GPU batch job </a:t>
            </a:r>
          </a:p>
          <a:p>
            <a:pPr marL="357188" lvl="2" indent="0">
              <a:buNone/>
              <a:tabLst>
                <a:tab pos="1076325" algn="l"/>
              </a:tabLst>
            </a:pPr>
            <a:r>
              <a:rPr lang="en-US" altLang="zh-TW" sz="2400" dirty="0">
                <a:ea typeface="新細明體" panose="02020500000000000000" pitchFamily="18" charset="-120"/>
              </a:rPr>
              <a:t>     While the job is running, check its details with </a:t>
            </a:r>
            <a:r>
              <a:rPr lang="en-US" altLang="zh-TW" sz="2400" dirty="0" err="1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slurm_jobinfo</a:t>
            </a:r>
            <a:endParaRPr lang="en-US" altLang="zh-TW" sz="2400" dirty="0">
              <a:ea typeface="新細明體" panose="02020500000000000000" pitchFamily="18" charset="-120"/>
            </a:endParaRPr>
          </a:p>
          <a:p>
            <a:pPr marL="357188" lvl="2" indent="0">
              <a:buNone/>
              <a:tabLst>
                <a:tab pos="1076325" algn="l"/>
              </a:tabLst>
            </a:pPr>
            <a:r>
              <a:rPr lang="en-US" altLang="zh-TW" sz="2400" dirty="0">
                <a:ea typeface="新細明體" panose="02020500000000000000" pitchFamily="18" charset="-120"/>
              </a:rPr>
              <a:t>     and check resource on the compute node using </a:t>
            </a:r>
            <a:r>
              <a:rPr lang="en-US" altLang="zh-TW" sz="2400" dirty="0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ssh</a:t>
            </a:r>
            <a:r>
              <a:rPr lang="en-US" altLang="zh-TW" sz="2400" dirty="0">
                <a:ea typeface="新細明體" panose="02020500000000000000" pitchFamily="18" charset="-120"/>
              </a:rPr>
              <a:t>, </a:t>
            </a:r>
            <a:r>
              <a:rPr lang="en-US" altLang="zh-TW" sz="2400" dirty="0" err="1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htop</a:t>
            </a:r>
            <a:r>
              <a:rPr lang="en-US" altLang="zh-TW" sz="2400" dirty="0">
                <a:ea typeface="新細明體" panose="02020500000000000000" pitchFamily="18" charset="-120"/>
              </a:rPr>
              <a:t> and </a:t>
            </a:r>
            <a:r>
              <a:rPr lang="en-US" altLang="zh-TW" sz="2400" dirty="0" err="1"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nvidia-smi</a:t>
            </a:r>
            <a:endParaRPr lang="en-US" altLang="zh-TW" sz="2400" dirty="0">
              <a:latin typeface="Courier New" panose="02070309020205020404" pitchFamily="49" charset="0"/>
              <a:ea typeface="新細明體" panose="02020500000000000000" pitchFamily="18" charset="-120"/>
              <a:cs typeface="Courier New" panose="02070309020205020404" pitchFamily="49" charset="0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5B30D68-186D-45F9-BEB0-589C49426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44850" y="6384344"/>
            <a:ext cx="502300" cy="365125"/>
          </a:xfrm>
        </p:spPr>
        <p:txBody>
          <a:bodyPr/>
          <a:lstStyle/>
          <a:p>
            <a:fld id="{A2912448-FEEC-49E8-9588-2DF1F90D57C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2450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09427" y="289692"/>
            <a:ext cx="10515600" cy="1325563"/>
          </a:xfrm>
        </p:spPr>
        <p:txBody>
          <a:bodyPr/>
          <a:lstStyle/>
          <a:p>
            <a:r>
              <a:rPr lang="en-US" altLang="zh-TW" dirty="0">
                <a:solidFill>
                  <a:srgbClr val="4E5865"/>
                </a:solidFill>
                <a:ea typeface="新細明體" panose="02020500000000000000" pitchFamily="18" charset="-120"/>
              </a:rPr>
              <a:t>Creating and using a Conda environment</a:t>
            </a:r>
            <a:endParaRPr lang="nl-BE" dirty="0">
              <a:solidFill>
                <a:srgbClr val="4E5865"/>
              </a:solidFill>
            </a:endParaRP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287384" y="1619999"/>
            <a:ext cx="11817530" cy="4872875"/>
          </a:xfrm>
        </p:spPr>
        <p:txBody>
          <a:bodyPr/>
          <a:lstStyle/>
          <a:p>
            <a:pPr marL="700088" lvl="2" indent="-342900">
              <a:buBlip>
                <a:blip r:embed="rId2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Start an interactive job on </a:t>
            </a:r>
            <a:r>
              <a:rPr lang="en-US" altLang="zh-TW" sz="2400" dirty="0" err="1">
                <a:solidFill>
                  <a:srgbClr val="4E5865"/>
                </a:solidFill>
                <a:ea typeface="新細明體" panose="02020500000000000000" pitchFamily="18" charset="-120"/>
              </a:rPr>
              <a:t>wICE</a:t>
            </a: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 </a:t>
            </a:r>
            <a:b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</a:b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$ </a:t>
            </a:r>
            <a:r>
              <a:rPr lang="en-US" altLang="zh-TW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srun</a:t>
            </a: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–M </a:t>
            </a:r>
            <a:r>
              <a:rPr lang="en-US" altLang="zh-TW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wice</a:t>
            </a: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–A &lt;account&gt; -n 1 --</a:t>
            </a:r>
            <a:r>
              <a:rPr lang="en-US" altLang="zh-TW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pty</a:t>
            </a: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bash –l</a:t>
            </a:r>
            <a:b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</a:br>
            <a:endParaRPr lang="en-US" altLang="zh-TW" dirty="0">
              <a:solidFill>
                <a:srgbClr val="4E5865"/>
              </a:solidFill>
              <a:latin typeface="Courier New" panose="02070309020205020404" pitchFamily="49" charset="0"/>
              <a:ea typeface="新細明體" panose="02020500000000000000" pitchFamily="18" charset="-120"/>
              <a:cs typeface="Courier New" panose="02070309020205020404" pitchFamily="49" charset="0"/>
            </a:endParaRPr>
          </a:p>
          <a:p>
            <a:pPr marL="700088" lvl="2" indent="-342900">
              <a:buBlip>
                <a:blip r:embed="rId2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Go to your data folder</a:t>
            </a:r>
            <a:b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</a:b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$ cd ${VSC_DATA}</a:t>
            </a:r>
            <a:b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</a:br>
            <a:endParaRPr lang="en-US" altLang="zh-TW" dirty="0">
              <a:solidFill>
                <a:srgbClr val="4E5865"/>
              </a:solidFill>
              <a:latin typeface="Courier New" panose="02070309020205020404" pitchFamily="49" charset="0"/>
              <a:ea typeface="新細明體" panose="02020500000000000000" pitchFamily="18" charset="-120"/>
              <a:cs typeface="Courier New" panose="02070309020205020404" pitchFamily="49" charset="0"/>
            </a:endParaRPr>
          </a:p>
          <a:p>
            <a:pPr marL="700088" lvl="2" indent="-342900">
              <a:buBlip>
                <a:blip r:embed="rId2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Download </a:t>
            </a:r>
            <a:r>
              <a:rPr lang="en-US" altLang="zh-TW" sz="2400" dirty="0" err="1">
                <a:solidFill>
                  <a:srgbClr val="4E5865"/>
                </a:solidFill>
                <a:ea typeface="新細明體" panose="02020500000000000000" pitchFamily="18" charset="-120"/>
              </a:rPr>
              <a:t>Miniconda</a:t>
            </a:r>
            <a:b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</a:b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$ </a:t>
            </a:r>
            <a:r>
              <a:rPr lang="en-US" altLang="zh-TW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wget</a:t>
            </a: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</a:t>
            </a:r>
            <a:r>
              <a:rPr lang="en-US" altLang="zh-TW" sz="18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  <a:hlinkClick r:id="rId3"/>
              </a:rPr>
              <a:t>https://repo.continuum.io/miniconda/Miniconda3-latest-Linux-x86_64.sh</a:t>
            </a:r>
            <a:br>
              <a:rPr lang="en-US" altLang="zh-TW" sz="18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</a:br>
            <a:endParaRPr lang="en-US" altLang="zh-TW" sz="1800" dirty="0">
              <a:solidFill>
                <a:srgbClr val="4E5865"/>
              </a:solidFill>
              <a:latin typeface="Courier New" panose="02070309020205020404" pitchFamily="49" charset="0"/>
              <a:ea typeface="新細明體" panose="02020500000000000000" pitchFamily="18" charset="-120"/>
              <a:cs typeface="Courier New" panose="02070309020205020404" pitchFamily="49" charset="0"/>
            </a:endParaRPr>
          </a:p>
          <a:p>
            <a:pPr marL="700088" lvl="2" indent="-342900">
              <a:buBlip>
                <a:blip r:embed="rId2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Install </a:t>
            </a:r>
            <a:r>
              <a:rPr lang="en-US" altLang="zh-TW" sz="2400" dirty="0" err="1">
                <a:solidFill>
                  <a:srgbClr val="4E5865"/>
                </a:solidFill>
                <a:ea typeface="新細明體" panose="02020500000000000000" pitchFamily="18" charset="-120"/>
              </a:rPr>
              <a:t>Miniconda</a:t>
            </a: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 in your VSC_DATA</a:t>
            </a:r>
            <a:b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</a:b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$ bash Miniconda3-latest-Linux-x86_64.sh -b –p $VSC_DATA/miniconda3</a:t>
            </a:r>
            <a:b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</a:br>
            <a:endParaRPr lang="en-US" altLang="zh-TW" dirty="0">
              <a:solidFill>
                <a:srgbClr val="4E5865"/>
              </a:solidFill>
              <a:latin typeface="Courier New" panose="02070309020205020404" pitchFamily="49" charset="0"/>
              <a:ea typeface="新細明體" panose="02020500000000000000" pitchFamily="18" charset="-120"/>
              <a:cs typeface="Courier New" panose="02070309020205020404" pitchFamily="49" charset="0"/>
            </a:endParaRPr>
          </a:p>
          <a:p>
            <a:pPr marL="700088" lvl="2" indent="-342900">
              <a:buBlip>
                <a:blip r:embed="rId2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Permanently add the path to </a:t>
            </a:r>
            <a:r>
              <a:rPr lang="en-US" altLang="zh-TW" sz="2400" dirty="0" err="1">
                <a:solidFill>
                  <a:srgbClr val="4E5865"/>
                </a:solidFill>
                <a:ea typeface="新細明體" panose="02020500000000000000" pitchFamily="18" charset="-120"/>
              </a:rPr>
              <a:t>Miniconda</a:t>
            </a: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 to your </a:t>
            </a: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~/.</a:t>
            </a:r>
            <a:r>
              <a:rPr lang="en-US" altLang="zh-TW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bashrc</a:t>
            </a:r>
            <a:b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</a:b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$ echo 'export PATH="${VSC_DATA}/miniconda3/bin:${PATH}" ' &gt;&gt; ~/.</a:t>
            </a:r>
            <a:r>
              <a:rPr lang="en-US" altLang="zh-TW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bashrc</a:t>
            </a:r>
            <a:endParaRPr lang="en-US" altLang="zh-TW" dirty="0">
              <a:solidFill>
                <a:srgbClr val="4E5865"/>
              </a:solidFill>
              <a:latin typeface="Courier New" panose="02070309020205020404" pitchFamily="49" charset="0"/>
              <a:ea typeface="新細明體" panose="02020500000000000000" pitchFamily="18" charset="-120"/>
              <a:cs typeface="Courier New" panose="02070309020205020404" pitchFamily="49" charset="0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5B30D68-186D-45F9-BEB0-589C49426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44850" y="6384344"/>
            <a:ext cx="502300" cy="365125"/>
          </a:xfrm>
        </p:spPr>
        <p:txBody>
          <a:bodyPr/>
          <a:lstStyle/>
          <a:p>
            <a:fld id="{A2912448-FEEC-49E8-9588-2DF1F90D57C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0518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D2E6D-4A2B-A5A5-5904-8458AF81D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C1168B-A5D1-FA73-6EF6-266DEEA9C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427" y="289692"/>
            <a:ext cx="10515600" cy="1325563"/>
          </a:xfrm>
        </p:spPr>
        <p:txBody>
          <a:bodyPr/>
          <a:lstStyle/>
          <a:p>
            <a:r>
              <a:rPr lang="en-US" altLang="zh-TW" dirty="0">
                <a:solidFill>
                  <a:srgbClr val="4E5865"/>
                </a:solidFill>
                <a:ea typeface="新細明體" panose="02020500000000000000" pitchFamily="18" charset="-120"/>
              </a:rPr>
              <a:t>Creating and using a Conda environment</a:t>
            </a:r>
            <a:endParaRPr lang="nl-BE" dirty="0">
              <a:solidFill>
                <a:srgbClr val="4E5865"/>
              </a:solidFill>
            </a:endParaRP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BA83DAB-3F29-E99A-B8CB-3AA88D047D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384" y="1619999"/>
            <a:ext cx="11817530" cy="4872875"/>
          </a:xfrm>
        </p:spPr>
        <p:txBody>
          <a:bodyPr/>
          <a:lstStyle/>
          <a:p>
            <a:pPr marL="700088" lvl="2" indent="-342900">
              <a:buBlip>
                <a:blip r:embed="rId2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Create a Conda environment with some typical packages</a:t>
            </a:r>
            <a:b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</a:b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$ </a:t>
            </a:r>
            <a:r>
              <a:rPr lang="en-US" altLang="zh-TW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conda</a:t>
            </a: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create -n science </a:t>
            </a:r>
            <a:r>
              <a:rPr lang="en-US" altLang="zh-TW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jupyter</a:t>
            </a: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</a:t>
            </a:r>
            <a:r>
              <a:rPr lang="en-US" altLang="zh-TW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numpy</a:t>
            </a: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</a:t>
            </a:r>
            <a:r>
              <a:rPr lang="en-US" altLang="zh-TW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scipy</a:t>
            </a:r>
            <a:b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</a:br>
            <a:endParaRPr lang="en-US" altLang="zh-TW" dirty="0">
              <a:solidFill>
                <a:srgbClr val="4E5865"/>
              </a:solidFill>
              <a:latin typeface="Courier New" panose="02070309020205020404" pitchFamily="49" charset="0"/>
              <a:ea typeface="新細明體" panose="02020500000000000000" pitchFamily="18" charset="-120"/>
              <a:cs typeface="Courier New" panose="02070309020205020404" pitchFamily="49" charset="0"/>
            </a:endParaRPr>
          </a:p>
          <a:p>
            <a:pPr marL="700088" lvl="2" indent="-342900">
              <a:buBlip>
                <a:blip r:embed="rId2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Activate this environment</a:t>
            </a:r>
            <a:b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</a:b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$ source activate science</a:t>
            </a:r>
            <a:b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</a:br>
            <a:endParaRPr lang="en-US" altLang="zh-TW" dirty="0">
              <a:solidFill>
                <a:srgbClr val="4E5865"/>
              </a:solidFill>
              <a:latin typeface="Courier New" panose="02070309020205020404" pitchFamily="49" charset="0"/>
              <a:ea typeface="新細明體" panose="02020500000000000000" pitchFamily="18" charset="-120"/>
              <a:cs typeface="Courier New" panose="02070309020205020404" pitchFamily="49" charset="0"/>
            </a:endParaRPr>
          </a:p>
          <a:p>
            <a:pPr marL="700088" lvl="2" indent="-342900">
              <a:buBlip>
                <a:blip r:embed="rId2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Verify that you can use what you installed</a:t>
            </a:r>
            <a:b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</a:b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$ python –c 'import </a:t>
            </a:r>
            <a:r>
              <a:rPr lang="en-US" altLang="zh-TW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scipy</a:t>
            </a: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'</a:t>
            </a:r>
            <a:b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</a:br>
            <a:endParaRPr lang="en-US" altLang="zh-TW" dirty="0">
              <a:solidFill>
                <a:srgbClr val="4E5865"/>
              </a:solidFill>
              <a:latin typeface="Courier New" panose="02070309020205020404" pitchFamily="49" charset="0"/>
              <a:ea typeface="新細明體" panose="02020500000000000000" pitchFamily="18" charset="-120"/>
              <a:cs typeface="Courier New" panose="02070309020205020404" pitchFamily="49" charset="0"/>
            </a:endParaRPr>
          </a:p>
          <a:p>
            <a:pPr marL="700088" lvl="2" indent="-342900">
              <a:buBlip>
                <a:blip r:embed="rId2"/>
              </a:buBlip>
            </a:pPr>
            <a:r>
              <a:rPr lang="en-US" sz="2400" dirty="0">
                <a:solidFill>
                  <a:srgbClr val="4E5865"/>
                </a:solidFill>
              </a:rPr>
              <a:t>Add one more package to this environment</a:t>
            </a:r>
            <a:b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</a:b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$ </a:t>
            </a:r>
            <a:r>
              <a:rPr lang="en-US" altLang="zh-TW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conda</a:t>
            </a: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install matplotlib</a:t>
            </a:r>
            <a:b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</a:br>
            <a:endParaRPr lang="en-US" altLang="zh-TW" sz="1800" dirty="0">
              <a:solidFill>
                <a:srgbClr val="4E5865"/>
              </a:solidFill>
              <a:latin typeface="Courier New" panose="02070309020205020404" pitchFamily="49" charset="0"/>
              <a:ea typeface="新細明體" panose="02020500000000000000" pitchFamily="18" charset="-120"/>
              <a:cs typeface="Courier New" panose="02070309020205020404" pitchFamily="49" charset="0"/>
            </a:endParaRPr>
          </a:p>
          <a:p>
            <a:pPr marL="700088" lvl="2" indent="-342900">
              <a:buBlip>
                <a:blip r:embed="rId2"/>
              </a:buBlip>
            </a:pPr>
            <a:r>
              <a:rPr lang="en-US" sz="2400" dirty="0">
                <a:solidFill>
                  <a:srgbClr val="4E5865"/>
                </a:solidFill>
              </a:rPr>
              <a:t>Return to your original environment</a:t>
            </a:r>
            <a:b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</a:b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$ </a:t>
            </a:r>
            <a:r>
              <a:rPr lang="en-US" altLang="zh-TW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conda</a:t>
            </a: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deactivate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071A423F-8E34-1DD1-D67F-811F17088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44850" y="6384344"/>
            <a:ext cx="502300" cy="365125"/>
          </a:xfrm>
        </p:spPr>
        <p:txBody>
          <a:bodyPr/>
          <a:lstStyle/>
          <a:p>
            <a:fld id="{A2912448-FEEC-49E8-9588-2DF1F90D57C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81636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30874" y="329043"/>
            <a:ext cx="10515600" cy="1325563"/>
          </a:xfrm>
        </p:spPr>
        <p:txBody>
          <a:bodyPr/>
          <a:lstStyle/>
          <a:p>
            <a:r>
              <a:rPr lang="en-US" altLang="zh-TW" dirty="0">
                <a:solidFill>
                  <a:srgbClr val="4E5865"/>
                </a:solidFill>
                <a:ea typeface="新細明體" panose="02020500000000000000" pitchFamily="18" charset="-120"/>
              </a:rPr>
              <a:t>High-throughput computing using Worker</a:t>
            </a:r>
            <a:endParaRPr lang="nl-BE" dirty="0">
              <a:solidFill>
                <a:srgbClr val="4E5865"/>
              </a:solidFill>
            </a:endParaRP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316477" y="1654606"/>
            <a:ext cx="10904428" cy="3548787"/>
          </a:xfrm>
        </p:spPr>
        <p:txBody>
          <a:bodyPr/>
          <a:lstStyle/>
          <a:p>
            <a:pPr marL="701675" lvl="2" indent="-342900">
              <a:buBlip>
                <a:blip r:embed="rId3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Copy </a:t>
            </a:r>
            <a:r>
              <a:rPr lang="en-US" altLang="zh-TW" sz="24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/apps/</a:t>
            </a:r>
            <a:r>
              <a:rPr lang="en-US" altLang="zh-TW" sz="2400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leuven</a:t>
            </a:r>
            <a:r>
              <a:rPr lang="en-US" altLang="zh-TW" sz="24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/training/worker/</a:t>
            </a: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 to your </a:t>
            </a:r>
            <a:r>
              <a:rPr lang="en-US" altLang="zh-TW" sz="24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$VSC_DATA</a:t>
            </a:r>
            <a:br>
              <a:rPr lang="en-US" altLang="zh-TW" sz="24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</a:br>
            <a:endParaRPr lang="en-US" altLang="zh-TW" sz="2400" dirty="0">
              <a:solidFill>
                <a:srgbClr val="4E5865"/>
              </a:solidFill>
              <a:latin typeface="Courier New" panose="02070309020205020404" pitchFamily="49" charset="0"/>
              <a:ea typeface="新細明體" panose="02020500000000000000" pitchFamily="18" charset="-120"/>
              <a:cs typeface="Courier New" panose="02070309020205020404" pitchFamily="49" charset="0"/>
            </a:endParaRPr>
          </a:p>
          <a:p>
            <a:pPr marL="701675" lvl="2" indent="-342900">
              <a:buBlip>
                <a:blip r:embed="rId3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Go to the </a:t>
            </a:r>
            <a:r>
              <a:rPr lang="en-US" altLang="zh-TW" sz="24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exercise1</a:t>
            </a: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 directory</a:t>
            </a:r>
            <a:b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</a:br>
            <a:endParaRPr lang="en-US" altLang="zh-TW" sz="2400" dirty="0">
              <a:solidFill>
                <a:srgbClr val="4E5865"/>
              </a:solidFill>
              <a:ea typeface="新細明體" panose="02020500000000000000" pitchFamily="18" charset="-120"/>
            </a:endParaRPr>
          </a:p>
          <a:p>
            <a:pPr marL="701675" lvl="2" indent="-342900">
              <a:buBlip>
                <a:blip r:embed="rId3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Submit the worker job</a:t>
            </a:r>
            <a:b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</a:br>
            <a:endParaRPr lang="en-US" altLang="zh-TW" sz="2400" dirty="0">
              <a:solidFill>
                <a:srgbClr val="4E5865"/>
              </a:solidFill>
              <a:ea typeface="新細明體" panose="02020500000000000000" pitchFamily="18" charset="-120"/>
            </a:endParaRPr>
          </a:p>
          <a:p>
            <a:pPr marL="701675" lvl="2" indent="-342900">
              <a:buBlip>
                <a:blip r:embed="rId3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Check the output file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5B30D68-186D-45F9-BEB0-589C49426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44850" y="6384344"/>
            <a:ext cx="502300" cy="365125"/>
          </a:xfrm>
        </p:spPr>
        <p:txBody>
          <a:bodyPr/>
          <a:lstStyle/>
          <a:p>
            <a:fld id="{A2912448-FEEC-49E8-9588-2DF1F90D57C2}" type="slidenum">
              <a:rPr lang="en-US" smtClean="0"/>
              <a:t>8</a:t>
            </a:fld>
            <a:endParaRPr lang="en-US" dirty="0"/>
          </a:p>
        </p:txBody>
      </p:sp>
      <p:sp>
        <p:nvSpPr>
          <p:cNvPr id="12" name="Freeform 88">
            <a:extLst>
              <a:ext uri="{FF2B5EF4-FFF2-40B4-BE49-F238E27FC236}">
                <a16:creationId xmlns:a16="http://schemas.microsoft.com/office/drawing/2014/main" id="{DCB5B946-C08C-4907-9BAB-0A4CAB5A6075}"/>
              </a:ext>
            </a:extLst>
          </p:cNvPr>
          <p:cNvSpPr>
            <a:spLocks noEditPoints="1"/>
          </p:cNvSpPr>
          <p:nvPr/>
        </p:nvSpPr>
        <p:spPr bwMode="auto">
          <a:xfrm>
            <a:off x="316477" y="6445690"/>
            <a:ext cx="214397" cy="216632"/>
          </a:xfrm>
          <a:custGeom>
            <a:avLst/>
            <a:gdLst>
              <a:gd name="T0" fmla="*/ 135 w 145"/>
              <a:gd name="T1" fmla="*/ 37 h 146"/>
              <a:gd name="T2" fmla="*/ 145 w 145"/>
              <a:gd name="T3" fmla="*/ 73 h 146"/>
              <a:gd name="T4" fmla="*/ 135 w 145"/>
              <a:gd name="T5" fmla="*/ 109 h 146"/>
              <a:gd name="T6" fmla="*/ 109 w 145"/>
              <a:gd name="T7" fmla="*/ 136 h 146"/>
              <a:gd name="T8" fmla="*/ 72 w 145"/>
              <a:gd name="T9" fmla="*/ 146 h 146"/>
              <a:gd name="T10" fmla="*/ 36 w 145"/>
              <a:gd name="T11" fmla="*/ 136 h 146"/>
              <a:gd name="T12" fmla="*/ 9 w 145"/>
              <a:gd name="T13" fmla="*/ 109 h 146"/>
              <a:gd name="T14" fmla="*/ 0 w 145"/>
              <a:gd name="T15" fmla="*/ 73 h 146"/>
              <a:gd name="T16" fmla="*/ 9 w 145"/>
              <a:gd name="T17" fmla="*/ 37 h 146"/>
              <a:gd name="T18" fmla="*/ 36 w 145"/>
              <a:gd name="T19" fmla="*/ 10 h 146"/>
              <a:gd name="T20" fmla="*/ 72 w 145"/>
              <a:gd name="T21" fmla="*/ 0 h 146"/>
              <a:gd name="T22" fmla="*/ 109 w 145"/>
              <a:gd name="T23" fmla="*/ 10 h 146"/>
              <a:gd name="T24" fmla="*/ 135 w 145"/>
              <a:gd name="T25" fmla="*/ 37 h 146"/>
              <a:gd name="T26" fmla="*/ 121 w 145"/>
              <a:gd name="T27" fmla="*/ 58 h 146"/>
              <a:gd name="T28" fmla="*/ 119 w 145"/>
              <a:gd name="T29" fmla="*/ 53 h 146"/>
              <a:gd name="T30" fmla="*/ 111 w 145"/>
              <a:gd name="T31" fmla="*/ 45 h 146"/>
              <a:gd name="T32" fmla="*/ 107 w 145"/>
              <a:gd name="T33" fmla="*/ 43 h 146"/>
              <a:gd name="T34" fmla="*/ 102 w 145"/>
              <a:gd name="T35" fmla="*/ 45 h 146"/>
              <a:gd name="T36" fmla="*/ 64 w 145"/>
              <a:gd name="T37" fmla="*/ 83 h 146"/>
              <a:gd name="T38" fmla="*/ 42 w 145"/>
              <a:gd name="T39" fmla="*/ 62 h 146"/>
              <a:gd name="T40" fmla="*/ 38 w 145"/>
              <a:gd name="T41" fmla="*/ 60 h 146"/>
              <a:gd name="T42" fmla="*/ 34 w 145"/>
              <a:gd name="T43" fmla="*/ 62 h 146"/>
              <a:gd name="T44" fmla="*/ 25 w 145"/>
              <a:gd name="T45" fmla="*/ 70 h 146"/>
              <a:gd name="T46" fmla="*/ 24 w 145"/>
              <a:gd name="T47" fmla="*/ 75 h 146"/>
              <a:gd name="T48" fmla="*/ 25 w 145"/>
              <a:gd name="T49" fmla="*/ 79 h 146"/>
              <a:gd name="T50" fmla="*/ 59 w 145"/>
              <a:gd name="T51" fmla="*/ 113 h 146"/>
              <a:gd name="T52" fmla="*/ 64 w 145"/>
              <a:gd name="T53" fmla="*/ 115 h 146"/>
              <a:gd name="T54" fmla="*/ 68 w 145"/>
              <a:gd name="T55" fmla="*/ 113 h 146"/>
              <a:gd name="T56" fmla="*/ 119 w 145"/>
              <a:gd name="T57" fmla="*/ 62 h 146"/>
              <a:gd name="T58" fmla="*/ 121 w 145"/>
              <a:gd name="T59" fmla="*/ 58 h 1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</a:cxnLst>
            <a:rect l="0" t="0" r="r" b="b"/>
            <a:pathLst>
              <a:path w="145" h="146">
                <a:moveTo>
                  <a:pt x="135" y="37"/>
                </a:moveTo>
                <a:cubicBezTo>
                  <a:pt x="142" y="48"/>
                  <a:pt x="145" y="60"/>
                  <a:pt x="145" y="73"/>
                </a:cubicBezTo>
                <a:cubicBezTo>
                  <a:pt x="145" y="86"/>
                  <a:pt x="142" y="98"/>
                  <a:pt x="135" y="109"/>
                </a:cubicBezTo>
                <a:cubicBezTo>
                  <a:pt x="129" y="121"/>
                  <a:pt x="120" y="129"/>
                  <a:pt x="109" y="136"/>
                </a:cubicBezTo>
                <a:cubicBezTo>
                  <a:pt x="98" y="142"/>
                  <a:pt x="85" y="146"/>
                  <a:pt x="72" y="146"/>
                </a:cubicBezTo>
                <a:cubicBezTo>
                  <a:pt x="59" y="146"/>
                  <a:pt x="47" y="142"/>
                  <a:pt x="36" y="136"/>
                </a:cubicBezTo>
                <a:cubicBezTo>
                  <a:pt x="25" y="129"/>
                  <a:pt x="16" y="121"/>
                  <a:pt x="9" y="109"/>
                </a:cubicBezTo>
                <a:cubicBezTo>
                  <a:pt x="3" y="98"/>
                  <a:pt x="0" y="86"/>
                  <a:pt x="0" y="73"/>
                </a:cubicBezTo>
                <a:cubicBezTo>
                  <a:pt x="0" y="60"/>
                  <a:pt x="3" y="48"/>
                  <a:pt x="9" y="37"/>
                </a:cubicBezTo>
                <a:cubicBezTo>
                  <a:pt x="16" y="25"/>
                  <a:pt x="25" y="17"/>
                  <a:pt x="36" y="10"/>
                </a:cubicBezTo>
                <a:cubicBezTo>
                  <a:pt x="47" y="4"/>
                  <a:pt x="59" y="0"/>
                  <a:pt x="72" y="0"/>
                </a:cubicBezTo>
                <a:cubicBezTo>
                  <a:pt x="85" y="0"/>
                  <a:pt x="98" y="4"/>
                  <a:pt x="109" y="10"/>
                </a:cubicBezTo>
                <a:cubicBezTo>
                  <a:pt x="120" y="17"/>
                  <a:pt x="129" y="25"/>
                  <a:pt x="135" y="37"/>
                </a:cubicBezTo>
                <a:close/>
                <a:moveTo>
                  <a:pt x="121" y="58"/>
                </a:moveTo>
                <a:cubicBezTo>
                  <a:pt x="121" y="56"/>
                  <a:pt x="121" y="54"/>
                  <a:pt x="119" y="53"/>
                </a:cubicBezTo>
                <a:cubicBezTo>
                  <a:pt x="111" y="45"/>
                  <a:pt x="111" y="45"/>
                  <a:pt x="111" y="45"/>
                </a:cubicBezTo>
                <a:cubicBezTo>
                  <a:pt x="110" y="44"/>
                  <a:pt x="108" y="43"/>
                  <a:pt x="107" y="43"/>
                </a:cubicBezTo>
                <a:cubicBezTo>
                  <a:pt x="105" y="43"/>
                  <a:pt x="103" y="44"/>
                  <a:pt x="102" y="45"/>
                </a:cubicBezTo>
                <a:cubicBezTo>
                  <a:pt x="64" y="83"/>
                  <a:pt x="64" y="83"/>
                  <a:pt x="64" y="83"/>
                </a:cubicBezTo>
                <a:cubicBezTo>
                  <a:pt x="42" y="62"/>
                  <a:pt x="42" y="62"/>
                  <a:pt x="42" y="62"/>
                </a:cubicBezTo>
                <a:cubicBezTo>
                  <a:pt x="41" y="61"/>
                  <a:pt x="40" y="60"/>
                  <a:pt x="38" y="60"/>
                </a:cubicBezTo>
                <a:cubicBezTo>
                  <a:pt x="36" y="60"/>
                  <a:pt x="35" y="61"/>
                  <a:pt x="34" y="62"/>
                </a:cubicBezTo>
                <a:cubicBezTo>
                  <a:pt x="25" y="70"/>
                  <a:pt x="25" y="70"/>
                  <a:pt x="25" y="70"/>
                </a:cubicBezTo>
                <a:cubicBezTo>
                  <a:pt x="24" y="72"/>
                  <a:pt x="24" y="73"/>
                  <a:pt x="24" y="75"/>
                </a:cubicBezTo>
                <a:cubicBezTo>
                  <a:pt x="24" y="76"/>
                  <a:pt x="24" y="78"/>
                  <a:pt x="25" y="79"/>
                </a:cubicBezTo>
                <a:cubicBezTo>
                  <a:pt x="59" y="113"/>
                  <a:pt x="59" y="113"/>
                  <a:pt x="59" y="113"/>
                </a:cubicBezTo>
                <a:cubicBezTo>
                  <a:pt x="61" y="114"/>
                  <a:pt x="62" y="115"/>
                  <a:pt x="64" y="115"/>
                </a:cubicBezTo>
                <a:cubicBezTo>
                  <a:pt x="65" y="115"/>
                  <a:pt x="67" y="114"/>
                  <a:pt x="68" y="113"/>
                </a:cubicBezTo>
                <a:cubicBezTo>
                  <a:pt x="119" y="62"/>
                  <a:pt x="119" y="62"/>
                  <a:pt x="119" y="62"/>
                </a:cubicBezTo>
                <a:cubicBezTo>
                  <a:pt x="121" y="61"/>
                  <a:pt x="121" y="59"/>
                  <a:pt x="121" y="5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96778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5A89C74F-8936-41AF-92D5-F7BAA4357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44850" y="6384344"/>
            <a:ext cx="502300" cy="365125"/>
          </a:xfrm>
        </p:spPr>
        <p:txBody>
          <a:bodyPr/>
          <a:lstStyle/>
          <a:p>
            <a:fld id="{A2912448-FEEC-49E8-9588-2DF1F90D57C2}" type="slidenum">
              <a:rPr lang="en-US" smtClean="0"/>
              <a:t>9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D94133-7A19-DC13-1B4D-69CD50E55B7E}"/>
              </a:ext>
            </a:extLst>
          </p:cNvPr>
          <p:cNvSpPr/>
          <p:nvPr/>
        </p:nvSpPr>
        <p:spPr>
          <a:xfrm>
            <a:off x="540469" y="1664159"/>
            <a:ext cx="10937067" cy="3785652"/>
          </a:xfrm>
          <a:prstGeom prst="rect">
            <a:avLst/>
          </a:prstGeom>
          <a:ln w="25400">
            <a:noFill/>
          </a:ln>
        </p:spPr>
        <p:txBody>
          <a:bodyPr wrap="square" anchor="ctr">
            <a:spAutoFit/>
          </a:bodyPr>
          <a:lstStyle/>
          <a:p>
            <a:r>
              <a:rPr lang="nl-NL" altLang="en-US" sz="2200" dirty="0"/>
              <a:t>Helpdesk (email): </a:t>
            </a:r>
            <a:r>
              <a:rPr lang="nl-NL" altLang="en-US" sz="2200" dirty="0">
                <a:hlinkClick r:id="rId2"/>
              </a:rPr>
              <a:t>hpcinfo@kuleuven.be</a:t>
            </a:r>
            <a:endParaRPr lang="nl-NL" altLang="en-US" sz="2200" dirty="0"/>
          </a:p>
          <a:p>
            <a:endParaRPr lang="en-US" altLang="en-US" sz="2200" dirty="0"/>
          </a:p>
          <a:p>
            <a:r>
              <a:rPr lang="en-US" altLang="en-US" sz="2200" dirty="0"/>
              <a:t>Helpdesk (online form): </a:t>
            </a:r>
            <a:r>
              <a:rPr lang="en-US" altLang="en-US" sz="2200" dirty="0">
                <a:hlinkClick r:id="rId3"/>
              </a:rPr>
              <a:t>https://admin.kuleuven.be/icts/HPCinfo_form/HPC-info-formulier</a:t>
            </a:r>
            <a:br>
              <a:rPr lang="en-US" altLang="en-US" sz="2200" dirty="0"/>
            </a:br>
            <a:endParaRPr lang="nl-NL" altLang="en-US" sz="2200" dirty="0">
              <a:solidFill>
                <a:srgbClr val="DB6C30"/>
              </a:solidFill>
            </a:endParaRPr>
          </a:p>
          <a:p>
            <a:r>
              <a:rPr lang="nl-NL" altLang="en-US" sz="2200" dirty="0"/>
              <a:t>VSC website: </a:t>
            </a:r>
            <a:r>
              <a:rPr lang="nl-BE" altLang="en-US" sz="2200" dirty="0">
                <a:solidFill>
                  <a:srgbClr val="DB6C30"/>
                </a:solidFill>
                <a:hlinkClick r:id="rId4"/>
              </a:rPr>
              <a:t>https://www.vscentrum.be</a:t>
            </a:r>
            <a:endParaRPr lang="nl-BE" altLang="en-US" sz="2200" dirty="0">
              <a:solidFill>
                <a:srgbClr val="DB6C30"/>
              </a:solidFill>
            </a:endParaRPr>
          </a:p>
          <a:p>
            <a:endParaRPr lang="en-US" altLang="en-US" sz="2200" dirty="0"/>
          </a:p>
          <a:p>
            <a:r>
              <a:rPr lang="en-US" altLang="en-US" sz="2200" dirty="0"/>
              <a:t>VSC documentation: </a:t>
            </a:r>
            <a:r>
              <a:rPr lang="nl-BE" sz="2200" dirty="0">
                <a:solidFill>
                  <a:srgbClr val="DB6C30"/>
                </a:solidFill>
                <a:hlinkClick r:id="rId5"/>
              </a:rPr>
              <a:t>https://docs.vscentrum.be</a:t>
            </a:r>
            <a:br>
              <a:rPr lang="nl-BE" sz="2000" dirty="0"/>
            </a:br>
            <a:endParaRPr lang="nl-BE" sz="2000" dirty="0"/>
          </a:p>
          <a:p>
            <a:r>
              <a:rPr lang="en-US" altLang="en-US" sz="2200" dirty="0"/>
              <a:t>VSC agenda, training sessions, events (User Day): </a:t>
            </a:r>
            <a:r>
              <a:rPr lang="en-US" altLang="en-US" sz="2200" dirty="0">
                <a:hlinkClick r:id="rId6"/>
              </a:rPr>
              <a:t>https://www.vscentrum.be/vsctraining</a:t>
            </a:r>
            <a:endParaRPr lang="en-US" altLang="en-US" sz="2200" dirty="0">
              <a:solidFill>
                <a:srgbClr val="DB6C30"/>
              </a:solidFill>
            </a:endParaRPr>
          </a:p>
          <a:p>
            <a:endParaRPr lang="en-US" altLang="en-US" sz="2200" dirty="0"/>
          </a:p>
          <a:p>
            <a:r>
              <a:rPr lang="en-US" altLang="en-US" sz="2200" dirty="0"/>
              <a:t>System status page: </a:t>
            </a:r>
            <a:r>
              <a:rPr lang="en-US" altLang="en-US" sz="2200" dirty="0">
                <a:hlinkClick r:id="rId7"/>
              </a:rPr>
              <a:t>https://status.vscentrum.be</a:t>
            </a:r>
            <a:endParaRPr lang="en-US" altLang="en-US" sz="2200" dirty="0"/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3C6EB16C-F31F-4787-1577-BA6BA17D7E2C}"/>
              </a:ext>
            </a:extLst>
          </p:cNvPr>
          <p:cNvSpPr txBox="1">
            <a:spLocks/>
          </p:cNvSpPr>
          <p:nvPr/>
        </p:nvSpPr>
        <p:spPr>
          <a:xfrm>
            <a:off x="530874" y="608968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4E5865"/>
                </a:solidFill>
                <a:ea typeface="新細明體" panose="02020500000000000000" pitchFamily="18" charset="-120"/>
              </a:rPr>
              <a:t>Useful links</a:t>
            </a:r>
            <a:endParaRPr lang="nl-BE" dirty="0">
              <a:solidFill>
                <a:srgbClr val="4E586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0917897"/>
      </p:ext>
    </p:extLst>
  </p:cSld>
  <p:clrMapOvr>
    <a:masterClrMapping/>
  </p:clrMapOvr>
  <p:transition spd="slow">
    <p:cover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872504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9">
      <a:dk1>
        <a:srgbClr val="333639"/>
      </a:dk1>
      <a:lt1>
        <a:srgbClr val="F4F5FC"/>
      </a:lt1>
      <a:dk2>
        <a:srgbClr val="353A42"/>
      </a:dk2>
      <a:lt2>
        <a:srgbClr val="FFFFFF"/>
      </a:lt2>
      <a:accent1>
        <a:srgbClr val="DB6C30"/>
      </a:accent1>
      <a:accent2>
        <a:srgbClr val="DB6C30"/>
      </a:accent2>
      <a:accent3>
        <a:srgbClr val="DB6C30"/>
      </a:accent3>
      <a:accent4>
        <a:srgbClr val="DB6C30"/>
      </a:accent4>
      <a:accent5>
        <a:srgbClr val="DB6C30"/>
      </a:accent5>
      <a:accent6>
        <a:srgbClr val="AAB2BD"/>
      </a:accent6>
      <a:hlink>
        <a:srgbClr val="F8960D"/>
      </a:hlink>
      <a:folHlink>
        <a:srgbClr val="D70444"/>
      </a:folHlink>
    </a:clrScheme>
    <a:fontScheme name="VSC">
      <a:majorFont>
        <a:latin typeface="FlandersArtSans-Bold"/>
        <a:ea typeface=""/>
        <a:cs typeface=""/>
      </a:majorFont>
      <a:minorFont>
        <a:latin typeface="FlandersArtSans-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17C36A1CAF973428CFB8DC9B5B73D030400A741C9874CC89F4CB7C7A5AE62CBCD36" ma:contentTypeVersion="2" ma:contentTypeDescription="" ma:contentTypeScope="" ma:versionID="2a5b37c1a06f9995b1548b8fc9b10188">
  <xsd:schema xmlns:xsd="http://www.w3.org/2001/XMLSchema" xmlns:xs="http://www.w3.org/2001/XMLSchema" xmlns:p="http://schemas.microsoft.com/office/2006/metadata/properties" xmlns:ns2="aff7d12c-bb71-4270-bd29-9c4d45ff3327" targetNamespace="http://schemas.microsoft.com/office/2006/metadata/properties" ma:root="true" ma:fieldsID="535495b15c0addd8af32a03863086e70" ns2:_="">
    <xsd:import namespace="aff7d12c-bb71-4270-bd29-9c4d45ff3327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ff7d12c-bb71-4270-bd29-9c4d45ff3327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Waarde van de document-id" ma:description="De waarde van de document-id die aan dit item is toegewezen." ma:internalName="_dlc_DocId" ma:readOnly="true">
      <xsd:simpleType>
        <xsd:restriction base="dms:Text"/>
      </xsd:simpleType>
    </xsd:element>
    <xsd:element name="_dlc_DocIdUrl" ma:index="9" nillable="true" ma:displayName="Document-id" ma:description="Permanente koppeling naar dit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aff7d12c-bb71-4270-bd29-9c4d45ff3327">346bfafb-41a4-4705-9274-1725a8a4651c</_dlc_DocId>
    <_dlc_DocIdUrl xmlns="aff7d12c-bb71-4270-bd29-9c4d45ff3327">
      <Url>https://www.groupware.kuleuven.be/sites/hpc/_layouts/15/DocIdRedir.aspx?ID=346bfafb-41a4-4705-9274-1725a8a4651c</Url>
      <Description>346bfafb-41a4-4705-9274-1725a8a4651c</Description>
    </_dlc_DocIdUrl>
  </documentManagement>
</p:properties>
</file>

<file path=customXml/item4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Assembly>Microsoft.Office.DocumentManagement, Version=14.0.0.0, Culture=neutral, PublicKeyToken=71e9bce111e9429c</Assembly>
    <Class>Microsoft.Office.DocumentManagement.Internal.DocIdHandler</Class>
    <Data/>
    <Filter/>
  </Receiver>
</spe:Receivers>
</file>

<file path=customXml/item5.xml><?xml version="1.0" encoding="utf-8"?>
<?mso-contentType ?>
<customXsn xmlns="http://schemas.microsoft.com/office/2006/metadata/customXsn">
  <xsnLocation/>
  <cached>True</cached>
  <openByDefault>True</openByDefault>
  <xsnScope>/sites/hpc</xsnScope>
</customXsn>
</file>

<file path=customXml/itemProps1.xml><?xml version="1.0" encoding="utf-8"?>
<ds:datastoreItem xmlns:ds="http://schemas.openxmlformats.org/officeDocument/2006/customXml" ds:itemID="{564EE3F2-D13D-4835-816B-74B5A421851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D5B35C9-35F5-4278-990B-48710415D63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ff7d12c-bb71-4270-bd29-9c4d45ff332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0D56244-60B2-41FD-96AD-7AC25F221D7C}">
  <ds:schemaRefs>
    <ds:schemaRef ds:uri="http://schemas.microsoft.com/office/2006/documentManagement/types"/>
    <ds:schemaRef ds:uri="http://purl.org/dc/terms/"/>
    <ds:schemaRef ds:uri="aff7d12c-bb71-4270-bd29-9c4d45ff3327"/>
    <ds:schemaRef ds:uri="http://purl.org/dc/dcmitype/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http://www.w3.org/XML/1998/namespace"/>
  </ds:schemaRefs>
</ds:datastoreItem>
</file>

<file path=customXml/itemProps4.xml><?xml version="1.0" encoding="utf-8"?>
<ds:datastoreItem xmlns:ds="http://schemas.openxmlformats.org/officeDocument/2006/customXml" ds:itemID="{7732E273-8A47-4E01-AC36-8FF8A6317757}">
  <ds:schemaRefs>
    <ds:schemaRef ds:uri="http://schemas.microsoft.com/sharepoint/events"/>
  </ds:schemaRefs>
</ds:datastoreItem>
</file>

<file path=customXml/itemProps5.xml><?xml version="1.0" encoding="utf-8"?>
<ds:datastoreItem xmlns:ds="http://schemas.openxmlformats.org/officeDocument/2006/customXml" ds:itemID="{F0EF99C1-AFFA-4072-A3F6-6A9C90E28E63}">
  <ds:schemaRefs>
    <ds:schemaRef ds:uri="http://schemas.microsoft.com/office/2006/metadata/customXsn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759</Words>
  <Application>Microsoft Office PowerPoint</Application>
  <PresentationFormat>Widescreen</PresentationFormat>
  <Paragraphs>92</Paragraphs>
  <Slides>10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23" baseType="lpstr">
      <vt:lpstr>新細明體</vt:lpstr>
      <vt:lpstr>72 Monospace</vt:lpstr>
      <vt:lpstr>Arial</vt:lpstr>
      <vt:lpstr>Calibri</vt:lpstr>
      <vt:lpstr>Calibri Light</vt:lpstr>
      <vt:lpstr>Courier New</vt:lpstr>
      <vt:lpstr>FlandersArtSans-Bold</vt:lpstr>
      <vt:lpstr>FlandersArtSans-Medium</vt:lpstr>
      <vt:lpstr>FlandersArtSans-Regular</vt:lpstr>
      <vt:lpstr>Times New Roman</vt:lpstr>
      <vt:lpstr>Wingdings</vt:lpstr>
      <vt:lpstr>Office Theme</vt:lpstr>
      <vt:lpstr>1_Office Theme</vt:lpstr>
      <vt:lpstr>VSC HPC demo session</vt:lpstr>
      <vt:lpstr>First steps</vt:lpstr>
      <vt:lpstr>PowerPoint Presentation</vt:lpstr>
      <vt:lpstr>PowerPoint Presentation</vt:lpstr>
      <vt:lpstr>Job monitoring</vt:lpstr>
      <vt:lpstr>Creating and using a Conda environment</vt:lpstr>
      <vt:lpstr>Creating and using a Conda environment</vt:lpstr>
      <vt:lpstr>High-throughput computing using Worker</vt:lpstr>
      <vt:lpstr>PowerPoint Presentation</vt:lpstr>
      <vt:lpstr>PowerPoint Presentation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AL-TEKREETI Rafal</dc:creator>
  <cp:lastModifiedBy>Maxime Van den Bossche</cp:lastModifiedBy>
  <cp:revision>199</cp:revision>
  <dcterms:created xsi:type="dcterms:W3CDTF">2018-06-21T07:15:36Z</dcterms:created>
  <dcterms:modified xsi:type="dcterms:W3CDTF">2025-11-04T09:46:20Z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0x010100317C36A1CAF973428CFB8DC9B5B73D030400A741C9874CC89F4CB7C7A5AE62CBCD36</vt:lpwstr>
  </property>
  <property fmtid="{D5CDD505-2E9C-101B-9397-08002B2CF9AE}" pid="3" name="_dlc_DocIdItemGuid">
    <vt:lpwstr>346bfafb-41a4-4705-9274-1725a8a4651c</vt:lpwstr>
  </property>
</Properties>
</file>